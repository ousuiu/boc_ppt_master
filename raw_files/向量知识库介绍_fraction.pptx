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90" r:id="rId5"/>
    <p:sldId id="286" r:id="rId6"/>
    <p:sldId id="292" r:id="rId7"/>
    <p:sldId id="293" r:id="rId8"/>
    <p:sldId id="291" r:id="rId9"/>
    <p:sldId id="263" r:id="rId10"/>
    <p:sldId id="287" r:id="rId11"/>
    <p:sldId id="289" r:id="rId12"/>
    <p:sldId id="284" r:id="rId13"/>
    <p:sldId id="285" r:id="rId14"/>
    <p:sldId id="283" r:id="rId15"/>
    <p:sldId id="269" r:id="rId16"/>
    <p:sldId id="294" r:id="rId17"/>
    <p:sldId id="295" r:id="rId18"/>
    <p:sldId id="296" r:id="rId19"/>
    <p:sldId id="25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4" d="100"/>
          <a:sy n="94" d="100"/>
        </p:scale>
        <p:origin x="230" y="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9070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本页开场点明汇报主题：向量知识库工作汇报。建议用一句话说明，本次汇报围绕基础概念、建设进展、同业实践和下一阶段本体建模方向展开。</a:t>
            </a:r>
          </a:p>
          <a:p>
            <a:endParaRPr lang="zh-CN" dirty="0"/>
          </a:p>
          <a:p>
            <a:r>
              <a:rPr lang="zh-CN" dirty="0"/>
              <a:t>要点：① 结论先行 ② 结合页面结构说明关键证据 ③ 自然过渡到下一页</a:t>
            </a:r>
          </a:p>
          <a:p>
            <a:endParaRPr lang="zh-CN" dirty="0"/>
          </a:p>
          <a:p>
            <a:r>
              <a:rPr lang="zh-CN" dirty="0"/>
              <a:t>时长：1分钟</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接下来进入“目录”。本页重点围绕页面主题展开，先给出结论，再用页面中的结构化信息作为支撑，帮助听众快速理解工作价值与后续方向。</a:t>
            </a:r>
          </a:p>
          <a:p>
            <a:endParaRPr lang="zh-CN" dirty="0"/>
          </a:p>
          <a:p>
            <a:r>
              <a:rPr lang="zh-CN" dirty="0"/>
              <a:t>要点：① 结论先行 ② 结合页面结构说明关键证据 ③ 自然过渡到下一页</a:t>
            </a:r>
          </a:p>
          <a:p>
            <a:endParaRPr lang="zh-CN" dirty="0"/>
          </a:p>
          <a:p>
            <a:r>
              <a:rPr lang="zh-CN" dirty="0"/>
              <a:t>时长：1分钟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接下来进入“向量、大模型和智能体介绍”。本页重点围绕页面主题展开，先给出结论，再用页面中的结构化信息作为支撑，帮助听众快速理解工作价值与后续方向。</a:t>
            </a:r>
          </a:p>
          <a:p>
            <a:endParaRPr lang="zh-CN" dirty="0"/>
          </a:p>
          <a:p>
            <a:r>
              <a:rPr lang="zh-CN" dirty="0"/>
              <a:t>要点：① 结论先行 ② 结合页面结构说明关键证据 ③ 自然过渡到下一页</a:t>
            </a:r>
          </a:p>
          <a:p>
            <a:endParaRPr lang="zh-CN" dirty="0"/>
          </a:p>
          <a:p>
            <a:r>
              <a:rPr lang="zh-CN" dirty="0"/>
              <a:t>时长：1分钟</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把“向量”换成一个更直观的画面来看：在人类世界里，我们用“银行、贷款、客户、风险”这样的文字表达概念；而在机器世界里，这些词会被转换成一组坐标。右侧每个词旁边都有完整的三维向量，例如“银行”是零点七二、零点三八、零点一四；它在图中的位置就是按这个坐标投影出来的。意义接近的词会自然靠近，比如“银行、贷款、资产”聚在金融业务附近，“客户、服务、体验”聚在人和场景附近。机器正是通过这种坐标距离，去判断概念之间的相似性。</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这一页展示的是词向量生成的核心逻辑：先把“中国银行是世界一流银行”切成五个词元，再把每个词元变成词表中的 one-hot 行向量。由于 one-hot 本身非常稀疏，它只能说明词在词表里的位置，不能表达语义相似性。通过与十乘三的 Embedding 参数矩阵相乘，实际上就是为每个词元取出对应的一行三维参数，最终得到五乘三的词向量矩阵。这样，离散文本就被转换成了可以供神经网络继续计算的稠密向量表示。</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这一页用同一个 One-Hot 稀疏矩阵 X 来对比两种 Embedding 参数学习结果。左侧的 X 只出现一次，它由原始文本“中国银行是世界一流银行”切分成五个词元，再映射到十个词表位置；中间上方乘以 E_bad，得到杂乱的 H_bad，右侧可以看到“中国银行”和“银行”没有靠近，“是”也被放到了偏远位置。下方同一个 X 乘以 E_good 后，H_good 呈现出更合理的语义空间：中国银行和银行靠近，世界在范围维度更突出，一流在品质维度更突出，而功能词“是”靠近原点。</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上一页我们看到，好的 Embedding 不是随便摆出来的，而是在预测任务中被一点点训练出来的。Embedding 矩阵一开始通常是随机初始化，模型把上下文转换成词向量，去预测目标词；如果预测错了，损失会沿着网络反向传播回 Embedding 矩阵，更新相关词元的向量。大量文本和多轮训练之后，常在相似上下文中出现的词会获得相似方向的更新，逐渐靠近；语义功能不同的词则会分布到不同区域。也就是说，Embedding 的训练本质上是让词向量不断服务于预测任务，并通过误差反向传播形成有意义的语义空间。</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本页说明大模型的工作本质：输入文本并不会被模型以人类方式直接阅读，而是先被表示成向量序列。模型基于前文向量序列进行计算，预测概率最高的下一个向量，再映射回下一个字。</a:t>
            </a:r>
          </a:p>
          <a:p>
            <a:endParaRPr lang="zh-CN" dirty="0"/>
          </a:p>
          <a:p>
            <a:r>
              <a:rPr lang="zh-CN" dirty="0"/>
              <a:t>讲解顺序建议从左到右：先看“今、天、天、气”等输入文本，再看每个符号被转为向量，随后进入大模型的 Transformer 结构处理，最后得到代表“好”的输出预测。</a:t>
            </a:r>
          </a:p>
          <a:p>
            <a:endParaRPr lang="zh-CN" dirty="0"/>
          </a:p>
          <a:p>
            <a:r>
              <a:rPr lang="zh-CN" dirty="0"/>
              <a:t>收束时强调底部逻辑：输入序列向量 → 模型处理 → 输出概率最高的新向量。</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接下来进入“大模型发展路径”。本页重点围绕页面主题展开，先给出结论，再用页面中的结构化信息作为支撑，帮助听众快速理解工作价值与后续方向。</a:t>
            </a:r>
          </a:p>
          <a:p>
            <a:endParaRPr lang="zh-CN" dirty="0"/>
          </a:p>
          <a:p>
            <a:r>
              <a:rPr lang="zh-CN" dirty="0"/>
              <a:t>要点：① 结论先行 ② 结合页面结构说明关键证据 ③ 自然过渡到下一页</a:t>
            </a:r>
          </a:p>
          <a:p>
            <a:endParaRPr lang="zh-CN" dirty="0"/>
          </a:p>
          <a:p>
            <a:r>
              <a:rPr lang="zh-CN" dirty="0"/>
              <a:t>时长：1分钟</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展示的是一个典型的大语言模型对话闭环。流程从用户启动对话开始，进入手工打字输入，随后大模型接收文本并进行推理生成，回答完成后展示到对话界面，用户再阅读和分析回复。读完之后，用户会判断是否继续输入新的问题或追问；如果选择继续，流程回到输入步骤，形成下一轮对话；如果不继续，则进入对话结束节点。这个图的重点是强调，人机对话不是一次性的问答，而是由用户判断不断驱动的多轮交互循环。</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这页展示的是一个支持 RAG 的多轮多模态对话生成闭环。用户可以通过文字、图片、语音或视频输入内容，系统先完成多模态预处理和向量化，再到向量知识库里做近似查询，把检索到的相关内容回传并整合进 Context，最终交给 LLM 推理并生成对话结果。生成结果之后，用户可以再次输入新问题，流程会重新触发向量库查询，因此它不是一次性的线性链路，而是一个持续增强的对话循环。</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这页的核心结论是：智能体不是把用户任务一次性丢给大模型，而是在任务管理、上下文维护、知识检索、LLM 推理和工具执行之间形成持续的 ReAct 循环。用户任务先进入任务管理器，再由上下文管理器维护当前状态，并在需要时访问向量知识库；核心循环决策点会判断任务是否完成，未完成就继续请求 LLM。LLM 如果生成工具调用指令，工具系统会经过权限执行链完成文件操作、代码搜索、Shell 执行或 MCP 扩展，结果处理后再回到核心循环更新状态，直到输出最终响应。</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页的核心结论是：反洗钱报告生成不再是单次模型输出，而是由规则命中、机器学习分类、智能体循环和长期记忆共同驱动的闭环流程。左侧先由总行月末跑批下发规则命中交易，机器学习模型给出关闭或可疑分类，并输出下发交易、分类结果和 top10 特征。中间的报告生成智能体会自动读取输入、组织上下文、调用 LLM、查询工具和历史资料，再把执行结果带回下一轮推理。右侧的长期记忆中心负责检索分行范式、历史报告、用户画像和推理轨迹；最终，可疑路径侧重解释高风险原因，关闭路径侧重驳斥命中理由，两条路径共同生成贴合分行习惯的个性化反洗钱报告。</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页的核心结论是：知识库的价值正在从“把内容存起来、搜出来”，升级为“理解用户意图，并返回真正相关的知识”。第一代专家系统依赖人工编写规则，适合确定性强的小范围问答，但维护成本高，业务一变规则就要重写。第二代搜索引擎解决了大规模文本命中问题，也是多数银行知识库的现状，但它依赖关键词字面匹配，用户换一种问法就可能召回不准。第三代向量知识库把问题和文档映射到语义空间，能够支撑大模型时代的语义检索、RAG 和智能助手，但它也把建设重点推向知识治理、切片质量、权限和可追溯。</a:t>
            </a:r>
          </a:p>
          <a:p>
            <a:endParaRPr lang="zh-CN" dirty="0"/>
          </a:p>
          <a:p>
            <a:r>
              <a:rPr lang="zh-CN" dirty="0"/>
              <a:t>要点：(1) 第一代靠规则，成本高且扩展慢；(2) 第二代靠关键词，覆盖广但语义弱；(3) 第三代靠向量空间，核心价值是按意图召回。</a:t>
            </a:r>
          </a:p>
          <a:p>
            <a:endParaRPr lang="zh-CN" dirty="0"/>
          </a:p>
          <a:p>
            <a:r>
              <a:rPr lang="zh-CN" dirty="0"/>
              <a:t>时长：约 1 分钟</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接下来进入“向量知识库建设情况”。本页重点围绕页面主题展开，先给出结论，再用页面中的结构化信息作为支撑，帮助听众快速理解工作价值与后续方向。</a:t>
            </a:r>
          </a:p>
          <a:p>
            <a:endParaRPr lang="zh-CN" dirty="0"/>
          </a:p>
          <a:p>
            <a:r>
              <a:rPr lang="zh-CN" dirty="0"/>
              <a:t>要点：① 结论先行 ② 结合页面结构说明关键证据 ③ 自然过渡到下一页</a:t>
            </a:r>
          </a:p>
          <a:p>
            <a:endParaRPr lang="zh-CN" dirty="0"/>
          </a:p>
          <a:p>
            <a:r>
              <a:rPr lang="zh-CN" dirty="0"/>
              <a:t>时长：1分钟</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项工作的核心背景，是两次大模型专题会把向量知识库建设从技术探索明确为数据治理和知识运营任务。三月二十日的专题会明确，对于行内数据，由数据管理部统筹建立向量知识库。七月三十一日的专题会进一步提出业务规划、可量化目标、建设范围、知识分类体系、内容质量控制以及工具试用研究等要求。也就是说，后续建设不仅要把库建起来，更要把内容标准、动态更新和运营机制同步建立起来。</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在任务要求牵引下，向量知识库已经完成关键建设节点，并形成可继续扩展的知识底座。二零二五年十一月，一期项目顺畅投产；二零二六年三月，前端功能完成全面优化。目前系统已支持两项 AI 问答场景，并同步推进三项新业务需求。截至二零二六年四月二十日，知识库已经沉淀九万九千四百九十三个有效文档、十万二千五百七十二个知识文档切片，文档总容量达到四点四六 GB。</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建设成效已经在营销、运营和风控三类业务场景中得到验证。个金营销组件面向客户经理智能问答助手，累计沉淀九百三十八个文档，支撑三千二百六十四次查询。渠运网点智慧响应面向柜面操作智能问答助手，文档规模达到八千四百四十一个，累计查询五十六万五千五百六十四次，是当前调用规模最高的场景。新增的个金网御系统场景面向风控智能问答助手，虽然文档规模较小，但已经形成一万次调用，说明小规模高相关知识集同样具备业务价值。</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下一阶段，工作重点将从建库投产进一步转向持续运营、深度整合与前沿探索。第一，持续做好内容沉淀、场景赋能和培训推广，让知识库在更多一线场景中产生服务价值。第二，推进与远银中心企业级知识库、BOCAI 内建知识库的系统对接和内容整合，打通知识流转渠道。第三，持续跟踪本体建模、知识图谱与大模型融合等前沿方向，为后续知识智能化能力升级预留空间。</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6.e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7.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3"/>
          <a:stretch>
            <a:fillRect/>
          </a:stretch>
        </p:blipFill>
        <p:spPr>
          <a:xfrm>
            <a:off x="0" y="0"/>
            <a:ext cx="12192000" cy="6858000"/>
          </a:xfrm>
          <a:prstGeom prst="rect">
            <a:avLst/>
          </a:prstGeom>
        </p:spPr>
      </p:pic>
      <p:pic>
        <p:nvPicPr>
          <p:cNvPr id="4" name="Image 4"/>
          <p:cNvPicPr>
            <a:picLocks noChangeAspect="1"/>
          </p:cNvPicPr>
          <p:nvPr/>
        </p:nvPicPr>
        <p:blipFill>
          <a:blip r:embed="rId4"/>
          <a:stretch>
            <a:fillRect/>
          </a:stretch>
        </p:blipFill>
        <p:spPr>
          <a:xfrm>
            <a:off x="9709785" y="419100"/>
            <a:ext cx="2012632" cy="571500"/>
          </a:xfrm>
          <a:prstGeom prst="rect">
            <a:avLst/>
          </a:prstGeom>
        </p:spPr>
      </p:pic>
      <p:grpSp>
        <p:nvGrpSpPr>
          <p:cNvPr id="8" name="coverText"/>
          <p:cNvGrpSpPr/>
          <p:nvPr/>
        </p:nvGrpSpPr>
        <p:grpSpPr>
          <a:xfrm>
            <a:off x="4876324" y="2562225"/>
            <a:ext cx="6325076" cy="1497806"/>
            <a:chOff x="4876324" y="2562225"/>
            <a:chExt cx="6325076" cy="1497806"/>
          </a:xfrm>
        </p:grpSpPr>
        <p:sp>
          <p:nvSpPr>
            <p:cNvPr id="5" name="TextBox 5"/>
            <p:cNvSpPr txBox="1"/>
            <p:nvPr/>
          </p:nvSpPr>
          <p:spPr>
            <a:xfrm>
              <a:off x="4876324" y="2562225"/>
              <a:ext cx="6325076" cy="914400"/>
            </a:xfrm>
            <a:prstGeom prst="rect">
              <a:avLst/>
            </a:prstGeom>
            <a:noFill/>
            <a:ln>
              <a:noFill/>
            </a:ln>
          </p:spPr>
          <p:txBody>
            <a:bodyPr wrap="none" lIns="0" tIns="0" rIns="0" bIns="0" anchor="t" anchorCtr="0">
              <a:spAutoFit/>
            </a:bodyPr>
            <a:lstStyle/>
            <a:p>
              <a:pPr algn="r"/>
              <a:r>
                <a:rPr lang="zh-CN" sz="4500" b="1" dirty="0">
                  <a:solidFill>
                    <a:srgbClr val="B40029"/>
                  </a:solidFill>
                  <a:latin typeface="Arial"/>
                  <a:ea typeface="SimHei"/>
                  <a:cs typeface="Arial"/>
                </a:rPr>
                <a:t>向量知识库工作汇报</a:t>
              </a:r>
            </a:p>
          </p:txBody>
        </p:sp>
        <p:sp>
          <p:nvSpPr>
            <p:cNvPr id="6" name="TextBox 6"/>
            <p:cNvSpPr txBox="1"/>
            <p:nvPr/>
          </p:nvSpPr>
          <p:spPr>
            <a:xfrm>
              <a:off x="8355330" y="3328988"/>
              <a:ext cx="2817495" cy="457200"/>
            </a:xfrm>
            <a:prstGeom prst="rect">
              <a:avLst/>
            </a:prstGeom>
            <a:noFill/>
            <a:ln>
              <a:noFill/>
            </a:ln>
          </p:spPr>
          <p:txBody>
            <a:bodyPr wrap="none" lIns="0" tIns="0" rIns="0" bIns="0" anchor="t" anchorCtr="0">
              <a:spAutoFit/>
            </a:bodyPr>
            <a:lstStyle/>
            <a:p>
              <a:pPr algn="r"/>
              <a:r>
                <a:rPr lang="zh-CN" sz="2250" b="1" dirty="0">
                  <a:solidFill>
                    <a:srgbClr val="1F2328"/>
                  </a:solidFill>
                  <a:latin typeface="Arial"/>
                  <a:ea typeface="SimHei"/>
                  <a:cs typeface="Arial"/>
                </a:rPr>
                <a:t>数据智能分析团队</a:t>
              </a:r>
            </a:p>
          </p:txBody>
        </p:sp>
        <p:sp>
          <p:nvSpPr>
            <p:cNvPr id="7" name="TextBox 7"/>
            <p:cNvSpPr txBox="1"/>
            <p:nvPr/>
          </p:nvSpPr>
          <p:spPr>
            <a:xfrm>
              <a:off x="10310485" y="3831431"/>
              <a:ext cx="848052" cy="228600"/>
            </a:xfrm>
            <a:prstGeom prst="rect">
              <a:avLst/>
            </a:prstGeom>
            <a:noFill/>
            <a:ln>
              <a:noFill/>
            </a:ln>
          </p:spPr>
          <p:txBody>
            <a:bodyPr wrap="none" lIns="0" tIns="0" rIns="0" bIns="0" anchor="t" anchorCtr="0">
              <a:spAutoFit/>
            </a:bodyPr>
            <a:lstStyle/>
            <a:p>
              <a:pPr algn="r"/>
              <a:r>
                <a:rPr lang="zh-CN" sz="1125" b="1" dirty="0">
                  <a:solidFill>
                    <a:srgbClr val="5F6368"/>
                  </a:solidFill>
                  <a:latin typeface="Arial"/>
                  <a:ea typeface="Microsoft YaHei"/>
                  <a:cs typeface="Arial"/>
                </a:rPr>
                <a:t>2026年4月</a:t>
              </a:r>
            </a:p>
          </p:txBody>
        </p:sp>
      </p:gr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3"/>
          <a:stretch>
            <a:fillRect/>
          </a:stretch>
        </p:blipFill>
        <p:spPr>
          <a:xfrm>
            <a:off x="0" y="0"/>
            <a:ext cx="12192000" cy="6858000"/>
          </a:xfrm>
          <a:prstGeom prst="rect">
            <a:avLst/>
          </a:prstGeom>
        </p:spPr>
      </p:pic>
      <p:pic>
        <p:nvPicPr>
          <p:cNvPr id="4" name="Image 4"/>
          <p:cNvPicPr>
            <a:picLocks noChangeAspect="1"/>
          </p:cNvPicPr>
          <p:nvPr/>
        </p:nvPicPr>
        <p:blipFill>
          <a:blip r:embed="rId4"/>
          <a:stretch>
            <a:fillRect/>
          </a:stretch>
        </p:blipFill>
        <p:spPr>
          <a:xfrm>
            <a:off x="9709785" y="419100"/>
            <a:ext cx="2012632" cy="571500"/>
          </a:xfrm>
          <a:prstGeom prst="rect">
            <a:avLst/>
          </a:prstGeom>
        </p:spPr>
      </p:pic>
      <p:sp>
        <p:nvSpPr>
          <p:cNvPr id="5" name="TextBox 5"/>
          <p:cNvSpPr txBox="1"/>
          <p:nvPr/>
        </p:nvSpPr>
        <p:spPr>
          <a:xfrm>
            <a:off x="843915" y="791528"/>
            <a:ext cx="846868" cy="518160"/>
          </a:xfrm>
          <a:prstGeom prst="rect">
            <a:avLst/>
          </a:prstGeom>
          <a:noFill/>
          <a:ln>
            <a:noFill/>
          </a:ln>
        </p:spPr>
        <p:txBody>
          <a:bodyPr wrap="none" lIns="0" tIns="0" rIns="0" bIns="0" anchor="t" anchorCtr="0">
            <a:spAutoFit/>
          </a:bodyPr>
          <a:lstStyle/>
          <a:p>
            <a:pPr algn="l"/>
            <a:r>
              <a:rPr lang="zh-CN" sz="2550" b="1" dirty="0">
                <a:solidFill>
                  <a:srgbClr val="1F2328"/>
                </a:solidFill>
                <a:latin typeface="Arial"/>
                <a:ea typeface="SimHei"/>
                <a:cs typeface="Arial"/>
              </a:rPr>
              <a:t>目录</a:t>
            </a:r>
          </a:p>
        </p:txBody>
      </p:sp>
      <p:sp>
        <p:nvSpPr>
          <p:cNvPr id="6" name="TextBox 6"/>
          <p:cNvSpPr txBox="1"/>
          <p:nvPr/>
        </p:nvSpPr>
        <p:spPr>
          <a:xfrm>
            <a:off x="882968" y="1275874"/>
            <a:ext cx="679799" cy="198120"/>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Microsoft YaHei"/>
                <a:cs typeface="Arial"/>
              </a:rPr>
              <a:t>CONTENTS</a:t>
            </a:r>
          </a:p>
        </p:txBody>
      </p:sp>
      <p:sp>
        <p:nvSpPr>
          <p:cNvPr id="7" name="Line 7"/>
          <p:cNvSpPr/>
          <p:nvPr/>
        </p:nvSpPr>
        <p:spPr>
          <a:xfrm>
            <a:off x="876300" y="1581150"/>
            <a:ext cx="2171700" cy="1"/>
          </a:xfrm>
          <a:prstGeom prst="line">
            <a:avLst/>
          </a:prstGeom>
          <a:noFill/>
          <a:ln w="38100">
            <a:solidFill>
              <a:srgbClr val="A50021"/>
            </a:solidFill>
          </a:ln>
        </p:spPr>
      </p:sp>
      <p:grpSp>
        <p:nvGrpSpPr>
          <p:cNvPr id="11" name="toc-1"/>
          <p:cNvGrpSpPr/>
          <p:nvPr/>
        </p:nvGrpSpPr>
        <p:grpSpPr>
          <a:xfrm>
            <a:off x="1110615" y="1855471"/>
            <a:ext cx="5542788" cy="518160"/>
            <a:chOff x="1110615" y="1677352"/>
            <a:chExt cx="5542788" cy="518160"/>
          </a:xfrm>
        </p:grpSpPr>
        <p:sp>
          <p:nvSpPr>
            <p:cNvPr id="8" name="TextBox 8"/>
            <p:cNvSpPr txBox="1"/>
            <p:nvPr/>
          </p:nvSpPr>
          <p:spPr>
            <a:xfrm>
              <a:off x="1110615" y="1677352"/>
              <a:ext cx="397162" cy="518160"/>
            </a:xfrm>
            <a:prstGeom prst="rect">
              <a:avLst/>
            </a:prstGeom>
            <a:noFill/>
            <a:ln>
              <a:noFill/>
            </a:ln>
          </p:spPr>
          <p:txBody>
            <a:bodyPr wrap="none" lIns="0" tIns="0" rIns="0" bIns="0" anchor="t" anchorCtr="0">
              <a:spAutoFit/>
            </a:bodyPr>
            <a:lstStyle/>
            <a:p>
              <a:pPr algn="l"/>
              <a:r>
                <a:rPr lang="zh-CN" sz="2550" b="1" dirty="0">
                  <a:solidFill>
                    <a:srgbClr val="A50021"/>
                  </a:solidFill>
                  <a:latin typeface="Arial"/>
                  <a:ea typeface="Microsoft YaHei"/>
                  <a:cs typeface="Arial"/>
                </a:rPr>
                <a:t>01</a:t>
              </a:r>
            </a:p>
          </p:txBody>
        </p:sp>
        <p:sp>
          <p:nvSpPr>
            <p:cNvPr id="9" name="Line 9"/>
            <p:cNvSpPr/>
            <p:nvPr/>
          </p:nvSpPr>
          <p:spPr>
            <a:xfrm>
              <a:off x="1809750" y="1838325"/>
              <a:ext cx="666750" cy="1"/>
            </a:xfrm>
            <a:prstGeom prst="line">
              <a:avLst/>
            </a:prstGeom>
            <a:noFill/>
            <a:ln w="28575">
              <a:solidFill>
                <a:srgbClr val="B08A3C"/>
              </a:solidFill>
            </a:ln>
          </p:spPr>
        </p:sp>
        <p:sp>
          <p:nvSpPr>
            <p:cNvPr id="10" name="TextBox 10"/>
            <p:cNvSpPr txBox="1"/>
            <p:nvPr/>
          </p:nvSpPr>
          <p:spPr>
            <a:xfrm>
              <a:off x="2735580" y="1725930"/>
              <a:ext cx="3917823" cy="426720"/>
            </a:xfrm>
            <a:prstGeom prst="rect">
              <a:avLst/>
            </a:prstGeom>
            <a:noFill/>
            <a:ln>
              <a:noFill/>
            </a:ln>
          </p:spPr>
          <p:txBody>
            <a:bodyPr wrap="none" lIns="0" tIns="0" rIns="0" bIns="0" anchor="t" anchorCtr="0">
              <a:spAutoFit/>
            </a:bodyPr>
            <a:lstStyle/>
            <a:p>
              <a:pPr algn="l"/>
              <a:r>
                <a:rPr lang="zh-CN" sz="2100" b="1" dirty="0">
                  <a:solidFill>
                    <a:srgbClr val="1F2328"/>
                  </a:solidFill>
                  <a:latin typeface="Arial"/>
                  <a:ea typeface="SimHei"/>
                  <a:cs typeface="Arial"/>
                </a:rPr>
                <a:t>向量、大模型和智能体介绍</a:t>
              </a:r>
            </a:p>
          </p:txBody>
        </p:sp>
      </p:grpSp>
      <p:grpSp>
        <p:nvGrpSpPr>
          <p:cNvPr id="15" name="toc-2"/>
          <p:cNvGrpSpPr/>
          <p:nvPr/>
        </p:nvGrpSpPr>
        <p:grpSpPr>
          <a:xfrm>
            <a:off x="1110615" y="2598421"/>
            <a:ext cx="4576667" cy="518160"/>
            <a:chOff x="1110615" y="2420302"/>
            <a:chExt cx="4576667" cy="518160"/>
          </a:xfrm>
        </p:grpSpPr>
        <p:sp>
          <p:nvSpPr>
            <p:cNvPr id="12" name="TextBox 12"/>
            <p:cNvSpPr txBox="1"/>
            <p:nvPr/>
          </p:nvSpPr>
          <p:spPr>
            <a:xfrm>
              <a:off x="1110615" y="2420302"/>
              <a:ext cx="494924" cy="518160"/>
            </a:xfrm>
            <a:prstGeom prst="rect">
              <a:avLst/>
            </a:prstGeom>
            <a:noFill/>
            <a:ln>
              <a:noFill/>
            </a:ln>
          </p:spPr>
          <p:txBody>
            <a:bodyPr wrap="none" lIns="0" tIns="0" rIns="0" bIns="0" anchor="t" anchorCtr="0">
              <a:spAutoFit/>
            </a:bodyPr>
            <a:lstStyle/>
            <a:p>
              <a:pPr algn="l"/>
              <a:r>
                <a:rPr lang="zh-CN" sz="2550" b="1" dirty="0">
                  <a:solidFill>
                    <a:srgbClr val="A50021"/>
                  </a:solidFill>
                  <a:latin typeface="Arial"/>
                  <a:ea typeface="Microsoft YaHei"/>
                  <a:cs typeface="Arial"/>
                </a:rPr>
                <a:t>02</a:t>
              </a:r>
            </a:p>
          </p:txBody>
        </p:sp>
        <p:sp>
          <p:nvSpPr>
            <p:cNvPr id="13" name="Line 13"/>
            <p:cNvSpPr/>
            <p:nvPr/>
          </p:nvSpPr>
          <p:spPr>
            <a:xfrm>
              <a:off x="1809750" y="2581275"/>
              <a:ext cx="666750" cy="1"/>
            </a:xfrm>
            <a:prstGeom prst="line">
              <a:avLst/>
            </a:prstGeom>
            <a:noFill/>
            <a:ln w="28575">
              <a:solidFill>
                <a:srgbClr val="B08A3C"/>
              </a:solidFill>
            </a:ln>
          </p:spPr>
        </p:sp>
        <p:sp>
          <p:nvSpPr>
            <p:cNvPr id="14" name="TextBox 14"/>
            <p:cNvSpPr txBox="1"/>
            <p:nvPr/>
          </p:nvSpPr>
          <p:spPr>
            <a:xfrm>
              <a:off x="2735580" y="2468880"/>
              <a:ext cx="2951702" cy="426720"/>
            </a:xfrm>
            <a:prstGeom prst="rect">
              <a:avLst/>
            </a:prstGeom>
            <a:noFill/>
            <a:ln>
              <a:noFill/>
            </a:ln>
          </p:spPr>
          <p:txBody>
            <a:bodyPr wrap="none" lIns="0" tIns="0" rIns="0" bIns="0" anchor="t" anchorCtr="0">
              <a:spAutoFit/>
            </a:bodyPr>
            <a:lstStyle/>
            <a:p>
              <a:pPr algn="l"/>
              <a:r>
                <a:rPr lang="zh-CN" sz="2100" b="1" dirty="0">
                  <a:solidFill>
                    <a:srgbClr val="1F2328"/>
                  </a:solidFill>
                  <a:latin typeface="Arial"/>
                  <a:ea typeface="SimHei"/>
                  <a:cs typeface="Arial"/>
                </a:rPr>
                <a:t>向量知识库建设情况</a:t>
              </a:r>
            </a:p>
          </p:txBody>
        </p:sp>
      </p:grpSp>
      <p:grpSp>
        <p:nvGrpSpPr>
          <p:cNvPr id="19" name="toc-3"/>
          <p:cNvGrpSpPr/>
          <p:nvPr/>
        </p:nvGrpSpPr>
        <p:grpSpPr>
          <a:xfrm>
            <a:off x="1110615" y="3341371"/>
            <a:ext cx="3610546" cy="518160"/>
            <a:chOff x="1110615" y="3163252"/>
            <a:chExt cx="3610546" cy="518160"/>
          </a:xfrm>
        </p:grpSpPr>
        <p:sp>
          <p:nvSpPr>
            <p:cNvPr id="16" name="TextBox 16"/>
            <p:cNvSpPr txBox="1"/>
            <p:nvPr/>
          </p:nvSpPr>
          <p:spPr>
            <a:xfrm>
              <a:off x="1110615" y="3163252"/>
              <a:ext cx="494924" cy="518160"/>
            </a:xfrm>
            <a:prstGeom prst="rect">
              <a:avLst/>
            </a:prstGeom>
            <a:noFill/>
            <a:ln>
              <a:noFill/>
            </a:ln>
          </p:spPr>
          <p:txBody>
            <a:bodyPr wrap="none" lIns="0" tIns="0" rIns="0" bIns="0" anchor="t" anchorCtr="0">
              <a:spAutoFit/>
            </a:bodyPr>
            <a:lstStyle/>
            <a:p>
              <a:pPr algn="l"/>
              <a:r>
                <a:rPr lang="zh-CN" sz="2550" b="1" dirty="0">
                  <a:solidFill>
                    <a:srgbClr val="A50021"/>
                  </a:solidFill>
                  <a:latin typeface="Arial"/>
                  <a:ea typeface="Microsoft YaHei"/>
                  <a:cs typeface="Arial"/>
                </a:rPr>
                <a:t>03</a:t>
              </a:r>
            </a:p>
          </p:txBody>
        </p:sp>
        <p:sp>
          <p:nvSpPr>
            <p:cNvPr id="17" name="Line 17"/>
            <p:cNvSpPr/>
            <p:nvPr/>
          </p:nvSpPr>
          <p:spPr>
            <a:xfrm>
              <a:off x="1809750" y="3324225"/>
              <a:ext cx="666750" cy="1"/>
            </a:xfrm>
            <a:prstGeom prst="line">
              <a:avLst/>
            </a:prstGeom>
            <a:noFill/>
            <a:ln w="28575">
              <a:solidFill>
                <a:srgbClr val="B08A3C"/>
              </a:solidFill>
            </a:ln>
          </p:spPr>
        </p:sp>
        <p:sp>
          <p:nvSpPr>
            <p:cNvPr id="18" name="TextBox 18"/>
            <p:cNvSpPr txBox="1"/>
            <p:nvPr/>
          </p:nvSpPr>
          <p:spPr>
            <a:xfrm>
              <a:off x="2735580" y="3211830"/>
              <a:ext cx="1985581" cy="426720"/>
            </a:xfrm>
            <a:prstGeom prst="rect">
              <a:avLst/>
            </a:prstGeom>
            <a:noFill/>
            <a:ln>
              <a:noFill/>
            </a:ln>
          </p:spPr>
          <p:txBody>
            <a:bodyPr wrap="none" lIns="0" tIns="0" rIns="0" bIns="0" anchor="t" anchorCtr="0">
              <a:spAutoFit/>
            </a:bodyPr>
            <a:lstStyle/>
            <a:p>
              <a:pPr algn="l"/>
              <a:r>
                <a:rPr lang="zh-CN" sz="2100" b="1" dirty="0">
                  <a:solidFill>
                    <a:srgbClr val="1F2328"/>
                  </a:solidFill>
                  <a:latin typeface="Arial"/>
                  <a:ea typeface="SimHei"/>
                  <a:cs typeface="Arial"/>
                </a:rPr>
                <a:t>同业落地实践</a:t>
              </a:r>
            </a:p>
          </p:txBody>
        </p:sp>
      </p:grpSp>
      <p:grpSp>
        <p:nvGrpSpPr>
          <p:cNvPr id="23" name="toc-4"/>
          <p:cNvGrpSpPr/>
          <p:nvPr/>
        </p:nvGrpSpPr>
        <p:grpSpPr>
          <a:xfrm>
            <a:off x="1110615" y="4084321"/>
            <a:ext cx="3610546" cy="518160"/>
            <a:chOff x="1110615" y="3906202"/>
            <a:chExt cx="3610546" cy="518160"/>
          </a:xfrm>
        </p:grpSpPr>
        <p:sp>
          <p:nvSpPr>
            <p:cNvPr id="20" name="TextBox 20"/>
            <p:cNvSpPr txBox="1"/>
            <p:nvPr/>
          </p:nvSpPr>
          <p:spPr>
            <a:xfrm>
              <a:off x="1110615" y="3906202"/>
              <a:ext cx="494924" cy="518160"/>
            </a:xfrm>
            <a:prstGeom prst="rect">
              <a:avLst/>
            </a:prstGeom>
            <a:noFill/>
            <a:ln>
              <a:noFill/>
            </a:ln>
          </p:spPr>
          <p:txBody>
            <a:bodyPr wrap="none" lIns="0" tIns="0" rIns="0" bIns="0" anchor="t" anchorCtr="0">
              <a:spAutoFit/>
            </a:bodyPr>
            <a:lstStyle/>
            <a:p>
              <a:pPr algn="l"/>
              <a:r>
                <a:rPr lang="zh-CN" sz="2550" b="1" dirty="0">
                  <a:solidFill>
                    <a:srgbClr val="A50021"/>
                  </a:solidFill>
                  <a:latin typeface="Arial"/>
                  <a:ea typeface="Microsoft YaHei"/>
                  <a:cs typeface="Arial"/>
                </a:rPr>
                <a:t>04</a:t>
              </a:r>
            </a:p>
          </p:txBody>
        </p:sp>
        <p:sp>
          <p:nvSpPr>
            <p:cNvPr id="21" name="Line 21"/>
            <p:cNvSpPr/>
            <p:nvPr/>
          </p:nvSpPr>
          <p:spPr>
            <a:xfrm>
              <a:off x="1809750" y="4067175"/>
              <a:ext cx="666750" cy="1"/>
            </a:xfrm>
            <a:prstGeom prst="line">
              <a:avLst/>
            </a:prstGeom>
            <a:noFill/>
            <a:ln w="28575">
              <a:solidFill>
                <a:srgbClr val="B08A3C"/>
              </a:solidFill>
            </a:ln>
          </p:spPr>
        </p:sp>
        <p:sp>
          <p:nvSpPr>
            <p:cNvPr id="22" name="TextBox 22"/>
            <p:cNvSpPr txBox="1"/>
            <p:nvPr/>
          </p:nvSpPr>
          <p:spPr>
            <a:xfrm>
              <a:off x="2735580" y="3954780"/>
              <a:ext cx="1985581" cy="426720"/>
            </a:xfrm>
            <a:prstGeom prst="rect">
              <a:avLst/>
            </a:prstGeom>
            <a:noFill/>
            <a:ln>
              <a:noFill/>
            </a:ln>
          </p:spPr>
          <p:txBody>
            <a:bodyPr wrap="none" lIns="0" tIns="0" rIns="0" bIns="0" anchor="t" anchorCtr="0">
              <a:spAutoFit/>
            </a:bodyPr>
            <a:lstStyle/>
            <a:p>
              <a:pPr algn="l"/>
              <a:r>
                <a:rPr lang="zh-CN" sz="2100" b="1" dirty="0">
                  <a:solidFill>
                    <a:srgbClr val="1F2328"/>
                  </a:solidFill>
                  <a:latin typeface="Arial"/>
                  <a:ea typeface="SimHei"/>
                  <a:cs typeface="Arial"/>
                </a:rPr>
                <a:t>金融本体建模</a:t>
              </a:r>
            </a:p>
          </p:txBody>
        </p:sp>
      </p:grpSp>
      <p:grpSp>
        <p:nvGrpSpPr>
          <p:cNvPr id="27" name="toc-5"/>
          <p:cNvGrpSpPr/>
          <p:nvPr/>
        </p:nvGrpSpPr>
        <p:grpSpPr>
          <a:xfrm>
            <a:off x="1110615" y="4827271"/>
            <a:ext cx="3288506" cy="518160"/>
            <a:chOff x="1110615" y="4649152"/>
            <a:chExt cx="3288506" cy="518160"/>
          </a:xfrm>
        </p:grpSpPr>
        <p:sp>
          <p:nvSpPr>
            <p:cNvPr id="24" name="TextBox 24"/>
            <p:cNvSpPr txBox="1"/>
            <p:nvPr/>
          </p:nvSpPr>
          <p:spPr>
            <a:xfrm>
              <a:off x="1110615" y="4649152"/>
              <a:ext cx="494924" cy="518160"/>
            </a:xfrm>
            <a:prstGeom prst="rect">
              <a:avLst/>
            </a:prstGeom>
            <a:noFill/>
            <a:ln>
              <a:noFill/>
            </a:ln>
          </p:spPr>
          <p:txBody>
            <a:bodyPr wrap="none" lIns="0" tIns="0" rIns="0" bIns="0" anchor="t" anchorCtr="0">
              <a:spAutoFit/>
            </a:bodyPr>
            <a:lstStyle/>
            <a:p>
              <a:pPr algn="l"/>
              <a:r>
                <a:rPr lang="zh-CN" sz="2550" b="1" dirty="0">
                  <a:solidFill>
                    <a:srgbClr val="A50021"/>
                  </a:solidFill>
                  <a:latin typeface="Arial"/>
                  <a:ea typeface="Microsoft YaHei"/>
                  <a:cs typeface="Arial"/>
                </a:rPr>
                <a:t>05</a:t>
              </a:r>
            </a:p>
          </p:txBody>
        </p:sp>
        <p:sp>
          <p:nvSpPr>
            <p:cNvPr id="25" name="Line 25"/>
            <p:cNvSpPr/>
            <p:nvPr/>
          </p:nvSpPr>
          <p:spPr>
            <a:xfrm>
              <a:off x="1809750" y="4810125"/>
              <a:ext cx="666750" cy="1"/>
            </a:xfrm>
            <a:prstGeom prst="line">
              <a:avLst/>
            </a:prstGeom>
            <a:noFill/>
            <a:ln w="28575">
              <a:solidFill>
                <a:srgbClr val="B08A3C"/>
              </a:solidFill>
            </a:ln>
          </p:spPr>
        </p:sp>
        <p:sp>
          <p:nvSpPr>
            <p:cNvPr id="26" name="TextBox 26"/>
            <p:cNvSpPr txBox="1"/>
            <p:nvPr/>
          </p:nvSpPr>
          <p:spPr>
            <a:xfrm>
              <a:off x="2735580" y="4697730"/>
              <a:ext cx="1663541" cy="426720"/>
            </a:xfrm>
            <a:prstGeom prst="rect">
              <a:avLst/>
            </a:prstGeom>
            <a:noFill/>
            <a:ln>
              <a:noFill/>
            </a:ln>
          </p:spPr>
          <p:txBody>
            <a:bodyPr wrap="none" lIns="0" tIns="0" rIns="0" bIns="0" anchor="t" anchorCtr="0">
              <a:spAutoFit/>
            </a:bodyPr>
            <a:lstStyle/>
            <a:p>
              <a:pPr algn="l"/>
              <a:r>
                <a:rPr lang="zh-CN" sz="2100" b="1" dirty="0">
                  <a:solidFill>
                    <a:srgbClr val="1F2328"/>
                  </a:solidFill>
                  <a:latin typeface="Arial"/>
                  <a:ea typeface="SimHei"/>
                  <a:cs typeface="Arial"/>
                </a:rPr>
                <a:t>总结与展望</a:t>
              </a:r>
            </a:p>
          </p:txBody>
        </p:sp>
      </p:grpSp>
      <p:grpSp>
        <p:nvGrpSpPr>
          <p:cNvPr id="30" name="footer"/>
          <p:cNvGrpSpPr/>
          <p:nvPr/>
        </p:nvGrpSpPr>
        <p:grpSpPr>
          <a:xfrm>
            <a:off x="571500" y="6286500"/>
            <a:ext cx="11049000" cy="385762"/>
            <a:chOff x="571500" y="6286500"/>
            <a:chExt cx="11049000" cy="385762"/>
          </a:xfrm>
        </p:grpSpPr>
        <p:sp>
          <p:nvSpPr>
            <p:cNvPr id="28" name="Line 28"/>
            <p:cNvSpPr/>
            <p:nvPr/>
          </p:nvSpPr>
          <p:spPr>
            <a:xfrm>
              <a:off x="571500" y="6286500"/>
              <a:ext cx="11049000" cy="1"/>
            </a:xfrm>
            <a:prstGeom prst="line">
              <a:avLst/>
            </a:prstGeom>
            <a:noFill/>
            <a:ln w="9525">
              <a:solidFill>
                <a:srgbClr val="E4E7EB"/>
              </a:solidFill>
            </a:ln>
          </p:spPr>
        </p:sp>
        <p:sp>
          <p:nvSpPr>
            <p:cNvPr id="29" name="TextBox 29"/>
            <p:cNvSpPr txBox="1"/>
            <p:nvPr/>
          </p:nvSpPr>
          <p:spPr>
            <a:xfrm>
              <a:off x="5825800" y="6458902"/>
              <a:ext cx="540401"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Arial"/>
                  <a:ea typeface="Microsoft YaHei"/>
                  <a:cs typeface="Arial"/>
                </a:rPr>
                <a:t>02 / 27</a:t>
              </a:r>
            </a:p>
          </p:txBody>
        </p:sp>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3"/>
          <a:stretch>
            <a:fillRect/>
          </a:stretch>
        </p:blipFill>
        <p:spPr>
          <a:xfrm>
            <a:off x="0" y="0"/>
            <a:ext cx="12192000" cy="6858000"/>
          </a:xfrm>
          <a:prstGeom prst="rect">
            <a:avLst/>
          </a:prstGeom>
        </p:spPr>
      </p:pic>
      <p:pic>
        <p:nvPicPr>
          <p:cNvPr id="4" name="Image 4"/>
          <p:cNvPicPr>
            <a:picLocks noChangeAspect="1"/>
          </p:cNvPicPr>
          <p:nvPr/>
        </p:nvPicPr>
        <p:blipFill>
          <a:blip r:embed="rId4"/>
          <a:stretch>
            <a:fillRect/>
          </a:stretch>
        </p:blipFill>
        <p:spPr>
          <a:xfrm>
            <a:off x="9709785" y="419100"/>
            <a:ext cx="2012632" cy="571500"/>
          </a:xfrm>
          <a:prstGeom prst="rect">
            <a:avLst/>
          </a:prstGeom>
        </p:spPr>
      </p:pic>
      <p:grpSp>
        <p:nvGrpSpPr>
          <p:cNvPr id="8" name="chapterTitle"/>
          <p:cNvGrpSpPr/>
          <p:nvPr/>
        </p:nvGrpSpPr>
        <p:grpSpPr>
          <a:xfrm>
            <a:off x="2737866" y="2632710"/>
            <a:ext cx="6716268" cy="1520190"/>
            <a:chOff x="2737866" y="2632710"/>
            <a:chExt cx="6716268" cy="1520190"/>
          </a:xfrm>
        </p:grpSpPr>
        <p:sp>
          <p:nvSpPr>
            <p:cNvPr id="5" name="TextBox 5"/>
            <p:cNvSpPr txBox="1"/>
            <p:nvPr/>
          </p:nvSpPr>
          <p:spPr>
            <a:xfrm>
              <a:off x="5695188" y="2632710"/>
              <a:ext cx="801624" cy="243840"/>
            </a:xfrm>
            <a:prstGeom prst="rect">
              <a:avLst/>
            </a:prstGeom>
            <a:noFill/>
            <a:ln>
              <a:noFill/>
            </a:ln>
          </p:spPr>
          <p:txBody>
            <a:bodyPr wrap="none" lIns="0" tIns="0" rIns="0" bIns="0" anchor="t" anchorCtr="0">
              <a:spAutoFit/>
            </a:bodyPr>
            <a:lstStyle/>
            <a:p>
              <a:pPr algn="ctr"/>
              <a:r>
                <a:rPr lang="zh-CN" sz="1200" dirty="0">
                  <a:solidFill>
                    <a:srgbClr val="B40029"/>
                  </a:solidFill>
                  <a:latin typeface="Arial"/>
                  <a:ea typeface="Microsoft YaHei"/>
                  <a:cs typeface="Arial"/>
                </a:rPr>
                <a:t>SECTION 1</a:t>
              </a:r>
            </a:p>
          </p:txBody>
        </p:sp>
        <p:sp>
          <p:nvSpPr>
            <p:cNvPr id="6" name="Line 6"/>
            <p:cNvSpPr/>
            <p:nvPr/>
          </p:nvSpPr>
          <p:spPr>
            <a:xfrm>
              <a:off x="5143500" y="3048000"/>
              <a:ext cx="1905000" cy="1"/>
            </a:xfrm>
            <a:prstGeom prst="line">
              <a:avLst/>
            </a:prstGeom>
            <a:noFill/>
            <a:ln w="47625">
              <a:solidFill>
                <a:srgbClr val="B40029"/>
              </a:solidFill>
            </a:ln>
          </p:spPr>
        </p:sp>
        <p:sp>
          <p:nvSpPr>
            <p:cNvPr id="7" name="TextBox 7"/>
            <p:cNvSpPr txBox="1"/>
            <p:nvPr/>
          </p:nvSpPr>
          <p:spPr>
            <a:xfrm>
              <a:off x="2737866" y="3421380"/>
              <a:ext cx="6716268" cy="731520"/>
            </a:xfrm>
            <a:prstGeom prst="rect">
              <a:avLst/>
            </a:prstGeom>
            <a:noFill/>
            <a:ln>
              <a:noFill/>
            </a:ln>
          </p:spPr>
          <p:txBody>
            <a:bodyPr wrap="none" lIns="0" tIns="0" rIns="0" bIns="0" anchor="t" anchorCtr="0">
              <a:spAutoFit/>
            </a:bodyPr>
            <a:lstStyle/>
            <a:p>
              <a:pPr algn="ctr"/>
              <a:r>
                <a:rPr lang="zh-CN" sz="3600" b="1" dirty="0">
                  <a:solidFill>
                    <a:srgbClr val="1F2328"/>
                  </a:solidFill>
                  <a:latin typeface="Arial"/>
                  <a:ea typeface="SimHei"/>
                  <a:cs typeface="Arial"/>
                </a:rPr>
                <a:t>向量、大模型和智能体介绍</a:t>
              </a:r>
            </a:p>
          </p:txBody>
        </p:sp>
      </p:grpSp>
      <p:grpSp>
        <p:nvGrpSpPr>
          <p:cNvPr id="11" name="footer"/>
          <p:cNvGrpSpPr/>
          <p:nvPr/>
        </p:nvGrpSpPr>
        <p:grpSpPr>
          <a:xfrm>
            <a:off x="571500" y="6286500"/>
            <a:ext cx="11049000" cy="385762"/>
            <a:chOff x="571500" y="6286500"/>
            <a:chExt cx="11049000" cy="385762"/>
          </a:xfrm>
        </p:grpSpPr>
        <p:sp>
          <p:nvSpPr>
            <p:cNvPr id="9" name="Line 9"/>
            <p:cNvSpPr/>
            <p:nvPr/>
          </p:nvSpPr>
          <p:spPr>
            <a:xfrm>
              <a:off x="571500" y="6286500"/>
              <a:ext cx="11049000" cy="1"/>
            </a:xfrm>
            <a:prstGeom prst="line">
              <a:avLst/>
            </a:prstGeom>
            <a:noFill/>
            <a:ln w="9525">
              <a:solidFill>
                <a:srgbClr val="E4E7EB"/>
              </a:solidFill>
            </a:ln>
          </p:spPr>
        </p:sp>
        <p:sp>
          <p:nvSpPr>
            <p:cNvPr id="10" name="TextBox 10"/>
            <p:cNvSpPr txBox="1"/>
            <p:nvPr/>
          </p:nvSpPr>
          <p:spPr>
            <a:xfrm>
              <a:off x="5825800" y="6458902"/>
              <a:ext cx="540401"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Arial"/>
                  <a:ea typeface="Microsoft YaHei"/>
                  <a:cs typeface="Arial"/>
                </a:rPr>
                <a:t>03 / 27</a:t>
              </a:r>
            </a:p>
          </p:txBody>
        </p:sp>
      </p:gr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3"/>
          <p:cNvPicPr>
            <a:picLocks noChangeAspect="1"/>
          </p:cNvPicPr>
          <p:nvPr/>
        </p:nvPicPr>
        <p:blipFill>
          <a:blip r:embed="rId3"/>
          <a:stretch>
            <a:fillRect/>
          </a:stretch>
        </p:blipFill>
        <p:spPr>
          <a:xfrm>
            <a:off x="9705234" y="419100"/>
            <a:ext cx="2020783" cy="571500"/>
          </a:xfrm>
          <a:prstGeom prst="rect">
            <a:avLst/>
          </a:prstGeom>
        </p:spPr>
      </p:pic>
      <p:sp>
        <p:nvSpPr>
          <p:cNvPr id="4" name="TextBox 4"/>
          <p:cNvSpPr txBox="1"/>
          <p:nvPr/>
        </p:nvSpPr>
        <p:spPr>
          <a:xfrm>
            <a:off x="657225" y="519112"/>
            <a:ext cx="5922883" cy="457200"/>
          </a:xfrm>
          <a:prstGeom prst="rect">
            <a:avLst/>
          </a:prstGeom>
          <a:noFill/>
          <a:ln>
            <a:noFill/>
          </a:ln>
        </p:spPr>
        <p:txBody>
          <a:bodyPr wrap="none" lIns="0" tIns="0" rIns="0" bIns="0" anchor="t" anchorCtr="0">
            <a:spAutoFit/>
          </a:bodyPr>
          <a:lstStyle/>
          <a:p>
            <a:pPr algn="l"/>
            <a:r>
              <a:rPr lang="zh-CN" sz="2250" b="1" dirty="0">
                <a:solidFill>
                  <a:srgbClr val="1F2328"/>
                </a:solidFill>
                <a:latin typeface="Arial"/>
                <a:ea typeface="SimHei"/>
                <a:cs typeface="Arial"/>
              </a:rPr>
              <a:t>什么是向量：概念在语义空间中的坐标</a:t>
            </a:r>
          </a:p>
        </p:txBody>
      </p:sp>
      <p:sp>
        <p:nvSpPr>
          <p:cNvPr id="5" name="Line 5"/>
          <p:cNvSpPr/>
          <p:nvPr/>
        </p:nvSpPr>
        <p:spPr>
          <a:xfrm>
            <a:off x="685800" y="933450"/>
            <a:ext cx="2171700" cy="9525"/>
          </a:xfrm>
          <a:custGeom>
            <a:avLst/>
            <a:gdLst/>
            <a:ahLst/>
            <a:cxnLst/>
            <a:rect l="l" t="t" r="r" b="b"/>
            <a:pathLst>
              <a:path w="2171700" h="9525">
                <a:moveTo>
                  <a:pt x="0" y="0"/>
                </a:moveTo>
                <a:lnTo>
                  <a:pt x="2171700" y="0"/>
                </a:lnTo>
              </a:path>
            </a:pathLst>
          </a:custGeom>
          <a:noFill/>
          <a:ln w="28575">
            <a:solidFill>
              <a:srgbClr val="A50021"/>
            </a:solidFill>
          </a:ln>
        </p:spPr>
      </p:sp>
      <p:sp>
        <p:nvSpPr>
          <p:cNvPr id="6" name="TextBox 6"/>
          <p:cNvSpPr txBox="1"/>
          <p:nvPr/>
        </p:nvSpPr>
        <p:spPr>
          <a:xfrm>
            <a:off x="673418" y="1047274"/>
            <a:ext cx="4439126"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机器并不直接理解文字；它通过向量坐标计算概念之间的距离与相似性</a:t>
            </a:r>
          </a:p>
        </p:txBody>
      </p:sp>
      <p:sp>
        <p:nvSpPr>
          <p:cNvPr id="8" name="Rectangle 8"/>
          <p:cNvSpPr/>
          <p:nvPr/>
        </p:nvSpPr>
        <p:spPr>
          <a:xfrm>
            <a:off x="533400" y="1371600"/>
            <a:ext cx="3409950" cy="1562100"/>
          </a:xfrm>
          <a:prstGeom prst="roundRect">
            <a:avLst>
              <a:gd name="adj" fmla="val 6098"/>
            </a:avLst>
          </a:prstGeom>
          <a:solidFill>
            <a:srgbClr val="F8F9FA"/>
          </a:solidFill>
          <a:ln w="11430">
            <a:solidFill>
              <a:srgbClr val="E4E7EB"/>
            </a:solidFill>
          </a:ln>
        </p:spPr>
      </p:sp>
      <p:sp>
        <p:nvSpPr>
          <p:cNvPr id="9" name="TextBox 9"/>
          <p:cNvSpPr txBox="1"/>
          <p:nvPr/>
        </p:nvSpPr>
        <p:spPr>
          <a:xfrm>
            <a:off x="744855" y="1568768"/>
            <a:ext cx="1069419" cy="274320"/>
          </a:xfrm>
          <a:prstGeom prst="rect">
            <a:avLst/>
          </a:prstGeom>
          <a:noFill/>
          <a:ln>
            <a:noFill/>
          </a:ln>
        </p:spPr>
        <p:txBody>
          <a:bodyPr wrap="none" lIns="0" tIns="0" rIns="0" bIns="0" anchor="t" anchorCtr="0">
            <a:spAutoFit/>
          </a:bodyPr>
          <a:lstStyle/>
          <a:p>
            <a:pPr algn="l"/>
            <a:r>
              <a:rPr lang="zh-CN" sz="1350" b="1" dirty="0">
                <a:solidFill>
                  <a:srgbClr val="5F6368"/>
                </a:solidFill>
                <a:latin typeface="Arial"/>
                <a:ea typeface="Microsoft YaHei"/>
                <a:cs typeface="Arial"/>
              </a:rPr>
              <a:t>向量，就是</a:t>
            </a:r>
          </a:p>
        </p:txBody>
      </p:sp>
      <p:sp>
        <p:nvSpPr>
          <p:cNvPr id="10" name="TextBox 10"/>
          <p:cNvSpPr txBox="1"/>
          <p:nvPr/>
        </p:nvSpPr>
        <p:spPr>
          <a:xfrm>
            <a:off x="732472" y="1892141"/>
            <a:ext cx="2554867" cy="472440"/>
          </a:xfrm>
          <a:prstGeom prst="rect">
            <a:avLst/>
          </a:prstGeom>
          <a:noFill/>
          <a:ln>
            <a:noFill/>
          </a:ln>
        </p:spPr>
        <p:txBody>
          <a:bodyPr wrap="none" lIns="0" tIns="0" rIns="0" bIns="0" anchor="t" anchorCtr="0">
            <a:spAutoFit/>
          </a:bodyPr>
          <a:lstStyle/>
          <a:p>
            <a:pPr algn="l"/>
            <a:r>
              <a:rPr lang="zh-CN" sz="2325" b="1" dirty="0">
                <a:solidFill>
                  <a:srgbClr val="A50021"/>
                </a:solidFill>
                <a:latin typeface="Arial"/>
                <a:ea typeface="SimHei"/>
                <a:cs typeface="Arial"/>
              </a:rPr>
              <a:t>概念的空间坐标</a:t>
            </a:r>
          </a:p>
        </p:txBody>
      </p:sp>
      <p:sp>
        <p:nvSpPr>
          <p:cNvPr id="11" name="TextBox 11"/>
          <p:cNvSpPr txBox="1"/>
          <p:nvPr/>
        </p:nvSpPr>
        <p:spPr>
          <a:xfrm>
            <a:off x="748665" y="2344102"/>
            <a:ext cx="2020252" cy="213360"/>
          </a:xfrm>
          <a:prstGeom prst="rect">
            <a:avLst/>
          </a:prstGeom>
          <a:noFill/>
          <a:ln>
            <a:noFill/>
          </a:ln>
        </p:spPr>
        <p:txBody>
          <a:bodyPr wrap="none" lIns="0" tIns="0" rIns="0" bIns="0" anchor="t" anchorCtr="0">
            <a:spAutoFit/>
          </a:bodyPr>
          <a:lstStyle/>
          <a:p>
            <a:pPr algn="l"/>
            <a:r>
              <a:rPr lang="zh-CN" sz="1050" dirty="0">
                <a:solidFill>
                  <a:srgbClr val="5F6368"/>
                </a:solidFill>
                <a:latin typeface="Arial"/>
                <a:ea typeface="Microsoft YaHei"/>
                <a:cs typeface="Arial"/>
              </a:rPr>
              <a:t>在人类世界，文字表达思想；</a:t>
            </a:r>
          </a:p>
        </p:txBody>
      </p:sp>
      <p:sp>
        <p:nvSpPr>
          <p:cNvPr id="12" name="TextBox 12"/>
          <p:cNvSpPr txBox="1"/>
          <p:nvPr/>
        </p:nvSpPr>
        <p:spPr>
          <a:xfrm>
            <a:off x="748665" y="2553652"/>
            <a:ext cx="2020252" cy="213360"/>
          </a:xfrm>
          <a:prstGeom prst="rect">
            <a:avLst/>
          </a:prstGeom>
          <a:noFill/>
          <a:ln>
            <a:noFill/>
          </a:ln>
        </p:spPr>
        <p:txBody>
          <a:bodyPr wrap="none" lIns="0" tIns="0" rIns="0" bIns="0" anchor="t" anchorCtr="0">
            <a:spAutoFit/>
          </a:bodyPr>
          <a:lstStyle/>
          <a:p>
            <a:pPr algn="l"/>
            <a:r>
              <a:rPr lang="zh-CN" sz="1050" dirty="0">
                <a:solidFill>
                  <a:srgbClr val="5F6368"/>
                </a:solidFill>
                <a:latin typeface="Arial"/>
                <a:ea typeface="Microsoft YaHei"/>
                <a:cs typeface="Arial"/>
              </a:rPr>
              <a:t>在机器世界，数字承载语义。</a:t>
            </a:r>
          </a:p>
        </p:txBody>
      </p:sp>
      <p:sp>
        <p:nvSpPr>
          <p:cNvPr id="13" name="Rectangle 13"/>
          <p:cNvSpPr/>
          <p:nvPr/>
        </p:nvSpPr>
        <p:spPr>
          <a:xfrm>
            <a:off x="533399" y="3105150"/>
            <a:ext cx="3409949" cy="723900"/>
          </a:xfrm>
          <a:prstGeom prst="roundRect">
            <a:avLst>
              <a:gd name="adj" fmla="val 11842"/>
            </a:avLst>
          </a:prstGeom>
          <a:solidFill>
            <a:srgbClr val="FFFFFF"/>
          </a:solidFill>
          <a:ln w="11430">
            <a:solidFill>
              <a:srgbClr val="E4E7EB"/>
            </a:solidFill>
          </a:ln>
        </p:spPr>
      </p:sp>
      <p:sp>
        <p:nvSpPr>
          <p:cNvPr id="14" name="TextBox 14"/>
          <p:cNvSpPr txBox="1"/>
          <p:nvPr/>
        </p:nvSpPr>
        <p:spPr>
          <a:xfrm>
            <a:off x="899160" y="3261360"/>
            <a:ext cx="214503" cy="243840"/>
          </a:xfrm>
          <a:prstGeom prst="rect">
            <a:avLst/>
          </a:prstGeom>
          <a:noFill/>
          <a:ln>
            <a:noFill/>
          </a:ln>
        </p:spPr>
        <p:txBody>
          <a:bodyPr wrap="none" lIns="0" tIns="0" rIns="0" bIns="0" anchor="t" anchorCtr="0">
            <a:spAutoFit/>
          </a:bodyPr>
          <a:lstStyle/>
          <a:p>
            <a:pPr algn="l"/>
            <a:r>
              <a:rPr lang="zh-CN" sz="1200" b="1" dirty="0">
                <a:solidFill>
                  <a:srgbClr val="1F2328"/>
                </a:solidFill>
                <a:latin typeface="Arial"/>
                <a:ea typeface="Microsoft YaHei"/>
                <a:cs typeface="Arial"/>
              </a:rPr>
              <a:t>词</a:t>
            </a:r>
          </a:p>
        </p:txBody>
      </p:sp>
      <p:sp>
        <p:nvSpPr>
          <p:cNvPr id="15" name="Line 15"/>
          <p:cNvSpPr/>
          <p:nvPr/>
        </p:nvSpPr>
        <p:spPr>
          <a:xfrm>
            <a:off x="1200150" y="3343275"/>
            <a:ext cx="457200" cy="1"/>
          </a:xfrm>
          <a:prstGeom prst="line">
            <a:avLst/>
          </a:prstGeom>
          <a:noFill/>
          <a:ln w="23812">
            <a:solidFill>
              <a:srgbClr val="A50021"/>
            </a:solidFill>
            <a:tailEnd type="triangle" w="lg" len="lg"/>
          </a:ln>
        </p:spPr>
      </p:sp>
      <p:sp>
        <p:nvSpPr>
          <p:cNvPr id="16" name="TextBox 16"/>
          <p:cNvSpPr txBox="1"/>
          <p:nvPr/>
        </p:nvSpPr>
        <p:spPr>
          <a:xfrm>
            <a:off x="1794510" y="3261360"/>
            <a:ext cx="398526" cy="243840"/>
          </a:xfrm>
          <a:prstGeom prst="rect">
            <a:avLst/>
          </a:prstGeom>
          <a:noFill/>
          <a:ln>
            <a:noFill/>
          </a:ln>
        </p:spPr>
        <p:txBody>
          <a:bodyPr wrap="none" lIns="0" tIns="0" rIns="0" bIns="0" anchor="t" anchorCtr="0">
            <a:spAutoFit/>
          </a:bodyPr>
          <a:lstStyle/>
          <a:p>
            <a:pPr algn="l"/>
            <a:r>
              <a:rPr lang="zh-CN" sz="1200" b="1" dirty="0">
                <a:solidFill>
                  <a:srgbClr val="A50021"/>
                </a:solidFill>
                <a:latin typeface="Arial"/>
                <a:ea typeface="Microsoft YaHei"/>
                <a:cs typeface="Arial"/>
              </a:rPr>
              <a:t>向量</a:t>
            </a:r>
          </a:p>
        </p:txBody>
      </p:sp>
      <p:sp>
        <p:nvSpPr>
          <p:cNvPr id="17" name="Line 17"/>
          <p:cNvSpPr/>
          <p:nvPr/>
        </p:nvSpPr>
        <p:spPr>
          <a:xfrm>
            <a:off x="2266950" y="3343275"/>
            <a:ext cx="457200" cy="1"/>
          </a:xfrm>
          <a:prstGeom prst="line">
            <a:avLst/>
          </a:prstGeom>
          <a:noFill/>
          <a:ln w="23812">
            <a:solidFill>
              <a:srgbClr val="A50021"/>
            </a:solidFill>
            <a:tailEnd type="triangle" w="lg" len="lg"/>
          </a:ln>
        </p:spPr>
      </p:sp>
      <p:sp>
        <p:nvSpPr>
          <p:cNvPr id="18" name="TextBox 18"/>
          <p:cNvSpPr txBox="1"/>
          <p:nvPr/>
        </p:nvSpPr>
        <p:spPr>
          <a:xfrm>
            <a:off x="2880360" y="3261360"/>
            <a:ext cx="398526" cy="243840"/>
          </a:xfrm>
          <a:prstGeom prst="rect">
            <a:avLst/>
          </a:prstGeom>
          <a:noFill/>
          <a:ln>
            <a:noFill/>
          </a:ln>
        </p:spPr>
        <p:txBody>
          <a:bodyPr wrap="none" lIns="0" tIns="0" rIns="0" bIns="0" anchor="t" anchorCtr="0">
            <a:spAutoFit/>
          </a:bodyPr>
          <a:lstStyle/>
          <a:p>
            <a:pPr algn="l"/>
            <a:r>
              <a:rPr lang="zh-CN" sz="1200" b="1" dirty="0">
                <a:solidFill>
                  <a:srgbClr val="1F2328"/>
                </a:solidFill>
                <a:latin typeface="Arial"/>
                <a:ea typeface="Microsoft YaHei"/>
                <a:cs typeface="Arial"/>
              </a:rPr>
              <a:t>距离</a:t>
            </a:r>
          </a:p>
        </p:txBody>
      </p:sp>
      <p:sp>
        <p:nvSpPr>
          <p:cNvPr id="19" name="TextBox 19"/>
          <p:cNvSpPr txBox="1"/>
          <p:nvPr/>
        </p:nvSpPr>
        <p:spPr>
          <a:xfrm>
            <a:off x="902018" y="3533299"/>
            <a:ext cx="1875949"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相近概念靠近，不同概念分散</a:t>
            </a:r>
          </a:p>
        </p:txBody>
      </p:sp>
      <p:sp>
        <p:nvSpPr>
          <p:cNvPr id="20" name="Rectangle 20"/>
          <p:cNvSpPr/>
          <p:nvPr/>
        </p:nvSpPr>
        <p:spPr>
          <a:xfrm>
            <a:off x="533400" y="4057650"/>
            <a:ext cx="3409950" cy="1600200"/>
          </a:xfrm>
          <a:prstGeom prst="roundRect">
            <a:avLst>
              <a:gd name="adj" fmla="val 5952"/>
            </a:avLst>
          </a:prstGeom>
          <a:solidFill>
            <a:srgbClr val="FFFFFF"/>
          </a:solidFill>
          <a:ln w="11430">
            <a:solidFill>
              <a:srgbClr val="E4E7EB"/>
            </a:solidFill>
          </a:ln>
        </p:spPr>
      </p:sp>
      <p:sp>
        <p:nvSpPr>
          <p:cNvPr id="21" name="TextBox 21"/>
          <p:cNvSpPr txBox="1"/>
          <p:nvPr/>
        </p:nvSpPr>
        <p:spPr>
          <a:xfrm>
            <a:off x="744855" y="4226242"/>
            <a:ext cx="865622" cy="207749"/>
          </a:xfrm>
          <a:prstGeom prst="rect">
            <a:avLst/>
          </a:prstGeom>
          <a:noFill/>
          <a:ln>
            <a:noFill/>
          </a:ln>
        </p:spPr>
        <p:txBody>
          <a:bodyPr wrap="none" lIns="0" tIns="0" rIns="0" bIns="0" anchor="t" anchorCtr="0">
            <a:spAutoFit/>
          </a:bodyPr>
          <a:lstStyle/>
          <a:p>
            <a:pPr algn="l"/>
            <a:r>
              <a:rPr lang="zh-CN" sz="1350" b="1" dirty="0">
                <a:solidFill>
                  <a:srgbClr val="1F2328"/>
                </a:solidFill>
                <a:latin typeface="Arial"/>
                <a:ea typeface="Microsoft YaHei"/>
                <a:cs typeface="Arial"/>
              </a:rPr>
              <a:t>坐标轴含义</a:t>
            </a:r>
          </a:p>
        </p:txBody>
      </p:sp>
      <p:grpSp>
        <p:nvGrpSpPr>
          <p:cNvPr id="166" name="组合 165">
            <a:extLst>
              <a:ext uri="{FF2B5EF4-FFF2-40B4-BE49-F238E27FC236}">
                <a16:creationId xmlns:a16="http://schemas.microsoft.com/office/drawing/2014/main" id="{D301FD00-8EA1-4DCB-BCC7-82ADFB445C3F}"/>
              </a:ext>
            </a:extLst>
          </p:cNvPr>
          <p:cNvGrpSpPr/>
          <p:nvPr/>
        </p:nvGrpSpPr>
        <p:grpSpPr>
          <a:xfrm>
            <a:off x="720090" y="4759933"/>
            <a:ext cx="3095625" cy="238125"/>
            <a:chOff x="762000" y="4533900"/>
            <a:chExt cx="3095625" cy="238125"/>
          </a:xfrm>
        </p:grpSpPr>
        <p:grpSp>
          <p:nvGrpSpPr>
            <p:cNvPr id="163" name="组合 162">
              <a:extLst>
                <a:ext uri="{FF2B5EF4-FFF2-40B4-BE49-F238E27FC236}">
                  <a16:creationId xmlns:a16="http://schemas.microsoft.com/office/drawing/2014/main" id="{036B6A90-9419-4DB0-9AD7-82ECD3A2810D}"/>
                </a:ext>
              </a:extLst>
            </p:cNvPr>
            <p:cNvGrpSpPr/>
            <p:nvPr/>
          </p:nvGrpSpPr>
          <p:grpSpPr>
            <a:xfrm>
              <a:off x="762000" y="4533900"/>
              <a:ext cx="1019175" cy="228600"/>
              <a:chOff x="762000" y="4533900"/>
              <a:chExt cx="1019175" cy="228600"/>
            </a:xfrm>
          </p:grpSpPr>
          <p:sp>
            <p:nvSpPr>
              <p:cNvPr id="22" name="Rectangle 22"/>
              <p:cNvSpPr/>
              <p:nvPr/>
            </p:nvSpPr>
            <p:spPr>
              <a:xfrm>
                <a:off x="762000" y="4533900"/>
                <a:ext cx="1019175" cy="228600"/>
              </a:xfrm>
              <a:prstGeom prst="roundRect">
                <a:avLst>
                  <a:gd name="adj" fmla="val 50000"/>
                </a:avLst>
              </a:prstGeom>
              <a:solidFill>
                <a:srgbClr val="FFFFFF"/>
              </a:solidFill>
              <a:ln w="11430">
                <a:solidFill>
                  <a:srgbClr val="A50021"/>
                </a:solidFill>
              </a:ln>
            </p:spPr>
          </p:sp>
          <p:sp>
            <p:nvSpPr>
              <p:cNvPr id="23" name="TextBox 23"/>
              <p:cNvSpPr txBox="1"/>
              <p:nvPr/>
            </p:nvSpPr>
            <p:spPr>
              <a:xfrm>
                <a:off x="1101669" y="4589145"/>
                <a:ext cx="339837" cy="138499"/>
              </a:xfrm>
              <a:prstGeom prst="rect">
                <a:avLst/>
              </a:prstGeom>
              <a:noFill/>
              <a:ln>
                <a:noFill/>
              </a:ln>
            </p:spPr>
            <p:txBody>
              <a:bodyPr wrap="none" lIns="0" tIns="0" rIns="0" bIns="0" anchor="t" anchorCtr="0">
                <a:spAutoFit/>
              </a:bodyPr>
              <a:lstStyle/>
              <a:p>
                <a:pPr algn="ctr"/>
                <a:r>
                  <a:rPr lang="zh-CN" sz="900" b="1" dirty="0">
                    <a:solidFill>
                      <a:srgbClr val="A50021"/>
                    </a:solidFill>
                    <a:latin typeface="Arial"/>
                    <a:ea typeface="Microsoft YaHei"/>
                    <a:cs typeface="Arial"/>
                  </a:rPr>
                  <a:t>X 金融</a:t>
                </a:r>
              </a:p>
            </p:txBody>
          </p:sp>
        </p:grpSp>
        <p:grpSp>
          <p:nvGrpSpPr>
            <p:cNvPr id="164" name="组合 163">
              <a:extLst>
                <a:ext uri="{FF2B5EF4-FFF2-40B4-BE49-F238E27FC236}">
                  <a16:creationId xmlns:a16="http://schemas.microsoft.com/office/drawing/2014/main" id="{217BAF3B-D505-46EE-BF19-D51EA2837C84}"/>
                </a:ext>
              </a:extLst>
            </p:cNvPr>
            <p:cNvGrpSpPr/>
            <p:nvPr/>
          </p:nvGrpSpPr>
          <p:grpSpPr>
            <a:xfrm>
              <a:off x="1862138" y="4533900"/>
              <a:ext cx="1019175" cy="228600"/>
              <a:chOff x="2038350" y="4533900"/>
              <a:chExt cx="1019175" cy="228600"/>
            </a:xfrm>
          </p:grpSpPr>
          <p:sp>
            <p:nvSpPr>
              <p:cNvPr id="24" name="Rectangle 24"/>
              <p:cNvSpPr/>
              <p:nvPr/>
            </p:nvSpPr>
            <p:spPr>
              <a:xfrm>
                <a:off x="2038350" y="4533900"/>
                <a:ext cx="1019175" cy="228600"/>
              </a:xfrm>
              <a:prstGeom prst="roundRect">
                <a:avLst>
                  <a:gd name="adj" fmla="val 50000"/>
                </a:avLst>
              </a:prstGeom>
              <a:solidFill>
                <a:srgbClr val="FFFFFF"/>
              </a:solidFill>
              <a:ln w="11430">
                <a:solidFill>
                  <a:srgbClr val="4285F4"/>
                </a:solidFill>
              </a:ln>
            </p:spPr>
          </p:sp>
          <p:sp>
            <p:nvSpPr>
              <p:cNvPr id="25" name="TextBox 25"/>
              <p:cNvSpPr txBox="1"/>
              <p:nvPr/>
            </p:nvSpPr>
            <p:spPr>
              <a:xfrm>
                <a:off x="2378019" y="4589145"/>
                <a:ext cx="339837" cy="138499"/>
              </a:xfrm>
              <a:prstGeom prst="rect">
                <a:avLst/>
              </a:prstGeom>
              <a:noFill/>
              <a:ln>
                <a:noFill/>
              </a:ln>
            </p:spPr>
            <p:txBody>
              <a:bodyPr wrap="none" lIns="0" tIns="0" rIns="0" bIns="0" anchor="t" anchorCtr="0">
                <a:spAutoFit/>
              </a:bodyPr>
              <a:lstStyle/>
              <a:p>
                <a:pPr algn="ctr"/>
                <a:r>
                  <a:rPr lang="zh-CN" sz="900" b="1" dirty="0">
                    <a:solidFill>
                      <a:srgbClr val="4285F4"/>
                    </a:solidFill>
                    <a:latin typeface="Arial"/>
                    <a:ea typeface="Microsoft YaHei"/>
                    <a:cs typeface="Arial"/>
                  </a:rPr>
                  <a:t>Y 语义</a:t>
                </a:r>
              </a:p>
            </p:txBody>
          </p:sp>
        </p:grpSp>
        <p:grpSp>
          <p:nvGrpSpPr>
            <p:cNvPr id="165" name="组合 164">
              <a:extLst>
                <a:ext uri="{FF2B5EF4-FFF2-40B4-BE49-F238E27FC236}">
                  <a16:creationId xmlns:a16="http://schemas.microsoft.com/office/drawing/2014/main" id="{8CB89B29-C300-4D30-BC5A-12C4FD640415}"/>
                </a:ext>
              </a:extLst>
            </p:cNvPr>
            <p:cNvGrpSpPr/>
            <p:nvPr/>
          </p:nvGrpSpPr>
          <p:grpSpPr>
            <a:xfrm>
              <a:off x="2962275" y="4533900"/>
              <a:ext cx="895350" cy="238125"/>
              <a:chOff x="762000" y="4876800"/>
              <a:chExt cx="895350" cy="238125"/>
            </a:xfrm>
          </p:grpSpPr>
          <p:sp>
            <p:nvSpPr>
              <p:cNvPr id="26" name="Rectangle 26"/>
              <p:cNvSpPr/>
              <p:nvPr/>
            </p:nvSpPr>
            <p:spPr>
              <a:xfrm>
                <a:off x="762000" y="4876800"/>
                <a:ext cx="895350" cy="228600"/>
              </a:xfrm>
              <a:prstGeom prst="roundRect">
                <a:avLst>
                  <a:gd name="adj" fmla="val 50000"/>
                </a:avLst>
              </a:prstGeom>
              <a:solidFill>
                <a:srgbClr val="FFFFFF"/>
              </a:solidFill>
              <a:ln w="11430">
                <a:solidFill>
                  <a:srgbClr val="2E7D32"/>
                </a:solidFill>
              </a:ln>
            </p:spPr>
          </p:sp>
          <p:sp>
            <p:nvSpPr>
              <p:cNvPr id="27" name="TextBox 27"/>
              <p:cNvSpPr txBox="1"/>
              <p:nvPr/>
            </p:nvSpPr>
            <p:spPr>
              <a:xfrm>
                <a:off x="894607" y="4932045"/>
                <a:ext cx="630136" cy="182880"/>
              </a:xfrm>
              <a:prstGeom prst="rect">
                <a:avLst/>
              </a:prstGeom>
              <a:noFill/>
              <a:ln>
                <a:noFill/>
              </a:ln>
            </p:spPr>
            <p:txBody>
              <a:bodyPr wrap="none" lIns="0" tIns="0" rIns="0" bIns="0" anchor="t" anchorCtr="0">
                <a:spAutoFit/>
              </a:bodyPr>
              <a:lstStyle/>
              <a:p>
                <a:pPr algn="ctr"/>
                <a:r>
                  <a:rPr lang="zh-CN" sz="900" b="1" dirty="0">
                    <a:solidFill>
                      <a:srgbClr val="2E7D32"/>
                    </a:solidFill>
                    <a:latin typeface="Arial"/>
                    <a:ea typeface="Microsoft YaHei"/>
                    <a:cs typeface="Arial"/>
                  </a:rPr>
                  <a:t>Z 人/场景</a:t>
                </a:r>
              </a:p>
            </p:txBody>
          </p:sp>
        </p:grpSp>
      </p:grpSp>
      <p:sp>
        <p:nvSpPr>
          <p:cNvPr id="28" name="TextBox 28"/>
          <p:cNvSpPr txBox="1"/>
          <p:nvPr/>
        </p:nvSpPr>
        <p:spPr>
          <a:xfrm>
            <a:off x="749618" y="5323999"/>
            <a:ext cx="2125582" cy="150041"/>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每个标签的落点由同一投影公式生成</a:t>
            </a:r>
            <a:r>
              <a:rPr lang="zh-CN" altLang="en-US" sz="975" dirty="0">
                <a:solidFill>
                  <a:srgbClr val="5F6368"/>
                </a:solidFill>
                <a:latin typeface="Arial"/>
                <a:ea typeface="Microsoft YaHei"/>
                <a:cs typeface="Arial"/>
              </a:rPr>
              <a:t>。</a:t>
            </a:r>
            <a:endParaRPr lang="zh-CN" sz="975" dirty="0">
              <a:solidFill>
                <a:srgbClr val="5F6368"/>
              </a:solidFill>
              <a:latin typeface="Arial"/>
              <a:ea typeface="Microsoft YaHei"/>
              <a:cs typeface="Arial"/>
            </a:endParaRPr>
          </a:p>
        </p:txBody>
      </p:sp>
      <p:sp>
        <p:nvSpPr>
          <p:cNvPr id="31" name="Rectangle 31"/>
          <p:cNvSpPr/>
          <p:nvPr/>
        </p:nvSpPr>
        <p:spPr>
          <a:xfrm>
            <a:off x="4248150" y="1295400"/>
            <a:ext cx="7410450" cy="3733800"/>
          </a:xfrm>
          <a:prstGeom prst="roundRect">
            <a:avLst>
              <a:gd name="adj" fmla="val 2551"/>
            </a:avLst>
          </a:prstGeom>
          <a:solidFill>
            <a:srgbClr val="FFFFFF"/>
          </a:solidFill>
          <a:ln w="11430">
            <a:solidFill>
              <a:srgbClr val="E4E7EB"/>
            </a:solidFill>
          </a:ln>
          <a:effectLst>
            <a:outerShdw blurRad="114300" dist="28575" dir="5400000" algn="ctr" rotWithShape="0">
              <a:srgbClr val="000000">
                <a:alpha val="6000"/>
              </a:srgbClr>
            </a:outerShdw>
          </a:effectLst>
        </p:spPr>
      </p:sp>
      <p:sp>
        <p:nvSpPr>
          <p:cNvPr id="32" name="TextBox 32"/>
          <p:cNvSpPr txBox="1"/>
          <p:nvPr/>
        </p:nvSpPr>
        <p:spPr>
          <a:xfrm>
            <a:off x="4497705" y="1416368"/>
            <a:ext cx="2125251" cy="274320"/>
          </a:xfrm>
          <a:prstGeom prst="rect">
            <a:avLst/>
          </a:prstGeom>
          <a:noFill/>
          <a:ln>
            <a:noFill/>
          </a:ln>
        </p:spPr>
        <p:txBody>
          <a:bodyPr wrap="none" lIns="0" tIns="0" rIns="0" bIns="0" anchor="t" anchorCtr="0">
            <a:spAutoFit/>
          </a:bodyPr>
          <a:lstStyle/>
          <a:p>
            <a:pPr algn="l"/>
            <a:r>
              <a:rPr lang="zh-CN" sz="1350" b="1" dirty="0">
                <a:solidFill>
                  <a:srgbClr val="1F2328"/>
                </a:solidFill>
                <a:latin typeface="Arial"/>
                <a:ea typeface="SimHei"/>
                <a:cs typeface="Arial"/>
              </a:rPr>
              <a:t>语义空间中的“概念簇”</a:t>
            </a:r>
          </a:p>
        </p:txBody>
      </p:sp>
      <p:pic>
        <p:nvPicPr>
          <p:cNvPr id="34" name="Image 34"/>
          <p:cNvPicPr>
            <a:picLocks noChangeAspect="1"/>
          </p:cNvPicPr>
          <p:nvPr/>
        </p:nvPicPr>
        <p:blipFill>
          <a:blip r:embed="rId4"/>
          <a:srcRect t="12531" b="12531"/>
          <a:stretch>
            <a:fillRect/>
          </a:stretch>
        </p:blipFill>
        <p:spPr>
          <a:xfrm>
            <a:off x="4362450" y="1809750"/>
            <a:ext cx="7181850" cy="3028950"/>
          </a:xfrm>
          <a:prstGeom prst="rect">
            <a:avLst/>
          </a:prstGeom>
        </p:spPr>
      </p:pic>
      <p:sp>
        <p:nvSpPr>
          <p:cNvPr id="35" name="Rectangle 35"/>
          <p:cNvSpPr/>
          <p:nvPr/>
        </p:nvSpPr>
        <p:spPr>
          <a:xfrm>
            <a:off x="4362450" y="1809750"/>
            <a:ext cx="7181850" cy="3028950"/>
          </a:xfrm>
          <a:prstGeom prst="roundRect">
            <a:avLst>
              <a:gd name="adj" fmla="val 2516"/>
            </a:avLst>
          </a:prstGeom>
          <a:noFill/>
          <a:ln w="9525">
            <a:solidFill>
              <a:srgbClr val="E8EAED"/>
            </a:solidFill>
          </a:ln>
        </p:spPr>
      </p:sp>
      <p:grpSp>
        <p:nvGrpSpPr>
          <p:cNvPr id="148" name="组合 147">
            <a:extLst>
              <a:ext uri="{FF2B5EF4-FFF2-40B4-BE49-F238E27FC236}">
                <a16:creationId xmlns:a16="http://schemas.microsoft.com/office/drawing/2014/main" id="{C92A6F8D-293F-42C9-BF2E-1C74AB79C2B1}"/>
              </a:ext>
            </a:extLst>
          </p:cNvPr>
          <p:cNvGrpSpPr/>
          <p:nvPr/>
        </p:nvGrpSpPr>
        <p:grpSpPr>
          <a:xfrm>
            <a:off x="7535573" y="3519368"/>
            <a:ext cx="590550" cy="215503"/>
            <a:chOff x="7221855" y="3698558"/>
            <a:chExt cx="590550" cy="215503"/>
          </a:xfrm>
        </p:grpSpPr>
        <p:sp>
          <p:nvSpPr>
            <p:cNvPr id="43" name="Rectangle 43"/>
            <p:cNvSpPr/>
            <p:nvPr/>
          </p:nvSpPr>
          <p:spPr>
            <a:xfrm>
              <a:off x="7221855" y="3698558"/>
              <a:ext cx="590550" cy="200025"/>
            </a:xfrm>
            <a:prstGeom prst="roundRect">
              <a:avLst>
                <a:gd name="adj" fmla="val 47619"/>
              </a:avLst>
            </a:prstGeom>
            <a:solidFill>
              <a:srgbClr val="FFFFFF">
                <a:alpha val="90000"/>
              </a:srgbClr>
            </a:solidFill>
            <a:ln w="9525">
              <a:solidFill>
                <a:srgbClr val="5F6368">
                  <a:alpha val="45000"/>
                </a:srgbClr>
              </a:solidFill>
            </a:ln>
          </p:spPr>
        </p:sp>
        <p:sp>
          <p:nvSpPr>
            <p:cNvPr id="44" name="TextBox 44"/>
            <p:cNvSpPr txBox="1"/>
            <p:nvPr/>
          </p:nvSpPr>
          <p:spPr>
            <a:xfrm>
              <a:off x="7373910" y="3738801"/>
              <a:ext cx="286441" cy="175260"/>
            </a:xfrm>
            <a:prstGeom prst="rect">
              <a:avLst/>
            </a:prstGeom>
            <a:noFill/>
            <a:ln>
              <a:noFill/>
            </a:ln>
          </p:spPr>
          <p:txBody>
            <a:bodyPr wrap="none" lIns="0" tIns="0" rIns="0" bIns="0" anchor="t" anchorCtr="0">
              <a:spAutoFit/>
            </a:bodyPr>
            <a:lstStyle/>
            <a:p>
              <a:pPr algn="ctr"/>
              <a:r>
                <a:rPr lang="zh-CN" sz="862" b="1" dirty="0">
                  <a:solidFill>
                    <a:srgbClr val="5F6368"/>
                  </a:solidFill>
                  <a:latin typeface="Arial"/>
                  <a:ea typeface="Microsoft YaHei"/>
                  <a:cs typeface="Arial"/>
                </a:rPr>
                <a:t>数据</a:t>
              </a:r>
            </a:p>
          </p:txBody>
        </p:sp>
      </p:grpSp>
      <p:grpSp>
        <p:nvGrpSpPr>
          <p:cNvPr id="157" name="组合 156">
            <a:extLst>
              <a:ext uri="{FF2B5EF4-FFF2-40B4-BE49-F238E27FC236}">
                <a16:creationId xmlns:a16="http://schemas.microsoft.com/office/drawing/2014/main" id="{A4E78885-F7B5-421F-8821-6E5ECE31163A}"/>
              </a:ext>
            </a:extLst>
          </p:cNvPr>
          <p:cNvGrpSpPr/>
          <p:nvPr/>
        </p:nvGrpSpPr>
        <p:grpSpPr>
          <a:xfrm>
            <a:off x="8059130" y="1857970"/>
            <a:ext cx="590550" cy="215503"/>
            <a:chOff x="9133522" y="2986088"/>
            <a:chExt cx="590550" cy="215503"/>
          </a:xfrm>
        </p:grpSpPr>
        <p:sp>
          <p:nvSpPr>
            <p:cNvPr id="46" name="Rectangle 46"/>
            <p:cNvSpPr/>
            <p:nvPr/>
          </p:nvSpPr>
          <p:spPr>
            <a:xfrm>
              <a:off x="9133522" y="2986088"/>
              <a:ext cx="590550" cy="200025"/>
            </a:xfrm>
            <a:prstGeom prst="roundRect">
              <a:avLst>
                <a:gd name="adj" fmla="val 47619"/>
              </a:avLst>
            </a:prstGeom>
            <a:solidFill>
              <a:srgbClr val="FFFFFF">
                <a:alpha val="90000"/>
              </a:srgbClr>
            </a:solidFill>
            <a:ln w="9525">
              <a:solidFill>
                <a:srgbClr val="A50021">
                  <a:alpha val="45000"/>
                </a:srgbClr>
              </a:solidFill>
            </a:ln>
          </p:spPr>
        </p:sp>
        <p:sp>
          <p:nvSpPr>
            <p:cNvPr id="47" name="TextBox 47"/>
            <p:cNvSpPr txBox="1"/>
            <p:nvPr/>
          </p:nvSpPr>
          <p:spPr>
            <a:xfrm>
              <a:off x="9285577" y="3026331"/>
              <a:ext cx="286441" cy="175260"/>
            </a:xfrm>
            <a:prstGeom prst="rect">
              <a:avLst/>
            </a:prstGeom>
            <a:noFill/>
            <a:ln>
              <a:noFill/>
            </a:ln>
          </p:spPr>
          <p:txBody>
            <a:bodyPr wrap="none" lIns="0" tIns="0" rIns="0" bIns="0" anchor="t" anchorCtr="0">
              <a:spAutoFit/>
            </a:bodyPr>
            <a:lstStyle/>
            <a:p>
              <a:pPr algn="ctr"/>
              <a:r>
                <a:rPr lang="zh-CN" sz="862" b="1" dirty="0">
                  <a:solidFill>
                    <a:srgbClr val="A50021"/>
                  </a:solidFill>
                  <a:latin typeface="Arial"/>
                  <a:ea typeface="Microsoft YaHei"/>
                  <a:cs typeface="Arial"/>
                </a:rPr>
                <a:t>贷款</a:t>
              </a:r>
            </a:p>
          </p:txBody>
        </p:sp>
      </p:grpSp>
      <p:grpSp>
        <p:nvGrpSpPr>
          <p:cNvPr id="152" name="组合 151">
            <a:extLst>
              <a:ext uri="{FF2B5EF4-FFF2-40B4-BE49-F238E27FC236}">
                <a16:creationId xmlns:a16="http://schemas.microsoft.com/office/drawing/2014/main" id="{50C51583-EF8B-4027-917C-D647851FF95F}"/>
              </a:ext>
            </a:extLst>
          </p:cNvPr>
          <p:cNvGrpSpPr/>
          <p:nvPr/>
        </p:nvGrpSpPr>
        <p:grpSpPr>
          <a:xfrm>
            <a:off x="6184929" y="2756098"/>
            <a:ext cx="590550" cy="215504"/>
            <a:chOff x="6489382" y="2504122"/>
            <a:chExt cx="590550" cy="215504"/>
          </a:xfrm>
        </p:grpSpPr>
        <p:sp>
          <p:nvSpPr>
            <p:cNvPr id="49" name="Rectangle 49"/>
            <p:cNvSpPr/>
            <p:nvPr/>
          </p:nvSpPr>
          <p:spPr>
            <a:xfrm>
              <a:off x="6489382" y="2504122"/>
              <a:ext cx="590550" cy="200025"/>
            </a:xfrm>
            <a:prstGeom prst="roundRect">
              <a:avLst>
                <a:gd name="adj" fmla="val 47619"/>
              </a:avLst>
            </a:prstGeom>
            <a:solidFill>
              <a:srgbClr val="FFFFFF">
                <a:alpha val="90000"/>
              </a:srgbClr>
            </a:solidFill>
            <a:ln w="9525">
              <a:solidFill>
                <a:srgbClr val="4285F4">
                  <a:alpha val="45000"/>
                </a:srgbClr>
              </a:solidFill>
            </a:ln>
          </p:spPr>
        </p:sp>
        <p:sp>
          <p:nvSpPr>
            <p:cNvPr id="50" name="TextBox 50"/>
            <p:cNvSpPr txBox="1"/>
            <p:nvPr/>
          </p:nvSpPr>
          <p:spPr>
            <a:xfrm>
              <a:off x="6641437" y="2544366"/>
              <a:ext cx="286441" cy="175260"/>
            </a:xfrm>
            <a:prstGeom prst="rect">
              <a:avLst/>
            </a:prstGeom>
            <a:noFill/>
            <a:ln>
              <a:noFill/>
            </a:ln>
          </p:spPr>
          <p:txBody>
            <a:bodyPr wrap="none" lIns="0" tIns="0" rIns="0" bIns="0" anchor="t" anchorCtr="0">
              <a:spAutoFit/>
            </a:bodyPr>
            <a:lstStyle/>
            <a:p>
              <a:pPr algn="ctr"/>
              <a:r>
                <a:rPr lang="zh-CN" sz="862" b="1" dirty="0">
                  <a:solidFill>
                    <a:srgbClr val="4285F4"/>
                  </a:solidFill>
                  <a:latin typeface="Arial"/>
                  <a:ea typeface="Microsoft YaHei"/>
                  <a:cs typeface="Arial"/>
                </a:rPr>
                <a:t>文本</a:t>
              </a:r>
            </a:p>
          </p:txBody>
        </p:sp>
      </p:grpSp>
      <p:grpSp>
        <p:nvGrpSpPr>
          <p:cNvPr id="156" name="组合 155">
            <a:extLst>
              <a:ext uri="{FF2B5EF4-FFF2-40B4-BE49-F238E27FC236}">
                <a16:creationId xmlns:a16="http://schemas.microsoft.com/office/drawing/2014/main" id="{506714E7-2041-4FD5-968D-37336363BA05}"/>
              </a:ext>
            </a:extLst>
          </p:cNvPr>
          <p:cNvGrpSpPr/>
          <p:nvPr/>
        </p:nvGrpSpPr>
        <p:grpSpPr>
          <a:xfrm>
            <a:off x="9065288" y="1945838"/>
            <a:ext cx="590550" cy="215503"/>
            <a:chOff x="9100185" y="2802255"/>
            <a:chExt cx="590550" cy="215503"/>
          </a:xfrm>
        </p:grpSpPr>
        <p:sp>
          <p:nvSpPr>
            <p:cNvPr id="52" name="Rectangle 52"/>
            <p:cNvSpPr/>
            <p:nvPr/>
          </p:nvSpPr>
          <p:spPr>
            <a:xfrm>
              <a:off x="9100185" y="2802255"/>
              <a:ext cx="590550" cy="200025"/>
            </a:xfrm>
            <a:prstGeom prst="roundRect">
              <a:avLst>
                <a:gd name="adj" fmla="val 47619"/>
              </a:avLst>
            </a:prstGeom>
            <a:solidFill>
              <a:srgbClr val="FFFFFF">
                <a:alpha val="90000"/>
              </a:srgbClr>
            </a:solidFill>
            <a:ln w="9525">
              <a:solidFill>
                <a:srgbClr val="A50021">
                  <a:alpha val="45000"/>
                </a:srgbClr>
              </a:solidFill>
            </a:ln>
          </p:spPr>
        </p:sp>
        <p:sp>
          <p:nvSpPr>
            <p:cNvPr id="53" name="TextBox 53"/>
            <p:cNvSpPr txBox="1"/>
            <p:nvPr/>
          </p:nvSpPr>
          <p:spPr>
            <a:xfrm>
              <a:off x="9252240" y="2842498"/>
              <a:ext cx="286441" cy="175260"/>
            </a:xfrm>
            <a:prstGeom prst="rect">
              <a:avLst/>
            </a:prstGeom>
            <a:noFill/>
            <a:ln>
              <a:noFill/>
            </a:ln>
          </p:spPr>
          <p:txBody>
            <a:bodyPr wrap="none" lIns="0" tIns="0" rIns="0" bIns="0" anchor="t" anchorCtr="0">
              <a:spAutoFit/>
            </a:bodyPr>
            <a:lstStyle/>
            <a:p>
              <a:pPr algn="ctr"/>
              <a:r>
                <a:rPr lang="zh-CN" sz="862" b="1" dirty="0">
                  <a:solidFill>
                    <a:srgbClr val="A50021"/>
                  </a:solidFill>
                  <a:latin typeface="Arial"/>
                  <a:ea typeface="Microsoft YaHei"/>
                  <a:cs typeface="Arial"/>
                </a:rPr>
                <a:t>银行</a:t>
              </a:r>
            </a:p>
          </p:txBody>
        </p:sp>
      </p:grpSp>
      <p:grpSp>
        <p:nvGrpSpPr>
          <p:cNvPr id="159" name="组合 158">
            <a:extLst>
              <a:ext uri="{FF2B5EF4-FFF2-40B4-BE49-F238E27FC236}">
                <a16:creationId xmlns:a16="http://schemas.microsoft.com/office/drawing/2014/main" id="{525555D5-7412-43EF-ADA4-98C630C1D1D5}"/>
              </a:ext>
            </a:extLst>
          </p:cNvPr>
          <p:cNvGrpSpPr/>
          <p:nvPr/>
        </p:nvGrpSpPr>
        <p:grpSpPr>
          <a:xfrm>
            <a:off x="9087802" y="2525512"/>
            <a:ext cx="590550" cy="215504"/>
            <a:chOff x="8922068" y="3818572"/>
            <a:chExt cx="590550" cy="215504"/>
          </a:xfrm>
        </p:grpSpPr>
        <p:sp>
          <p:nvSpPr>
            <p:cNvPr id="55" name="Rectangle 55"/>
            <p:cNvSpPr/>
            <p:nvPr/>
          </p:nvSpPr>
          <p:spPr>
            <a:xfrm>
              <a:off x="8922068" y="3818572"/>
              <a:ext cx="590550" cy="200025"/>
            </a:xfrm>
            <a:prstGeom prst="roundRect">
              <a:avLst>
                <a:gd name="adj" fmla="val 47619"/>
              </a:avLst>
            </a:prstGeom>
            <a:solidFill>
              <a:srgbClr val="FFFFFF">
                <a:alpha val="90000"/>
              </a:srgbClr>
            </a:solidFill>
            <a:ln w="9525">
              <a:solidFill>
                <a:srgbClr val="A50021">
                  <a:alpha val="45000"/>
                </a:srgbClr>
              </a:solidFill>
            </a:ln>
          </p:spPr>
        </p:sp>
        <p:sp>
          <p:nvSpPr>
            <p:cNvPr id="56" name="TextBox 56"/>
            <p:cNvSpPr txBox="1"/>
            <p:nvPr/>
          </p:nvSpPr>
          <p:spPr>
            <a:xfrm>
              <a:off x="9074122" y="3858816"/>
              <a:ext cx="286441" cy="175260"/>
            </a:xfrm>
            <a:prstGeom prst="rect">
              <a:avLst/>
            </a:prstGeom>
            <a:noFill/>
            <a:ln>
              <a:noFill/>
            </a:ln>
          </p:spPr>
          <p:txBody>
            <a:bodyPr wrap="none" lIns="0" tIns="0" rIns="0" bIns="0" anchor="t" anchorCtr="0">
              <a:spAutoFit/>
            </a:bodyPr>
            <a:lstStyle/>
            <a:p>
              <a:pPr algn="ctr"/>
              <a:r>
                <a:rPr lang="zh-CN" sz="862" b="1" dirty="0">
                  <a:solidFill>
                    <a:srgbClr val="A50021"/>
                  </a:solidFill>
                  <a:latin typeface="Arial"/>
                  <a:ea typeface="Microsoft YaHei"/>
                  <a:cs typeface="Arial"/>
                </a:rPr>
                <a:t>风险</a:t>
              </a:r>
            </a:p>
          </p:txBody>
        </p:sp>
      </p:grpSp>
      <p:grpSp>
        <p:nvGrpSpPr>
          <p:cNvPr id="150" name="组合 149">
            <a:extLst>
              <a:ext uri="{FF2B5EF4-FFF2-40B4-BE49-F238E27FC236}">
                <a16:creationId xmlns:a16="http://schemas.microsoft.com/office/drawing/2014/main" id="{E203A095-FDD2-4126-AE34-874AF2B1E591}"/>
              </a:ext>
            </a:extLst>
          </p:cNvPr>
          <p:cNvGrpSpPr/>
          <p:nvPr/>
        </p:nvGrpSpPr>
        <p:grpSpPr>
          <a:xfrm>
            <a:off x="7339965" y="4133968"/>
            <a:ext cx="590550" cy="215504"/>
            <a:chOff x="6913245" y="3875722"/>
            <a:chExt cx="590550" cy="215504"/>
          </a:xfrm>
        </p:grpSpPr>
        <p:sp>
          <p:nvSpPr>
            <p:cNvPr id="58" name="Rectangle 58"/>
            <p:cNvSpPr/>
            <p:nvPr/>
          </p:nvSpPr>
          <p:spPr>
            <a:xfrm>
              <a:off x="6913245" y="3875722"/>
              <a:ext cx="590550" cy="200025"/>
            </a:xfrm>
            <a:prstGeom prst="roundRect">
              <a:avLst>
                <a:gd name="adj" fmla="val 47619"/>
              </a:avLst>
            </a:prstGeom>
            <a:solidFill>
              <a:srgbClr val="FFFFFF">
                <a:alpha val="90000"/>
              </a:srgbClr>
            </a:solidFill>
            <a:ln w="9525">
              <a:solidFill>
                <a:srgbClr val="5F6368">
                  <a:alpha val="45000"/>
                </a:srgbClr>
              </a:solidFill>
            </a:ln>
          </p:spPr>
        </p:sp>
        <p:sp>
          <p:nvSpPr>
            <p:cNvPr id="59" name="TextBox 59"/>
            <p:cNvSpPr txBox="1"/>
            <p:nvPr/>
          </p:nvSpPr>
          <p:spPr>
            <a:xfrm>
              <a:off x="7065300" y="3915966"/>
              <a:ext cx="286441" cy="175260"/>
            </a:xfrm>
            <a:prstGeom prst="rect">
              <a:avLst/>
            </a:prstGeom>
            <a:noFill/>
            <a:ln>
              <a:noFill/>
            </a:ln>
          </p:spPr>
          <p:txBody>
            <a:bodyPr wrap="none" lIns="0" tIns="0" rIns="0" bIns="0" anchor="t" anchorCtr="0">
              <a:spAutoFit/>
            </a:bodyPr>
            <a:lstStyle/>
            <a:p>
              <a:pPr algn="ctr"/>
              <a:r>
                <a:rPr lang="zh-CN" sz="862" b="1" dirty="0">
                  <a:solidFill>
                    <a:srgbClr val="5F6368"/>
                  </a:solidFill>
                  <a:latin typeface="Arial"/>
                  <a:ea typeface="Microsoft YaHei"/>
                  <a:cs typeface="Arial"/>
                </a:rPr>
                <a:t>算法</a:t>
              </a:r>
            </a:p>
          </p:txBody>
        </p:sp>
      </p:grpSp>
      <p:grpSp>
        <p:nvGrpSpPr>
          <p:cNvPr id="158" name="组合 157">
            <a:extLst>
              <a:ext uri="{FF2B5EF4-FFF2-40B4-BE49-F238E27FC236}">
                <a16:creationId xmlns:a16="http://schemas.microsoft.com/office/drawing/2014/main" id="{BE9E3B65-494D-40EA-BE9E-8117AD1EA9D8}"/>
              </a:ext>
            </a:extLst>
          </p:cNvPr>
          <p:cNvGrpSpPr/>
          <p:nvPr/>
        </p:nvGrpSpPr>
        <p:grpSpPr>
          <a:xfrm>
            <a:off x="8083534" y="2543769"/>
            <a:ext cx="590550" cy="215503"/>
            <a:chOff x="9225915" y="3427095"/>
            <a:chExt cx="590550" cy="215503"/>
          </a:xfrm>
        </p:grpSpPr>
        <p:sp>
          <p:nvSpPr>
            <p:cNvPr id="61" name="Rectangle 61"/>
            <p:cNvSpPr/>
            <p:nvPr/>
          </p:nvSpPr>
          <p:spPr>
            <a:xfrm>
              <a:off x="9225915" y="3427095"/>
              <a:ext cx="590550" cy="200025"/>
            </a:xfrm>
            <a:prstGeom prst="roundRect">
              <a:avLst>
                <a:gd name="adj" fmla="val 47619"/>
              </a:avLst>
            </a:prstGeom>
            <a:solidFill>
              <a:srgbClr val="FFFFFF">
                <a:alpha val="90000"/>
              </a:srgbClr>
            </a:solidFill>
            <a:ln w="9525">
              <a:solidFill>
                <a:srgbClr val="A50021">
                  <a:alpha val="45000"/>
                </a:srgbClr>
              </a:solidFill>
            </a:ln>
          </p:spPr>
        </p:sp>
        <p:sp>
          <p:nvSpPr>
            <p:cNvPr id="62" name="TextBox 62"/>
            <p:cNvSpPr txBox="1"/>
            <p:nvPr/>
          </p:nvSpPr>
          <p:spPr>
            <a:xfrm>
              <a:off x="9377970" y="3467338"/>
              <a:ext cx="286441" cy="175260"/>
            </a:xfrm>
            <a:prstGeom prst="rect">
              <a:avLst/>
            </a:prstGeom>
            <a:noFill/>
            <a:ln>
              <a:noFill/>
            </a:ln>
          </p:spPr>
          <p:txBody>
            <a:bodyPr wrap="none" lIns="0" tIns="0" rIns="0" bIns="0" anchor="t" anchorCtr="0">
              <a:spAutoFit/>
            </a:bodyPr>
            <a:lstStyle/>
            <a:p>
              <a:pPr algn="ctr"/>
              <a:r>
                <a:rPr lang="zh-CN" sz="862" b="1" dirty="0">
                  <a:solidFill>
                    <a:srgbClr val="A50021"/>
                  </a:solidFill>
                  <a:latin typeface="Arial"/>
                  <a:ea typeface="Microsoft YaHei"/>
                  <a:cs typeface="Arial"/>
                </a:rPr>
                <a:t>资产</a:t>
              </a:r>
            </a:p>
          </p:txBody>
        </p:sp>
      </p:grpSp>
      <p:grpSp>
        <p:nvGrpSpPr>
          <p:cNvPr id="153" name="组合 152">
            <a:extLst>
              <a:ext uri="{FF2B5EF4-FFF2-40B4-BE49-F238E27FC236}">
                <a16:creationId xmlns:a16="http://schemas.microsoft.com/office/drawing/2014/main" id="{3F5A1684-AF5B-439D-AF54-BB1F312D5E7A}"/>
              </a:ext>
            </a:extLst>
          </p:cNvPr>
          <p:cNvGrpSpPr/>
          <p:nvPr/>
        </p:nvGrpSpPr>
        <p:grpSpPr>
          <a:xfrm>
            <a:off x="6663906" y="2641798"/>
            <a:ext cx="590550" cy="215503"/>
            <a:chOff x="7097078" y="2441258"/>
            <a:chExt cx="590550" cy="215503"/>
          </a:xfrm>
        </p:grpSpPr>
        <p:sp>
          <p:nvSpPr>
            <p:cNvPr id="64" name="Rectangle 64"/>
            <p:cNvSpPr/>
            <p:nvPr/>
          </p:nvSpPr>
          <p:spPr>
            <a:xfrm>
              <a:off x="7097078" y="2441258"/>
              <a:ext cx="590550" cy="200025"/>
            </a:xfrm>
            <a:prstGeom prst="roundRect">
              <a:avLst>
                <a:gd name="adj" fmla="val 47619"/>
              </a:avLst>
            </a:prstGeom>
            <a:solidFill>
              <a:srgbClr val="FFFFFF">
                <a:alpha val="90000"/>
              </a:srgbClr>
            </a:solidFill>
            <a:ln w="9525">
              <a:solidFill>
                <a:srgbClr val="4285F4">
                  <a:alpha val="45000"/>
                </a:srgbClr>
              </a:solidFill>
            </a:ln>
          </p:spPr>
        </p:sp>
        <p:sp>
          <p:nvSpPr>
            <p:cNvPr id="65" name="TextBox 65"/>
            <p:cNvSpPr txBox="1"/>
            <p:nvPr/>
          </p:nvSpPr>
          <p:spPr>
            <a:xfrm>
              <a:off x="7249132" y="2481501"/>
              <a:ext cx="286441" cy="175260"/>
            </a:xfrm>
            <a:prstGeom prst="rect">
              <a:avLst/>
            </a:prstGeom>
            <a:noFill/>
            <a:ln>
              <a:noFill/>
            </a:ln>
          </p:spPr>
          <p:txBody>
            <a:bodyPr wrap="none" lIns="0" tIns="0" rIns="0" bIns="0" anchor="t" anchorCtr="0">
              <a:spAutoFit/>
            </a:bodyPr>
            <a:lstStyle/>
            <a:p>
              <a:pPr algn="ctr"/>
              <a:r>
                <a:rPr lang="zh-CN" sz="862" b="1" dirty="0">
                  <a:solidFill>
                    <a:srgbClr val="4285F4"/>
                  </a:solidFill>
                  <a:latin typeface="Arial"/>
                  <a:ea typeface="Microsoft YaHei"/>
                  <a:cs typeface="Arial"/>
                </a:rPr>
                <a:t>语义</a:t>
              </a:r>
            </a:p>
          </p:txBody>
        </p:sp>
      </p:grpSp>
      <p:grpSp>
        <p:nvGrpSpPr>
          <p:cNvPr id="149" name="组合 148">
            <a:extLst>
              <a:ext uri="{FF2B5EF4-FFF2-40B4-BE49-F238E27FC236}">
                <a16:creationId xmlns:a16="http://schemas.microsoft.com/office/drawing/2014/main" id="{94210AEF-708D-473E-99B3-CE0583CCEC6F}"/>
              </a:ext>
            </a:extLst>
          </p:cNvPr>
          <p:cNvGrpSpPr/>
          <p:nvPr/>
        </p:nvGrpSpPr>
        <p:grpSpPr>
          <a:xfrm>
            <a:off x="7915910" y="4226242"/>
            <a:ext cx="590550" cy="215503"/>
            <a:chOff x="7680008" y="4262438"/>
            <a:chExt cx="590550" cy="215503"/>
          </a:xfrm>
        </p:grpSpPr>
        <p:sp>
          <p:nvSpPr>
            <p:cNvPr id="67" name="Rectangle 67"/>
            <p:cNvSpPr/>
            <p:nvPr/>
          </p:nvSpPr>
          <p:spPr>
            <a:xfrm>
              <a:off x="7680008" y="4262438"/>
              <a:ext cx="590550" cy="200025"/>
            </a:xfrm>
            <a:prstGeom prst="roundRect">
              <a:avLst>
                <a:gd name="adj" fmla="val 47619"/>
              </a:avLst>
            </a:prstGeom>
            <a:solidFill>
              <a:srgbClr val="FFFFFF">
                <a:alpha val="90000"/>
              </a:srgbClr>
            </a:solidFill>
            <a:ln w="9525">
              <a:solidFill>
                <a:srgbClr val="5F6368">
                  <a:alpha val="45000"/>
                </a:srgbClr>
              </a:solidFill>
            </a:ln>
          </p:spPr>
        </p:sp>
        <p:sp>
          <p:nvSpPr>
            <p:cNvPr id="68" name="TextBox 68"/>
            <p:cNvSpPr txBox="1"/>
            <p:nvPr/>
          </p:nvSpPr>
          <p:spPr>
            <a:xfrm>
              <a:off x="7832062" y="4302681"/>
              <a:ext cx="286441" cy="175260"/>
            </a:xfrm>
            <a:prstGeom prst="rect">
              <a:avLst/>
            </a:prstGeom>
            <a:noFill/>
            <a:ln>
              <a:noFill/>
            </a:ln>
          </p:spPr>
          <p:txBody>
            <a:bodyPr wrap="none" lIns="0" tIns="0" rIns="0" bIns="0" anchor="t" anchorCtr="0">
              <a:spAutoFit/>
            </a:bodyPr>
            <a:lstStyle/>
            <a:p>
              <a:pPr algn="ctr"/>
              <a:r>
                <a:rPr lang="zh-CN" sz="862" b="1" dirty="0">
                  <a:solidFill>
                    <a:srgbClr val="5F6368"/>
                  </a:solidFill>
                  <a:latin typeface="Arial"/>
                  <a:ea typeface="Microsoft YaHei"/>
                  <a:cs typeface="Arial"/>
                </a:rPr>
                <a:t>模型</a:t>
              </a:r>
            </a:p>
          </p:txBody>
        </p:sp>
      </p:grpSp>
      <p:grpSp>
        <p:nvGrpSpPr>
          <p:cNvPr id="155" name="组合 154">
            <a:extLst>
              <a:ext uri="{FF2B5EF4-FFF2-40B4-BE49-F238E27FC236}">
                <a16:creationId xmlns:a16="http://schemas.microsoft.com/office/drawing/2014/main" id="{508CEAB8-AB43-4B3A-B300-619AACF2547F}"/>
              </a:ext>
            </a:extLst>
          </p:cNvPr>
          <p:cNvGrpSpPr/>
          <p:nvPr/>
        </p:nvGrpSpPr>
        <p:grpSpPr>
          <a:xfrm>
            <a:off x="5971539" y="3061335"/>
            <a:ext cx="590550" cy="200025"/>
            <a:chOff x="5971539" y="3061335"/>
            <a:chExt cx="590550" cy="200025"/>
          </a:xfrm>
        </p:grpSpPr>
        <p:sp>
          <p:nvSpPr>
            <p:cNvPr id="70" name="Rectangle 70"/>
            <p:cNvSpPr/>
            <p:nvPr/>
          </p:nvSpPr>
          <p:spPr>
            <a:xfrm>
              <a:off x="5971539" y="3061335"/>
              <a:ext cx="590550" cy="200025"/>
            </a:xfrm>
            <a:prstGeom prst="roundRect">
              <a:avLst>
                <a:gd name="adj" fmla="val 47619"/>
              </a:avLst>
            </a:prstGeom>
            <a:solidFill>
              <a:srgbClr val="FFFFFF">
                <a:alpha val="90000"/>
              </a:srgbClr>
            </a:solidFill>
            <a:ln w="9525">
              <a:solidFill>
                <a:srgbClr val="4285F4">
                  <a:alpha val="45000"/>
                </a:srgbClr>
              </a:solidFill>
            </a:ln>
          </p:spPr>
        </p:sp>
        <p:sp>
          <p:nvSpPr>
            <p:cNvPr id="71" name="TextBox 71"/>
            <p:cNvSpPr txBox="1"/>
            <p:nvPr/>
          </p:nvSpPr>
          <p:spPr>
            <a:xfrm>
              <a:off x="6123594" y="3101578"/>
              <a:ext cx="286441" cy="132665"/>
            </a:xfrm>
            <a:prstGeom prst="rect">
              <a:avLst/>
            </a:prstGeom>
            <a:noFill/>
            <a:ln>
              <a:noFill/>
            </a:ln>
          </p:spPr>
          <p:txBody>
            <a:bodyPr wrap="square" lIns="0" tIns="0" rIns="0" bIns="0" anchor="t" anchorCtr="0">
              <a:spAutoFit/>
            </a:bodyPr>
            <a:lstStyle/>
            <a:p>
              <a:pPr algn="ctr"/>
              <a:r>
                <a:rPr lang="zh-CN" sz="862" b="1" dirty="0">
                  <a:solidFill>
                    <a:srgbClr val="4285F4"/>
                  </a:solidFill>
                  <a:latin typeface="Arial"/>
                  <a:ea typeface="Microsoft YaHei"/>
                  <a:cs typeface="Arial"/>
                </a:rPr>
                <a:t>概念</a:t>
              </a:r>
            </a:p>
          </p:txBody>
        </p:sp>
      </p:grpSp>
      <p:grpSp>
        <p:nvGrpSpPr>
          <p:cNvPr id="151" name="组合 150">
            <a:extLst>
              <a:ext uri="{FF2B5EF4-FFF2-40B4-BE49-F238E27FC236}">
                <a16:creationId xmlns:a16="http://schemas.microsoft.com/office/drawing/2014/main" id="{765FFDD8-F867-49A8-A1F9-DA87583A8BB2}"/>
              </a:ext>
            </a:extLst>
          </p:cNvPr>
          <p:cNvGrpSpPr/>
          <p:nvPr/>
        </p:nvGrpSpPr>
        <p:grpSpPr>
          <a:xfrm>
            <a:off x="7095864" y="3842147"/>
            <a:ext cx="590550" cy="215503"/>
            <a:chOff x="6938010" y="3710940"/>
            <a:chExt cx="590550" cy="215503"/>
          </a:xfrm>
        </p:grpSpPr>
        <p:sp>
          <p:nvSpPr>
            <p:cNvPr id="73" name="Rectangle 73"/>
            <p:cNvSpPr/>
            <p:nvPr/>
          </p:nvSpPr>
          <p:spPr>
            <a:xfrm>
              <a:off x="6938010" y="3710940"/>
              <a:ext cx="590550" cy="200025"/>
            </a:xfrm>
            <a:prstGeom prst="roundRect">
              <a:avLst>
                <a:gd name="adj" fmla="val 47619"/>
              </a:avLst>
            </a:prstGeom>
            <a:solidFill>
              <a:srgbClr val="FFFFFF">
                <a:alpha val="90000"/>
              </a:srgbClr>
            </a:solidFill>
            <a:ln w="9525">
              <a:solidFill>
                <a:srgbClr val="5F6368">
                  <a:alpha val="45000"/>
                </a:srgbClr>
              </a:solidFill>
            </a:ln>
          </p:spPr>
        </p:sp>
        <p:sp>
          <p:nvSpPr>
            <p:cNvPr id="74" name="TextBox 74"/>
            <p:cNvSpPr txBox="1"/>
            <p:nvPr/>
          </p:nvSpPr>
          <p:spPr>
            <a:xfrm>
              <a:off x="7166118" y="3751183"/>
              <a:ext cx="134334" cy="175260"/>
            </a:xfrm>
            <a:prstGeom prst="rect">
              <a:avLst/>
            </a:prstGeom>
            <a:noFill/>
            <a:ln>
              <a:noFill/>
            </a:ln>
          </p:spPr>
          <p:txBody>
            <a:bodyPr wrap="none" lIns="0" tIns="0" rIns="0" bIns="0" anchor="t" anchorCtr="0">
              <a:spAutoFit/>
            </a:bodyPr>
            <a:lstStyle/>
            <a:p>
              <a:pPr algn="ctr"/>
              <a:r>
                <a:rPr lang="zh-CN" sz="862" b="1" dirty="0">
                  <a:solidFill>
                    <a:srgbClr val="5F6368"/>
                  </a:solidFill>
                  <a:latin typeface="Arial"/>
                  <a:ea typeface="Microsoft YaHei"/>
                  <a:cs typeface="Arial"/>
                </a:rPr>
                <a:t>AI</a:t>
              </a:r>
            </a:p>
          </p:txBody>
        </p:sp>
      </p:grpSp>
      <p:grpSp>
        <p:nvGrpSpPr>
          <p:cNvPr id="154" name="组合 153">
            <a:extLst>
              <a:ext uri="{FF2B5EF4-FFF2-40B4-BE49-F238E27FC236}">
                <a16:creationId xmlns:a16="http://schemas.microsoft.com/office/drawing/2014/main" id="{E9FE06A1-59A3-44BB-AC28-03E116407BA7}"/>
              </a:ext>
            </a:extLst>
          </p:cNvPr>
          <p:cNvGrpSpPr/>
          <p:nvPr/>
        </p:nvGrpSpPr>
        <p:grpSpPr>
          <a:xfrm>
            <a:off x="7136475" y="3025417"/>
            <a:ext cx="590550" cy="215503"/>
            <a:chOff x="7838122" y="2748915"/>
            <a:chExt cx="590550" cy="215503"/>
          </a:xfrm>
        </p:grpSpPr>
        <p:sp>
          <p:nvSpPr>
            <p:cNvPr id="76" name="Rectangle 76"/>
            <p:cNvSpPr/>
            <p:nvPr/>
          </p:nvSpPr>
          <p:spPr>
            <a:xfrm>
              <a:off x="7838122" y="2748915"/>
              <a:ext cx="590550" cy="200025"/>
            </a:xfrm>
            <a:prstGeom prst="roundRect">
              <a:avLst>
                <a:gd name="adj" fmla="val 47619"/>
              </a:avLst>
            </a:prstGeom>
            <a:solidFill>
              <a:srgbClr val="FFFFFF">
                <a:alpha val="90000"/>
              </a:srgbClr>
            </a:solidFill>
            <a:ln w="9525">
              <a:solidFill>
                <a:srgbClr val="4285F4">
                  <a:alpha val="45000"/>
                </a:srgbClr>
              </a:solidFill>
            </a:ln>
          </p:spPr>
        </p:sp>
        <p:sp>
          <p:nvSpPr>
            <p:cNvPr id="77" name="TextBox 77"/>
            <p:cNvSpPr txBox="1"/>
            <p:nvPr/>
          </p:nvSpPr>
          <p:spPr>
            <a:xfrm>
              <a:off x="7990177" y="2789158"/>
              <a:ext cx="286441" cy="175260"/>
            </a:xfrm>
            <a:prstGeom prst="rect">
              <a:avLst/>
            </a:prstGeom>
            <a:noFill/>
            <a:ln>
              <a:noFill/>
            </a:ln>
          </p:spPr>
          <p:txBody>
            <a:bodyPr wrap="none" lIns="0" tIns="0" rIns="0" bIns="0" anchor="t" anchorCtr="0">
              <a:spAutoFit/>
            </a:bodyPr>
            <a:lstStyle/>
            <a:p>
              <a:pPr algn="ctr"/>
              <a:r>
                <a:rPr lang="zh-CN" sz="862" b="1" dirty="0">
                  <a:solidFill>
                    <a:srgbClr val="4285F4"/>
                  </a:solidFill>
                  <a:latin typeface="Arial"/>
                  <a:ea typeface="Microsoft YaHei"/>
                  <a:cs typeface="Arial"/>
                </a:rPr>
                <a:t>知识</a:t>
              </a:r>
            </a:p>
          </p:txBody>
        </p:sp>
      </p:grpSp>
      <p:sp>
        <p:nvSpPr>
          <p:cNvPr id="79" name="Rectangle 79"/>
          <p:cNvSpPr/>
          <p:nvPr/>
        </p:nvSpPr>
        <p:spPr>
          <a:xfrm>
            <a:off x="8534400" y="3109912"/>
            <a:ext cx="590550" cy="200025"/>
          </a:xfrm>
          <a:prstGeom prst="roundRect">
            <a:avLst>
              <a:gd name="adj" fmla="val 47619"/>
            </a:avLst>
          </a:prstGeom>
          <a:solidFill>
            <a:srgbClr val="FFFFFF">
              <a:alpha val="90000"/>
            </a:srgbClr>
          </a:solidFill>
          <a:ln w="9525">
            <a:solidFill>
              <a:srgbClr val="2E7D32">
                <a:alpha val="45000"/>
              </a:srgbClr>
            </a:solidFill>
          </a:ln>
        </p:spPr>
      </p:sp>
      <p:sp>
        <p:nvSpPr>
          <p:cNvPr id="80" name="TextBox 80"/>
          <p:cNvSpPr txBox="1"/>
          <p:nvPr/>
        </p:nvSpPr>
        <p:spPr>
          <a:xfrm>
            <a:off x="8686455" y="3150156"/>
            <a:ext cx="286441" cy="175260"/>
          </a:xfrm>
          <a:prstGeom prst="rect">
            <a:avLst/>
          </a:prstGeom>
          <a:noFill/>
          <a:ln>
            <a:noFill/>
          </a:ln>
        </p:spPr>
        <p:txBody>
          <a:bodyPr wrap="none" lIns="0" tIns="0" rIns="0" bIns="0" anchor="t" anchorCtr="0">
            <a:spAutoFit/>
          </a:bodyPr>
          <a:lstStyle/>
          <a:p>
            <a:pPr algn="ctr"/>
            <a:r>
              <a:rPr lang="zh-CN" sz="862" b="1" dirty="0">
                <a:solidFill>
                  <a:srgbClr val="2E7D32"/>
                </a:solidFill>
                <a:latin typeface="Arial"/>
                <a:ea typeface="Microsoft YaHei"/>
                <a:cs typeface="Arial"/>
              </a:rPr>
              <a:t>场景</a:t>
            </a:r>
          </a:p>
        </p:txBody>
      </p:sp>
      <p:grpSp>
        <p:nvGrpSpPr>
          <p:cNvPr id="160" name="组合 159">
            <a:extLst>
              <a:ext uri="{FF2B5EF4-FFF2-40B4-BE49-F238E27FC236}">
                <a16:creationId xmlns:a16="http://schemas.microsoft.com/office/drawing/2014/main" id="{DB054875-451C-4B9E-B2FE-B7421D97BB88}"/>
              </a:ext>
            </a:extLst>
          </p:cNvPr>
          <p:cNvGrpSpPr/>
          <p:nvPr/>
        </p:nvGrpSpPr>
        <p:grpSpPr>
          <a:xfrm>
            <a:off x="9409959" y="2957908"/>
            <a:ext cx="590550" cy="215503"/>
            <a:chOff x="9043035" y="3238500"/>
            <a:chExt cx="590550" cy="215503"/>
          </a:xfrm>
        </p:grpSpPr>
        <p:sp>
          <p:nvSpPr>
            <p:cNvPr id="82" name="Rectangle 82"/>
            <p:cNvSpPr/>
            <p:nvPr/>
          </p:nvSpPr>
          <p:spPr>
            <a:xfrm>
              <a:off x="9043035" y="3238500"/>
              <a:ext cx="590550" cy="200025"/>
            </a:xfrm>
            <a:prstGeom prst="roundRect">
              <a:avLst>
                <a:gd name="adj" fmla="val 47619"/>
              </a:avLst>
            </a:prstGeom>
            <a:solidFill>
              <a:srgbClr val="FFFFFF">
                <a:alpha val="90000"/>
              </a:srgbClr>
            </a:solidFill>
            <a:ln w="9525">
              <a:solidFill>
                <a:srgbClr val="2E7D32">
                  <a:alpha val="45000"/>
                </a:srgbClr>
              </a:solidFill>
            </a:ln>
          </p:spPr>
        </p:sp>
        <p:sp>
          <p:nvSpPr>
            <p:cNvPr id="83" name="TextBox 83"/>
            <p:cNvSpPr txBox="1"/>
            <p:nvPr/>
          </p:nvSpPr>
          <p:spPr>
            <a:xfrm>
              <a:off x="9195090" y="3278743"/>
              <a:ext cx="286441" cy="175260"/>
            </a:xfrm>
            <a:prstGeom prst="rect">
              <a:avLst/>
            </a:prstGeom>
            <a:noFill/>
            <a:ln>
              <a:noFill/>
            </a:ln>
          </p:spPr>
          <p:txBody>
            <a:bodyPr wrap="none" lIns="0" tIns="0" rIns="0" bIns="0" anchor="t" anchorCtr="0">
              <a:spAutoFit/>
            </a:bodyPr>
            <a:lstStyle/>
            <a:p>
              <a:pPr algn="ctr"/>
              <a:r>
                <a:rPr lang="zh-CN" sz="862" b="1" dirty="0">
                  <a:solidFill>
                    <a:srgbClr val="2E7D32"/>
                  </a:solidFill>
                  <a:latin typeface="Arial"/>
                  <a:ea typeface="Microsoft YaHei"/>
                  <a:cs typeface="Arial"/>
                </a:rPr>
                <a:t>客户</a:t>
              </a:r>
            </a:p>
          </p:txBody>
        </p:sp>
      </p:grpSp>
      <p:grpSp>
        <p:nvGrpSpPr>
          <p:cNvPr id="161" name="组合 160">
            <a:extLst>
              <a:ext uri="{FF2B5EF4-FFF2-40B4-BE49-F238E27FC236}">
                <a16:creationId xmlns:a16="http://schemas.microsoft.com/office/drawing/2014/main" id="{8CC34F0E-A3AA-4B5F-B496-5737EA25EB42}"/>
              </a:ext>
            </a:extLst>
          </p:cNvPr>
          <p:cNvGrpSpPr/>
          <p:nvPr/>
        </p:nvGrpSpPr>
        <p:grpSpPr>
          <a:xfrm>
            <a:off x="9419272" y="3423165"/>
            <a:ext cx="590550" cy="215503"/>
            <a:chOff x="9087802" y="3606165"/>
            <a:chExt cx="590550" cy="215503"/>
          </a:xfrm>
        </p:grpSpPr>
        <p:sp>
          <p:nvSpPr>
            <p:cNvPr id="85" name="Rectangle 85"/>
            <p:cNvSpPr/>
            <p:nvPr/>
          </p:nvSpPr>
          <p:spPr>
            <a:xfrm>
              <a:off x="9087802" y="3606165"/>
              <a:ext cx="590550" cy="200025"/>
            </a:xfrm>
            <a:prstGeom prst="roundRect">
              <a:avLst>
                <a:gd name="adj" fmla="val 47619"/>
              </a:avLst>
            </a:prstGeom>
            <a:solidFill>
              <a:srgbClr val="FFFFFF">
                <a:alpha val="90000"/>
              </a:srgbClr>
            </a:solidFill>
            <a:ln w="9525">
              <a:solidFill>
                <a:srgbClr val="2E7D32">
                  <a:alpha val="45000"/>
                </a:srgbClr>
              </a:solidFill>
            </a:ln>
          </p:spPr>
        </p:sp>
        <p:sp>
          <p:nvSpPr>
            <p:cNvPr id="86" name="TextBox 86"/>
            <p:cNvSpPr txBox="1"/>
            <p:nvPr/>
          </p:nvSpPr>
          <p:spPr>
            <a:xfrm>
              <a:off x="9239857" y="3646408"/>
              <a:ext cx="286441" cy="175260"/>
            </a:xfrm>
            <a:prstGeom prst="rect">
              <a:avLst/>
            </a:prstGeom>
            <a:noFill/>
            <a:ln>
              <a:noFill/>
            </a:ln>
          </p:spPr>
          <p:txBody>
            <a:bodyPr wrap="none" lIns="0" tIns="0" rIns="0" bIns="0" anchor="t" anchorCtr="0">
              <a:spAutoFit/>
            </a:bodyPr>
            <a:lstStyle/>
            <a:p>
              <a:pPr algn="ctr"/>
              <a:r>
                <a:rPr lang="zh-CN" sz="862" b="1" dirty="0">
                  <a:solidFill>
                    <a:srgbClr val="2E7D32"/>
                  </a:solidFill>
                  <a:latin typeface="Arial"/>
                  <a:ea typeface="Microsoft YaHei"/>
                  <a:cs typeface="Arial"/>
                </a:rPr>
                <a:t>服务</a:t>
              </a:r>
            </a:p>
          </p:txBody>
        </p:sp>
      </p:grpSp>
      <p:grpSp>
        <p:nvGrpSpPr>
          <p:cNvPr id="162" name="组合 161">
            <a:extLst>
              <a:ext uri="{FF2B5EF4-FFF2-40B4-BE49-F238E27FC236}">
                <a16:creationId xmlns:a16="http://schemas.microsoft.com/office/drawing/2014/main" id="{426BE74C-ED5C-473C-B947-D9C6AB698343}"/>
              </a:ext>
            </a:extLst>
          </p:cNvPr>
          <p:cNvGrpSpPr/>
          <p:nvPr/>
        </p:nvGrpSpPr>
        <p:grpSpPr>
          <a:xfrm>
            <a:off x="8828722" y="3653114"/>
            <a:ext cx="590550" cy="215503"/>
            <a:chOff x="8445818" y="3760470"/>
            <a:chExt cx="590550" cy="215503"/>
          </a:xfrm>
        </p:grpSpPr>
        <p:sp>
          <p:nvSpPr>
            <p:cNvPr id="88" name="Rectangle 88"/>
            <p:cNvSpPr/>
            <p:nvPr/>
          </p:nvSpPr>
          <p:spPr>
            <a:xfrm>
              <a:off x="8445818" y="3760470"/>
              <a:ext cx="590550" cy="200025"/>
            </a:xfrm>
            <a:prstGeom prst="roundRect">
              <a:avLst>
                <a:gd name="adj" fmla="val 47619"/>
              </a:avLst>
            </a:prstGeom>
            <a:solidFill>
              <a:srgbClr val="FFFFFF">
                <a:alpha val="90000"/>
              </a:srgbClr>
            </a:solidFill>
            <a:ln w="9525">
              <a:solidFill>
                <a:srgbClr val="2E7D32">
                  <a:alpha val="45000"/>
                </a:srgbClr>
              </a:solidFill>
            </a:ln>
          </p:spPr>
        </p:sp>
        <p:sp>
          <p:nvSpPr>
            <p:cNvPr id="89" name="TextBox 89"/>
            <p:cNvSpPr txBox="1"/>
            <p:nvPr/>
          </p:nvSpPr>
          <p:spPr>
            <a:xfrm>
              <a:off x="8597872" y="3800713"/>
              <a:ext cx="286441" cy="175260"/>
            </a:xfrm>
            <a:prstGeom prst="rect">
              <a:avLst/>
            </a:prstGeom>
            <a:noFill/>
            <a:ln>
              <a:noFill/>
            </a:ln>
          </p:spPr>
          <p:txBody>
            <a:bodyPr wrap="none" lIns="0" tIns="0" rIns="0" bIns="0" anchor="t" anchorCtr="0">
              <a:spAutoFit/>
            </a:bodyPr>
            <a:lstStyle/>
            <a:p>
              <a:pPr algn="ctr"/>
              <a:r>
                <a:rPr lang="zh-CN" sz="862" b="1" dirty="0">
                  <a:solidFill>
                    <a:srgbClr val="2E7D32"/>
                  </a:solidFill>
                  <a:latin typeface="Arial"/>
                  <a:ea typeface="Microsoft YaHei"/>
                  <a:cs typeface="Arial"/>
                </a:rPr>
                <a:t>体验</a:t>
              </a:r>
            </a:p>
          </p:txBody>
        </p:sp>
      </p:grpSp>
      <p:sp>
        <p:nvSpPr>
          <p:cNvPr id="93" name="Rectangle 93"/>
          <p:cNvSpPr/>
          <p:nvPr/>
        </p:nvSpPr>
        <p:spPr>
          <a:xfrm>
            <a:off x="4248150" y="5181600"/>
            <a:ext cx="7410450" cy="990600"/>
          </a:xfrm>
          <a:prstGeom prst="roundRect">
            <a:avLst>
              <a:gd name="adj" fmla="val 9615"/>
            </a:avLst>
          </a:prstGeom>
          <a:solidFill>
            <a:srgbClr val="F8F9FA"/>
          </a:solidFill>
          <a:ln w="11430">
            <a:solidFill>
              <a:srgbClr val="E4E7EB"/>
            </a:solidFill>
          </a:ln>
        </p:spPr>
      </p:sp>
      <p:sp>
        <p:nvSpPr>
          <p:cNvPr id="94" name="TextBox 94"/>
          <p:cNvSpPr txBox="1"/>
          <p:nvPr/>
        </p:nvSpPr>
        <p:spPr>
          <a:xfrm>
            <a:off x="4500562" y="5201126"/>
            <a:ext cx="899285" cy="173124"/>
          </a:xfrm>
          <a:prstGeom prst="rect">
            <a:avLst/>
          </a:prstGeom>
          <a:noFill/>
          <a:ln>
            <a:noFill/>
          </a:ln>
        </p:spPr>
        <p:txBody>
          <a:bodyPr wrap="none" lIns="0" tIns="0" rIns="0" bIns="0" anchor="t" anchorCtr="0">
            <a:spAutoFit/>
          </a:bodyPr>
          <a:lstStyle/>
          <a:p>
            <a:pPr algn="l"/>
            <a:r>
              <a:rPr lang="zh-CN" sz="1125" b="1" dirty="0">
                <a:solidFill>
                  <a:srgbClr val="1F2328"/>
                </a:solidFill>
                <a:latin typeface="Arial"/>
                <a:ea typeface="SimHei"/>
                <a:cs typeface="Arial"/>
              </a:rPr>
              <a:t>三维向量</a:t>
            </a:r>
            <a:r>
              <a:rPr lang="zh-CN" altLang="en-US" sz="1125" b="1" dirty="0">
                <a:solidFill>
                  <a:srgbClr val="1F2328"/>
                </a:solidFill>
                <a:latin typeface="Arial"/>
                <a:ea typeface="SimHei"/>
                <a:cs typeface="Arial"/>
              </a:rPr>
              <a:t>示例</a:t>
            </a:r>
            <a:endParaRPr lang="zh-CN" sz="1125" b="1" dirty="0">
              <a:solidFill>
                <a:srgbClr val="1F2328"/>
              </a:solidFill>
              <a:latin typeface="Arial"/>
              <a:ea typeface="SimHei"/>
              <a:cs typeface="Arial"/>
            </a:endParaRPr>
          </a:p>
        </p:txBody>
      </p:sp>
      <p:sp>
        <p:nvSpPr>
          <p:cNvPr id="96" name="Ellipse 96"/>
          <p:cNvSpPr/>
          <p:nvPr/>
        </p:nvSpPr>
        <p:spPr>
          <a:xfrm>
            <a:off x="4476750" y="5474970"/>
            <a:ext cx="76200" cy="76200"/>
          </a:xfrm>
          <a:prstGeom prst="ellipse">
            <a:avLst/>
          </a:prstGeom>
          <a:solidFill>
            <a:srgbClr val="5F6368"/>
          </a:solidFill>
          <a:ln>
            <a:noFill/>
          </a:ln>
        </p:spPr>
      </p:sp>
      <p:sp>
        <p:nvSpPr>
          <p:cNvPr id="97" name="TextBox 97"/>
          <p:cNvSpPr txBox="1"/>
          <p:nvPr/>
        </p:nvSpPr>
        <p:spPr>
          <a:xfrm>
            <a:off x="4599622" y="5462111"/>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模型</a:t>
            </a:r>
          </a:p>
        </p:txBody>
      </p:sp>
      <p:sp>
        <p:nvSpPr>
          <p:cNvPr id="98" name="TextBox 98"/>
          <p:cNvSpPr txBox="1"/>
          <p:nvPr/>
        </p:nvSpPr>
        <p:spPr>
          <a:xfrm>
            <a:off x="4962049" y="5466159"/>
            <a:ext cx="1227653"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[-0.36, -0.62, 0.38]</a:t>
            </a:r>
          </a:p>
        </p:txBody>
      </p:sp>
      <p:sp>
        <p:nvSpPr>
          <p:cNvPr id="99" name="Ellipse 99"/>
          <p:cNvSpPr/>
          <p:nvPr/>
        </p:nvSpPr>
        <p:spPr>
          <a:xfrm>
            <a:off x="6229350" y="5474970"/>
            <a:ext cx="76200" cy="76200"/>
          </a:xfrm>
          <a:prstGeom prst="ellipse">
            <a:avLst/>
          </a:prstGeom>
          <a:solidFill>
            <a:srgbClr val="A50021"/>
          </a:solidFill>
          <a:ln>
            <a:noFill/>
          </a:ln>
        </p:spPr>
      </p:sp>
      <p:sp>
        <p:nvSpPr>
          <p:cNvPr id="100" name="TextBox 100"/>
          <p:cNvSpPr txBox="1"/>
          <p:nvPr/>
        </p:nvSpPr>
        <p:spPr>
          <a:xfrm>
            <a:off x="6352222" y="5462111"/>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银行</a:t>
            </a:r>
          </a:p>
        </p:txBody>
      </p:sp>
      <p:sp>
        <p:nvSpPr>
          <p:cNvPr id="101" name="TextBox 101"/>
          <p:cNvSpPr txBox="1"/>
          <p:nvPr/>
        </p:nvSpPr>
        <p:spPr>
          <a:xfrm>
            <a:off x="6714649" y="5466159"/>
            <a:ext cx="1072384"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[0.72, 0.38, 0.14]</a:t>
            </a:r>
          </a:p>
        </p:txBody>
      </p:sp>
      <p:sp>
        <p:nvSpPr>
          <p:cNvPr id="102" name="Ellipse 102"/>
          <p:cNvSpPr/>
          <p:nvPr/>
        </p:nvSpPr>
        <p:spPr>
          <a:xfrm>
            <a:off x="7981950" y="5474970"/>
            <a:ext cx="76200" cy="76200"/>
          </a:xfrm>
          <a:prstGeom prst="ellipse">
            <a:avLst/>
          </a:prstGeom>
          <a:solidFill>
            <a:srgbClr val="5F6368"/>
          </a:solidFill>
          <a:ln>
            <a:noFill/>
          </a:ln>
        </p:spPr>
      </p:sp>
      <p:sp>
        <p:nvSpPr>
          <p:cNvPr id="103" name="TextBox 103"/>
          <p:cNvSpPr txBox="1"/>
          <p:nvPr/>
        </p:nvSpPr>
        <p:spPr>
          <a:xfrm>
            <a:off x="8104822" y="5462111"/>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算法</a:t>
            </a:r>
          </a:p>
        </p:txBody>
      </p:sp>
      <p:sp>
        <p:nvSpPr>
          <p:cNvPr id="104" name="TextBox 104"/>
          <p:cNvSpPr txBox="1"/>
          <p:nvPr/>
        </p:nvSpPr>
        <p:spPr>
          <a:xfrm>
            <a:off x="8467249" y="5466159"/>
            <a:ext cx="1227653"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[-0.54, -0.42, 0.20]</a:t>
            </a:r>
          </a:p>
        </p:txBody>
      </p:sp>
      <p:sp>
        <p:nvSpPr>
          <p:cNvPr id="105" name="Ellipse 105"/>
          <p:cNvSpPr/>
          <p:nvPr/>
        </p:nvSpPr>
        <p:spPr>
          <a:xfrm>
            <a:off x="9734550" y="5474970"/>
            <a:ext cx="76200" cy="76200"/>
          </a:xfrm>
          <a:prstGeom prst="ellipse">
            <a:avLst/>
          </a:prstGeom>
          <a:solidFill>
            <a:srgbClr val="A50021"/>
          </a:solidFill>
          <a:ln>
            <a:noFill/>
          </a:ln>
        </p:spPr>
      </p:sp>
      <p:sp>
        <p:nvSpPr>
          <p:cNvPr id="106" name="TextBox 106"/>
          <p:cNvSpPr txBox="1"/>
          <p:nvPr/>
        </p:nvSpPr>
        <p:spPr>
          <a:xfrm>
            <a:off x="9857422" y="5462111"/>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资产</a:t>
            </a:r>
          </a:p>
        </p:txBody>
      </p:sp>
      <p:sp>
        <p:nvSpPr>
          <p:cNvPr id="107" name="TextBox 107"/>
          <p:cNvSpPr txBox="1"/>
          <p:nvPr/>
        </p:nvSpPr>
        <p:spPr>
          <a:xfrm>
            <a:off x="10219849" y="5466159"/>
            <a:ext cx="1101138"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[0.74, 0.02, 0.28]</a:t>
            </a:r>
          </a:p>
        </p:txBody>
      </p:sp>
      <p:sp>
        <p:nvSpPr>
          <p:cNvPr id="108" name="Ellipse 108"/>
          <p:cNvSpPr/>
          <p:nvPr/>
        </p:nvSpPr>
        <p:spPr>
          <a:xfrm>
            <a:off x="4476750" y="5655945"/>
            <a:ext cx="76200" cy="76200"/>
          </a:xfrm>
          <a:prstGeom prst="ellipse">
            <a:avLst/>
          </a:prstGeom>
          <a:solidFill>
            <a:srgbClr val="5F6368"/>
          </a:solidFill>
          <a:ln>
            <a:noFill/>
          </a:ln>
        </p:spPr>
      </p:sp>
      <p:sp>
        <p:nvSpPr>
          <p:cNvPr id="109" name="TextBox 109"/>
          <p:cNvSpPr txBox="1"/>
          <p:nvPr/>
        </p:nvSpPr>
        <p:spPr>
          <a:xfrm>
            <a:off x="4599622" y="5643086"/>
            <a:ext cx="128493"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AI</a:t>
            </a:r>
          </a:p>
        </p:txBody>
      </p:sp>
      <p:sp>
        <p:nvSpPr>
          <p:cNvPr id="110" name="TextBox 110"/>
          <p:cNvSpPr txBox="1"/>
          <p:nvPr/>
        </p:nvSpPr>
        <p:spPr>
          <a:xfrm>
            <a:off x="4962049" y="5647134"/>
            <a:ext cx="1198900"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[-0.70, -0.18, 0.52]</a:t>
            </a:r>
          </a:p>
        </p:txBody>
      </p:sp>
      <p:sp>
        <p:nvSpPr>
          <p:cNvPr id="111" name="Ellipse 111"/>
          <p:cNvSpPr/>
          <p:nvPr/>
        </p:nvSpPr>
        <p:spPr>
          <a:xfrm>
            <a:off x="6229350" y="5655945"/>
            <a:ext cx="76200" cy="76200"/>
          </a:xfrm>
          <a:prstGeom prst="ellipse">
            <a:avLst/>
          </a:prstGeom>
          <a:solidFill>
            <a:srgbClr val="A50021"/>
          </a:solidFill>
          <a:ln>
            <a:noFill/>
          </a:ln>
        </p:spPr>
      </p:sp>
      <p:sp>
        <p:nvSpPr>
          <p:cNvPr id="112" name="TextBox 112"/>
          <p:cNvSpPr txBox="1"/>
          <p:nvPr/>
        </p:nvSpPr>
        <p:spPr>
          <a:xfrm>
            <a:off x="6352222" y="5643086"/>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风险</a:t>
            </a:r>
          </a:p>
        </p:txBody>
      </p:sp>
      <p:sp>
        <p:nvSpPr>
          <p:cNvPr id="113" name="TextBox 113"/>
          <p:cNvSpPr txBox="1"/>
          <p:nvPr/>
        </p:nvSpPr>
        <p:spPr>
          <a:xfrm>
            <a:off x="6714649" y="5647134"/>
            <a:ext cx="1135642"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[0.58, -0.34, 0.18]</a:t>
            </a:r>
          </a:p>
        </p:txBody>
      </p:sp>
      <p:sp>
        <p:nvSpPr>
          <p:cNvPr id="114" name="Ellipse 114"/>
          <p:cNvSpPr/>
          <p:nvPr/>
        </p:nvSpPr>
        <p:spPr>
          <a:xfrm>
            <a:off x="7981950" y="5655945"/>
            <a:ext cx="76200" cy="76200"/>
          </a:xfrm>
          <a:prstGeom prst="ellipse">
            <a:avLst/>
          </a:prstGeom>
          <a:solidFill>
            <a:srgbClr val="4285F4"/>
          </a:solidFill>
          <a:ln>
            <a:noFill/>
          </a:ln>
        </p:spPr>
      </p:sp>
      <p:sp>
        <p:nvSpPr>
          <p:cNvPr id="115" name="TextBox 115"/>
          <p:cNvSpPr txBox="1"/>
          <p:nvPr/>
        </p:nvSpPr>
        <p:spPr>
          <a:xfrm>
            <a:off x="8104822" y="5643086"/>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文本</a:t>
            </a:r>
          </a:p>
        </p:txBody>
      </p:sp>
      <p:sp>
        <p:nvSpPr>
          <p:cNvPr id="116" name="TextBox 116"/>
          <p:cNvSpPr txBox="1"/>
          <p:nvPr/>
        </p:nvSpPr>
        <p:spPr>
          <a:xfrm>
            <a:off x="8467249" y="5647134"/>
            <a:ext cx="1164396"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[-0.76, 0.62, 0.06]</a:t>
            </a:r>
          </a:p>
        </p:txBody>
      </p:sp>
      <p:sp>
        <p:nvSpPr>
          <p:cNvPr id="117" name="Ellipse 117"/>
          <p:cNvSpPr/>
          <p:nvPr/>
        </p:nvSpPr>
        <p:spPr>
          <a:xfrm>
            <a:off x="9734550" y="5655945"/>
            <a:ext cx="76200" cy="76200"/>
          </a:xfrm>
          <a:prstGeom prst="ellipse">
            <a:avLst/>
          </a:prstGeom>
          <a:solidFill>
            <a:srgbClr val="5F6368"/>
          </a:solidFill>
          <a:ln>
            <a:noFill/>
          </a:ln>
        </p:spPr>
      </p:sp>
      <p:sp>
        <p:nvSpPr>
          <p:cNvPr id="118" name="TextBox 118"/>
          <p:cNvSpPr txBox="1"/>
          <p:nvPr/>
        </p:nvSpPr>
        <p:spPr>
          <a:xfrm>
            <a:off x="9857422" y="5643086"/>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数据</a:t>
            </a:r>
          </a:p>
        </p:txBody>
      </p:sp>
      <p:sp>
        <p:nvSpPr>
          <p:cNvPr id="119" name="TextBox 119"/>
          <p:cNvSpPr txBox="1"/>
          <p:nvPr/>
        </p:nvSpPr>
        <p:spPr>
          <a:xfrm>
            <a:off x="10219849" y="5647134"/>
            <a:ext cx="1262158"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[-0.20, -0.38, -0.12]</a:t>
            </a:r>
          </a:p>
        </p:txBody>
      </p:sp>
      <p:sp>
        <p:nvSpPr>
          <p:cNvPr id="120" name="Ellipse 120"/>
          <p:cNvSpPr/>
          <p:nvPr/>
        </p:nvSpPr>
        <p:spPr>
          <a:xfrm>
            <a:off x="4476750" y="5836920"/>
            <a:ext cx="76200" cy="76200"/>
          </a:xfrm>
          <a:prstGeom prst="ellipse">
            <a:avLst/>
          </a:prstGeom>
          <a:solidFill>
            <a:srgbClr val="A50021"/>
          </a:solidFill>
          <a:ln>
            <a:noFill/>
          </a:ln>
        </p:spPr>
      </p:sp>
      <p:sp>
        <p:nvSpPr>
          <p:cNvPr id="121" name="TextBox 121"/>
          <p:cNvSpPr txBox="1"/>
          <p:nvPr/>
        </p:nvSpPr>
        <p:spPr>
          <a:xfrm>
            <a:off x="4599622" y="5824061"/>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贷款</a:t>
            </a:r>
          </a:p>
        </p:txBody>
      </p:sp>
      <p:sp>
        <p:nvSpPr>
          <p:cNvPr id="122" name="TextBox 122"/>
          <p:cNvSpPr txBox="1"/>
          <p:nvPr/>
        </p:nvSpPr>
        <p:spPr>
          <a:xfrm>
            <a:off x="4962049" y="5828109"/>
            <a:ext cx="1164396"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[0.84, 0.20, -0.08]</a:t>
            </a:r>
          </a:p>
        </p:txBody>
      </p:sp>
      <p:sp>
        <p:nvSpPr>
          <p:cNvPr id="123" name="Ellipse 123"/>
          <p:cNvSpPr/>
          <p:nvPr/>
        </p:nvSpPr>
        <p:spPr>
          <a:xfrm>
            <a:off x="6229350" y="5836920"/>
            <a:ext cx="76200" cy="76200"/>
          </a:xfrm>
          <a:prstGeom prst="ellipse">
            <a:avLst/>
          </a:prstGeom>
          <a:solidFill>
            <a:srgbClr val="4285F4"/>
          </a:solidFill>
          <a:ln>
            <a:noFill/>
          </a:ln>
        </p:spPr>
      </p:sp>
      <p:sp>
        <p:nvSpPr>
          <p:cNvPr id="124" name="TextBox 124"/>
          <p:cNvSpPr txBox="1"/>
          <p:nvPr/>
        </p:nvSpPr>
        <p:spPr>
          <a:xfrm>
            <a:off x="6352222" y="5824061"/>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语义</a:t>
            </a:r>
          </a:p>
        </p:txBody>
      </p:sp>
      <p:sp>
        <p:nvSpPr>
          <p:cNvPr id="125" name="TextBox 125"/>
          <p:cNvSpPr txBox="1"/>
          <p:nvPr/>
        </p:nvSpPr>
        <p:spPr>
          <a:xfrm>
            <a:off x="6714649" y="5828109"/>
            <a:ext cx="1164396"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[-0.52, 0.78, 0.34]</a:t>
            </a:r>
          </a:p>
        </p:txBody>
      </p:sp>
      <p:sp>
        <p:nvSpPr>
          <p:cNvPr id="126" name="Ellipse 126"/>
          <p:cNvSpPr/>
          <p:nvPr/>
        </p:nvSpPr>
        <p:spPr>
          <a:xfrm>
            <a:off x="7981950" y="5836920"/>
            <a:ext cx="76200" cy="76200"/>
          </a:xfrm>
          <a:prstGeom prst="ellipse">
            <a:avLst/>
          </a:prstGeom>
          <a:solidFill>
            <a:srgbClr val="4285F4"/>
          </a:solidFill>
          <a:ln>
            <a:noFill/>
          </a:ln>
        </p:spPr>
      </p:sp>
      <p:sp>
        <p:nvSpPr>
          <p:cNvPr id="127" name="TextBox 127"/>
          <p:cNvSpPr txBox="1"/>
          <p:nvPr/>
        </p:nvSpPr>
        <p:spPr>
          <a:xfrm>
            <a:off x="8104822" y="5824061"/>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知识</a:t>
            </a:r>
          </a:p>
        </p:txBody>
      </p:sp>
      <p:sp>
        <p:nvSpPr>
          <p:cNvPr id="128" name="TextBox 128"/>
          <p:cNvSpPr txBox="1"/>
          <p:nvPr/>
        </p:nvSpPr>
        <p:spPr>
          <a:xfrm>
            <a:off x="8467249" y="5828109"/>
            <a:ext cx="1164396"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[-0.34, 0.64, 0.58]</a:t>
            </a:r>
          </a:p>
        </p:txBody>
      </p:sp>
      <p:sp>
        <p:nvSpPr>
          <p:cNvPr id="129" name="Ellipse 129"/>
          <p:cNvSpPr/>
          <p:nvPr/>
        </p:nvSpPr>
        <p:spPr>
          <a:xfrm>
            <a:off x="9734550" y="5836920"/>
            <a:ext cx="76200" cy="76200"/>
          </a:xfrm>
          <a:prstGeom prst="ellipse">
            <a:avLst/>
          </a:prstGeom>
          <a:solidFill>
            <a:srgbClr val="2E7D32"/>
          </a:solidFill>
          <a:ln>
            <a:noFill/>
          </a:ln>
        </p:spPr>
      </p:sp>
      <p:sp>
        <p:nvSpPr>
          <p:cNvPr id="130" name="TextBox 130"/>
          <p:cNvSpPr txBox="1"/>
          <p:nvPr/>
        </p:nvSpPr>
        <p:spPr>
          <a:xfrm>
            <a:off x="9857422" y="5824061"/>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客户</a:t>
            </a:r>
          </a:p>
        </p:txBody>
      </p:sp>
      <p:sp>
        <p:nvSpPr>
          <p:cNvPr id="131" name="TextBox 131"/>
          <p:cNvSpPr txBox="1"/>
          <p:nvPr/>
        </p:nvSpPr>
        <p:spPr>
          <a:xfrm>
            <a:off x="10219849" y="5828109"/>
            <a:ext cx="1101138"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[0.42, 0.28, 0.72]</a:t>
            </a:r>
          </a:p>
        </p:txBody>
      </p:sp>
      <p:sp>
        <p:nvSpPr>
          <p:cNvPr id="132" name="Ellipse 132"/>
          <p:cNvSpPr/>
          <p:nvPr/>
        </p:nvSpPr>
        <p:spPr>
          <a:xfrm>
            <a:off x="4476750" y="6017895"/>
            <a:ext cx="76200" cy="76200"/>
          </a:xfrm>
          <a:prstGeom prst="ellipse">
            <a:avLst/>
          </a:prstGeom>
          <a:solidFill>
            <a:srgbClr val="4285F4"/>
          </a:solidFill>
          <a:ln>
            <a:noFill/>
          </a:ln>
        </p:spPr>
      </p:sp>
      <p:sp>
        <p:nvSpPr>
          <p:cNvPr id="133" name="TextBox 133"/>
          <p:cNvSpPr txBox="1"/>
          <p:nvPr/>
        </p:nvSpPr>
        <p:spPr>
          <a:xfrm>
            <a:off x="4599622" y="6005036"/>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概念</a:t>
            </a:r>
          </a:p>
        </p:txBody>
      </p:sp>
      <p:sp>
        <p:nvSpPr>
          <p:cNvPr id="134" name="TextBox 134"/>
          <p:cNvSpPr txBox="1"/>
          <p:nvPr/>
        </p:nvSpPr>
        <p:spPr>
          <a:xfrm>
            <a:off x="4962049" y="6009084"/>
            <a:ext cx="1135642"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[-0.18, 0.52, 0.42]</a:t>
            </a:r>
          </a:p>
        </p:txBody>
      </p:sp>
      <p:sp>
        <p:nvSpPr>
          <p:cNvPr id="135" name="Ellipse 135"/>
          <p:cNvSpPr/>
          <p:nvPr/>
        </p:nvSpPr>
        <p:spPr>
          <a:xfrm>
            <a:off x="6229350" y="6017895"/>
            <a:ext cx="76200" cy="76200"/>
          </a:xfrm>
          <a:prstGeom prst="ellipse">
            <a:avLst/>
          </a:prstGeom>
          <a:solidFill>
            <a:srgbClr val="2E7D32"/>
          </a:solidFill>
          <a:ln>
            <a:noFill/>
          </a:ln>
        </p:spPr>
      </p:sp>
      <p:sp>
        <p:nvSpPr>
          <p:cNvPr id="136" name="TextBox 136"/>
          <p:cNvSpPr txBox="1"/>
          <p:nvPr/>
        </p:nvSpPr>
        <p:spPr>
          <a:xfrm>
            <a:off x="6352222" y="6005036"/>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场景</a:t>
            </a:r>
          </a:p>
        </p:txBody>
      </p:sp>
      <p:sp>
        <p:nvSpPr>
          <p:cNvPr id="137" name="TextBox 137"/>
          <p:cNvSpPr txBox="1"/>
          <p:nvPr/>
        </p:nvSpPr>
        <p:spPr>
          <a:xfrm>
            <a:off x="6714649" y="6009084"/>
            <a:ext cx="1072384"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[0.12, 0.32, 0.62]</a:t>
            </a:r>
          </a:p>
        </p:txBody>
      </p:sp>
      <p:sp>
        <p:nvSpPr>
          <p:cNvPr id="138" name="Ellipse 138"/>
          <p:cNvSpPr/>
          <p:nvPr/>
        </p:nvSpPr>
        <p:spPr>
          <a:xfrm>
            <a:off x="7981950" y="6017895"/>
            <a:ext cx="76200" cy="76200"/>
          </a:xfrm>
          <a:prstGeom prst="ellipse">
            <a:avLst/>
          </a:prstGeom>
          <a:solidFill>
            <a:srgbClr val="2E7D32"/>
          </a:solidFill>
          <a:ln>
            <a:noFill/>
          </a:ln>
        </p:spPr>
      </p:sp>
      <p:sp>
        <p:nvSpPr>
          <p:cNvPr id="139" name="TextBox 139"/>
          <p:cNvSpPr txBox="1"/>
          <p:nvPr/>
        </p:nvSpPr>
        <p:spPr>
          <a:xfrm>
            <a:off x="8104822" y="6005036"/>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服务</a:t>
            </a:r>
          </a:p>
        </p:txBody>
      </p:sp>
      <p:sp>
        <p:nvSpPr>
          <p:cNvPr id="140" name="TextBox 140"/>
          <p:cNvSpPr txBox="1"/>
          <p:nvPr/>
        </p:nvSpPr>
        <p:spPr>
          <a:xfrm>
            <a:off x="8467249" y="6009084"/>
            <a:ext cx="1072384"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[0.38, 0.14, 0.88]</a:t>
            </a:r>
          </a:p>
        </p:txBody>
      </p:sp>
      <p:sp>
        <p:nvSpPr>
          <p:cNvPr id="141" name="Ellipse 141"/>
          <p:cNvSpPr/>
          <p:nvPr/>
        </p:nvSpPr>
        <p:spPr>
          <a:xfrm>
            <a:off x="9734550" y="6017895"/>
            <a:ext cx="76200" cy="76200"/>
          </a:xfrm>
          <a:prstGeom prst="ellipse">
            <a:avLst/>
          </a:prstGeom>
          <a:solidFill>
            <a:srgbClr val="2E7D32"/>
          </a:solidFill>
          <a:ln>
            <a:noFill/>
          </a:ln>
        </p:spPr>
      </p:sp>
      <p:sp>
        <p:nvSpPr>
          <p:cNvPr id="142" name="TextBox 142"/>
          <p:cNvSpPr txBox="1"/>
          <p:nvPr/>
        </p:nvSpPr>
        <p:spPr>
          <a:xfrm>
            <a:off x="9857422" y="6005036"/>
            <a:ext cx="273987"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体验</a:t>
            </a:r>
          </a:p>
        </p:txBody>
      </p:sp>
      <p:sp>
        <p:nvSpPr>
          <p:cNvPr id="143" name="TextBox 143"/>
          <p:cNvSpPr txBox="1"/>
          <p:nvPr/>
        </p:nvSpPr>
        <p:spPr>
          <a:xfrm>
            <a:off x="10219849" y="6009084"/>
            <a:ext cx="1072384" cy="160020"/>
          </a:xfrm>
          <a:prstGeom prst="rect">
            <a:avLst/>
          </a:prstGeom>
          <a:noFill/>
          <a:ln>
            <a:noFill/>
          </a:ln>
        </p:spPr>
        <p:txBody>
          <a:bodyPr wrap="none" lIns="0" tIns="0" rIns="0" bIns="0" anchor="t" anchorCtr="0">
            <a:spAutoFit/>
          </a:bodyPr>
          <a:lstStyle/>
          <a:p>
            <a:pPr algn="l"/>
            <a:r>
              <a:rPr lang="zh-CN" sz="788" dirty="0">
                <a:solidFill>
                  <a:srgbClr val="5F6368"/>
                </a:solidFill>
                <a:latin typeface="Consolas"/>
                <a:ea typeface="Microsoft YaHei"/>
                <a:cs typeface="Consolas"/>
              </a:rPr>
              <a:t>[0.18, 0.05, 0.95]</a:t>
            </a:r>
          </a:p>
        </p:txBody>
      </p:sp>
      <p:sp>
        <p:nvSpPr>
          <p:cNvPr id="145" name="Line 145"/>
          <p:cNvSpPr/>
          <p:nvPr/>
        </p:nvSpPr>
        <p:spPr>
          <a:xfrm>
            <a:off x="685800" y="6286500"/>
            <a:ext cx="10820400" cy="9525"/>
          </a:xfrm>
          <a:custGeom>
            <a:avLst/>
            <a:gdLst/>
            <a:ahLst/>
            <a:cxnLst/>
            <a:rect l="l" t="t" r="r" b="b"/>
            <a:pathLst>
              <a:path w="10820400" h="9525">
                <a:moveTo>
                  <a:pt x="0" y="0"/>
                </a:moveTo>
                <a:lnTo>
                  <a:pt x="10820400" y="0"/>
                </a:lnTo>
              </a:path>
            </a:pathLst>
          </a:custGeom>
          <a:noFill/>
          <a:ln w="11430">
            <a:solidFill>
              <a:srgbClr val="E4E7EB"/>
            </a:solidFill>
          </a:ln>
        </p:spPr>
      </p:sp>
      <p:sp>
        <p:nvSpPr>
          <p:cNvPr id="146" name="TextBox 146"/>
          <p:cNvSpPr txBox="1"/>
          <p:nvPr/>
        </p:nvSpPr>
        <p:spPr>
          <a:xfrm>
            <a:off x="5959019" y="6466999"/>
            <a:ext cx="273963" cy="198120"/>
          </a:xfrm>
          <a:prstGeom prst="rect">
            <a:avLst/>
          </a:prstGeom>
          <a:noFill/>
          <a:ln>
            <a:noFill/>
          </a:ln>
        </p:spPr>
        <p:txBody>
          <a:bodyPr wrap="none" lIns="0" tIns="0" rIns="0" bIns="0" anchor="t" anchorCtr="0">
            <a:spAutoFit/>
          </a:bodyPr>
          <a:lstStyle/>
          <a:p>
            <a:pPr algn="ctr"/>
            <a:r>
              <a:rPr lang="zh-CN" sz="975" dirty="0">
                <a:solidFill>
                  <a:srgbClr val="8A9099"/>
                </a:solidFill>
                <a:latin typeface="Arial"/>
                <a:ea typeface="Microsoft YaHei"/>
                <a:cs typeface="Arial"/>
              </a:rPr>
              <a:t>1 / 1</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657225" y="419100"/>
            <a:ext cx="11068792" cy="807244"/>
            <a:chOff x="657225" y="419100"/>
            <a:chExt cx="11068792" cy="807244"/>
          </a:xfrm>
        </p:grpSpPr>
        <p:pic>
          <p:nvPicPr>
            <p:cNvPr id="3" name="Image 3"/>
            <p:cNvPicPr>
              <a:picLocks noChangeAspect="1"/>
            </p:cNvPicPr>
            <p:nvPr/>
          </p:nvPicPr>
          <p:blipFill>
            <a:blip r:embed="rId3"/>
            <a:stretch>
              <a:fillRect/>
            </a:stretch>
          </p:blipFill>
          <p:spPr>
            <a:xfrm>
              <a:off x="9705234" y="419100"/>
              <a:ext cx="2020783" cy="571500"/>
            </a:xfrm>
            <a:prstGeom prst="rect">
              <a:avLst/>
            </a:prstGeom>
          </p:spPr>
        </p:pic>
        <p:sp>
          <p:nvSpPr>
            <p:cNvPr id="4" name="TextBox 4"/>
            <p:cNvSpPr txBox="1"/>
            <p:nvPr/>
          </p:nvSpPr>
          <p:spPr>
            <a:xfrm>
              <a:off x="657225" y="519112"/>
              <a:ext cx="4994572" cy="346249"/>
            </a:xfrm>
            <a:prstGeom prst="rect">
              <a:avLst/>
            </a:prstGeom>
            <a:noFill/>
            <a:ln>
              <a:noFill/>
            </a:ln>
          </p:spPr>
          <p:txBody>
            <a:bodyPr wrap="none" lIns="0" tIns="0" rIns="0" bIns="0" anchor="t" anchorCtr="0">
              <a:spAutoFit/>
            </a:bodyPr>
            <a:lstStyle/>
            <a:p>
              <a:pPr algn="l"/>
              <a:r>
                <a:rPr lang="zh-CN" sz="2250" b="1" dirty="0">
                  <a:solidFill>
                    <a:srgbClr val="1F2328"/>
                  </a:solidFill>
                  <a:latin typeface="Arial"/>
                  <a:ea typeface="SimHei"/>
                  <a:cs typeface="Arial"/>
                </a:rPr>
                <a:t>词向量生成过程</a:t>
              </a:r>
              <a:r>
                <a:rPr lang="zh-CN" altLang="zh-CN" sz="2250" b="1" dirty="0">
                  <a:solidFill>
                    <a:srgbClr val="1F2328"/>
                  </a:solidFill>
                  <a:latin typeface="Arial"/>
                  <a:ea typeface="SimHei"/>
                  <a:cs typeface="Arial"/>
                </a:rPr>
                <a:t>（Word Embedding）</a:t>
              </a:r>
              <a:endParaRPr lang="zh-CN" sz="2250" b="1" dirty="0">
                <a:solidFill>
                  <a:srgbClr val="1F2328"/>
                </a:solidFill>
                <a:latin typeface="Arial"/>
                <a:ea typeface="SimHei"/>
                <a:cs typeface="Arial"/>
              </a:endParaRPr>
            </a:p>
          </p:txBody>
        </p:sp>
        <p:sp>
          <p:nvSpPr>
            <p:cNvPr id="5" name="Line 5"/>
            <p:cNvSpPr/>
            <p:nvPr/>
          </p:nvSpPr>
          <p:spPr>
            <a:xfrm>
              <a:off x="685800" y="933450"/>
              <a:ext cx="2171700" cy="9525"/>
            </a:xfrm>
            <a:custGeom>
              <a:avLst/>
              <a:gdLst/>
              <a:ahLst/>
              <a:cxnLst/>
              <a:rect l="l" t="t" r="r" b="b"/>
              <a:pathLst>
                <a:path w="2171700" h="9525">
                  <a:moveTo>
                    <a:pt x="0" y="0"/>
                  </a:moveTo>
                  <a:lnTo>
                    <a:pt x="2171700" y="0"/>
                  </a:lnTo>
                </a:path>
              </a:pathLst>
            </a:custGeom>
            <a:noFill/>
            <a:ln w="28575">
              <a:solidFill>
                <a:srgbClr val="A50021"/>
              </a:solidFill>
            </a:ln>
          </p:spPr>
        </p:sp>
        <p:sp>
          <p:nvSpPr>
            <p:cNvPr id="6" name="TextBox 6"/>
            <p:cNvSpPr txBox="1"/>
            <p:nvPr/>
          </p:nvSpPr>
          <p:spPr>
            <a:xfrm>
              <a:off x="673418" y="1028224"/>
              <a:ext cx="4310967"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以“中国银行是世界一流银行”为例，将离散符号转换为低维稠密向量</a:t>
              </a:r>
            </a:p>
          </p:txBody>
        </p:sp>
      </p:grpSp>
      <p:grpSp>
        <p:nvGrpSpPr>
          <p:cNvPr id="48" name="Group 48"/>
          <p:cNvGrpSpPr/>
          <p:nvPr/>
        </p:nvGrpSpPr>
        <p:grpSpPr>
          <a:xfrm>
            <a:off x="533400" y="1333500"/>
            <a:ext cx="2381250" cy="4229100"/>
            <a:chOff x="533400" y="1333500"/>
            <a:chExt cx="2381250" cy="4229100"/>
          </a:xfrm>
        </p:grpSpPr>
        <p:sp>
          <p:nvSpPr>
            <p:cNvPr id="8" name="Rectangle 8"/>
            <p:cNvSpPr/>
            <p:nvPr/>
          </p:nvSpPr>
          <p:spPr>
            <a:xfrm>
              <a:off x="533400" y="1333500"/>
              <a:ext cx="2381250" cy="914400"/>
            </a:xfrm>
            <a:prstGeom prst="roundRect">
              <a:avLst>
                <a:gd name="adj" fmla="val 10417"/>
              </a:avLst>
            </a:prstGeom>
            <a:solidFill>
              <a:srgbClr val="FFFFFF"/>
            </a:solidFill>
            <a:ln w="13335">
              <a:solidFill>
                <a:srgbClr val="E4E7EB"/>
              </a:solidFill>
            </a:ln>
          </p:spPr>
        </p:sp>
        <p:grpSp>
          <p:nvGrpSpPr>
            <p:cNvPr id="13" name="Group 13"/>
            <p:cNvGrpSpPr/>
            <p:nvPr/>
          </p:nvGrpSpPr>
          <p:grpSpPr>
            <a:xfrm>
              <a:off x="741362" y="1519238"/>
              <a:ext cx="155575" cy="200025"/>
              <a:chOff x="741362" y="1519238"/>
              <a:chExt cx="155575" cy="200025"/>
            </a:xfrm>
          </p:grpSpPr>
          <p:sp>
            <p:nvSpPr>
              <p:cNvPr id="9" name="Freeform 9"/>
              <p:cNvSpPr/>
              <p:nvPr/>
            </p:nvSpPr>
            <p:spPr>
              <a:xfrm>
                <a:off x="841375" y="1519238"/>
                <a:ext cx="55562" cy="55563"/>
              </a:xfrm>
              <a:custGeom>
                <a:avLst/>
                <a:gdLst/>
                <a:ahLst/>
                <a:cxnLst/>
                <a:rect l="l" t="t" r="r" b="b"/>
                <a:pathLst>
                  <a:path w="55562" h="55563">
                    <a:moveTo>
                      <a:pt x="0" y="0"/>
                    </a:moveTo>
                    <a:lnTo>
                      <a:pt x="0" y="44450"/>
                    </a:lnTo>
                    <a:cubicBezTo>
                      <a:pt x="0" y="50587"/>
                      <a:pt x="4975" y="55563"/>
                      <a:pt x="11112" y="55563"/>
                    </a:cubicBezTo>
                    <a:lnTo>
                      <a:pt x="55562" y="55563"/>
                    </a:lnTo>
                  </a:path>
                </a:pathLst>
              </a:custGeom>
              <a:noFill/>
              <a:ln w="19050">
                <a:solidFill>
                  <a:srgbClr val="A50021"/>
                </a:solidFill>
              </a:ln>
            </p:spPr>
          </p:sp>
          <p:sp>
            <p:nvSpPr>
              <p:cNvPr id="10" name="Freeform 10"/>
              <p:cNvSpPr/>
              <p:nvPr/>
            </p:nvSpPr>
            <p:spPr>
              <a:xfrm>
                <a:off x="741362" y="1519238"/>
                <a:ext cx="155575" cy="200025"/>
              </a:xfrm>
              <a:custGeom>
                <a:avLst/>
                <a:gdLst/>
                <a:ahLst/>
                <a:cxnLst/>
                <a:rect l="l" t="t" r="r" b="b"/>
                <a:pathLst>
                  <a:path w="155575" h="200025">
                    <a:moveTo>
                      <a:pt x="133350" y="200025"/>
                    </a:moveTo>
                    <a:lnTo>
                      <a:pt x="22225" y="200025"/>
                    </a:lnTo>
                    <a:cubicBezTo>
                      <a:pt x="9950" y="200025"/>
                      <a:pt x="0" y="190075"/>
                      <a:pt x="0" y="177800"/>
                    </a:cubicBezTo>
                    <a:lnTo>
                      <a:pt x="0" y="22225"/>
                    </a:lnTo>
                    <a:cubicBezTo>
                      <a:pt x="0" y="9950"/>
                      <a:pt x="9950" y="0"/>
                      <a:pt x="22225" y="0"/>
                    </a:cubicBezTo>
                    <a:lnTo>
                      <a:pt x="100013" y="0"/>
                    </a:lnTo>
                    <a:lnTo>
                      <a:pt x="155575" y="55563"/>
                    </a:lnTo>
                    <a:lnTo>
                      <a:pt x="155575" y="177800"/>
                    </a:lnTo>
                    <a:cubicBezTo>
                      <a:pt x="155575" y="190075"/>
                      <a:pt x="145625" y="200025"/>
                      <a:pt x="133350" y="200025"/>
                    </a:cubicBezTo>
                  </a:path>
                </a:pathLst>
              </a:custGeom>
              <a:noFill/>
              <a:ln w="19050">
                <a:solidFill>
                  <a:srgbClr val="A50021"/>
                </a:solidFill>
              </a:ln>
            </p:spPr>
          </p:sp>
          <p:sp>
            <p:nvSpPr>
              <p:cNvPr id="11" name="Freeform 11"/>
              <p:cNvSpPr/>
              <p:nvPr/>
            </p:nvSpPr>
            <p:spPr>
              <a:xfrm>
                <a:off x="785812" y="1674812"/>
                <a:ext cx="66675" cy="9525"/>
              </a:xfrm>
              <a:custGeom>
                <a:avLst/>
                <a:gdLst/>
                <a:ahLst/>
                <a:cxnLst/>
                <a:rect l="l" t="t" r="r" b="b"/>
                <a:pathLst>
                  <a:path w="66675" h="9525">
                    <a:moveTo>
                      <a:pt x="0" y="0"/>
                    </a:moveTo>
                    <a:lnTo>
                      <a:pt x="66675" y="0"/>
                    </a:lnTo>
                  </a:path>
                </a:pathLst>
              </a:custGeom>
              <a:noFill/>
              <a:ln w="19050">
                <a:solidFill>
                  <a:srgbClr val="A50021"/>
                </a:solidFill>
              </a:ln>
            </p:spPr>
          </p:sp>
          <p:sp>
            <p:nvSpPr>
              <p:cNvPr id="12" name="Freeform 12"/>
              <p:cNvSpPr/>
              <p:nvPr/>
            </p:nvSpPr>
            <p:spPr>
              <a:xfrm>
                <a:off x="785812" y="1630362"/>
                <a:ext cx="66675" cy="9525"/>
              </a:xfrm>
              <a:custGeom>
                <a:avLst/>
                <a:gdLst/>
                <a:ahLst/>
                <a:cxnLst/>
                <a:rect l="l" t="t" r="r" b="b"/>
                <a:pathLst>
                  <a:path w="66675" h="9525">
                    <a:moveTo>
                      <a:pt x="0" y="0"/>
                    </a:moveTo>
                    <a:lnTo>
                      <a:pt x="66675" y="0"/>
                    </a:lnTo>
                  </a:path>
                </a:pathLst>
              </a:custGeom>
              <a:noFill/>
              <a:ln w="19050">
                <a:solidFill>
                  <a:srgbClr val="A50021"/>
                </a:solidFill>
              </a:ln>
            </p:spPr>
          </p:sp>
        </p:grpSp>
        <p:sp>
          <p:nvSpPr>
            <p:cNvPr id="14" name="TextBox 14"/>
            <p:cNvSpPr txBox="1"/>
            <p:nvPr/>
          </p:nvSpPr>
          <p:spPr>
            <a:xfrm>
              <a:off x="1030605" y="1511618"/>
              <a:ext cx="1452417" cy="274320"/>
            </a:xfrm>
            <a:prstGeom prst="rect">
              <a:avLst/>
            </a:prstGeom>
            <a:noFill/>
            <a:ln>
              <a:noFill/>
            </a:ln>
          </p:spPr>
          <p:txBody>
            <a:bodyPr wrap="none" lIns="0" tIns="0" rIns="0" bIns="0" anchor="t" anchorCtr="0">
              <a:spAutoFit/>
            </a:bodyPr>
            <a:lstStyle/>
            <a:p>
              <a:pPr algn="l"/>
              <a:r>
                <a:rPr lang="zh-CN" sz="1350" b="1" dirty="0">
                  <a:solidFill>
                    <a:srgbClr val="1F2328"/>
                  </a:solidFill>
                  <a:latin typeface="Arial"/>
                  <a:ea typeface="SimHei"/>
                  <a:cs typeface="Arial"/>
                </a:rPr>
                <a:t>① 原始文本输入</a:t>
              </a:r>
            </a:p>
          </p:txBody>
        </p:sp>
        <p:sp>
          <p:nvSpPr>
            <p:cNvPr id="15" name="Rectangle 15"/>
            <p:cNvSpPr/>
            <p:nvPr/>
          </p:nvSpPr>
          <p:spPr>
            <a:xfrm>
              <a:off x="704850" y="1847850"/>
              <a:ext cx="2000250" cy="266700"/>
            </a:xfrm>
            <a:prstGeom prst="roundRect">
              <a:avLst>
                <a:gd name="adj" fmla="val 21429"/>
              </a:avLst>
            </a:prstGeom>
            <a:solidFill>
              <a:srgbClr val="F8F9FA"/>
            </a:solidFill>
            <a:ln>
              <a:noFill/>
            </a:ln>
          </p:spPr>
        </p:sp>
        <p:sp>
          <p:nvSpPr>
            <p:cNvPr id="16" name="TextBox 16"/>
            <p:cNvSpPr txBox="1"/>
            <p:nvPr/>
          </p:nvSpPr>
          <p:spPr>
            <a:xfrm>
              <a:off x="806029" y="1915478"/>
              <a:ext cx="1797891" cy="213360"/>
            </a:xfrm>
            <a:prstGeom prst="rect">
              <a:avLst/>
            </a:prstGeom>
            <a:noFill/>
            <a:ln>
              <a:noFill/>
            </a:ln>
          </p:spPr>
          <p:txBody>
            <a:bodyPr wrap="none" lIns="0" tIns="0" rIns="0" bIns="0" anchor="t" anchorCtr="0">
              <a:spAutoFit/>
            </a:bodyPr>
            <a:lstStyle/>
            <a:p>
              <a:pPr algn="ctr"/>
              <a:r>
                <a:rPr lang="zh-CN" sz="1050" b="1" dirty="0">
                  <a:solidFill>
                    <a:srgbClr val="1F2328"/>
                  </a:solidFill>
                  <a:latin typeface="Arial"/>
                  <a:ea typeface="SimHei"/>
                  <a:cs typeface="Arial"/>
                </a:rPr>
                <a:t>中国银行是世界一流银行</a:t>
              </a:r>
            </a:p>
          </p:txBody>
        </p:sp>
        <p:sp>
          <p:nvSpPr>
            <p:cNvPr id="17" name="Rectangle 17"/>
            <p:cNvSpPr/>
            <p:nvPr/>
          </p:nvSpPr>
          <p:spPr>
            <a:xfrm>
              <a:off x="533400" y="2476500"/>
              <a:ext cx="2381250" cy="1200150"/>
            </a:xfrm>
            <a:prstGeom prst="roundRect">
              <a:avLst>
                <a:gd name="adj" fmla="val 7937"/>
              </a:avLst>
            </a:prstGeom>
            <a:solidFill>
              <a:srgbClr val="FFFFFF"/>
            </a:solidFill>
            <a:ln w="13335">
              <a:solidFill>
                <a:srgbClr val="E4E7EB"/>
              </a:solidFill>
            </a:ln>
          </p:spPr>
        </p:sp>
        <p:grpSp>
          <p:nvGrpSpPr>
            <p:cNvPr id="22" name="Group 22"/>
            <p:cNvGrpSpPr/>
            <p:nvPr/>
          </p:nvGrpSpPr>
          <p:grpSpPr>
            <a:xfrm>
              <a:off x="730250" y="2673350"/>
              <a:ext cx="177800" cy="177800"/>
              <a:chOff x="730250" y="2673350"/>
              <a:chExt cx="177800" cy="177800"/>
            </a:xfrm>
          </p:grpSpPr>
          <p:sp>
            <p:nvSpPr>
              <p:cNvPr id="18" name="Freeform 18"/>
              <p:cNvSpPr/>
              <p:nvPr/>
            </p:nvSpPr>
            <p:spPr>
              <a:xfrm>
                <a:off x="730250" y="2784475"/>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19050">
                <a:solidFill>
                  <a:srgbClr val="A50021"/>
                </a:solidFill>
              </a:ln>
            </p:spPr>
          </p:sp>
          <p:sp>
            <p:nvSpPr>
              <p:cNvPr id="19" name="Freeform 19"/>
              <p:cNvSpPr/>
              <p:nvPr/>
            </p:nvSpPr>
            <p:spPr>
              <a:xfrm>
                <a:off x="841375" y="2784475"/>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19050">
                <a:solidFill>
                  <a:srgbClr val="A50021"/>
                </a:solidFill>
              </a:ln>
            </p:spPr>
          </p:sp>
          <p:sp>
            <p:nvSpPr>
              <p:cNvPr id="20" name="Freeform 20"/>
              <p:cNvSpPr/>
              <p:nvPr/>
            </p:nvSpPr>
            <p:spPr>
              <a:xfrm>
                <a:off x="787479" y="2673350"/>
                <a:ext cx="98346" cy="120571"/>
              </a:xfrm>
              <a:custGeom>
                <a:avLst/>
                <a:gdLst/>
                <a:ahLst/>
                <a:cxnLst/>
                <a:rect l="l" t="t" r="r" b="b"/>
                <a:pathLst>
                  <a:path w="98346" h="120571">
                    <a:moveTo>
                      <a:pt x="0" y="120571"/>
                    </a:moveTo>
                    <a:lnTo>
                      <a:pt x="98346" y="0"/>
                    </a:lnTo>
                  </a:path>
                </a:pathLst>
              </a:custGeom>
              <a:noFill/>
              <a:ln w="19050">
                <a:solidFill>
                  <a:srgbClr val="A50021"/>
                </a:solidFill>
              </a:ln>
            </p:spPr>
          </p:sp>
          <p:sp>
            <p:nvSpPr>
              <p:cNvPr id="21" name="Freeform 21"/>
              <p:cNvSpPr/>
              <p:nvPr/>
            </p:nvSpPr>
            <p:spPr>
              <a:xfrm>
                <a:off x="752475" y="2673350"/>
                <a:ext cx="98346" cy="120571"/>
              </a:xfrm>
              <a:custGeom>
                <a:avLst/>
                <a:gdLst/>
                <a:ahLst/>
                <a:cxnLst/>
                <a:rect l="l" t="t" r="r" b="b"/>
                <a:pathLst>
                  <a:path w="98346" h="120571">
                    <a:moveTo>
                      <a:pt x="0" y="0"/>
                    </a:moveTo>
                    <a:lnTo>
                      <a:pt x="98346" y="120571"/>
                    </a:lnTo>
                  </a:path>
                </a:pathLst>
              </a:custGeom>
              <a:noFill/>
              <a:ln w="19050">
                <a:solidFill>
                  <a:srgbClr val="A50021"/>
                </a:solidFill>
              </a:ln>
            </p:spPr>
          </p:sp>
        </p:grpSp>
        <p:sp>
          <p:nvSpPr>
            <p:cNvPr id="23" name="TextBox 23"/>
            <p:cNvSpPr txBox="1"/>
            <p:nvPr/>
          </p:nvSpPr>
          <p:spPr>
            <a:xfrm>
              <a:off x="1030605" y="2654618"/>
              <a:ext cx="1038365" cy="274320"/>
            </a:xfrm>
            <a:prstGeom prst="rect">
              <a:avLst/>
            </a:prstGeom>
            <a:noFill/>
            <a:ln>
              <a:noFill/>
            </a:ln>
          </p:spPr>
          <p:txBody>
            <a:bodyPr wrap="none" lIns="0" tIns="0" rIns="0" bIns="0" anchor="t" anchorCtr="0">
              <a:spAutoFit/>
            </a:bodyPr>
            <a:lstStyle/>
            <a:p>
              <a:pPr algn="l"/>
              <a:r>
                <a:rPr lang="zh-CN" sz="1350" b="1" dirty="0">
                  <a:solidFill>
                    <a:srgbClr val="1F2328"/>
                  </a:solidFill>
                  <a:latin typeface="Arial"/>
                  <a:ea typeface="SimHei"/>
                  <a:cs typeface="Arial"/>
                </a:rPr>
                <a:t>② 词元切分</a:t>
              </a:r>
            </a:p>
          </p:txBody>
        </p:sp>
        <p:grpSp>
          <p:nvGrpSpPr>
            <p:cNvPr id="35" name="Group 35"/>
            <p:cNvGrpSpPr/>
            <p:nvPr/>
          </p:nvGrpSpPr>
          <p:grpSpPr>
            <a:xfrm>
              <a:off x="704850" y="2990850"/>
              <a:ext cx="1831372" cy="571500"/>
              <a:chOff x="704850" y="2990850"/>
              <a:chExt cx="1831372" cy="571500"/>
            </a:xfrm>
          </p:grpSpPr>
          <p:sp>
            <p:nvSpPr>
              <p:cNvPr id="24" name="Rectangle 24"/>
              <p:cNvSpPr/>
              <p:nvPr/>
            </p:nvSpPr>
            <p:spPr>
              <a:xfrm>
                <a:off x="704850" y="2990850"/>
                <a:ext cx="781050" cy="238125"/>
              </a:xfrm>
              <a:prstGeom prst="roundRect">
                <a:avLst>
                  <a:gd name="adj" fmla="val 48000"/>
                </a:avLst>
              </a:prstGeom>
              <a:solidFill>
                <a:srgbClr val="F3D6DC"/>
              </a:solidFill>
              <a:ln>
                <a:noFill/>
              </a:ln>
            </p:spPr>
          </p:sp>
          <p:sp>
            <p:nvSpPr>
              <p:cNvPr id="25" name="TextBox 25"/>
              <p:cNvSpPr txBox="1"/>
              <p:nvPr/>
            </p:nvSpPr>
            <p:spPr>
              <a:xfrm>
                <a:off x="807910" y="3055620"/>
                <a:ext cx="574929" cy="182880"/>
              </a:xfrm>
              <a:prstGeom prst="rect">
                <a:avLst/>
              </a:prstGeom>
              <a:noFill/>
              <a:ln>
                <a:noFill/>
              </a:ln>
            </p:spPr>
            <p:txBody>
              <a:bodyPr wrap="none" lIns="0" tIns="0" rIns="0" bIns="0" anchor="t" anchorCtr="0">
                <a:spAutoFit/>
              </a:bodyPr>
              <a:lstStyle/>
              <a:p>
                <a:pPr algn="ctr"/>
                <a:r>
                  <a:rPr lang="zh-CN" sz="900" b="1" dirty="0">
                    <a:solidFill>
                      <a:srgbClr val="A50021"/>
                    </a:solidFill>
                    <a:latin typeface="Arial"/>
                    <a:ea typeface="SimHei"/>
                    <a:cs typeface="Arial"/>
                  </a:rPr>
                  <a:t>中国银行</a:t>
                </a:r>
              </a:p>
            </p:txBody>
          </p:sp>
          <p:sp>
            <p:nvSpPr>
              <p:cNvPr id="26" name="Rectangle 26"/>
              <p:cNvSpPr/>
              <p:nvPr/>
            </p:nvSpPr>
            <p:spPr>
              <a:xfrm>
                <a:off x="1562100" y="2990850"/>
                <a:ext cx="304800" cy="238125"/>
              </a:xfrm>
              <a:prstGeom prst="roundRect">
                <a:avLst>
                  <a:gd name="adj" fmla="val 48000"/>
                </a:avLst>
              </a:prstGeom>
              <a:solidFill>
                <a:srgbClr val="F8F9FA"/>
              </a:solidFill>
              <a:ln w="9525">
                <a:solidFill>
                  <a:srgbClr val="E4E7EB"/>
                </a:solidFill>
              </a:ln>
            </p:spPr>
          </p:sp>
          <p:sp>
            <p:nvSpPr>
              <p:cNvPr id="27" name="TextBox 27"/>
              <p:cNvSpPr txBox="1"/>
              <p:nvPr/>
            </p:nvSpPr>
            <p:spPr>
              <a:xfrm>
                <a:off x="1637348" y="3055620"/>
                <a:ext cx="154305" cy="182880"/>
              </a:xfrm>
              <a:prstGeom prst="rect">
                <a:avLst/>
              </a:prstGeom>
              <a:noFill/>
              <a:ln>
                <a:noFill/>
              </a:ln>
            </p:spPr>
            <p:txBody>
              <a:bodyPr wrap="none" lIns="0" tIns="0" rIns="0" bIns="0" anchor="t" anchorCtr="0">
                <a:spAutoFit/>
              </a:bodyPr>
              <a:lstStyle/>
              <a:p>
                <a:pPr algn="ctr"/>
                <a:r>
                  <a:rPr lang="zh-CN" sz="900" dirty="0">
                    <a:solidFill>
                      <a:srgbClr val="1F2328"/>
                    </a:solidFill>
                    <a:latin typeface="Arial"/>
                    <a:ea typeface="SimHei"/>
                    <a:cs typeface="Arial"/>
                  </a:rPr>
                  <a:t>是</a:t>
                </a:r>
              </a:p>
            </p:txBody>
          </p:sp>
          <p:sp>
            <p:nvSpPr>
              <p:cNvPr id="28" name="Rectangle 28"/>
              <p:cNvSpPr/>
              <p:nvPr/>
            </p:nvSpPr>
            <p:spPr>
              <a:xfrm>
                <a:off x="1943100" y="2990850"/>
                <a:ext cx="419100" cy="238125"/>
              </a:xfrm>
              <a:prstGeom prst="roundRect">
                <a:avLst>
                  <a:gd name="adj" fmla="val 48000"/>
                </a:avLst>
              </a:prstGeom>
              <a:solidFill>
                <a:srgbClr val="F8F9FA"/>
              </a:solidFill>
              <a:ln w="9525">
                <a:solidFill>
                  <a:srgbClr val="E4E7EB"/>
                </a:solidFill>
              </a:ln>
            </p:spPr>
          </p:sp>
          <p:sp>
            <p:nvSpPr>
              <p:cNvPr id="29" name="TextBox 29"/>
              <p:cNvSpPr txBox="1"/>
              <p:nvPr/>
            </p:nvSpPr>
            <p:spPr>
              <a:xfrm>
                <a:off x="2009775" y="3055620"/>
                <a:ext cx="285750" cy="182880"/>
              </a:xfrm>
              <a:prstGeom prst="rect">
                <a:avLst/>
              </a:prstGeom>
              <a:noFill/>
              <a:ln>
                <a:noFill/>
              </a:ln>
            </p:spPr>
            <p:txBody>
              <a:bodyPr wrap="none" lIns="0" tIns="0" rIns="0" bIns="0" anchor="t" anchorCtr="0">
                <a:spAutoFit/>
              </a:bodyPr>
              <a:lstStyle/>
              <a:p>
                <a:pPr algn="ctr"/>
                <a:r>
                  <a:rPr lang="zh-CN" sz="900" dirty="0">
                    <a:solidFill>
                      <a:srgbClr val="1F2328"/>
                    </a:solidFill>
                    <a:latin typeface="Arial"/>
                    <a:ea typeface="SimHei"/>
                    <a:cs typeface="Arial"/>
                  </a:rPr>
                  <a:t>世界</a:t>
                </a:r>
              </a:p>
            </p:txBody>
          </p:sp>
          <p:sp>
            <p:nvSpPr>
              <p:cNvPr id="30" name="Rectangle 30"/>
              <p:cNvSpPr/>
              <p:nvPr/>
            </p:nvSpPr>
            <p:spPr>
              <a:xfrm>
                <a:off x="704850" y="3314700"/>
                <a:ext cx="419100" cy="238125"/>
              </a:xfrm>
              <a:prstGeom prst="roundRect">
                <a:avLst>
                  <a:gd name="adj" fmla="val 48000"/>
                </a:avLst>
              </a:prstGeom>
              <a:solidFill>
                <a:srgbClr val="F8F9FA"/>
              </a:solidFill>
              <a:ln w="9525">
                <a:solidFill>
                  <a:srgbClr val="E4E7EB"/>
                </a:solidFill>
              </a:ln>
            </p:spPr>
          </p:sp>
          <p:sp>
            <p:nvSpPr>
              <p:cNvPr id="31" name="TextBox 31"/>
              <p:cNvSpPr txBox="1"/>
              <p:nvPr/>
            </p:nvSpPr>
            <p:spPr>
              <a:xfrm>
                <a:off x="771525" y="3379470"/>
                <a:ext cx="285750" cy="182880"/>
              </a:xfrm>
              <a:prstGeom prst="rect">
                <a:avLst/>
              </a:prstGeom>
              <a:noFill/>
              <a:ln>
                <a:noFill/>
              </a:ln>
            </p:spPr>
            <p:txBody>
              <a:bodyPr wrap="none" lIns="0" tIns="0" rIns="0" bIns="0" anchor="t" anchorCtr="0">
                <a:spAutoFit/>
              </a:bodyPr>
              <a:lstStyle/>
              <a:p>
                <a:pPr algn="ctr"/>
                <a:r>
                  <a:rPr lang="zh-CN" sz="900" dirty="0">
                    <a:solidFill>
                      <a:srgbClr val="1F2328"/>
                    </a:solidFill>
                    <a:latin typeface="Arial"/>
                    <a:ea typeface="SimHei"/>
                    <a:cs typeface="Arial"/>
                  </a:rPr>
                  <a:t>一流</a:t>
                </a:r>
              </a:p>
            </p:txBody>
          </p:sp>
          <p:sp>
            <p:nvSpPr>
              <p:cNvPr id="32" name="Rectangle 32"/>
              <p:cNvSpPr/>
              <p:nvPr/>
            </p:nvSpPr>
            <p:spPr>
              <a:xfrm>
                <a:off x="1200150" y="3314700"/>
                <a:ext cx="419100" cy="238125"/>
              </a:xfrm>
              <a:prstGeom prst="roundRect">
                <a:avLst>
                  <a:gd name="adj" fmla="val 48000"/>
                </a:avLst>
              </a:prstGeom>
              <a:solidFill>
                <a:srgbClr val="F8F9FA"/>
              </a:solidFill>
              <a:ln w="9525">
                <a:solidFill>
                  <a:srgbClr val="E4E7EB"/>
                </a:solidFill>
              </a:ln>
            </p:spPr>
          </p:sp>
          <p:sp>
            <p:nvSpPr>
              <p:cNvPr id="33" name="TextBox 33"/>
              <p:cNvSpPr txBox="1"/>
              <p:nvPr/>
            </p:nvSpPr>
            <p:spPr>
              <a:xfrm>
                <a:off x="1266825" y="3379470"/>
                <a:ext cx="285750" cy="182880"/>
              </a:xfrm>
              <a:prstGeom prst="rect">
                <a:avLst/>
              </a:prstGeom>
              <a:noFill/>
              <a:ln>
                <a:noFill/>
              </a:ln>
            </p:spPr>
            <p:txBody>
              <a:bodyPr wrap="none" lIns="0" tIns="0" rIns="0" bIns="0" anchor="t" anchorCtr="0">
                <a:spAutoFit/>
              </a:bodyPr>
              <a:lstStyle/>
              <a:p>
                <a:pPr algn="ctr"/>
                <a:r>
                  <a:rPr lang="zh-CN" sz="900" dirty="0">
                    <a:solidFill>
                      <a:srgbClr val="1F2328"/>
                    </a:solidFill>
                    <a:latin typeface="Arial"/>
                    <a:ea typeface="SimHei"/>
                    <a:cs typeface="Arial"/>
                  </a:rPr>
                  <a:t>银行</a:t>
                </a:r>
              </a:p>
            </p:txBody>
          </p:sp>
          <p:sp>
            <p:nvSpPr>
              <p:cNvPr id="34" name="TextBox 34"/>
              <p:cNvSpPr txBox="1"/>
              <p:nvPr/>
            </p:nvSpPr>
            <p:spPr>
              <a:xfrm>
                <a:off x="1836420" y="3379470"/>
                <a:ext cx="699802"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共 5 个词元</a:t>
                </a:r>
              </a:p>
            </p:txBody>
          </p:sp>
        </p:grpSp>
        <p:sp>
          <p:nvSpPr>
            <p:cNvPr id="36" name="Rectangle 36"/>
            <p:cNvSpPr/>
            <p:nvPr/>
          </p:nvSpPr>
          <p:spPr>
            <a:xfrm>
              <a:off x="533400" y="3905250"/>
              <a:ext cx="2381250" cy="1657350"/>
            </a:xfrm>
            <a:prstGeom prst="roundRect">
              <a:avLst>
                <a:gd name="adj" fmla="val 5747"/>
              </a:avLst>
            </a:prstGeom>
            <a:solidFill>
              <a:srgbClr val="F8F9FA"/>
            </a:solidFill>
            <a:ln w="13335">
              <a:solidFill>
                <a:srgbClr val="E4E7EB"/>
              </a:solidFill>
            </a:ln>
          </p:spPr>
        </p:sp>
        <p:grpSp>
          <p:nvGrpSpPr>
            <p:cNvPr id="40" name="Group 40"/>
            <p:cNvGrpSpPr/>
            <p:nvPr/>
          </p:nvGrpSpPr>
          <p:grpSpPr>
            <a:xfrm>
              <a:off x="727075" y="4088606"/>
              <a:ext cx="165100" cy="185738"/>
              <a:chOff x="727075" y="4088606"/>
              <a:chExt cx="165100" cy="185738"/>
            </a:xfrm>
          </p:grpSpPr>
          <p:sp>
            <p:nvSpPr>
              <p:cNvPr id="37" name="Freeform 37"/>
              <p:cNvSpPr/>
              <p:nvPr/>
            </p:nvSpPr>
            <p:spPr>
              <a:xfrm>
                <a:off x="727075" y="4088606"/>
                <a:ext cx="165100" cy="61912"/>
              </a:xfrm>
              <a:custGeom>
                <a:avLst/>
                <a:gdLst/>
                <a:ahLst/>
                <a:cxnLst/>
                <a:rect l="l" t="t" r="r" b="b"/>
                <a:pathLst>
                  <a:path w="165100" h="61912">
                    <a:moveTo>
                      <a:pt x="0" y="30956"/>
                    </a:moveTo>
                    <a:cubicBezTo>
                      <a:pt x="0" y="48053"/>
                      <a:pt x="36959" y="61912"/>
                      <a:pt x="82550" y="61912"/>
                    </a:cubicBezTo>
                    <a:cubicBezTo>
                      <a:pt x="128141" y="61912"/>
                      <a:pt x="165100" y="48053"/>
                      <a:pt x="165100" y="30956"/>
                    </a:cubicBezTo>
                    <a:cubicBezTo>
                      <a:pt x="165100" y="13860"/>
                      <a:pt x="128141" y="0"/>
                      <a:pt x="82550" y="0"/>
                    </a:cubicBezTo>
                    <a:cubicBezTo>
                      <a:pt x="36959" y="0"/>
                      <a:pt x="0" y="13860"/>
                      <a:pt x="0" y="30956"/>
                    </a:cubicBezTo>
                  </a:path>
                </a:pathLst>
              </a:custGeom>
              <a:noFill/>
              <a:ln w="19050">
                <a:solidFill>
                  <a:srgbClr val="A50021"/>
                </a:solidFill>
              </a:ln>
            </p:spPr>
          </p:sp>
          <p:sp>
            <p:nvSpPr>
              <p:cNvPr id="38" name="Freeform 38"/>
              <p:cNvSpPr/>
              <p:nvPr/>
            </p:nvSpPr>
            <p:spPr>
              <a:xfrm>
                <a:off x="727075" y="4119562"/>
                <a:ext cx="165100" cy="92869"/>
              </a:xfrm>
              <a:custGeom>
                <a:avLst/>
                <a:gdLst/>
                <a:ahLst/>
                <a:cxnLst/>
                <a:rect l="l" t="t" r="r" b="b"/>
                <a:pathLst>
                  <a:path w="165100" h="92869">
                    <a:moveTo>
                      <a:pt x="0" y="0"/>
                    </a:moveTo>
                    <a:lnTo>
                      <a:pt x="0" y="61912"/>
                    </a:lnTo>
                    <a:cubicBezTo>
                      <a:pt x="0" y="79009"/>
                      <a:pt x="36959" y="92869"/>
                      <a:pt x="82550" y="92869"/>
                    </a:cubicBezTo>
                    <a:cubicBezTo>
                      <a:pt x="128141" y="92869"/>
                      <a:pt x="165100" y="79009"/>
                      <a:pt x="165100" y="61912"/>
                    </a:cubicBezTo>
                    <a:lnTo>
                      <a:pt x="165100" y="0"/>
                    </a:lnTo>
                  </a:path>
                </a:pathLst>
              </a:custGeom>
              <a:noFill/>
              <a:ln w="19050">
                <a:solidFill>
                  <a:srgbClr val="A50021"/>
                </a:solidFill>
              </a:ln>
            </p:spPr>
          </p:sp>
          <p:sp>
            <p:nvSpPr>
              <p:cNvPr id="39" name="Freeform 39"/>
              <p:cNvSpPr/>
              <p:nvPr/>
            </p:nvSpPr>
            <p:spPr>
              <a:xfrm>
                <a:off x="727075" y="4181475"/>
                <a:ext cx="165100" cy="92869"/>
              </a:xfrm>
              <a:custGeom>
                <a:avLst/>
                <a:gdLst/>
                <a:ahLst/>
                <a:cxnLst/>
                <a:rect l="l" t="t" r="r" b="b"/>
                <a:pathLst>
                  <a:path w="165100" h="92869">
                    <a:moveTo>
                      <a:pt x="0" y="0"/>
                    </a:moveTo>
                    <a:lnTo>
                      <a:pt x="0" y="61912"/>
                    </a:lnTo>
                    <a:cubicBezTo>
                      <a:pt x="0" y="79009"/>
                      <a:pt x="36959" y="92869"/>
                      <a:pt x="82550" y="92869"/>
                    </a:cubicBezTo>
                    <a:cubicBezTo>
                      <a:pt x="128141" y="92869"/>
                      <a:pt x="165100" y="79009"/>
                      <a:pt x="165100" y="61912"/>
                    </a:cubicBezTo>
                    <a:lnTo>
                      <a:pt x="165100" y="0"/>
                    </a:lnTo>
                  </a:path>
                </a:pathLst>
              </a:custGeom>
              <a:noFill/>
              <a:ln w="19050">
                <a:solidFill>
                  <a:srgbClr val="A50021"/>
                </a:solidFill>
              </a:ln>
            </p:spPr>
          </p:sp>
        </p:grpSp>
        <p:sp>
          <p:nvSpPr>
            <p:cNvPr id="41" name="TextBox 41"/>
            <p:cNvSpPr txBox="1"/>
            <p:nvPr/>
          </p:nvSpPr>
          <p:spPr>
            <a:xfrm>
              <a:off x="1012508" y="4091464"/>
              <a:ext cx="1205532" cy="259080"/>
            </a:xfrm>
            <a:prstGeom prst="rect">
              <a:avLst/>
            </a:prstGeom>
            <a:noFill/>
            <a:ln>
              <a:noFill/>
            </a:ln>
          </p:spPr>
          <p:txBody>
            <a:bodyPr wrap="none" lIns="0" tIns="0" rIns="0" bIns="0" anchor="t" anchorCtr="0">
              <a:spAutoFit/>
            </a:bodyPr>
            <a:lstStyle/>
            <a:p>
              <a:pPr algn="l"/>
              <a:r>
                <a:rPr lang="zh-CN" sz="1275" b="1" dirty="0">
                  <a:solidFill>
                    <a:srgbClr val="1F2328"/>
                  </a:solidFill>
                  <a:latin typeface="Arial"/>
                  <a:ea typeface="SimHei"/>
                  <a:cs typeface="Arial"/>
                </a:rPr>
                <a:t>词表位置示例</a:t>
              </a:r>
            </a:p>
          </p:txBody>
        </p:sp>
        <p:sp>
          <p:nvSpPr>
            <p:cNvPr id="42" name="TextBox 42"/>
            <p:cNvSpPr txBox="1"/>
            <p:nvPr/>
          </p:nvSpPr>
          <p:spPr>
            <a:xfrm>
              <a:off x="712470" y="4389120"/>
              <a:ext cx="1672495"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V1 客户 V2 世界 V3 中国银行</a:t>
              </a:r>
            </a:p>
          </p:txBody>
        </p:sp>
        <p:sp>
          <p:nvSpPr>
            <p:cNvPr id="43" name="TextBox 43"/>
            <p:cNvSpPr txBox="1"/>
            <p:nvPr/>
          </p:nvSpPr>
          <p:spPr>
            <a:xfrm>
              <a:off x="712470" y="4608195"/>
              <a:ext cx="1442466"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V4 金融 V5 银行 V6 服务</a:t>
              </a:r>
            </a:p>
          </p:txBody>
        </p:sp>
        <p:sp>
          <p:nvSpPr>
            <p:cNvPr id="44" name="TextBox 44"/>
            <p:cNvSpPr txBox="1"/>
            <p:nvPr/>
          </p:nvSpPr>
          <p:spPr>
            <a:xfrm>
              <a:off x="712470" y="4827270"/>
              <a:ext cx="1311021"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V7 机构 V8 是 V9 中国</a:t>
              </a:r>
            </a:p>
          </p:txBody>
        </p:sp>
        <p:sp>
          <p:nvSpPr>
            <p:cNvPr id="45" name="TextBox 45"/>
            <p:cNvSpPr txBox="1"/>
            <p:nvPr/>
          </p:nvSpPr>
          <p:spPr>
            <a:xfrm>
              <a:off x="712470" y="5046345"/>
              <a:ext cx="509206"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V10 一流</a:t>
              </a:r>
            </a:p>
          </p:txBody>
        </p:sp>
        <p:sp>
          <p:nvSpPr>
            <p:cNvPr id="46" name="Line 46"/>
            <p:cNvSpPr/>
            <p:nvPr/>
          </p:nvSpPr>
          <p:spPr>
            <a:xfrm>
              <a:off x="723900" y="5276850"/>
              <a:ext cx="2000250" cy="9525"/>
            </a:xfrm>
            <a:custGeom>
              <a:avLst/>
              <a:gdLst/>
              <a:ahLst/>
              <a:cxnLst/>
              <a:rect l="l" t="t" r="r" b="b"/>
              <a:pathLst>
                <a:path w="2000250" h="9525">
                  <a:moveTo>
                    <a:pt x="0" y="0"/>
                  </a:moveTo>
                  <a:lnTo>
                    <a:pt x="2000250" y="0"/>
                  </a:lnTo>
                </a:path>
              </a:pathLst>
            </a:custGeom>
            <a:noFill/>
            <a:ln w="9525">
              <a:solidFill>
                <a:srgbClr val="E4E7EB"/>
              </a:solidFill>
            </a:ln>
          </p:spPr>
        </p:sp>
        <p:sp>
          <p:nvSpPr>
            <p:cNvPr id="47" name="TextBox 47"/>
            <p:cNvSpPr txBox="1"/>
            <p:nvPr/>
          </p:nvSpPr>
          <p:spPr>
            <a:xfrm>
              <a:off x="712470" y="5360670"/>
              <a:ext cx="1706670" cy="182880"/>
            </a:xfrm>
            <a:prstGeom prst="rect">
              <a:avLst/>
            </a:prstGeom>
            <a:noFill/>
            <a:ln>
              <a:noFill/>
            </a:ln>
          </p:spPr>
          <p:txBody>
            <a:bodyPr wrap="none" lIns="0" tIns="0" rIns="0" bIns="0" anchor="t" anchorCtr="0">
              <a:spAutoFit/>
            </a:bodyPr>
            <a:lstStyle/>
            <a:p>
              <a:pPr algn="l"/>
              <a:r>
                <a:rPr lang="zh-CN" sz="900" b="1" dirty="0">
                  <a:solidFill>
                    <a:srgbClr val="A50021"/>
                  </a:solidFill>
                  <a:latin typeface="Arial"/>
                  <a:ea typeface="SimHei"/>
                  <a:cs typeface="Arial"/>
                </a:rPr>
                <a:t>映射：V3, V8, V2, V10, V5</a:t>
              </a:r>
            </a:p>
          </p:txBody>
        </p:sp>
      </p:grpSp>
      <p:sp>
        <p:nvSpPr>
          <p:cNvPr id="49" name="Line 49"/>
          <p:cNvSpPr/>
          <p:nvPr/>
        </p:nvSpPr>
        <p:spPr>
          <a:xfrm>
            <a:off x="2914650" y="3067050"/>
            <a:ext cx="266700" cy="1"/>
          </a:xfrm>
          <a:prstGeom prst="line">
            <a:avLst/>
          </a:prstGeom>
          <a:noFill/>
          <a:ln w="28575">
            <a:solidFill>
              <a:srgbClr val="A50021"/>
            </a:solidFill>
            <a:tailEnd type="triangle" w="lg" len="lg"/>
          </a:ln>
        </p:spPr>
      </p:sp>
      <p:grpSp>
        <p:nvGrpSpPr>
          <p:cNvPr id="120" name="Group 120"/>
          <p:cNvGrpSpPr/>
          <p:nvPr/>
        </p:nvGrpSpPr>
        <p:grpSpPr>
          <a:xfrm>
            <a:off x="3181350" y="1333500"/>
            <a:ext cx="3714750" cy="4229100"/>
            <a:chOff x="3181350" y="1333500"/>
            <a:chExt cx="3714750" cy="4229100"/>
          </a:xfrm>
        </p:grpSpPr>
        <p:sp>
          <p:nvSpPr>
            <p:cNvPr id="54" name="Rectangle 54"/>
            <p:cNvSpPr/>
            <p:nvPr/>
          </p:nvSpPr>
          <p:spPr>
            <a:xfrm>
              <a:off x="3181350" y="1333500"/>
              <a:ext cx="3714750" cy="4229100"/>
            </a:xfrm>
            <a:prstGeom prst="roundRect">
              <a:avLst>
                <a:gd name="adj" fmla="val 2564"/>
              </a:avLst>
            </a:prstGeom>
            <a:solidFill>
              <a:srgbClr val="FFFFFF"/>
            </a:solidFill>
            <a:ln w="13335">
              <a:solidFill>
                <a:srgbClr val="E4E7EB"/>
              </a:solidFill>
            </a:ln>
          </p:spPr>
        </p:sp>
        <p:grpSp>
          <p:nvGrpSpPr>
            <p:cNvPr id="66" name="Group 66"/>
            <p:cNvGrpSpPr/>
            <p:nvPr/>
          </p:nvGrpSpPr>
          <p:grpSpPr>
            <a:xfrm>
              <a:off x="3416300" y="1530350"/>
              <a:ext cx="177800" cy="177800"/>
              <a:chOff x="3416300" y="1530350"/>
              <a:chExt cx="177800" cy="177800"/>
            </a:xfrm>
          </p:grpSpPr>
          <p:sp>
            <p:nvSpPr>
              <p:cNvPr id="55" name="Freeform 55"/>
              <p:cNvSpPr/>
              <p:nvPr/>
            </p:nvSpPr>
            <p:spPr>
              <a:xfrm>
                <a:off x="3460750" y="1663700"/>
                <a:ext cx="9525" cy="9525"/>
              </a:xfrm>
              <a:custGeom>
                <a:avLst/>
                <a:gdLst/>
                <a:ahLst/>
                <a:cxnLst/>
                <a:rect l="l" t="t" r="r" b="b"/>
                <a:pathLst>
                  <a:path w="9525" h="9525">
                    <a:moveTo>
                      <a:pt x="0" y="0"/>
                    </a:moveTo>
                    <a:lnTo>
                      <a:pt x="144" y="0"/>
                    </a:lnTo>
                  </a:path>
                </a:pathLst>
              </a:custGeom>
              <a:noFill/>
              <a:ln w="19050">
                <a:solidFill>
                  <a:srgbClr val="A50021"/>
                </a:solidFill>
              </a:ln>
            </p:spPr>
          </p:sp>
          <p:sp>
            <p:nvSpPr>
              <p:cNvPr id="56" name="Freeform 56"/>
              <p:cNvSpPr/>
              <p:nvPr/>
            </p:nvSpPr>
            <p:spPr>
              <a:xfrm>
                <a:off x="3505311" y="1663700"/>
                <a:ext cx="9525" cy="9525"/>
              </a:xfrm>
              <a:custGeom>
                <a:avLst/>
                <a:gdLst/>
                <a:ahLst/>
                <a:cxnLst/>
                <a:rect l="l" t="t" r="r" b="b"/>
                <a:pathLst>
                  <a:path w="9525" h="9525">
                    <a:moveTo>
                      <a:pt x="0" y="0"/>
                    </a:moveTo>
                    <a:lnTo>
                      <a:pt x="56" y="0"/>
                    </a:lnTo>
                  </a:path>
                </a:pathLst>
              </a:custGeom>
              <a:noFill/>
              <a:ln w="19050">
                <a:solidFill>
                  <a:srgbClr val="A50021"/>
                </a:solidFill>
              </a:ln>
            </p:spPr>
          </p:sp>
          <p:sp>
            <p:nvSpPr>
              <p:cNvPr id="57" name="Freeform 57"/>
              <p:cNvSpPr/>
              <p:nvPr/>
            </p:nvSpPr>
            <p:spPr>
              <a:xfrm>
                <a:off x="3549817" y="1663700"/>
                <a:ext cx="9525" cy="9525"/>
              </a:xfrm>
              <a:custGeom>
                <a:avLst/>
                <a:gdLst/>
                <a:ahLst/>
                <a:cxnLst/>
                <a:rect l="l" t="t" r="r" b="b"/>
                <a:pathLst>
                  <a:path w="9525" h="9525">
                    <a:moveTo>
                      <a:pt x="0" y="0"/>
                    </a:moveTo>
                    <a:lnTo>
                      <a:pt x="56" y="0"/>
                    </a:lnTo>
                  </a:path>
                </a:pathLst>
              </a:custGeom>
              <a:noFill/>
              <a:ln w="19050">
                <a:solidFill>
                  <a:srgbClr val="A50021"/>
                </a:solidFill>
              </a:ln>
            </p:spPr>
          </p:sp>
          <p:sp>
            <p:nvSpPr>
              <p:cNvPr id="58" name="Freeform 58"/>
              <p:cNvSpPr/>
              <p:nvPr/>
            </p:nvSpPr>
            <p:spPr>
              <a:xfrm>
                <a:off x="3549817" y="1619250"/>
                <a:ext cx="9525" cy="9525"/>
              </a:xfrm>
              <a:custGeom>
                <a:avLst/>
                <a:gdLst/>
                <a:ahLst/>
                <a:cxnLst/>
                <a:rect l="l" t="t" r="r" b="b"/>
                <a:pathLst>
                  <a:path w="9525" h="9525">
                    <a:moveTo>
                      <a:pt x="0" y="0"/>
                    </a:moveTo>
                    <a:lnTo>
                      <a:pt x="56" y="0"/>
                    </a:lnTo>
                  </a:path>
                </a:pathLst>
              </a:custGeom>
              <a:noFill/>
              <a:ln w="19050">
                <a:solidFill>
                  <a:srgbClr val="A50021"/>
                </a:solidFill>
              </a:ln>
            </p:spPr>
          </p:sp>
          <p:sp>
            <p:nvSpPr>
              <p:cNvPr id="59" name="Freeform 59"/>
              <p:cNvSpPr/>
              <p:nvPr/>
            </p:nvSpPr>
            <p:spPr>
              <a:xfrm>
                <a:off x="3460861" y="1619250"/>
                <a:ext cx="9525" cy="9525"/>
              </a:xfrm>
              <a:custGeom>
                <a:avLst/>
                <a:gdLst/>
                <a:ahLst/>
                <a:cxnLst/>
                <a:rect l="l" t="t" r="r" b="b"/>
                <a:pathLst>
                  <a:path w="9525" h="9525">
                    <a:moveTo>
                      <a:pt x="0" y="0"/>
                    </a:moveTo>
                    <a:lnTo>
                      <a:pt x="56" y="0"/>
                    </a:lnTo>
                  </a:path>
                </a:pathLst>
              </a:custGeom>
              <a:noFill/>
              <a:ln w="19050">
                <a:solidFill>
                  <a:srgbClr val="A50021"/>
                </a:solidFill>
              </a:ln>
            </p:spPr>
          </p:sp>
          <p:sp>
            <p:nvSpPr>
              <p:cNvPr id="60" name="Freeform 60"/>
              <p:cNvSpPr/>
              <p:nvPr/>
            </p:nvSpPr>
            <p:spPr>
              <a:xfrm>
                <a:off x="3505311" y="1619250"/>
                <a:ext cx="9525" cy="9525"/>
              </a:xfrm>
              <a:custGeom>
                <a:avLst/>
                <a:gdLst/>
                <a:ahLst/>
                <a:cxnLst/>
                <a:rect l="l" t="t" r="r" b="b"/>
                <a:pathLst>
                  <a:path w="9525" h="9525">
                    <a:moveTo>
                      <a:pt x="0" y="0"/>
                    </a:moveTo>
                    <a:lnTo>
                      <a:pt x="56" y="0"/>
                    </a:lnTo>
                  </a:path>
                </a:pathLst>
              </a:custGeom>
              <a:noFill/>
              <a:ln w="19050">
                <a:solidFill>
                  <a:srgbClr val="A50021"/>
                </a:solidFill>
              </a:ln>
            </p:spPr>
          </p:sp>
          <p:sp>
            <p:nvSpPr>
              <p:cNvPr id="61" name="Freeform 61"/>
              <p:cNvSpPr/>
              <p:nvPr/>
            </p:nvSpPr>
            <p:spPr>
              <a:xfrm>
                <a:off x="3549872" y="1574800"/>
                <a:ext cx="9525" cy="9525"/>
              </a:xfrm>
              <a:custGeom>
                <a:avLst/>
                <a:gdLst/>
                <a:ahLst/>
                <a:cxnLst/>
                <a:rect l="l" t="t" r="r" b="b"/>
                <a:pathLst>
                  <a:path w="9525" h="9525">
                    <a:moveTo>
                      <a:pt x="0" y="0"/>
                    </a:moveTo>
                    <a:lnTo>
                      <a:pt x="56" y="0"/>
                    </a:lnTo>
                  </a:path>
                </a:pathLst>
              </a:custGeom>
              <a:noFill/>
              <a:ln w="19050">
                <a:solidFill>
                  <a:srgbClr val="A50021"/>
                </a:solidFill>
              </a:ln>
            </p:spPr>
          </p:sp>
          <p:sp>
            <p:nvSpPr>
              <p:cNvPr id="62" name="Freeform 62"/>
              <p:cNvSpPr/>
              <p:nvPr/>
            </p:nvSpPr>
            <p:spPr>
              <a:xfrm>
                <a:off x="3460917" y="1574800"/>
                <a:ext cx="9525" cy="9525"/>
              </a:xfrm>
              <a:custGeom>
                <a:avLst/>
                <a:gdLst/>
                <a:ahLst/>
                <a:cxnLst/>
                <a:rect l="l" t="t" r="r" b="b"/>
                <a:pathLst>
                  <a:path w="9525" h="9525">
                    <a:moveTo>
                      <a:pt x="0" y="0"/>
                    </a:moveTo>
                    <a:lnTo>
                      <a:pt x="56" y="0"/>
                    </a:lnTo>
                  </a:path>
                </a:pathLst>
              </a:custGeom>
              <a:noFill/>
              <a:ln w="19050">
                <a:solidFill>
                  <a:srgbClr val="A50021"/>
                </a:solidFill>
              </a:ln>
            </p:spPr>
          </p:sp>
          <p:sp>
            <p:nvSpPr>
              <p:cNvPr id="63" name="Freeform 63"/>
              <p:cNvSpPr/>
              <p:nvPr/>
            </p:nvSpPr>
            <p:spPr>
              <a:xfrm>
                <a:off x="3505367" y="1574800"/>
                <a:ext cx="9525" cy="9525"/>
              </a:xfrm>
              <a:custGeom>
                <a:avLst/>
                <a:gdLst/>
                <a:ahLst/>
                <a:cxnLst/>
                <a:rect l="l" t="t" r="r" b="b"/>
                <a:pathLst>
                  <a:path w="9525" h="9525">
                    <a:moveTo>
                      <a:pt x="0" y="0"/>
                    </a:moveTo>
                    <a:lnTo>
                      <a:pt x="56" y="0"/>
                    </a:lnTo>
                  </a:path>
                </a:pathLst>
              </a:custGeom>
              <a:noFill/>
              <a:ln w="19050">
                <a:solidFill>
                  <a:srgbClr val="A50021"/>
                </a:solidFill>
              </a:ln>
            </p:spPr>
          </p:sp>
          <p:sp>
            <p:nvSpPr>
              <p:cNvPr id="64" name="Freeform 64"/>
              <p:cNvSpPr/>
              <p:nvPr/>
            </p:nvSpPr>
            <p:spPr>
              <a:xfrm>
                <a:off x="3416300" y="1530350"/>
                <a:ext cx="33338" cy="177800"/>
              </a:xfrm>
              <a:custGeom>
                <a:avLst/>
                <a:gdLst/>
                <a:ahLst/>
                <a:cxnLst/>
                <a:rect l="l" t="t" r="r" b="b"/>
                <a:pathLst>
                  <a:path w="33338" h="177800">
                    <a:moveTo>
                      <a:pt x="33338" y="0"/>
                    </a:moveTo>
                    <a:lnTo>
                      <a:pt x="22225" y="0"/>
                    </a:lnTo>
                    <a:cubicBezTo>
                      <a:pt x="9950" y="0"/>
                      <a:pt x="0" y="9950"/>
                      <a:pt x="0" y="22225"/>
                    </a:cubicBezTo>
                    <a:lnTo>
                      <a:pt x="0" y="155575"/>
                    </a:lnTo>
                    <a:cubicBezTo>
                      <a:pt x="0" y="167850"/>
                      <a:pt x="9950" y="177800"/>
                      <a:pt x="22225" y="177800"/>
                    </a:cubicBezTo>
                    <a:lnTo>
                      <a:pt x="33338" y="177800"/>
                    </a:lnTo>
                  </a:path>
                </a:pathLst>
              </a:custGeom>
              <a:noFill/>
              <a:ln w="19050">
                <a:solidFill>
                  <a:srgbClr val="A50021"/>
                </a:solidFill>
              </a:ln>
            </p:spPr>
          </p:sp>
          <p:sp>
            <p:nvSpPr>
              <p:cNvPr id="65" name="Freeform 65"/>
              <p:cNvSpPr/>
              <p:nvPr/>
            </p:nvSpPr>
            <p:spPr>
              <a:xfrm>
                <a:off x="3560762" y="1530350"/>
                <a:ext cx="33338" cy="177800"/>
              </a:xfrm>
              <a:custGeom>
                <a:avLst/>
                <a:gdLst/>
                <a:ahLst/>
                <a:cxnLst/>
                <a:rect l="l" t="t" r="r" b="b"/>
                <a:pathLst>
                  <a:path w="33338" h="177800">
                    <a:moveTo>
                      <a:pt x="0" y="0"/>
                    </a:moveTo>
                    <a:lnTo>
                      <a:pt x="11113" y="0"/>
                    </a:lnTo>
                    <a:cubicBezTo>
                      <a:pt x="23387" y="0"/>
                      <a:pt x="33338" y="9950"/>
                      <a:pt x="33338" y="22225"/>
                    </a:cubicBezTo>
                    <a:lnTo>
                      <a:pt x="33338" y="155575"/>
                    </a:lnTo>
                    <a:cubicBezTo>
                      <a:pt x="33338" y="167850"/>
                      <a:pt x="23387" y="177800"/>
                      <a:pt x="11113" y="177800"/>
                    </a:cubicBezTo>
                    <a:lnTo>
                      <a:pt x="0" y="177800"/>
                    </a:lnTo>
                  </a:path>
                </a:pathLst>
              </a:custGeom>
              <a:noFill/>
              <a:ln w="19050">
                <a:solidFill>
                  <a:srgbClr val="A50021"/>
                </a:solidFill>
              </a:ln>
            </p:spPr>
          </p:sp>
        </p:grpSp>
        <p:sp>
          <p:nvSpPr>
            <p:cNvPr id="67" name="TextBox 67"/>
            <p:cNvSpPr txBox="1"/>
            <p:nvPr/>
          </p:nvSpPr>
          <p:spPr>
            <a:xfrm>
              <a:off x="3716655" y="1511618"/>
              <a:ext cx="2756680" cy="274320"/>
            </a:xfrm>
            <a:prstGeom prst="rect">
              <a:avLst/>
            </a:prstGeom>
            <a:noFill/>
            <a:ln>
              <a:noFill/>
            </a:ln>
          </p:spPr>
          <p:txBody>
            <a:bodyPr wrap="none" lIns="0" tIns="0" rIns="0" bIns="0" anchor="t" anchorCtr="0">
              <a:spAutoFit/>
            </a:bodyPr>
            <a:lstStyle/>
            <a:p>
              <a:pPr algn="l"/>
              <a:r>
                <a:rPr lang="zh-CN" sz="1350" b="1" dirty="0">
                  <a:solidFill>
                    <a:srgbClr val="1F2328"/>
                  </a:solidFill>
                  <a:latin typeface="Arial"/>
                  <a:ea typeface="SimHei"/>
                  <a:cs typeface="Arial"/>
                </a:rPr>
                <a:t>③ One-Hot 稀疏表示（5x10）</a:t>
              </a:r>
            </a:p>
          </p:txBody>
        </p:sp>
        <p:sp>
          <p:nvSpPr>
            <p:cNvPr id="68" name="TextBox 68"/>
            <p:cNvSpPr txBox="1"/>
            <p:nvPr/>
          </p:nvSpPr>
          <p:spPr>
            <a:xfrm>
              <a:off x="3359468" y="1818799"/>
              <a:ext cx="2979539"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5 个词元 × 10 个词表项；每行只有一个位置为 1</a:t>
              </a:r>
            </a:p>
          </p:txBody>
        </p:sp>
        <p:grpSp>
          <p:nvGrpSpPr>
            <p:cNvPr id="112" name="Group 112"/>
            <p:cNvGrpSpPr/>
            <p:nvPr/>
          </p:nvGrpSpPr>
          <p:grpSpPr>
            <a:xfrm>
              <a:off x="3371850" y="2095500"/>
              <a:ext cx="3200400" cy="1271588"/>
              <a:chOff x="3371850" y="2095500"/>
              <a:chExt cx="3200400" cy="1271588"/>
            </a:xfrm>
          </p:grpSpPr>
          <p:sp>
            <p:nvSpPr>
              <p:cNvPr id="69" name="Rectangle 69"/>
              <p:cNvSpPr/>
              <p:nvPr/>
            </p:nvSpPr>
            <p:spPr>
              <a:xfrm>
                <a:off x="3371850" y="2095500"/>
                <a:ext cx="3200400" cy="1238250"/>
              </a:xfrm>
              <a:prstGeom prst="rect">
                <a:avLst/>
              </a:prstGeom>
              <a:solidFill>
                <a:srgbClr val="FFFFFF"/>
              </a:solidFill>
              <a:ln w="9525">
                <a:solidFill>
                  <a:srgbClr val="E8EAED"/>
                </a:solidFill>
              </a:ln>
            </p:spPr>
          </p:sp>
          <p:sp>
            <p:nvSpPr>
              <p:cNvPr id="70" name="Rectangle 70"/>
              <p:cNvSpPr/>
              <p:nvPr/>
            </p:nvSpPr>
            <p:spPr>
              <a:xfrm>
                <a:off x="3371850" y="2095500"/>
                <a:ext cx="3200400" cy="209550"/>
              </a:xfrm>
              <a:prstGeom prst="rect">
                <a:avLst/>
              </a:prstGeom>
              <a:solidFill>
                <a:srgbClr val="F8F9FA"/>
              </a:solidFill>
              <a:ln>
                <a:noFill/>
              </a:ln>
            </p:spPr>
          </p:sp>
          <p:sp>
            <p:nvSpPr>
              <p:cNvPr id="71" name="TextBox 71"/>
              <p:cNvSpPr txBox="1"/>
              <p:nvPr/>
            </p:nvSpPr>
            <p:spPr>
              <a:xfrm>
                <a:off x="3574256" y="2149316"/>
                <a:ext cx="261937" cy="167640"/>
              </a:xfrm>
              <a:prstGeom prst="rect">
                <a:avLst/>
              </a:prstGeom>
              <a:noFill/>
              <a:ln>
                <a:noFill/>
              </a:ln>
            </p:spPr>
            <p:txBody>
              <a:bodyPr wrap="none" lIns="0" tIns="0" rIns="0" bIns="0" anchor="t" anchorCtr="0">
                <a:spAutoFit/>
              </a:bodyPr>
              <a:lstStyle/>
              <a:p>
                <a:pPr algn="ctr"/>
                <a:r>
                  <a:rPr lang="zh-CN" sz="825" dirty="0">
                    <a:solidFill>
                      <a:srgbClr val="5F6368"/>
                    </a:solidFill>
                    <a:latin typeface="Arial"/>
                    <a:ea typeface="SimHei"/>
                    <a:cs typeface="Arial"/>
                  </a:rPr>
                  <a:t>词元</a:t>
                </a:r>
              </a:p>
            </p:txBody>
          </p:sp>
          <p:sp>
            <p:nvSpPr>
              <p:cNvPr id="72" name="TextBox 72"/>
              <p:cNvSpPr txBox="1"/>
              <p:nvPr/>
            </p:nvSpPr>
            <p:spPr>
              <a:xfrm>
                <a:off x="4163497" y="2157412"/>
                <a:ext cx="112157"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SimHei"/>
                    <a:cs typeface="Arial"/>
                  </a:rPr>
                  <a:t>V1</a:t>
                </a:r>
              </a:p>
            </p:txBody>
          </p:sp>
          <p:sp>
            <p:nvSpPr>
              <p:cNvPr id="73" name="TextBox 73"/>
              <p:cNvSpPr txBox="1"/>
              <p:nvPr/>
            </p:nvSpPr>
            <p:spPr>
              <a:xfrm>
                <a:off x="4378404" y="2157412"/>
                <a:ext cx="139541"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SimHei"/>
                    <a:cs typeface="Arial"/>
                  </a:rPr>
                  <a:t>V2</a:t>
                </a:r>
              </a:p>
            </p:txBody>
          </p:sp>
          <p:sp>
            <p:nvSpPr>
              <p:cNvPr id="74" name="TextBox 74"/>
              <p:cNvSpPr txBox="1"/>
              <p:nvPr/>
            </p:nvSpPr>
            <p:spPr>
              <a:xfrm>
                <a:off x="4607004" y="2157412"/>
                <a:ext cx="139541"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SimHei"/>
                    <a:cs typeface="Arial"/>
                  </a:rPr>
                  <a:t>V3</a:t>
                </a:r>
              </a:p>
            </p:txBody>
          </p:sp>
          <p:sp>
            <p:nvSpPr>
              <p:cNvPr id="75" name="TextBox 75"/>
              <p:cNvSpPr txBox="1"/>
              <p:nvPr/>
            </p:nvSpPr>
            <p:spPr>
              <a:xfrm>
                <a:off x="4835604" y="2157412"/>
                <a:ext cx="139541"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SimHei"/>
                    <a:cs typeface="Arial"/>
                  </a:rPr>
                  <a:t>V4</a:t>
                </a:r>
              </a:p>
            </p:txBody>
          </p:sp>
          <p:sp>
            <p:nvSpPr>
              <p:cNvPr id="76" name="TextBox 76"/>
              <p:cNvSpPr txBox="1"/>
              <p:nvPr/>
            </p:nvSpPr>
            <p:spPr>
              <a:xfrm>
                <a:off x="5064204" y="2157412"/>
                <a:ext cx="139541"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SimHei"/>
                    <a:cs typeface="Arial"/>
                  </a:rPr>
                  <a:t>V5</a:t>
                </a:r>
              </a:p>
            </p:txBody>
          </p:sp>
          <p:sp>
            <p:nvSpPr>
              <p:cNvPr id="77" name="TextBox 77"/>
              <p:cNvSpPr txBox="1"/>
              <p:nvPr/>
            </p:nvSpPr>
            <p:spPr>
              <a:xfrm>
                <a:off x="5292804" y="2157412"/>
                <a:ext cx="139541"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SimHei"/>
                    <a:cs typeface="Arial"/>
                  </a:rPr>
                  <a:t>V6</a:t>
                </a:r>
              </a:p>
            </p:txBody>
          </p:sp>
          <p:sp>
            <p:nvSpPr>
              <p:cNvPr id="78" name="TextBox 78"/>
              <p:cNvSpPr txBox="1"/>
              <p:nvPr/>
            </p:nvSpPr>
            <p:spPr>
              <a:xfrm>
                <a:off x="5521404" y="2157412"/>
                <a:ext cx="139541"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SimHei"/>
                    <a:cs typeface="Arial"/>
                  </a:rPr>
                  <a:t>V7</a:t>
                </a:r>
              </a:p>
            </p:txBody>
          </p:sp>
          <p:sp>
            <p:nvSpPr>
              <p:cNvPr id="79" name="TextBox 79"/>
              <p:cNvSpPr txBox="1"/>
              <p:nvPr/>
            </p:nvSpPr>
            <p:spPr>
              <a:xfrm>
                <a:off x="5750004" y="2157412"/>
                <a:ext cx="139541"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SimHei"/>
                    <a:cs typeface="Arial"/>
                  </a:rPr>
                  <a:t>V8</a:t>
                </a:r>
              </a:p>
            </p:txBody>
          </p:sp>
          <p:sp>
            <p:nvSpPr>
              <p:cNvPr id="80" name="TextBox 80"/>
              <p:cNvSpPr txBox="1"/>
              <p:nvPr/>
            </p:nvSpPr>
            <p:spPr>
              <a:xfrm>
                <a:off x="5978604" y="2157412"/>
                <a:ext cx="139541"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SimHei"/>
                    <a:cs typeface="Arial"/>
                  </a:rPr>
                  <a:t>V9</a:t>
                </a:r>
              </a:p>
            </p:txBody>
          </p:sp>
          <p:sp>
            <p:nvSpPr>
              <p:cNvPr id="81" name="TextBox 81"/>
              <p:cNvSpPr txBox="1"/>
              <p:nvPr/>
            </p:nvSpPr>
            <p:spPr>
              <a:xfrm>
                <a:off x="6228874" y="2157412"/>
                <a:ext cx="172402"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SimHei"/>
                    <a:cs typeface="Arial"/>
                  </a:rPr>
                  <a:t>V10</a:t>
                </a:r>
              </a:p>
            </p:txBody>
          </p:sp>
          <p:sp>
            <p:nvSpPr>
              <p:cNvPr id="82" name="Line 82"/>
              <p:cNvSpPr/>
              <p:nvPr/>
            </p:nvSpPr>
            <p:spPr>
              <a:xfrm>
                <a:off x="4038600" y="2095500"/>
                <a:ext cx="9525" cy="1238250"/>
              </a:xfrm>
              <a:custGeom>
                <a:avLst/>
                <a:gdLst/>
                <a:ahLst/>
                <a:cxnLst/>
                <a:rect l="l" t="t" r="r" b="b"/>
                <a:pathLst>
                  <a:path w="9525" h="1238250">
                    <a:moveTo>
                      <a:pt x="0" y="0"/>
                    </a:moveTo>
                    <a:lnTo>
                      <a:pt x="0" y="1238250"/>
                    </a:lnTo>
                  </a:path>
                </a:pathLst>
              </a:custGeom>
              <a:noFill/>
              <a:ln w="9525">
                <a:solidFill>
                  <a:srgbClr val="E8EAED"/>
                </a:solidFill>
              </a:ln>
            </p:spPr>
          </p:sp>
          <p:sp>
            <p:nvSpPr>
              <p:cNvPr id="83" name="Line 83"/>
              <p:cNvSpPr/>
              <p:nvPr/>
            </p:nvSpPr>
            <p:spPr>
              <a:xfrm>
                <a:off x="3371850" y="2305050"/>
                <a:ext cx="3200400" cy="9525"/>
              </a:xfrm>
              <a:custGeom>
                <a:avLst/>
                <a:gdLst/>
                <a:ahLst/>
                <a:cxnLst/>
                <a:rect l="l" t="t" r="r" b="b"/>
                <a:pathLst>
                  <a:path w="3200400" h="9525">
                    <a:moveTo>
                      <a:pt x="0" y="0"/>
                    </a:moveTo>
                    <a:lnTo>
                      <a:pt x="3200400" y="0"/>
                    </a:lnTo>
                  </a:path>
                </a:pathLst>
              </a:custGeom>
              <a:noFill/>
              <a:ln w="9525">
                <a:solidFill>
                  <a:srgbClr val="E8EAED"/>
                </a:solidFill>
              </a:ln>
            </p:spPr>
          </p:sp>
          <p:sp>
            <p:nvSpPr>
              <p:cNvPr id="84" name="Line 84"/>
              <p:cNvSpPr/>
              <p:nvPr/>
            </p:nvSpPr>
            <p:spPr>
              <a:xfrm>
                <a:off x="3371850" y="2514600"/>
                <a:ext cx="3200400" cy="9525"/>
              </a:xfrm>
              <a:custGeom>
                <a:avLst/>
                <a:gdLst/>
                <a:ahLst/>
                <a:cxnLst/>
                <a:rect l="l" t="t" r="r" b="b"/>
                <a:pathLst>
                  <a:path w="3200400" h="9525">
                    <a:moveTo>
                      <a:pt x="0" y="0"/>
                    </a:moveTo>
                    <a:lnTo>
                      <a:pt x="3200400" y="0"/>
                    </a:lnTo>
                  </a:path>
                </a:pathLst>
              </a:custGeom>
              <a:noFill/>
              <a:ln w="9525">
                <a:solidFill>
                  <a:srgbClr val="E8EAED"/>
                </a:solidFill>
              </a:ln>
            </p:spPr>
          </p:sp>
          <p:sp>
            <p:nvSpPr>
              <p:cNvPr id="85" name="Line 85"/>
              <p:cNvSpPr/>
              <p:nvPr/>
            </p:nvSpPr>
            <p:spPr>
              <a:xfrm>
                <a:off x="3371850" y="2724150"/>
                <a:ext cx="3200400" cy="9525"/>
              </a:xfrm>
              <a:custGeom>
                <a:avLst/>
                <a:gdLst/>
                <a:ahLst/>
                <a:cxnLst/>
                <a:rect l="l" t="t" r="r" b="b"/>
                <a:pathLst>
                  <a:path w="3200400" h="9525">
                    <a:moveTo>
                      <a:pt x="0" y="0"/>
                    </a:moveTo>
                    <a:lnTo>
                      <a:pt x="3200400" y="0"/>
                    </a:lnTo>
                  </a:path>
                </a:pathLst>
              </a:custGeom>
              <a:noFill/>
              <a:ln w="9525">
                <a:solidFill>
                  <a:srgbClr val="E8EAED"/>
                </a:solidFill>
              </a:ln>
            </p:spPr>
          </p:sp>
          <p:sp>
            <p:nvSpPr>
              <p:cNvPr id="86" name="Line 86"/>
              <p:cNvSpPr/>
              <p:nvPr/>
            </p:nvSpPr>
            <p:spPr>
              <a:xfrm>
                <a:off x="3371850" y="2933700"/>
                <a:ext cx="3200400" cy="9525"/>
              </a:xfrm>
              <a:custGeom>
                <a:avLst/>
                <a:gdLst/>
                <a:ahLst/>
                <a:cxnLst/>
                <a:rect l="l" t="t" r="r" b="b"/>
                <a:pathLst>
                  <a:path w="3200400" h="9525">
                    <a:moveTo>
                      <a:pt x="0" y="0"/>
                    </a:moveTo>
                    <a:lnTo>
                      <a:pt x="3200400" y="0"/>
                    </a:lnTo>
                  </a:path>
                </a:pathLst>
              </a:custGeom>
              <a:noFill/>
              <a:ln w="9525">
                <a:solidFill>
                  <a:srgbClr val="E8EAED"/>
                </a:solidFill>
              </a:ln>
            </p:spPr>
          </p:sp>
          <p:sp>
            <p:nvSpPr>
              <p:cNvPr id="87" name="Line 87"/>
              <p:cNvSpPr/>
              <p:nvPr/>
            </p:nvSpPr>
            <p:spPr>
              <a:xfrm>
                <a:off x="3371850" y="3143250"/>
                <a:ext cx="3200400" cy="9525"/>
              </a:xfrm>
              <a:custGeom>
                <a:avLst/>
                <a:gdLst/>
                <a:ahLst/>
                <a:cxnLst/>
                <a:rect l="l" t="t" r="r" b="b"/>
                <a:pathLst>
                  <a:path w="3200400" h="9525">
                    <a:moveTo>
                      <a:pt x="0" y="0"/>
                    </a:moveTo>
                    <a:lnTo>
                      <a:pt x="3200400" y="0"/>
                    </a:lnTo>
                  </a:path>
                </a:pathLst>
              </a:custGeom>
              <a:noFill/>
              <a:ln w="9525">
                <a:solidFill>
                  <a:srgbClr val="E8EAED"/>
                </a:solidFill>
              </a:ln>
            </p:spPr>
          </p:sp>
          <p:sp>
            <p:nvSpPr>
              <p:cNvPr id="88" name="TextBox 88"/>
              <p:cNvSpPr txBox="1"/>
              <p:nvPr/>
            </p:nvSpPr>
            <p:spPr>
              <a:xfrm>
                <a:off x="3476625" y="2376488"/>
                <a:ext cx="457200" cy="152400"/>
              </a:xfrm>
              <a:prstGeom prst="rect">
                <a:avLst/>
              </a:prstGeom>
              <a:noFill/>
              <a:ln>
                <a:noFill/>
              </a:ln>
            </p:spPr>
            <p:txBody>
              <a:bodyPr wrap="none" lIns="0" tIns="0" rIns="0" bIns="0" anchor="t" anchorCtr="0">
                <a:spAutoFit/>
              </a:bodyPr>
              <a:lstStyle/>
              <a:p>
                <a:pPr algn="ctr"/>
                <a:r>
                  <a:rPr lang="zh-CN" sz="750" dirty="0">
                    <a:solidFill>
                      <a:srgbClr val="1F2328"/>
                    </a:solidFill>
                    <a:latin typeface="Arial"/>
                    <a:ea typeface="SimHei"/>
                    <a:cs typeface="Arial"/>
                  </a:rPr>
                  <a:t>中国银行</a:t>
                </a:r>
              </a:p>
            </p:txBody>
          </p:sp>
          <p:sp>
            <p:nvSpPr>
              <p:cNvPr id="89" name="TextBox 89"/>
              <p:cNvSpPr txBox="1"/>
              <p:nvPr/>
            </p:nvSpPr>
            <p:spPr>
              <a:xfrm>
                <a:off x="3640931" y="2586038"/>
                <a:ext cx="128588" cy="152400"/>
              </a:xfrm>
              <a:prstGeom prst="rect">
                <a:avLst/>
              </a:prstGeom>
              <a:noFill/>
              <a:ln>
                <a:noFill/>
              </a:ln>
            </p:spPr>
            <p:txBody>
              <a:bodyPr wrap="none" lIns="0" tIns="0" rIns="0" bIns="0" anchor="t" anchorCtr="0">
                <a:spAutoFit/>
              </a:bodyPr>
              <a:lstStyle/>
              <a:p>
                <a:pPr algn="ctr"/>
                <a:r>
                  <a:rPr lang="zh-CN" sz="750" dirty="0">
                    <a:solidFill>
                      <a:srgbClr val="1F2328"/>
                    </a:solidFill>
                    <a:latin typeface="Arial"/>
                    <a:ea typeface="SimHei"/>
                    <a:cs typeface="Arial"/>
                  </a:rPr>
                  <a:t>是</a:t>
                </a:r>
              </a:p>
            </p:txBody>
          </p:sp>
          <p:sp>
            <p:nvSpPr>
              <p:cNvPr id="90" name="TextBox 90"/>
              <p:cNvSpPr txBox="1"/>
              <p:nvPr/>
            </p:nvSpPr>
            <p:spPr>
              <a:xfrm>
                <a:off x="3586162" y="2795588"/>
                <a:ext cx="238125" cy="152400"/>
              </a:xfrm>
              <a:prstGeom prst="rect">
                <a:avLst/>
              </a:prstGeom>
              <a:noFill/>
              <a:ln>
                <a:noFill/>
              </a:ln>
            </p:spPr>
            <p:txBody>
              <a:bodyPr wrap="none" lIns="0" tIns="0" rIns="0" bIns="0" anchor="t" anchorCtr="0">
                <a:spAutoFit/>
              </a:bodyPr>
              <a:lstStyle/>
              <a:p>
                <a:pPr algn="ctr"/>
                <a:r>
                  <a:rPr lang="zh-CN" sz="750" dirty="0">
                    <a:solidFill>
                      <a:srgbClr val="1F2328"/>
                    </a:solidFill>
                    <a:latin typeface="Arial"/>
                    <a:ea typeface="SimHei"/>
                    <a:cs typeface="Arial"/>
                  </a:rPr>
                  <a:t>世界</a:t>
                </a:r>
              </a:p>
            </p:txBody>
          </p:sp>
          <p:sp>
            <p:nvSpPr>
              <p:cNvPr id="91" name="TextBox 91"/>
              <p:cNvSpPr txBox="1"/>
              <p:nvPr/>
            </p:nvSpPr>
            <p:spPr>
              <a:xfrm>
                <a:off x="3586162" y="3005138"/>
                <a:ext cx="238125" cy="152400"/>
              </a:xfrm>
              <a:prstGeom prst="rect">
                <a:avLst/>
              </a:prstGeom>
              <a:noFill/>
              <a:ln>
                <a:noFill/>
              </a:ln>
            </p:spPr>
            <p:txBody>
              <a:bodyPr wrap="none" lIns="0" tIns="0" rIns="0" bIns="0" anchor="t" anchorCtr="0">
                <a:spAutoFit/>
              </a:bodyPr>
              <a:lstStyle/>
              <a:p>
                <a:pPr algn="ctr"/>
                <a:r>
                  <a:rPr lang="zh-CN" sz="750" dirty="0">
                    <a:solidFill>
                      <a:srgbClr val="1F2328"/>
                    </a:solidFill>
                    <a:latin typeface="Arial"/>
                    <a:ea typeface="SimHei"/>
                    <a:cs typeface="Arial"/>
                  </a:rPr>
                  <a:t>一流</a:t>
                </a:r>
              </a:p>
            </p:txBody>
          </p:sp>
          <p:sp>
            <p:nvSpPr>
              <p:cNvPr id="92" name="TextBox 92"/>
              <p:cNvSpPr txBox="1"/>
              <p:nvPr/>
            </p:nvSpPr>
            <p:spPr>
              <a:xfrm>
                <a:off x="3586162" y="3214688"/>
                <a:ext cx="238125" cy="152400"/>
              </a:xfrm>
              <a:prstGeom prst="rect">
                <a:avLst/>
              </a:prstGeom>
              <a:noFill/>
              <a:ln>
                <a:noFill/>
              </a:ln>
            </p:spPr>
            <p:txBody>
              <a:bodyPr wrap="none" lIns="0" tIns="0" rIns="0" bIns="0" anchor="t" anchorCtr="0">
                <a:spAutoFit/>
              </a:bodyPr>
              <a:lstStyle/>
              <a:p>
                <a:pPr algn="ctr"/>
                <a:r>
                  <a:rPr lang="zh-CN" sz="750" dirty="0">
                    <a:solidFill>
                      <a:srgbClr val="1F2328"/>
                    </a:solidFill>
                    <a:latin typeface="Arial"/>
                    <a:ea typeface="SimHei"/>
                    <a:cs typeface="Arial"/>
                  </a:rPr>
                  <a:t>银行</a:t>
                </a:r>
              </a:p>
            </p:txBody>
          </p:sp>
          <p:sp>
            <p:nvSpPr>
              <p:cNvPr id="93" name="Rectangle 93"/>
              <p:cNvSpPr/>
              <p:nvPr/>
            </p:nvSpPr>
            <p:spPr>
              <a:xfrm>
                <a:off x="4572000" y="2343150"/>
                <a:ext cx="190500" cy="152400"/>
              </a:xfrm>
              <a:prstGeom prst="roundRect">
                <a:avLst>
                  <a:gd name="adj" fmla="val 18750"/>
                </a:avLst>
              </a:prstGeom>
              <a:solidFill>
                <a:srgbClr val="A50021"/>
              </a:solidFill>
              <a:ln>
                <a:noFill/>
              </a:ln>
            </p:spPr>
          </p:sp>
          <p:sp>
            <p:nvSpPr>
              <p:cNvPr id="94" name="Rectangle 94"/>
              <p:cNvSpPr/>
              <p:nvPr/>
            </p:nvSpPr>
            <p:spPr>
              <a:xfrm>
                <a:off x="5715000" y="2552700"/>
                <a:ext cx="190500" cy="152400"/>
              </a:xfrm>
              <a:prstGeom prst="roundRect">
                <a:avLst>
                  <a:gd name="adj" fmla="val 18750"/>
                </a:avLst>
              </a:prstGeom>
              <a:solidFill>
                <a:srgbClr val="A50021"/>
              </a:solidFill>
              <a:ln>
                <a:noFill/>
              </a:ln>
            </p:spPr>
          </p:sp>
          <p:sp>
            <p:nvSpPr>
              <p:cNvPr id="95" name="Rectangle 95"/>
              <p:cNvSpPr/>
              <p:nvPr/>
            </p:nvSpPr>
            <p:spPr>
              <a:xfrm>
                <a:off x="4343400" y="2762250"/>
                <a:ext cx="190500" cy="152400"/>
              </a:xfrm>
              <a:prstGeom prst="roundRect">
                <a:avLst>
                  <a:gd name="adj" fmla="val 18750"/>
                </a:avLst>
              </a:prstGeom>
              <a:solidFill>
                <a:srgbClr val="A50021"/>
              </a:solidFill>
              <a:ln>
                <a:noFill/>
              </a:ln>
            </p:spPr>
          </p:sp>
          <p:sp>
            <p:nvSpPr>
              <p:cNvPr id="96" name="Rectangle 96"/>
              <p:cNvSpPr/>
              <p:nvPr/>
            </p:nvSpPr>
            <p:spPr>
              <a:xfrm>
                <a:off x="6191250" y="2971800"/>
                <a:ext cx="247650" cy="152400"/>
              </a:xfrm>
              <a:prstGeom prst="roundRect">
                <a:avLst>
                  <a:gd name="adj" fmla="val 18750"/>
                </a:avLst>
              </a:prstGeom>
              <a:solidFill>
                <a:srgbClr val="A50021"/>
              </a:solidFill>
              <a:ln>
                <a:noFill/>
              </a:ln>
            </p:spPr>
          </p:sp>
          <p:sp>
            <p:nvSpPr>
              <p:cNvPr id="97" name="Rectangle 97"/>
              <p:cNvSpPr/>
              <p:nvPr/>
            </p:nvSpPr>
            <p:spPr>
              <a:xfrm>
                <a:off x="5029200" y="3181350"/>
                <a:ext cx="190500" cy="152400"/>
              </a:xfrm>
              <a:prstGeom prst="roundRect">
                <a:avLst>
                  <a:gd name="adj" fmla="val 18750"/>
                </a:avLst>
              </a:prstGeom>
              <a:solidFill>
                <a:srgbClr val="A50021"/>
              </a:solidFill>
              <a:ln>
                <a:noFill/>
              </a:ln>
            </p:spPr>
          </p:sp>
          <p:sp>
            <p:nvSpPr>
              <p:cNvPr id="98" name="TextBox 98"/>
              <p:cNvSpPr txBox="1"/>
              <p:nvPr/>
            </p:nvSpPr>
            <p:spPr>
              <a:xfrm>
                <a:off x="4640473" y="2376488"/>
                <a:ext cx="53554"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SimHei"/>
                    <a:cs typeface="Arial"/>
                  </a:rPr>
                  <a:t>1</a:t>
                </a:r>
              </a:p>
            </p:txBody>
          </p:sp>
          <p:sp>
            <p:nvSpPr>
              <p:cNvPr id="99" name="TextBox 99"/>
              <p:cNvSpPr txBox="1"/>
              <p:nvPr/>
            </p:nvSpPr>
            <p:spPr>
              <a:xfrm>
                <a:off x="5783473" y="2586038"/>
                <a:ext cx="53554"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SimHei"/>
                    <a:cs typeface="Arial"/>
                  </a:rPr>
                  <a:t>1</a:t>
                </a:r>
              </a:p>
            </p:txBody>
          </p:sp>
          <p:sp>
            <p:nvSpPr>
              <p:cNvPr id="100" name="TextBox 100"/>
              <p:cNvSpPr txBox="1"/>
              <p:nvPr/>
            </p:nvSpPr>
            <p:spPr>
              <a:xfrm>
                <a:off x="4411873" y="2795588"/>
                <a:ext cx="53554"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SimHei"/>
                    <a:cs typeface="Arial"/>
                  </a:rPr>
                  <a:t>1</a:t>
                </a:r>
              </a:p>
            </p:txBody>
          </p:sp>
          <p:sp>
            <p:nvSpPr>
              <p:cNvPr id="101" name="TextBox 101"/>
              <p:cNvSpPr txBox="1"/>
              <p:nvPr/>
            </p:nvSpPr>
            <p:spPr>
              <a:xfrm>
                <a:off x="6288298" y="3005138"/>
                <a:ext cx="53554"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SimHei"/>
                    <a:cs typeface="Arial"/>
                  </a:rPr>
                  <a:t>1</a:t>
                </a:r>
              </a:p>
            </p:txBody>
          </p:sp>
          <p:sp>
            <p:nvSpPr>
              <p:cNvPr id="102" name="TextBox 102"/>
              <p:cNvSpPr txBox="1"/>
              <p:nvPr/>
            </p:nvSpPr>
            <p:spPr>
              <a:xfrm>
                <a:off x="5097673" y="3214688"/>
                <a:ext cx="53554"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SimHei"/>
                    <a:cs typeface="Arial"/>
                  </a:rPr>
                  <a:t>1</a:t>
                </a:r>
              </a:p>
            </p:txBody>
          </p:sp>
          <p:sp>
            <p:nvSpPr>
              <p:cNvPr id="103" name="TextBox 103"/>
              <p:cNvSpPr txBox="1"/>
              <p:nvPr/>
            </p:nvSpPr>
            <p:spPr>
              <a:xfrm>
                <a:off x="4174367" y="2384584"/>
                <a:ext cx="71366" cy="137160"/>
              </a:xfrm>
              <a:prstGeom prst="rect">
                <a:avLst/>
              </a:prstGeom>
              <a:noFill/>
              <a:ln>
                <a:noFill/>
              </a:ln>
            </p:spPr>
            <p:txBody>
              <a:bodyPr wrap="none" lIns="0" tIns="0" rIns="0" bIns="0" anchor="t" anchorCtr="0">
                <a:spAutoFit/>
              </a:bodyPr>
              <a:lstStyle/>
              <a:p>
                <a:pPr algn="ctr"/>
                <a:r>
                  <a:rPr lang="zh-CN" sz="675" dirty="0">
                    <a:solidFill>
                      <a:srgbClr val="8A9099"/>
                    </a:solidFill>
                    <a:latin typeface="Arial"/>
                    <a:ea typeface="SimHei"/>
                    <a:cs typeface="Arial"/>
                  </a:rPr>
                  <a:t>0</a:t>
                </a:r>
              </a:p>
            </p:txBody>
          </p:sp>
          <p:sp>
            <p:nvSpPr>
              <p:cNvPr id="104" name="TextBox 104"/>
              <p:cNvSpPr txBox="1"/>
              <p:nvPr/>
            </p:nvSpPr>
            <p:spPr>
              <a:xfrm>
                <a:off x="4412492" y="2384584"/>
                <a:ext cx="71366" cy="137160"/>
              </a:xfrm>
              <a:prstGeom prst="rect">
                <a:avLst/>
              </a:prstGeom>
              <a:noFill/>
              <a:ln>
                <a:noFill/>
              </a:ln>
            </p:spPr>
            <p:txBody>
              <a:bodyPr wrap="none" lIns="0" tIns="0" rIns="0" bIns="0" anchor="t" anchorCtr="0">
                <a:spAutoFit/>
              </a:bodyPr>
              <a:lstStyle/>
              <a:p>
                <a:pPr algn="ctr"/>
                <a:r>
                  <a:rPr lang="zh-CN" sz="675" dirty="0">
                    <a:solidFill>
                      <a:srgbClr val="8A9099"/>
                    </a:solidFill>
                    <a:latin typeface="Arial"/>
                    <a:ea typeface="SimHei"/>
                    <a:cs typeface="Arial"/>
                  </a:rPr>
                  <a:t>0</a:t>
                </a:r>
              </a:p>
            </p:txBody>
          </p:sp>
          <p:sp>
            <p:nvSpPr>
              <p:cNvPr id="105" name="TextBox 105"/>
              <p:cNvSpPr txBox="1"/>
              <p:nvPr/>
            </p:nvSpPr>
            <p:spPr>
              <a:xfrm>
                <a:off x="4869692" y="2384584"/>
                <a:ext cx="71366" cy="137160"/>
              </a:xfrm>
              <a:prstGeom prst="rect">
                <a:avLst/>
              </a:prstGeom>
              <a:noFill/>
              <a:ln>
                <a:noFill/>
              </a:ln>
            </p:spPr>
            <p:txBody>
              <a:bodyPr wrap="none" lIns="0" tIns="0" rIns="0" bIns="0" anchor="t" anchorCtr="0">
                <a:spAutoFit/>
              </a:bodyPr>
              <a:lstStyle/>
              <a:p>
                <a:pPr algn="ctr"/>
                <a:r>
                  <a:rPr lang="zh-CN" sz="675" dirty="0">
                    <a:solidFill>
                      <a:srgbClr val="8A9099"/>
                    </a:solidFill>
                    <a:latin typeface="Arial"/>
                    <a:ea typeface="SimHei"/>
                    <a:cs typeface="Arial"/>
                  </a:rPr>
                  <a:t>0</a:t>
                </a:r>
              </a:p>
            </p:txBody>
          </p:sp>
          <p:sp>
            <p:nvSpPr>
              <p:cNvPr id="106" name="TextBox 106"/>
              <p:cNvSpPr txBox="1"/>
              <p:nvPr/>
            </p:nvSpPr>
            <p:spPr>
              <a:xfrm>
                <a:off x="5098292" y="2384584"/>
                <a:ext cx="71366" cy="137160"/>
              </a:xfrm>
              <a:prstGeom prst="rect">
                <a:avLst/>
              </a:prstGeom>
              <a:noFill/>
              <a:ln>
                <a:noFill/>
              </a:ln>
            </p:spPr>
            <p:txBody>
              <a:bodyPr wrap="none" lIns="0" tIns="0" rIns="0" bIns="0" anchor="t" anchorCtr="0">
                <a:spAutoFit/>
              </a:bodyPr>
              <a:lstStyle/>
              <a:p>
                <a:pPr algn="ctr"/>
                <a:r>
                  <a:rPr lang="zh-CN" sz="675" dirty="0">
                    <a:solidFill>
                      <a:srgbClr val="8A9099"/>
                    </a:solidFill>
                    <a:latin typeface="Arial"/>
                    <a:ea typeface="SimHei"/>
                    <a:cs typeface="Arial"/>
                  </a:rPr>
                  <a:t>0</a:t>
                </a:r>
              </a:p>
            </p:txBody>
          </p:sp>
          <p:sp>
            <p:nvSpPr>
              <p:cNvPr id="107" name="TextBox 107"/>
              <p:cNvSpPr txBox="1"/>
              <p:nvPr/>
            </p:nvSpPr>
            <p:spPr>
              <a:xfrm>
                <a:off x="5326892" y="2384584"/>
                <a:ext cx="71366" cy="137160"/>
              </a:xfrm>
              <a:prstGeom prst="rect">
                <a:avLst/>
              </a:prstGeom>
              <a:noFill/>
              <a:ln>
                <a:noFill/>
              </a:ln>
            </p:spPr>
            <p:txBody>
              <a:bodyPr wrap="none" lIns="0" tIns="0" rIns="0" bIns="0" anchor="t" anchorCtr="0">
                <a:spAutoFit/>
              </a:bodyPr>
              <a:lstStyle/>
              <a:p>
                <a:pPr algn="ctr"/>
                <a:r>
                  <a:rPr lang="zh-CN" sz="675" dirty="0">
                    <a:solidFill>
                      <a:srgbClr val="8A9099"/>
                    </a:solidFill>
                    <a:latin typeface="Arial"/>
                    <a:ea typeface="SimHei"/>
                    <a:cs typeface="Arial"/>
                  </a:rPr>
                  <a:t>0</a:t>
                </a:r>
              </a:p>
            </p:txBody>
          </p:sp>
          <p:sp>
            <p:nvSpPr>
              <p:cNvPr id="108" name="TextBox 108"/>
              <p:cNvSpPr txBox="1"/>
              <p:nvPr/>
            </p:nvSpPr>
            <p:spPr>
              <a:xfrm>
                <a:off x="5555492" y="2384584"/>
                <a:ext cx="71366" cy="137160"/>
              </a:xfrm>
              <a:prstGeom prst="rect">
                <a:avLst/>
              </a:prstGeom>
              <a:noFill/>
              <a:ln>
                <a:noFill/>
              </a:ln>
            </p:spPr>
            <p:txBody>
              <a:bodyPr wrap="none" lIns="0" tIns="0" rIns="0" bIns="0" anchor="t" anchorCtr="0">
                <a:spAutoFit/>
              </a:bodyPr>
              <a:lstStyle/>
              <a:p>
                <a:pPr algn="ctr"/>
                <a:r>
                  <a:rPr lang="zh-CN" sz="675" dirty="0">
                    <a:solidFill>
                      <a:srgbClr val="8A9099"/>
                    </a:solidFill>
                    <a:latin typeface="Arial"/>
                    <a:ea typeface="SimHei"/>
                    <a:cs typeface="Arial"/>
                  </a:rPr>
                  <a:t>0</a:t>
                </a:r>
              </a:p>
            </p:txBody>
          </p:sp>
          <p:sp>
            <p:nvSpPr>
              <p:cNvPr id="109" name="TextBox 109"/>
              <p:cNvSpPr txBox="1"/>
              <p:nvPr/>
            </p:nvSpPr>
            <p:spPr>
              <a:xfrm>
                <a:off x="5784092" y="2384584"/>
                <a:ext cx="71366" cy="137160"/>
              </a:xfrm>
              <a:prstGeom prst="rect">
                <a:avLst/>
              </a:prstGeom>
              <a:noFill/>
              <a:ln>
                <a:noFill/>
              </a:ln>
            </p:spPr>
            <p:txBody>
              <a:bodyPr wrap="none" lIns="0" tIns="0" rIns="0" bIns="0" anchor="t" anchorCtr="0">
                <a:spAutoFit/>
              </a:bodyPr>
              <a:lstStyle/>
              <a:p>
                <a:pPr algn="ctr"/>
                <a:r>
                  <a:rPr lang="zh-CN" sz="675" dirty="0">
                    <a:solidFill>
                      <a:srgbClr val="8A9099"/>
                    </a:solidFill>
                    <a:latin typeface="Arial"/>
                    <a:ea typeface="SimHei"/>
                    <a:cs typeface="Arial"/>
                  </a:rPr>
                  <a:t>0</a:t>
                </a:r>
              </a:p>
            </p:txBody>
          </p:sp>
          <p:sp>
            <p:nvSpPr>
              <p:cNvPr id="110" name="TextBox 110"/>
              <p:cNvSpPr txBox="1"/>
              <p:nvPr/>
            </p:nvSpPr>
            <p:spPr>
              <a:xfrm>
                <a:off x="6012692" y="2384584"/>
                <a:ext cx="71366" cy="137160"/>
              </a:xfrm>
              <a:prstGeom prst="rect">
                <a:avLst/>
              </a:prstGeom>
              <a:noFill/>
              <a:ln>
                <a:noFill/>
              </a:ln>
            </p:spPr>
            <p:txBody>
              <a:bodyPr wrap="none" lIns="0" tIns="0" rIns="0" bIns="0" anchor="t" anchorCtr="0">
                <a:spAutoFit/>
              </a:bodyPr>
              <a:lstStyle/>
              <a:p>
                <a:pPr algn="ctr"/>
                <a:r>
                  <a:rPr lang="zh-CN" sz="675" dirty="0">
                    <a:solidFill>
                      <a:srgbClr val="8A9099"/>
                    </a:solidFill>
                    <a:latin typeface="Arial"/>
                    <a:ea typeface="SimHei"/>
                    <a:cs typeface="Arial"/>
                  </a:rPr>
                  <a:t>0</a:t>
                </a:r>
              </a:p>
            </p:txBody>
          </p:sp>
          <p:sp>
            <p:nvSpPr>
              <p:cNvPr id="111" name="TextBox 111"/>
              <p:cNvSpPr txBox="1"/>
              <p:nvPr/>
            </p:nvSpPr>
            <p:spPr>
              <a:xfrm>
                <a:off x="6279392" y="2384584"/>
                <a:ext cx="71366" cy="137160"/>
              </a:xfrm>
              <a:prstGeom prst="rect">
                <a:avLst/>
              </a:prstGeom>
              <a:noFill/>
              <a:ln>
                <a:noFill/>
              </a:ln>
            </p:spPr>
            <p:txBody>
              <a:bodyPr wrap="none" lIns="0" tIns="0" rIns="0" bIns="0" anchor="t" anchorCtr="0">
                <a:spAutoFit/>
              </a:bodyPr>
              <a:lstStyle/>
              <a:p>
                <a:pPr algn="ctr"/>
                <a:r>
                  <a:rPr lang="zh-CN" sz="675" dirty="0">
                    <a:solidFill>
                      <a:srgbClr val="8A9099"/>
                    </a:solidFill>
                    <a:latin typeface="Arial"/>
                    <a:ea typeface="SimHei"/>
                    <a:cs typeface="Arial"/>
                  </a:rPr>
                  <a:t>0</a:t>
                </a:r>
              </a:p>
            </p:txBody>
          </p:sp>
        </p:grpSp>
        <p:sp>
          <p:nvSpPr>
            <p:cNvPr id="113" name="Rectangle 113"/>
            <p:cNvSpPr/>
            <p:nvPr/>
          </p:nvSpPr>
          <p:spPr>
            <a:xfrm>
              <a:off x="3371850" y="3543300"/>
              <a:ext cx="3200400" cy="742950"/>
            </a:xfrm>
            <a:prstGeom prst="roundRect">
              <a:avLst>
                <a:gd name="adj" fmla="val 10256"/>
              </a:avLst>
            </a:prstGeom>
            <a:solidFill>
              <a:srgbClr val="F8F9FA"/>
            </a:solidFill>
            <a:ln>
              <a:noFill/>
            </a:ln>
          </p:spPr>
        </p:sp>
        <p:sp>
          <p:nvSpPr>
            <p:cNvPr id="114" name="TextBox 114"/>
            <p:cNvSpPr txBox="1"/>
            <p:nvPr/>
          </p:nvSpPr>
          <p:spPr>
            <a:xfrm>
              <a:off x="3529965" y="3677602"/>
              <a:ext cx="670750" cy="213360"/>
            </a:xfrm>
            <a:prstGeom prst="rect">
              <a:avLst/>
            </a:prstGeom>
            <a:noFill/>
            <a:ln>
              <a:noFill/>
            </a:ln>
          </p:spPr>
          <p:txBody>
            <a:bodyPr wrap="none" lIns="0" tIns="0" rIns="0" bIns="0" anchor="t" anchorCtr="0">
              <a:spAutoFit/>
            </a:bodyPr>
            <a:lstStyle/>
            <a:p>
              <a:pPr algn="l"/>
              <a:r>
                <a:rPr lang="zh-CN" sz="1050" b="1" dirty="0">
                  <a:solidFill>
                    <a:srgbClr val="1F2328"/>
                  </a:solidFill>
                  <a:latin typeface="Arial"/>
                  <a:ea typeface="SimHei"/>
                  <a:cs typeface="Arial"/>
                </a:rPr>
                <a:t>关键含义</a:t>
              </a:r>
            </a:p>
          </p:txBody>
        </p:sp>
        <p:sp>
          <p:nvSpPr>
            <p:cNvPr id="115" name="TextBox 115"/>
            <p:cNvSpPr txBox="1"/>
            <p:nvPr/>
          </p:nvSpPr>
          <p:spPr>
            <a:xfrm>
              <a:off x="3530918" y="3923824"/>
              <a:ext cx="2082427"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One-Hot 能表示“这个词是谁”，</a:t>
              </a:r>
            </a:p>
          </p:txBody>
        </p:sp>
        <p:sp>
          <p:nvSpPr>
            <p:cNvPr id="116" name="TextBox 116"/>
            <p:cNvSpPr txBox="1"/>
            <p:nvPr/>
          </p:nvSpPr>
          <p:spPr>
            <a:xfrm>
              <a:off x="3530918" y="4114324"/>
              <a:ext cx="2445544"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但不能表达语义相似性；矩阵极稀疏。</a:t>
              </a:r>
            </a:p>
          </p:txBody>
        </p:sp>
        <p:sp>
          <p:nvSpPr>
            <p:cNvPr id="117" name="Rectangle 117"/>
            <p:cNvSpPr/>
            <p:nvPr/>
          </p:nvSpPr>
          <p:spPr>
            <a:xfrm>
              <a:off x="3371850" y="4514850"/>
              <a:ext cx="3200400" cy="781050"/>
            </a:xfrm>
            <a:prstGeom prst="roundRect">
              <a:avLst>
                <a:gd name="adj" fmla="val 9756"/>
              </a:avLst>
            </a:prstGeom>
            <a:solidFill>
              <a:srgbClr val="F3D6DC"/>
            </a:solidFill>
            <a:ln w="11430">
              <a:solidFill>
                <a:srgbClr val="A50021"/>
              </a:solidFill>
            </a:ln>
          </p:spPr>
        </p:sp>
        <p:sp>
          <p:nvSpPr>
            <p:cNvPr id="118" name="TextBox 118"/>
            <p:cNvSpPr txBox="1"/>
            <p:nvPr/>
          </p:nvSpPr>
          <p:spPr>
            <a:xfrm>
              <a:off x="3992630" y="4638675"/>
              <a:ext cx="1958840" cy="304800"/>
            </a:xfrm>
            <a:prstGeom prst="rect">
              <a:avLst/>
            </a:prstGeom>
            <a:noFill/>
            <a:ln>
              <a:noFill/>
            </a:ln>
          </p:spPr>
          <p:txBody>
            <a:bodyPr wrap="none" lIns="0" tIns="0" rIns="0" bIns="0" anchor="t" anchorCtr="0">
              <a:spAutoFit/>
            </a:bodyPr>
            <a:lstStyle/>
            <a:p>
              <a:pPr algn="ctr"/>
              <a:r>
                <a:rPr lang="zh-CN" sz="1500" b="1" dirty="0">
                  <a:solidFill>
                    <a:srgbClr val="A50021"/>
                  </a:solidFill>
                  <a:latin typeface="Arial"/>
                  <a:ea typeface="SimHei"/>
                  <a:cs typeface="Arial"/>
                </a:rPr>
                <a:t>X(5x10) x E(10x3)</a:t>
              </a:r>
            </a:p>
          </p:txBody>
        </p:sp>
        <p:sp>
          <p:nvSpPr>
            <p:cNvPr id="119" name="TextBox 119"/>
            <p:cNvSpPr txBox="1"/>
            <p:nvPr/>
          </p:nvSpPr>
          <p:spPr>
            <a:xfrm>
              <a:off x="4176474" y="4952524"/>
              <a:ext cx="1591151" cy="198120"/>
            </a:xfrm>
            <a:prstGeom prst="rect">
              <a:avLst/>
            </a:prstGeom>
            <a:noFill/>
            <a:ln>
              <a:noFill/>
            </a:ln>
          </p:spPr>
          <p:txBody>
            <a:bodyPr wrap="none" lIns="0" tIns="0" rIns="0" bIns="0" anchor="t" anchorCtr="0">
              <a:spAutoFit/>
            </a:bodyPr>
            <a:lstStyle/>
            <a:p>
              <a:pPr algn="ctr"/>
              <a:r>
                <a:rPr lang="zh-CN" sz="975" dirty="0">
                  <a:solidFill>
                    <a:srgbClr val="1F2328"/>
                  </a:solidFill>
                  <a:latin typeface="Arial"/>
                  <a:ea typeface="SimHei"/>
                  <a:cs typeface="Arial"/>
                </a:rPr>
                <a:t>稀疏矩阵与参数矩阵相乘</a:t>
              </a:r>
            </a:p>
          </p:txBody>
        </p:sp>
      </p:grpSp>
      <p:grpSp>
        <p:nvGrpSpPr>
          <p:cNvPr id="222" name="Group 222"/>
          <p:cNvGrpSpPr/>
          <p:nvPr/>
        </p:nvGrpSpPr>
        <p:grpSpPr>
          <a:xfrm>
            <a:off x="7219950" y="1333500"/>
            <a:ext cx="4248150" cy="4229100"/>
            <a:chOff x="7219950" y="1333500"/>
            <a:chExt cx="4248150" cy="4229100"/>
          </a:xfrm>
        </p:grpSpPr>
        <p:sp>
          <p:nvSpPr>
            <p:cNvPr id="121" name="Rectangle 121"/>
            <p:cNvSpPr/>
            <p:nvPr/>
          </p:nvSpPr>
          <p:spPr>
            <a:xfrm>
              <a:off x="7219950" y="1333500"/>
              <a:ext cx="4248150" cy="1866900"/>
            </a:xfrm>
            <a:prstGeom prst="roundRect">
              <a:avLst>
                <a:gd name="adj" fmla="val 5102"/>
              </a:avLst>
            </a:prstGeom>
            <a:solidFill>
              <a:srgbClr val="FFFFFF"/>
            </a:solidFill>
            <a:ln w="13335">
              <a:solidFill>
                <a:srgbClr val="E4E7EB"/>
              </a:solidFill>
            </a:ln>
          </p:spPr>
        </p:sp>
        <p:grpSp>
          <p:nvGrpSpPr>
            <p:cNvPr id="131" name="Group 131"/>
            <p:cNvGrpSpPr/>
            <p:nvPr/>
          </p:nvGrpSpPr>
          <p:grpSpPr>
            <a:xfrm>
              <a:off x="7466012" y="1519238"/>
              <a:ext cx="155575" cy="200025"/>
              <a:chOff x="7466012" y="1519238"/>
              <a:chExt cx="155575" cy="200025"/>
            </a:xfrm>
          </p:grpSpPr>
          <p:sp>
            <p:nvSpPr>
              <p:cNvPr id="122" name="Freeform 122"/>
              <p:cNvSpPr/>
              <p:nvPr/>
            </p:nvSpPr>
            <p:spPr>
              <a:xfrm>
                <a:off x="7521575" y="1619250"/>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19050">
                <a:solidFill>
                  <a:srgbClr val="A50021"/>
                </a:solidFill>
              </a:ln>
            </p:spPr>
          </p:sp>
          <p:sp>
            <p:nvSpPr>
              <p:cNvPr id="123" name="Freeform 123"/>
              <p:cNvSpPr/>
              <p:nvPr/>
            </p:nvSpPr>
            <p:spPr>
              <a:xfrm>
                <a:off x="7543800" y="1602581"/>
                <a:ext cx="9525" cy="16669"/>
              </a:xfrm>
              <a:custGeom>
                <a:avLst/>
                <a:gdLst/>
                <a:ahLst/>
                <a:cxnLst/>
                <a:rect l="l" t="t" r="r" b="b"/>
                <a:pathLst>
                  <a:path w="9525" h="16669">
                    <a:moveTo>
                      <a:pt x="0" y="0"/>
                    </a:moveTo>
                    <a:lnTo>
                      <a:pt x="0" y="16669"/>
                    </a:lnTo>
                  </a:path>
                </a:pathLst>
              </a:custGeom>
              <a:noFill/>
              <a:ln w="19050">
                <a:solidFill>
                  <a:srgbClr val="A50021"/>
                </a:solidFill>
              </a:ln>
            </p:spPr>
          </p:sp>
          <p:sp>
            <p:nvSpPr>
              <p:cNvPr id="124" name="Freeform 124"/>
              <p:cNvSpPr/>
              <p:nvPr/>
            </p:nvSpPr>
            <p:spPr>
              <a:xfrm>
                <a:off x="7543800" y="1663700"/>
                <a:ext cx="9525" cy="16669"/>
              </a:xfrm>
              <a:custGeom>
                <a:avLst/>
                <a:gdLst/>
                <a:ahLst/>
                <a:cxnLst/>
                <a:rect l="l" t="t" r="r" b="b"/>
                <a:pathLst>
                  <a:path w="9525" h="16669">
                    <a:moveTo>
                      <a:pt x="0" y="0"/>
                    </a:moveTo>
                    <a:lnTo>
                      <a:pt x="0" y="16669"/>
                    </a:lnTo>
                  </a:path>
                </a:pathLst>
              </a:custGeom>
              <a:noFill/>
              <a:ln w="19050">
                <a:solidFill>
                  <a:srgbClr val="A50021"/>
                </a:solidFill>
              </a:ln>
            </p:spPr>
          </p:sp>
          <p:sp>
            <p:nvSpPr>
              <p:cNvPr id="125" name="Freeform 125"/>
              <p:cNvSpPr/>
              <p:nvPr/>
            </p:nvSpPr>
            <p:spPr>
              <a:xfrm>
                <a:off x="7563047" y="1622028"/>
                <a:ext cx="14435" cy="9525"/>
              </a:xfrm>
              <a:custGeom>
                <a:avLst/>
                <a:gdLst/>
                <a:ahLst/>
                <a:cxnLst/>
                <a:rect l="l" t="t" r="r" b="b"/>
                <a:pathLst>
                  <a:path w="14435" h="9525">
                    <a:moveTo>
                      <a:pt x="14435" y="0"/>
                    </a:moveTo>
                    <a:lnTo>
                      <a:pt x="0" y="8334"/>
                    </a:lnTo>
                  </a:path>
                </a:pathLst>
              </a:custGeom>
              <a:noFill/>
              <a:ln w="19050">
                <a:solidFill>
                  <a:srgbClr val="A50021"/>
                </a:solidFill>
              </a:ln>
            </p:spPr>
          </p:sp>
          <p:sp>
            <p:nvSpPr>
              <p:cNvPr id="126" name="Freeform 126"/>
              <p:cNvSpPr/>
              <p:nvPr/>
            </p:nvSpPr>
            <p:spPr>
              <a:xfrm>
                <a:off x="7510107" y="1652588"/>
                <a:ext cx="14446" cy="9525"/>
              </a:xfrm>
              <a:custGeom>
                <a:avLst/>
                <a:gdLst/>
                <a:ahLst/>
                <a:cxnLst/>
                <a:rect l="l" t="t" r="r" b="b"/>
                <a:pathLst>
                  <a:path w="14446" h="9525">
                    <a:moveTo>
                      <a:pt x="14446" y="0"/>
                    </a:moveTo>
                    <a:lnTo>
                      <a:pt x="0" y="8334"/>
                    </a:lnTo>
                  </a:path>
                </a:pathLst>
              </a:custGeom>
              <a:noFill/>
              <a:ln w="19050">
                <a:solidFill>
                  <a:srgbClr val="A50021"/>
                </a:solidFill>
              </a:ln>
            </p:spPr>
          </p:sp>
          <p:sp>
            <p:nvSpPr>
              <p:cNvPr id="127" name="Freeform 127"/>
              <p:cNvSpPr/>
              <p:nvPr/>
            </p:nvSpPr>
            <p:spPr>
              <a:xfrm>
                <a:off x="7562858" y="1652921"/>
                <a:ext cx="14280" cy="9525"/>
              </a:xfrm>
              <a:custGeom>
                <a:avLst/>
                <a:gdLst/>
                <a:ahLst/>
                <a:cxnLst/>
                <a:rect l="l" t="t" r="r" b="b"/>
                <a:pathLst>
                  <a:path w="14280" h="9525">
                    <a:moveTo>
                      <a:pt x="14280" y="8590"/>
                    </a:moveTo>
                    <a:lnTo>
                      <a:pt x="0" y="0"/>
                    </a:lnTo>
                  </a:path>
                </a:pathLst>
              </a:custGeom>
              <a:noFill/>
              <a:ln w="19050">
                <a:solidFill>
                  <a:srgbClr val="A50021"/>
                </a:solidFill>
              </a:ln>
            </p:spPr>
          </p:sp>
          <p:sp>
            <p:nvSpPr>
              <p:cNvPr id="128" name="Freeform 128"/>
              <p:cNvSpPr/>
              <p:nvPr/>
            </p:nvSpPr>
            <p:spPr>
              <a:xfrm>
                <a:off x="7510462" y="1621439"/>
                <a:ext cx="14280" cy="9525"/>
              </a:xfrm>
              <a:custGeom>
                <a:avLst/>
                <a:gdLst/>
                <a:ahLst/>
                <a:cxnLst/>
                <a:rect l="l" t="t" r="r" b="b"/>
                <a:pathLst>
                  <a:path w="14280" h="9525">
                    <a:moveTo>
                      <a:pt x="14280" y="8590"/>
                    </a:moveTo>
                    <a:lnTo>
                      <a:pt x="0" y="0"/>
                    </a:lnTo>
                  </a:path>
                </a:pathLst>
              </a:custGeom>
              <a:noFill/>
              <a:ln w="19050">
                <a:solidFill>
                  <a:srgbClr val="A50021"/>
                </a:solidFill>
              </a:ln>
            </p:spPr>
          </p:sp>
          <p:sp>
            <p:nvSpPr>
              <p:cNvPr id="129" name="Freeform 129"/>
              <p:cNvSpPr/>
              <p:nvPr/>
            </p:nvSpPr>
            <p:spPr>
              <a:xfrm>
                <a:off x="7566025" y="1519238"/>
                <a:ext cx="55562" cy="55563"/>
              </a:xfrm>
              <a:custGeom>
                <a:avLst/>
                <a:gdLst/>
                <a:ahLst/>
                <a:cxnLst/>
                <a:rect l="l" t="t" r="r" b="b"/>
                <a:pathLst>
                  <a:path w="55562" h="55563">
                    <a:moveTo>
                      <a:pt x="0" y="0"/>
                    </a:moveTo>
                    <a:lnTo>
                      <a:pt x="0" y="44450"/>
                    </a:lnTo>
                    <a:cubicBezTo>
                      <a:pt x="0" y="50587"/>
                      <a:pt x="4975" y="55563"/>
                      <a:pt x="11112" y="55563"/>
                    </a:cubicBezTo>
                    <a:lnTo>
                      <a:pt x="55562" y="55563"/>
                    </a:lnTo>
                  </a:path>
                </a:pathLst>
              </a:custGeom>
              <a:noFill/>
              <a:ln w="19050">
                <a:solidFill>
                  <a:srgbClr val="A50021"/>
                </a:solidFill>
              </a:ln>
            </p:spPr>
          </p:sp>
          <p:sp>
            <p:nvSpPr>
              <p:cNvPr id="130" name="Freeform 130"/>
              <p:cNvSpPr/>
              <p:nvPr/>
            </p:nvSpPr>
            <p:spPr>
              <a:xfrm>
                <a:off x="7466012" y="1519238"/>
                <a:ext cx="155575" cy="200025"/>
              </a:xfrm>
              <a:custGeom>
                <a:avLst/>
                <a:gdLst/>
                <a:ahLst/>
                <a:cxnLst/>
                <a:rect l="l" t="t" r="r" b="b"/>
                <a:pathLst>
                  <a:path w="155575" h="200025">
                    <a:moveTo>
                      <a:pt x="133350" y="200025"/>
                    </a:moveTo>
                    <a:lnTo>
                      <a:pt x="22225" y="200025"/>
                    </a:lnTo>
                    <a:cubicBezTo>
                      <a:pt x="9950" y="200025"/>
                      <a:pt x="0" y="190075"/>
                      <a:pt x="0" y="177800"/>
                    </a:cubicBezTo>
                    <a:lnTo>
                      <a:pt x="0" y="22225"/>
                    </a:lnTo>
                    <a:cubicBezTo>
                      <a:pt x="0" y="9950"/>
                      <a:pt x="9950" y="0"/>
                      <a:pt x="22225" y="0"/>
                    </a:cubicBezTo>
                    <a:lnTo>
                      <a:pt x="100012" y="0"/>
                    </a:lnTo>
                    <a:lnTo>
                      <a:pt x="155575" y="55563"/>
                    </a:lnTo>
                    <a:lnTo>
                      <a:pt x="155575" y="177800"/>
                    </a:lnTo>
                    <a:cubicBezTo>
                      <a:pt x="155575" y="190075"/>
                      <a:pt x="145625" y="200025"/>
                      <a:pt x="133350" y="200025"/>
                    </a:cubicBezTo>
                  </a:path>
                </a:pathLst>
              </a:custGeom>
              <a:noFill/>
              <a:ln w="19050">
                <a:solidFill>
                  <a:srgbClr val="A50021"/>
                </a:solidFill>
              </a:ln>
            </p:spPr>
          </p:sp>
        </p:grpSp>
        <p:sp>
          <p:nvSpPr>
            <p:cNvPr id="132" name="TextBox 132"/>
            <p:cNvSpPr txBox="1"/>
            <p:nvPr/>
          </p:nvSpPr>
          <p:spPr>
            <a:xfrm>
              <a:off x="7755255" y="1511618"/>
              <a:ext cx="2932652" cy="274320"/>
            </a:xfrm>
            <a:prstGeom prst="rect">
              <a:avLst/>
            </a:prstGeom>
            <a:noFill/>
            <a:ln>
              <a:noFill/>
            </a:ln>
          </p:spPr>
          <p:txBody>
            <a:bodyPr wrap="none" lIns="0" tIns="0" rIns="0" bIns="0" anchor="t" anchorCtr="0">
              <a:spAutoFit/>
            </a:bodyPr>
            <a:lstStyle/>
            <a:p>
              <a:pPr algn="l"/>
              <a:r>
                <a:rPr lang="zh-CN" sz="1350" b="1" dirty="0">
                  <a:solidFill>
                    <a:srgbClr val="1F2328"/>
                  </a:solidFill>
                  <a:latin typeface="Arial"/>
                  <a:ea typeface="SimHei"/>
                  <a:cs typeface="Arial"/>
                </a:rPr>
                <a:t>④ Embedding 参数矩阵（10x3）</a:t>
              </a:r>
            </a:p>
          </p:txBody>
        </p:sp>
        <p:sp>
          <p:nvSpPr>
            <p:cNvPr id="133" name="TextBox 133"/>
            <p:cNvSpPr txBox="1"/>
            <p:nvPr/>
          </p:nvSpPr>
          <p:spPr>
            <a:xfrm>
              <a:off x="7398068" y="1799749"/>
              <a:ext cx="2609302"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每一行是词表中一个词的可训练 3 维向量</a:t>
              </a:r>
            </a:p>
          </p:txBody>
        </p:sp>
        <p:grpSp>
          <p:nvGrpSpPr>
            <p:cNvPr id="180" name="Group 180"/>
            <p:cNvGrpSpPr/>
            <p:nvPr/>
          </p:nvGrpSpPr>
          <p:grpSpPr>
            <a:xfrm>
              <a:off x="7410450" y="2038350"/>
              <a:ext cx="3550784" cy="1047750"/>
              <a:chOff x="7410450" y="2038350"/>
              <a:chExt cx="3550784" cy="1047750"/>
            </a:xfrm>
          </p:grpSpPr>
          <p:sp>
            <p:nvSpPr>
              <p:cNvPr id="134" name="Rectangle 134"/>
              <p:cNvSpPr/>
              <p:nvPr/>
            </p:nvSpPr>
            <p:spPr>
              <a:xfrm>
                <a:off x="7410450" y="2038350"/>
                <a:ext cx="1809750" cy="1047750"/>
              </a:xfrm>
              <a:prstGeom prst="rect">
                <a:avLst/>
              </a:prstGeom>
              <a:solidFill>
                <a:srgbClr val="FFFFFF"/>
              </a:solidFill>
              <a:ln w="9525">
                <a:solidFill>
                  <a:srgbClr val="E8EAED"/>
                </a:solidFill>
              </a:ln>
            </p:spPr>
          </p:sp>
          <p:sp>
            <p:nvSpPr>
              <p:cNvPr id="135" name="Rectangle 135"/>
              <p:cNvSpPr/>
              <p:nvPr/>
            </p:nvSpPr>
            <p:spPr>
              <a:xfrm>
                <a:off x="7410450" y="2038350"/>
                <a:ext cx="1809750" cy="133350"/>
              </a:xfrm>
              <a:prstGeom prst="rect">
                <a:avLst/>
              </a:prstGeom>
              <a:solidFill>
                <a:srgbClr val="F8F9FA"/>
              </a:solidFill>
              <a:ln>
                <a:noFill/>
              </a:ln>
            </p:spPr>
          </p:sp>
          <p:sp>
            <p:nvSpPr>
              <p:cNvPr id="136" name="TextBox 136"/>
              <p:cNvSpPr txBox="1"/>
              <p:nvPr/>
            </p:nvSpPr>
            <p:spPr>
              <a:xfrm>
                <a:off x="7611428" y="2070259"/>
                <a:ext cx="214312" cy="137160"/>
              </a:xfrm>
              <a:prstGeom prst="rect">
                <a:avLst/>
              </a:prstGeom>
              <a:noFill/>
              <a:ln>
                <a:noFill/>
              </a:ln>
            </p:spPr>
            <p:txBody>
              <a:bodyPr wrap="none" lIns="0" tIns="0" rIns="0" bIns="0" anchor="t" anchorCtr="0">
                <a:spAutoFit/>
              </a:bodyPr>
              <a:lstStyle/>
              <a:p>
                <a:pPr algn="l"/>
                <a:r>
                  <a:rPr lang="zh-CN" sz="675" dirty="0">
                    <a:solidFill>
                      <a:srgbClr val="5F6368"/>
                    </a:solidFill>
                    <a:latin typeface="Arial"/>
                    <a:ea typeface="SimHei"/>
                    <a:cs typeface="Arial"/>
                  </a:rPr>
                  <a:t>词表</a:t>
                </a:r>
              </a:p>
            </p:txBody>
          </p:sp>
          <p:sp>
            <p:nvSpPr>
              <p:cNvPr id="137" name="TextBox 137"/>
              <p:cNvSpPr txBox="1"/>
              <p:nvPr/>
            </p:nvSpPr>
            <p:spPr>
              <a:xfrm>
                <a:off x="7974973" y="2070259"/>
                <a:ext cx="204454"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Dim1</a:t>
                </a:r>
              </a:p>
            </p:txBody>
          </p:sp>
          <p:sp>
            <p:nvSpPr>
              <p:cNvPr id="138" name="TextBox 138"/>
              <p:cNvSpPr txBox="1"/>
              <p:nvPr/>
            </p:nvSpPr>
            <p:spPr>
              <a:xfrm>
                <a:off x="8438900" y="2070259"/>
                <a:ext cx="229100"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Dim2</a:t>
                </a:r>
              </a:p>
            </p:txBody>
          </p:sp>
          <p:sp>
            <p:nvSpPr>
              <p:cNvPr id="139" name="TextBox 139"/>
              <p:cNvSpPr txBox="1"/>
              <p:nvPr/>
            </p:nvSpPr>
            <p:spPr>
              <a:xfrm>
                <a:off x="8896100" y="2070259"/>
                <a:ext cx="229100"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Dim3</a:t>
                </a:r>
              </a:p>
            </p:txBody>
          </p:sp>
          <p:sp>
            <p:nvSpPr>
              <p:cNvPr id="140" name="TextBox 140"/>
              <p:cNvSpPr txBox="1"/>
              <p:nvPr/>
            </p:nvSpPr>
            <p:spPr>
              <a:xfrm>
                <a:off x="7611428" y="2194084"/>
                <a:ext cx="100941" cy="137160"/>
              </a:xfrm>
              <a:prstGeom prst="rect">
                <a:avLst/>
              </a:prstGeom>
              <a:noFill/>
              <a:ln>
                <a:noFill/>
              </a:ln>
            </p:spPr>
            <p:txBody>
              <a:bodyPr wrap="none" lIns="0" tIns="0" rIns="0" bIns="0" anchor="t" anchorCtr="0">
                <a:spAutoFit/>
              </a:bodyPr>
              <a:lstStyle/>
              <a:p>
                <a:pPr algn="l"/>
                <a:r>
                  <a:rPr lang="zh-CN" sz="675" dirty="0">
                    <a:solidFill>
                      <a:srgbClr val="5F6368"/>
                    </a:solidFill>
                    <a:latin typeface="Arial"/>
                    <a:ea typeface="SimHei"/>
                    <a:cs typeface="Arial"/>
                  </a:rPr>
                  <a:t>V1</a:t>
                </a:r>
              </a:p>
            </p:txBody>
          </p:sp>
          <p:sp>
            <p:nvSpPr>
              <p:cNvPr id="141" name="TextBox 141"/>
              <p:cNvSpPr txBox="1"/>
              <p:nvPr/>
            </p:nvSpPr>
            <p:spPr>
              <a:xfrm>
                <a:off x="7972508" y="2194084"/>
                <a:ext cx="209383"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0.12</a:t>
                </a:r>
              </a:p>
            </p:txBody>
          </p:sp>
          <p:sp>
            <p:nvSpPr>
              <p:cNvPr id="142" name="TextBox 142"/>
              <p:cNvSpPr txBox="1"/>
              <p:nvPr/>
            </p:nvSpPr>
            <p:spPr>
              <a:xfrm>
                <a:off x="8409325" y="2194084"/>
                <a:ext cx="288250"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-0.35</a:t>
                </a:r>
              </a:p>
            </p:txBody>
          </p:sp>
          <p:sp>
            <p:nvSpPr>
              <p:cNvPr id="143" name="TextBox 143"/>
              <p:cNvSpPr txBox="1"/>
              <p:nvPr/>
            </p:nvSpPr>
            <p:spPr>
              <a:xfrm>
                <a:off x="8893635" y="2194084"/>
                <a:ext cx="234029"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0.48</a:t>
                </a:r>
              </a:p>
            </p:txBody>
          </p:sp>
          <p:sp>
            <p:nvSpPr>
              <p:cNvPr id="144" name="TextBox 144"/>
              <p:cNvSpPr txBox="1"/>
              <p:nvPr/>
            </p:nvSpPr>
            <p:spPr>
              <a:xfrm>
                <a:off x="7611428" y="2308384"/>
                <a:ext cx="131009" cy="137160"/>
              </a:xfrm>
              <a:prstGeom prst="rect">
                <a:avLst/>
              </a:prstGeom>
              <a:noFill/>
              <a:ln>
                <a:noFill/>
              </a:ln>
            </p:spPr>
            <p:txBody>
              <a:bodyPr wrap="none" lIns="0" tIns="0" rIns="0" bIns="0" anchor="t" anchorCtr="0">
                <a:spAutoFit/>
              </a:bodyPr>
              <a:lstStyle/>
              <a:p>
                <a:pPr algn="l"/>
                <a:r>
                  <a:rPr lang="zh-CN" sz="675" b="1" dirty="0">
                    <a:solidFill>
                      <a:srgbClr val="A50021"/>
                    </a:solidFill>
                    <a:latin typeface="Arial"/>
                    <a:ea typeface="SimHei"/>
                    <a:cs typeface="Arial"/>
                  </a:rPr>
                  <a:t>V2</a:t>
                </a:r>
              </a:p>
            </p:txBody>
          </p:sp>
          <p:sp>
            <p:nvSpPr>
              <p:cNvPr id="145" name="TextBox 145"/>
              <p:cNvSpPr txBox="1"/>
              <p:nvPr/>
            </p:nvSpPr>
            <p:spPr>
              <a:xfrm>
                <a:off x="7954763" y="2308384"/>
                <a:ext cx="244873" cy="137160"/>
              </a:xfrm>
              <a:prstGeom prst="rect">
                <a:avLst/>
              </a:prstGeom>
              <a:noFill/>
              <a:ln>
                <a:noFill/>
              </a:ln>
            </p:spPr>
            <p:txBody>
              <a:bodyPr wrap="none" lIns="0" tIns="0" rIns="0" bIns="0" anchor="t" anchorCtr="0">
                <a:spAutoFit/>
              </a:bodyPr>
              <a:lstStyle/>
              <a:p>
                <a:pPr algn="ctr"/>
                <a:r>
                  <a:rPr lang="zh-CN" sz="675" b="1" dirty="0">
                    <a:solidFill>
                      <a:srgbClr val="A50021"/>
                    </a:solidFill>
                    <a:latin typeface="Arial"/>
                    <a:ea typeface="SimHei"/>
                    <a:cs typeface="Arial"/>
                  </a:rPr>
                  <a:t>0.67</a:t>
                </a:r>
              </a:p>
            </p:txBody>
          </p:sp>
          <p:sp>
            <p:nvSpPr>
              <p:cNvPr id="146" name="TextBox 146"/>
              <p:cNvSpPr txBox="1"/>
              <p:nvPr/>
            </p:nvSpPr>
            <p:spPr>
              <a:xfrm>
                <a:off x="8456892" y="2308384"/>
                <a:ext cx="193117" cy="137160"/>
              </a:xfrm>
              <a:prstGeom prst="rect">
                <a:avLst/>
              </a:prstGeom>
              <a:noFill/>
              <a:ln>
                <a:noFill/>
              </a:ln>
            </p:spPr>
            <p:txBody>
              <a:bodyPr wrap="none" lIns="0" tIns="0" rIns="0" bIns="0" anchor="t" anchorCtr="0">
                <a:spAutoFit/>
              </a:bodyPr>
              <a:lstStyle/>
              <a:p>
                <a:pPr algn="ctr"/>
                <a:r>
                  <a:rPr lang="zh-CN" sz="675" b="1" dirty="0">
                    <a:solidFill>
                      <a:srgbClr val="A50021"/>
                    </a:solidFill>
                    <a:latin typeface="Arial"/>
                    <a:ea typeface="SimHei"/>
                    <a:cs typeface="Arial"/>
                  </a:rPr>
                  <a:t>0.11</a:t>
                </a:r>
              </a:p>
            </p:txBody>
          </p:sp>
          <p:sp>
            <p:nvSpPr>
              <p:cNvPr id="147" name="TextBox 147"/>
              <p:cNvSpPr txBox="1"/>
              <p:nvPr/>
            </p:nvSpPr>
            <p:spPr>
              <a:xfrm>
                <a:off x="8859747" y="2308384"/>
                <a:ext cx="301806" cy="137160"/>
              </a:xfrm>
              <a:prstGeom prst="rect">
                <a:avLst/>
              </a:prstGeom>
              <a:noFill/>
              <a:ln>
                <a:noFill/>
              </a:ln>
            </p:spPr>
            <p:txBody>
              <a:bodyPr wrap="none" lIns="0" tIns="0" rIns="0" bIns="0" anchor="t" anchorCtr="0">
                <a:spAutoFit/>
              </a:bodyPr>
              <a:lstStyle/>
              <a:p>
                <a:pPr algn="ctr"/>
                <a:r>
                  <a:rPr lang="zh-CN" sz="675" b="1" dirty="0">
                    <a:solidFill>
                      <a:srgbClr val="A50021"/>
                    </a:solidFill>
                    <a:latin typeface="Arial"/>
                    <a:ea typeface="SimHei"/>
                    <a:cs typeface="Arial"/>
                  </a:rPr>
                  <a:t>-0.42</a:t>
                </a:r>
              </a:p>
            </p:txBody>
          </p:sp>
          <p:sp>
            <p:nvSpPr>
              <p:cNvPr id="148" name="TextBox 148"/>
              <p:cNvSpPr txBox="1"/>
              <p:nvPr/>
            </p:nvSpPr>
            <p:spPr>
              <a:xfrm>
                <a:off x="7611428" y="2422684"/>
                <a:ext cx="131009" cy="137160"/>
              </a:xfrm>
              <a:prstGeom prst="rect">
                <a:avLst/>
              </a:prstGeom>
              <a:noFill/>
              <a:ln>
                <a:noFill/>
              </a:ln>
            </p:spPr>
            <p:txBody>
              <a:bodyPr wrap="none" lIns="0" tIns="0" rIns="0" bIns="0" anchor="t" anchorCtr="0">
                <a:spAutoFit/>
              </a:bodyPr>
              <a:lstStyle/>
              <a:p>
                <a:pPr algn="l"/>
                <a:r>
                  <a:rPr lang="zh-CN" sz="675" b="1" dirty="0">
                    <a:solidFill>
                      <a:srgbClr val="A50021"/>
                    </a:solidFill>
                    <a:latin typeface="Arial"/>
                    <a:ea typeface="SimHei"/>
                    <a:cs typeface="Arial"/>
                  </a:rPr>
                  <a:t>V3</a:t>
                </a:r>
              </a:p>
            </p:txBody>
          </p:sp>
          <p:sp>
            <p:nvSpPr>
              <p:cNvPr id="149" name="TextBox 149"/>
              <p:cNvSpPr txBox="1"/>
              <p:nvPr/>
            </p:nvSpPr>
            <p:spPr>
              <a:xfrm>
                <a:off x="7926297" y="2422684"/>
                <a:ext cx="301806" cy="137160"/>
              </a:xfrm>
              <a:prstGeom prst="rect">
                <a:avLst/>
              </a:prstGeom>
              <a:noFill/>
              <a:ln>
                <a:noFill/>
              </a:ln>
            </p:spPr>
            <p:txBody>
              <a:bodyPr wrap="none" lIns="0" tIns="0" rIns="0" bIns="0" anchor="t" anchorCtr="0">
                <a:spAutoFit/>
              </a:bodyPr>
              <a:lstStyle/>
              <a:p>
                <a:pPr algn="ctr"/>
                <a:r>
                  <a:rPr lang="zh-CN" sz="675" b="1" dirty="0">
                    <a:solidFill>
                      <a:srgbClr val="A50021"/>
                    </a:solidFill>
                    <a:latin typeface="Arial"/>
                    <a:ea typeface="SimHei"/>
                    <a:cs typeface="Arial"/>
                  </a:rPr>
                  <a:t>-0.28</a:t>
                </a:r>
              </a:p>
            </p:txBody>
          </p:sp>
          <p:sp>
            <p:nvSpPr>
              <p:cNvPr id="150" name="TextBox 150"/>
              <p:cNvSpPr txBox="1"/>
              <p:nvPr/>
            </p:nvSpPr>
            <p:spPr>
              <a:xfrm>
                <a:off x="8431013" y="2422684"/>
                <a:ext cx="244873" cy="137160"/>
              </a:xfrm>
              <a:prstGeom prst="rect">
                <a:avLst/>
              </a:prstGeom>
              <a:noFill/>
              <a:ln>
                <a:noFill/>
              </a:ln>
            </p:spPr>
            <p:txBody>
              <a:bodyPr wrap="none" lIns="0" tIns="0" rIns="0" bIns="0" anchor="t" anchorCtr="0">
                <a:spAutoFit/>
              </a:bodyPr>
              <a:lstStyle/>
              <a:p>
                <a:pPr algn="ctr"/>
                <a:r>
                  <a:rPr lang="zh-CN" sz="675" b="1" dirty="0">
                    <a:solidFill>
                      <a:srgbClr val="A50021"/>
                    </a:solidFill>
                    <a:latin typeface="Arial"/>
                    <a:ea typeface="SimHei"/>
                    <a:cs typeface="Arial"/>
                  </a:rPr>
                  <a:t>0.73</a:t>
                </a:r>
              </a:p>
            </p:txBody>
          </p:sp>
          <p:sp>
            <p:nvSpPr>
              <p:cNvPr id="151" name="TextBox 151"/>
              <p:cNvSpPr txBox="1"/>
              <p:nvPr/>
            </p:nvSpPr>
            <p:spPr>
              <a:xfrm>
                <a:off x="8888213" y="2422684"/>
                <a:ext cx="244873" cy="137160"/>
              </a:xfrm>
              <a:prstGeom prst="rect">
                <a:avLst/>
              </a:prstGeom>
              <a:noFill/>
              <a:ln>
                <a:noFill/>
              </a:ln>
            </p:spPr>
            <p:txBody>
              <a:bodyPr wrap="none" lIns="0" tIns="0" rIns="0" bIns="0" anchor="t" anchorCtr="0">
                <a:spAutoFit/>
              </a:bodyPr>
              <a:lstStyle/>
              <a:p>
                <a:pPr algn="ctr"/>
                <a:r>
                  <a:rPr lang="zh-CN" sz="675" b="1" dirty="0">
                    <a:solidFill>
                      <a:srgbClr val="A50021"/>
                    </a:solidFill>
                    <a:latin typeface="Arial"/>
                    <a:ea typeface="SimHei"/>
                    <a:cs typeface="Arial"/>
                  </a:rPr>
                  <a:t>0.36</a:t>
                </a:r>
              </a:p>
            </p:txBody>
          </p:sp>
          <p:sp>
            <p:nvSpPr>
              <p:cNvPr id="152" name="TextBox 152"/>
              <p:cNvSpPr txBox="1"/>
              <p:nvPr/>
            </p:nvSpPr>
            <p:spPr>
              <a:xfrm>
                <a:off x="7611428" y="2536984"/>
                <a:ext cx="125587" cy="137160"/>
              </a:xfrm>
              <a:prstGeom prst="rect">
                <a:avLst/>
              </a:prstGeom>
              <a:noFill/>
              <a:ln>
                <a:noFill/>
              </a:ln>
            </p:spPr>
            <p:txBody>
              <a:bodyPr wrap="none" lIns="0" tIns="0" rIns="0" bIns="0" anchor="t" anchorCtr="0">
                <a:spAutoFit/>
              </a:bodyPr>
              <a:lstStyle/>
              <a:p>
                <a:pPr algn="l"/>
                <a:r>
                  <a:rPr lang="zh-CN" sz="675" dirty="0">
                    <a:solidFill>
                      <a:srgbClr val="5F6368"/>
                    </a:solidFill>
                    <a:latin typeface="Arial"/>
                    <a:ea typeface="SimHei"/>
                    <a:cs typeface="Arial"/>
                  </a:rPr>
                  <a:t>V4</a:t>
                </a:r>
              </a:p>
            </p:txBody>
          </p:sp>
          <p:sp>
            <p:nvSpPr>
              <p:cNvPr id="153" name="TextBox 153"/>
              <p:cNvSpPr txBox="1"/>
              <p:nvPr/>
            </p:nvSpPr>
            <p:spPr>
              <a:xfrm>
                <a:off x="7960185" y="2536984"/>
                <a:ext cx="234029"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0.54</a:t>
                </a:r>
              </a:p>
            </p:txBody>
          </p:sp>
          <p:sp>
            <p:nvSpPr>
              <p:cNvPr id="154" name="TextBox 154"/>
              <p:cNvSpPr txBox="1"/>
              <p:nvPr/>
            </p:nvSpPr>
            <p:spPr>
              <a:xfrm>
                <a:off x="8409325" y="2536984"/>
                <a:ext cx="288250"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-0.22</a:t>
                </a:r>
              </a:p>
            </p:txBody>
          </p:sp>
          <p:sp>
            <p:nvSpPr>
              <p:cNvPr id="155" name="TextBox 155"/>
              <p:cNvSpPr txBox="1"/>
              <p:nvPr/>
            </p:nvSpPr>
            <p:spPr>
              <a:xfrm>
                <a:off x="8905958" y="2536984"/>
                <a:ext cx="209383"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0.15</a:t>
                </a:r>
              </a:p>
            </p:txBody>
          </p:sp>
          <p:sp>
            <p:nvSpPr>
              <p:cNvPr id="156" name="TextBox 156"/>
              <p:cNvSpPr txBox="1"/>
              <p:nvPr/>
            </p:nvSpPr>
            <p:spPr>
              <a:xfrm>
                <a:off x="7611428" y="2651284"/>
                <a:ext cx="131009" cy="137160"/>
              </a:xfrm>
              <a:prstGeom prst="rect">
                <a:avLst/>
              </a:prstGeom>
              <a:noFill/>
              <a:ln>
                <a:noFill/>
              </a:ln>
            </p:spPr>
            <p:txBody>
              <a:bodyPr wrap="none" lIns="0" tIns="0" rIns="0" bIns="0" anchor="t" anchorCtr="0">
                <a:spAutoFit/>
              </a:bodyPr>
              <a:lstStyle/>
              <a:p>
                <a:pPr algn="l"/>
                <a:r>
                  <a:rPr lang="zh-CN" sz="675" b="1" dirty="0">
                    <a:solidFill>
                      <a:srgbClr val="A50021"/>
                    </a:solidFill>
                    <a:latin typeface="Arial"/>
                    <a:ea typeface="SimHei"/>
                    <a:cs typeface="Arial"/>
                  </a:rPr>
                  <a:t>V5</a:t>
                </a:r>
              </a:p>
            </p:txBody>
          </p:sp>
          <p:sp>
            <p:nvSpPr>
              <p:cNvPr id="157" name="TextBox 157"/>
              <p:cNvSpPr txBox="1"/>
              <p:nvPr/>
            </p:nvSpPr>
            <p:spPr>
              <a:xfrm>
                <a:off x="7954763" y="2651284"/>
                <a:ext cx="244873" cy="137160"/>
              </a:xfrm>
              <a:prstGeom prst="rect">
                <a:avLst/>
              </a:prstGeom>
              <a:noFill/>
              <a:ln>
                <a:noFill/>
              </a:ln>
            </p:spPr>
            <p:txBody>
              <a:bodyPr wrap="none" lIns="0" tIns="0" rIns="0" bIns="0" anchor="t" anchorCtr="0">
                <a:spAutoFit/>
              </a:bodyPr>
              <a:lstStyle/>
              <a:p>
                <a:pPr algn="ctr"/>
                <a:r>
                  <a:rPr lang="zh-CN" sz="675" b="1" dirty="0">
                    <a:solidFill>
                      <a:srgbClr val="A50021"/>
                    </a:solidFill>
                    <a:latin typeface="Arial"/>
                    <a:ea typeface="SimHei"/>
                    <a:cs typeface="Arial"/>
                  </a:rPr>
                  <a:t>0.09</a:t>
                </a:r>
              </a:p>
            </p:txBody>
          </p:sp>
          <p:sp>
            <p:nvSpPr>
              <p:cNvPr id="158" name="TextBox 158"/>
              <p:cNvSpPr txBox="1"/>
              <p:nvPr/>
            </p:nvSpPr>
            <p:spPr>
              <a:xfrm>
                <a:off x="8431013" y="2651284"/>
                <a:ext cx="244873" cy="137160"/>
              </a:xfrm>
              <a:prstGeom prst="rect">
                <a:avLst/>
              </a:prstGeom>
              <a:noFill/>
              <a:ln>
                <a:noFill/>
              </a:ln>
            </p:spPr>
            <p:txBody>
              <a:bodyPr wrap="none" lIns="0" tIns="0" rIns="0" bIns="0" anchor="t" anchorCtr="0">
                <a:spAutoFit/>
              </a:bodyPr>
              <a:lstStyle/>
              <a:p>
                <a:pPr algn="ctr"/>
                <a:r>
                  <a:rPr lang="zh-CN" sz="675" b="1" dirty="0">
                    <a:solidFill>
                      <a:srgbClr val="A50021"/>
                    </a:solidFill>
                    <a:latin typeface="Arial"/>
                    <a:ea typeface="SimHei"/>
                    <a:cs typeface="Arial"/>
                  </a:rPr>
                  <a:t>0.64</a:t>
                </a:r>
              </a:p>
            </p:txBody>
          </p:sp>
          <p:sp>
            <p:nvSpPr>
              <p:cNvPr id="159" name="TextBox 159"/>
              <p:cNvSpPr txBox="1"/>
              <p:nvPr/>
            </p:nvSpPr>
            <p:spPr>
              <a:xfrm>
                <a:off x="8872686" y="2651284"/>
                <a:ext cx="275927" cy="137160"/>
              </a:xfrm>
              <a:prstGeom prst="rect">
                <a:avLst/>
              </a:prstGeom>
              <a:noFill/>
              <a:ln>
                <a:noFill/>
              </a:ln>
            </p:spPr>
            <p:txBody>
              <a:bodyPr wrap="none" lIns="0" tIns="0" rIns="0" bIns="0" anchor="t" anchorCtr="0">
                <a:spAutoFit/>
              </a:bodyPr>
              <a:lstStyle/>
              <a:p>
                <a:pPr algn="ctr"/>
                <a:r>
                  <a:rPr lang="zh-CN" sz="675" b="1" dirty="0">
                    <a:solidFill>
                      <a:srgbClr val="A50021"/>
                    </a:solidFill>
                    <a:latin typeface="Arial"/>
                    <a:ea typeface="SimHei"/>
                    <a:cs typeface="Arial"/>
                  </a:rPr>
                  <a:t>-0.31</a:t>
                </a:r>
              </a:p>
            </p:txBody>
          </p:sp>
          <p:sp>
            <p:nvSpPr>
              <p:cNvPr id="160" name="TextBox 160"/>
              <p:cNvSpPr txBox="1"/>
              <p:nvPr/>
            </p:nvSpPr>
            <p:spPr>
              <a:xfrm>
                <a:off x="7611428" y="2765584"/>
                <a:ext cx="125587" cy="137160"/>
              </a:xfrm>
              <a:prstGeom prst="rect">
                <a:avLst/>
              </a:prstGeom>
              <a:noFill/>
              <a:ln>
                <a:noFill/>
              </a:ln>
            </p:spPr>
            <p:txBody>
              <a:bodyPr wrap="none" lIns="0" tIns="0" rIns="0" bIns="0" anchor="t" anchorCtr="0">
                <a:spAutoFit/>
              </a:bodyPr>
              <a:lstStyle/>
              <a:p>
                <a:pPr algn="l"/>
                <a:r>
                  <a:rPr lang="zh-CN" sz="675" dirty="0">
                    <a:solidFill>
                      <a:srgbClr val="5F6368"/>
                    </a:solidFill>
                    <a:latin typeface="Arial"/>
                    <a:ea typeface="SimHei"/>
                    <a:cs typeface="Arial"/>
                  </a:rPr>
                  <a:t>V6</a:t>
                </a:r>
              </a:p>
            </p:txBody>
          </p:sp>
          <p:sp>
            <p:nvSpPr>
              <p:cNvPr id="161" name="TextBox 161"/>
              <p:cNvSpPr txBox="1"/>
              <p:nvPr/>
            </p:nvSpPr>
            <p:spPr>
              <a:xfrm>
                <a:off x="7945398" y="2765584"/>
                <a:ext cx="263604"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-0.71</a:t>
                </a:r>
              </a:p>
            </p:txBody>
          </p:sp>
          <p:sp>
            <p:nvSpPr>
              <p:cNvPr id="162" name="TextBox 162"/>
              <p:cNvSpPr txBox="1"/>
              <p:nvPr/>
            </p:nvSpPr>
            <p:spPr>
              <a:xfrm>
                <a:off x="8436435" y="2765584"/>
                <a:ext cx="234029"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0.27</a:t>
                </a:r>
              </a:p>
            </p:txBody>
          </p:sp>
          <p:sp>
            <p:nvSpPr>
              <p:cNvPr id="163" name="TextBox 163"/>
              <p:cNvSpPr txBox="1"/>
              <p:nvPr/>
            </p:nvSpPr>
            <p:spPr>
              <a:xfrm>
                <a:off x="8893635" y="2765584"/>
                <a:ext cx="234029"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0.58</a:t>
                </a:r>
              </a:p>
            </p:txBody>
          </p:sp>
          <p:sp>
            <p:nvSpPr>
              <p:cNvPr id="164" name="TextBox 164"/>
              <p:cNvSpPr txBox="1"/>
              <p:nvPr/>
            </p:nvSpPr>
            <p:spPr>
              <a:xfrm>
                <a:off x="7611428" y="2879884"/>
                <a:ext cx="125587" cy="137160"/>
              </a:xfrm>
              <a:prstGeom prst="rect">
                <a:avLst/>
              </a:prstGeom>
              <a:noFill/>
              <a:ln>
                <a:noFill/>
              </a:ln>
            </p:spPr>
            <p:txBody>
              <a:bodyPr wrap="none" lIns="0" tIns="0" rIns="0" bIns="0" anchor="t" anchorCtr="0">
                <a:spAutoFit/>
              </a:bodyPr>
              <a:lstStyle/>
              <a:p>
                <a:pPr algn="l"/>
                <a:r>
                  <a:rPr lang="zh-CN" sz="675" dirty="0">
                    <a:solidFill>
                      <a:srgbClr val="5F6368"/>
                    </a:solidFill>
                    <a:latin typeface="Arial"/>
                    <a:ea typeface="SimHei"/>
                    <a:cs typeface="Arial"/>
                  </a:rPr>
                  <a:t>V7</a:t>
                </a:r>
              </a:p>
            </p:txBody>
          </p:sp>
          <p:sp>
            <p:nvSpPr>
              <p:cNvPr id="165" name="TextBox 165"/>
              <p:cNvSpPr txBox="1"/>
              <p:nvPr/>
            </p:nvSpPr>
            <p:spPr>
              <a:xfrm>
                <a:off x="7960185" y="2879884"/>
                <a:ext cx="234029"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0.33</a:t>
                </a:r>
              </a:p>
            </p:txBody>
          </p:sp>
          <p:sp>
            <p:nvSpPr>
              <p:cNvPr id="166" name="TextBox 166"/>
              <p:cNvSpPr txBox="1"/>
              <p:nvPr/>
            </p:nvSpPr>
            <p:spPr>
              <a:xfrm>
                <a:off x="8409325" y="2879884"/>
                <a:ext cx="288250"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-0.49</a:t>
                </a:r>
              </a:p>
            </p:txBody>
          </p:sp>
          <p:sp>
            <p:nvSpPr>
              <p:cNvPr id="167" name="TextBox 167"/>
              <p:cNvSpPr txBox="1"/>
              <p:nvPr/>
            </p:nvSpPr>
            <p:spPr>
              <a:xfrm>
                <a:off x="8905958" y="2879884"/>
                <a:ext cx="209383" cy="137160"/>
              </a:xfrm>
              <a:prstGeom prst="rect">
                <a:avLst/>
              </a:prstGeom>
              <a:noFill/>
              <a:ln>
                <a:noFill/>
              </a:ln>
            </p:spPr>
            <p:txBody>
              <a:bodyPr wrap="none" lIns="0" tIns="0" rIns="0" bIns="0" anchor="t" anchorCtr="0">
                <a:spAutoFit/>
              </a:bodyPr>
              <a:lstStyle/>
              <a:p>
                <a:pPr algn="ctr"/>
                <a:r>
                  <a:rPr lang="zh-CN" sz="675" dirty="0">
                    <a:solidFill>
                      <a:srgbClr val="5F6368"/>
                    </a:solidFill>
                    <a:latin typeface="Arial"/>
                    <a:ea typeface="SimHei"/>
                    <a:cs typeface="Arial"/>
                  </a:rPr>
                  <a:t>0.21</a:t>
                </a:r>
              </a:p>
            </p:txBody>
          </p:sp>
          <p:sp>
            <p:nvSpPr>
              <p:cNvPr id="168" name="TextBox 168"/>
              <p:cNvSpPr txBox="1"/>
              <p:nvPr/>
            </p:nvSpPr>
            <p:spPr>
              <a:xfrm>
                <a:off x="9421178" y="2308384"/>
                <a:ext cx="131009" cy="137160"/>
              </a:xfrm>
              <a:prstGeom prst="rect">
                <a:avLst/>
              </a:prstGeom>
              <a:noFill/>
              <a:ln>
                <a:noFill/>
              </a:ln>
            </p:spPr>
            <p:txBody>
              <a:bodyPr wrap="none" lIns="0" tIns="0" rIns="0" bIns="0" anchor="t" anchorCtr="0">
                <a:spAutoFit/>
              </a:bodyPr>
              <a:lstStyle/>
              <a:p>
                <a:pPr algn="l"/>
                <a:r>
                  <a:rPr lang="zh-CN" sz="675" b="1" dirty="0">
                    <a:solidFill>
                      <a:srgbClr val="A50021"/>
                    </a:solidFill>
                    <a:latin typeface="Arial"/>
                    <a:ea typeface="SimHei"/>
                    <a:cs typeface="Arial"/>
                  </a:rPr>
                  <a:t>V8</a:t>
                </a:r>
              </a:p>
            </p:txBody>
          </p:sp>
          <p:sp>
            <p:nvSpPr>
              <p:cNvPr id="169" name="TextBox 169"/>
              <p:cNvSpPr txBox="1"/>
              <p:nvPr/>
            </p:nvSpPr>
            <p:spPr>
              <a:xfrm>
                <a:off x="9783128" y="2308384"/>
                <a:ext cx="244873" cy="137160"/>
              </a:xfrm>
              <a:prstGeom prst="rect">
                <a:avLst/>
              </a:prstGeom>
              <a:noFill/>
              <a:ln>
                <a:noFill/>
              </a:ln>
            </p:spPr>
            <p:txBody>
              <a:bodyPr wrap="none" lIns="0" tIns="0" rIns="0" bIns="0" anchor="t" anchorCtr="0">
                <a:spAutoFit/>
              </a:bodyPr>
              <a:lstStyle/>
              <a:p>
                <a:pPr algn="l"/>
                <a:r>
                  <a:rPr lang="zh-CN" sz="675" b="1" dirty="0">
                    <a:solidFill>
                      <a:srgbClr val="A50021"/>
                    </a:solidFill>
                    <a:latin typeface="Arial"/>
                    <a:ea typeface="SimHei"/>
                    <a:cs typeface="Arial"/>
                  </a:rPr>
                  <a:t>0.45</a:t>
                </a:r>
              </a:p>
            </p:txBody>
          </p:sp>
          <p:sp>
            <p:nvSpPr>
              <p:cNvPr id="170" name="TextBox 170"/>
              <p:cNvSpPr txBox="1"/>
              <p:nvPr/>
            </p:nvSpPr>
            <p:spPr>
              <a:xfrm>
                <a:off x="10221278" y="2308384"/>
                <a:ext cx="244873" cy="137160"/>
              </a:xfrm>
              <a:prstGeom prst="rect">
                <a:avLst/>
              </a:prstGeom>
              <a:noFill/>
              <a:ln>
                <a:noFill/>
              </a:ln>
            </p:spPr>
            <p:txBody>
              <a:bodyPr wrap="none" lIns="0" tIns="0" rIns="0" bIns="0" anchor="t" anchorCtr="0">
                <a:spAutoFit/>
              </a:bodyPr>
              <a:lstStyle/>
              <a:p>
                <a:pPr algn="l"/>
                <a:r>
                  <a:rPr lang="zh-CN" sz="675" b="1" dirty="0">
                    <a:solidFill>
                      <a:srgbClr val="A50021"/>
                    </a:solidFill>
                    <a:latin typeface="Arial"/>
                    <a:ea typeface="SimHei"/>
                    <a:cs typeface="Arial"/>
                  </a:rPr>
                  <a:t>0.05</a:t>
                </a:r>
              </a:p>
            </p:txBody>
          </p:sp>
          <p:sp>
            <p:nvSpPr>
              <p:cNvPr id="171" name="TextBox 171"/>
              <p:cNvSpPr txBox="1"/>
              <p:nvPr/>
            </p:nvSpPr>
            <p:spPr>
              <a:xfrm>
                <a:off x="10659428" y="2308384"/>
                <a:ext cx="301806" cy="137160"/>
              </a:xfrm>
              <a:prstGeom prst="rect">
                <a:avLst/>
              </a:prstGeom>
              <a:noFill/>
              <a:ln>
                <a:noFill/>
              </a:ln>
            </p:spPr>
            <p:txBody>
              <a:bodyPr wrap="none" lIns="0" tIns="0" rIns="0" bIns="0" anchor="t" anchorCtr="0">
                <a:spAutoFit/>
              </a:bodyPr>
              <a:lstStyle/>
              <a:p>
                <a:pPr algn="l"/>
                <a:r>
                  <a:rPr lang="zh-CN" sz="675" b="1" dirty="0">
                    <a:solidFill>
                      <a:srgbClr val="A50021"/>
                    </a:solidFill>
                    <a:latin typeface="Arial"/>
                    <a:ea typeface="SimHei"/>
                    <a:cs typeface="Arial"/>
                  </a:rPr>
                  <a:t>-0.67</a:t>
                </a:r>
              </a:p>
            </p:txBody>
          </p:sp>
          <p:sp>
            <p:nvSpPr>
              <p:cNvPr id="172" name="TextBox 172"/>
              <p:cNvSpPr txBox="1"/>
              <p:nvPr/>
            </p:nvSpPr>
            <p:spPr>
              <a:xfrm>
                <a:off x="9421178" y="2536984"/>
                <a:ext cx="125587" cy="137160"/>
              </a:xfrm>
              <a:prstGeom prst="rect">
                <a:avLst/>
              </a:prstGeom>
              <a:noFill/>
              <a:ln>
                <a:noFill/>
              </a:ln>
            </p:spPr>
            <p:txBody>
              <a:bodyPr wrap="none" lIns="0" tIns="0" rIns="0" bIns="0" anchor="t" anchorCtr="0">
                <a:spAutoFit/>
              </a:bodyPr>
              <a:lstStyle/>
              <a:p>
                <a:pPr algn="l"/>
                <a:r>
                  <a:rPr lang="zh-CN" sz="675" dirty="0">
                    <a:solidFill>
                      <a:srgbClr val="5F6368"/>
                    </a:solidFill>
                    <a:latin typeface="Arial"/>
                    <a:ea typeface="SimHei"/>
                    <a:cs typeface="Arial"/>
                  </a:rPr>
                  <a:t>V9</a:t>
                </a:r>
              </a:p>
            </p:txBody>
          </p:sp>
          <p:sp>
            <p:nvSpPr>
              <p:cNvPr id="173" name="TextBox 173"/>
              <p:cNvSpPr txBox="1"/>
              <p:nvPr/>
            </p:nvSpPr>
            <p:spPr>
              <a:xfrm>
                <a:off x="9783128" y="2536984"/>
                <a:ext cx="263604" cy="137160"/>
              </a:xfrm>
              <a:prstGeom prst="rect">
                <a:avLst/>
              </a:prstGeom>
              <a:noFill/>
              <a:ln>
                <a:noFill/>
              </a:ln>
            </p:spPr>
            <p:txBody>
              <a:bodyPr wrap="none" lIns="0" tIns="0" rIns="0" bIns="0" anchor="t" anchorCtr="0">
                <a:spAutoFit/>
              </a:bodyPr>
              <a:lstStyle/>
              <a:p>
                <a:pPr algn="l"/>
                <a:r>
                  <a:rPr lang="zh-CN" sz="675" dirty="0">
                    <a:solidFill>
                      <a:srgbClr val="5F6368"/>
                    </a:solidFill>
                    <a:latin typeface="Arial"/>
                    <a:ea typeface="SimHei"/>
                    <a:cs typeface="Arial"/>
                  </a:rPr>
                  <a:t>-0.16</a:t>
                </a:r>
              </a:p>
            </p:txBody>
          </p:sp>
          <p:sp>
            <p:nvSpPr>
              <p:cNvPr id="174" name="TextBox 174"/>
              <p:cNvSpPr txBox="1"/>
              <p:nvPr/>
            </p:nvSpPr>
            <p:spPr>
              <a:xfrm>
                <a:off x="10221278" y="2536984"/>
                <a:ext cx="288250" cy="137160"/>
              </a:xfrm>
              <a:prstGeom prst="rect">
                <a:avLst/>
              </a:prstGeom>
              <a:noFill/>
              <a:ln>
                <a:noFill/>
              </a:ln>
            </p:spPr>
            <p:txBody>
              <a:bodyPr wrap="none" lIns="0" tIns="0" rIns="0" bIns="0" anchor="t" anchorCtr="0">
                <a:spAutoFit/>
              </a:bodyPr>
              <a:lstStyle/>
              <a:p>
                <a:pPr algn="l"/>
                <a:r>
                  <a:rPr lang="zh-CN" sz="675" dirty="0">
                    <a:solidFill>
                      <a:srgbClr val="5F6368"/>
                    </a:solidFill>
                    <a:latin typeface="Arial"/>
                    <a:ea typeface="SimHei"/>
                    <a:cs typeface="Arial"/>
                  </a:rPr>
                  <a:t>-0.58</a:t>
                </a:r>
              </a:p>
            </p:txBody>
          </p:sp>
          <p:sp>
            <p:nvSpPr>
              <p:cNvPr id="175" name="TextBox 175"/>
              <p:cNvSpPr txBox="1"/>
              <p:nvPr/>
            </p:nvSpPr>
            <p:spPr>
              <a:xfrm>
                <a:off x="10659428" y="2536984"/>
                <a:ext cx="234029" cy="137160"/>
              </a:xfrm>
              <a:prstGeom prst="rect">
                <a:avLst/>
              </a:prstGeom>
              <a:noFill/>
              <a:ln>
                <a:noFill/>
              </a:ln>
            </p:spPr>
            <p:txBody>
              <a:bodyPr wrap="none" lIns="0" tIns="0" rIns="0" bIns="0" anchor="t" anchorCtr="0">
                <a:spAutoFit/>
              </a:bodyPr>
              <a:lstStyle/>
              <a:p>
                <a:pPr algn="l"/>
                <a:r>
                  <a:rPr lang="zh-CN" sz="675" dirty="0">
                    <a:solidFill>
                      <a:srgbClr val="5F6368"/>
                    </a:solidFill>
                    <a:latin typeface="Arial"/>
                    <a:ea typeface="SimHei"/>
                    <a:cs typeface="Arial"/>
                  </a:rPr>
                  <a:t>0.74</a:t>
                </a:r>
              </a:p>
            </p:txBody>
          </p:sp>
          <p:sp>
            <p:nvSpPr>
              <p:cNvPr id="176" name="TextBox 176"/>
              <p:cNvSpPr txBox="1"/>
              <p:nvPr/>
            </p:nvSpPr>
            <p:spPr>
              <a:xfrm>
                <a:off x="9421178" y="2765584"/>
                <a:ext cx="162063" cy="137160"/>
              </a:xfrm>
              <a:prstGeom prst="rect">
                <a:avLst/>
              </a:prstGeom>
              <a:noFill/>
              <a:ln>
                <a:noFill/>
              </a:ln>
            </p:spPr>
            <p:txBody>
              <a:bodyPr wrap="none" lIns="0" tIns="0" rIns="0" bIns="0" anchor="t" anchorCtr="0">
                <a:spAutoFit/>
              </a:bodyPr>
              <a:lstStyle/>
              <a:p>
                <a:pPr algn="l"/>
                <a:r>
                  <a:rPr lang="zh-CN" sz="675" b="1" dirty="0">
                    <a:solidFill>
                      <a:srgbClr val="A50021"/>
                    </a:solidFill>
                    <a:latin typeface="Arial"/>
                    <a:ea typeface="SimHei"/>
                    <a:cs typeface="Arial"/>
                  </a:rPr>
                  <a:t>V10</a:t>
                </a:r>
              </a:p>
            </p:txBody>
          </p:sp>
          <p:sp>
            <p:nvSpPr>
              <p:cNvPr id="177" name="TextBox 177"/>
              <p:cNvSpPr txBox="1"/>
              <p:nvPr/>
            </p:nvSpPr>
            <p:spPr>
              <a:xfrm>
                <a:off x="9783128" y="2765584"/>
                <a:ext cx="244873" cy="137160"/>
              </a:xfrm>
              <a:prstGeom prst="rect">
                <a:avLst/>
              </a:prstGeom>
              <a:noFill/>
              <a:ln>
                <a:noFill/>
              </a:ln>
            </p:spPr>
            <p:txBody>
              <a:bodyPr wrap="none" lIns="0" tIns="0" rIns="0" bIns="0" anchor="t" anchorCtr="0">
                <a:spAutoFit/>
              </a:bodyPr>
              <a:lstStyle/>
              <a:p>
                <a:pPr algn="l"/>
                <a:r>
                  <a:rPr lang="zh-CN" sz="675" b="1" dirty="0">
                    <a:solidFill>
                      <a:srgbClr val="A50021"/>
                    </a:solidFill>
                    <a:latin typeface="Arial"/>
                    <a:ea typeface="SimHei"/>
                    <a:cs typeface="Arial"/>
                  </a:rPr>
                  <a:t>0.82</a:t>
                </a:r>
              </a:p>
            </p:txBody>
          </p:sp>
          <p:sp>
            <p:nvSpPr>
              <p:cNvPr id="178" name="TextBox 178"/>
              <p:cNvSpPr txBox="1"/>
              <p:nvPr/>
            </p:nvSpPr>
            <p:spPr>
              <a:xfrm>
                <a:off x="10221278" y="2765584"/>
                <a:ext cx="244873" cy="137160"/>
              </a:xfrm>
              <a:prstGeom prst="rect">
                <a:avLst/>
              </a:prstGeom>
              <a:noFill/>
              <a:ln>
                <a:noFill/>
              </a:ln>
            </p:spPr>
            <p:txBody>
              <a:bodyPr wrap="none" lIns="0" tIns="0" rIns="0" bIns="0" anchor="t" anchorCtr="0">
                <a:spAutoFit/>
              </a:bodyPr>
              <a:lstStyle/>
              <a:p>
                <a:pPr algn="l"/>
                <a:r>
                  <a:rPr lang="zh-CN" sz="675" b="1" dirty="0">
                    <a:solidFill>
                      <a:srgbClr val="A50021"/>
                    </a:solidFill>
                    <a:latin typeface="Arial"/>
                    <a:ea typeface="SimHei"/>
                    <a:cs typeface="Arial"/>
                  </a:rPr>
                  <a:t>0.39</a:t>
                </a:r>
              </a:p>
            </p:txBody>
          </p:sp>
          <p:sp>
            <p:nvSpPr>
              <p:cNvPr id="179" name="TextBox 179"/>
              <p:cNvSpPr txBox="1"/>
              <p:nvPr/>
            </p:nvSpPr>
            <p:spPr>
              <a:xfrm>
                <a:off x="10659428" y="2765584"/>
                <a:ext cx="275927" cy="137160"/>
              </a:xfrm>
              <a:prstGeom prst="rect">
                <a:avLst/>
              </a:prstGeom>
              <a:noFill/>
              <a:ln>
                <a:noFill/>
              </a:ln>
            </p:spPr>
            <p:txBody>
              <a:bodyPr wrap="none" lIns="0" tIns="0" rIns="0" bIns="0" anchor="t" anchorCtr="0">
                <a:spAutoFit/>
              </a:bodyPr>
              <a:lstStyle/>
              <a:p>
                <a:pPr algn="l"/>
                <a:r>
                  <a:rPr lang="zh-CN" sz="675" b="1" dirty="0">
                    <a:solidFill>
                      <a:srgbClr val="A50021"/>
                    </a:solidFill>
                    <a:latin typeface="Arial"/>
                    <a:ea typeface="SimHei"/>
                    <a:cs typeface="Arial"/>
                  </a:rPr>
                  <a:t>-0.14</a:t>
                </a:r>
              </a:p>
            </p:txBody>
          </p:sp>
        </p:grpSp>
        <p:sp>
          <p:nvSpPr>
            <p:cNvPr id="181" name="Rectangle 181"/>
            <p:cNvSpPr/>
            <p:nvPr/>
          </p:nvSpPr>
          <p:spPr>
            <a:xfrm>
              <a:off x="7219950" y="3429000"/>
              <a:ext cx="4248150" cy="2133600"/>
            </a:xfrm>
            <a:prstGeom prst="roundRect">
              <a:avLst>
                <a:gd name="adj" fmla="val 4464"/>
              </a:avLst>
            </a:prstGeom>
            <a:solidFill>
              <a:srgbClr val="FFFFFF"/>
            </a:solidFill>
            <a:ln w="13335">
              <a:solidFill>
                <a:srgbClr val="E4E7EB"/>
              </a:solidFill>
            </a:ln>
          </p:spPr>
        </p:sp>
        <p:grpSp>
          <p:nvGrpSpPr>
            <p:cNvPr id="187" name="Group 187"/>
            <p:cNvGrpSpPr/>
            <p:nvPr/>
          </p:nvGrpSpPr>
          <p:grpSpPr>
            <a:xfrm>
              <a:off x="7466012" y="3614738"/>
              <a:ext cx="155575" cy="200025"/>
              <a:chOff x="7466012" y="3614738"/>
              <a:chExt cx="155575" cy="200025"/>
            </a:xfrm>
          </p:grpSpPr>
          <p:sp>
            <p:nvSpPr>
              <p:cNvPr id="182" name="Freeform 182"/>
              <p:cNvSpPr/>
              <p:nvPr/>
            </p:nvSpPr>
            <p:spPr>
              <a:xfrm>
                <a:off x="7566025" y="3614738"/>
                <a:ext cx="55562" cy="55562"/>
              </a:xfrm>
              <a:custGeom>
                <a:avLst/>
                <a:gdLst/>
                <a:ahLst/>
                <a:cxnLst/>
                <a:rect l="l" t="t" r="r" b="b"/>
                <a:pathLst>
                  <a:path w="55562" h="55562">
                    <a:moveTo>
                      <a:pt x="0" y="0"/>
                    </a:moveTo>
                    <a:lnTo>
                      <a:pt x="0" y="44450"/>
                    </a:lnTo>
                    <a:cubicBezTo>
                      <a:pt x="0" y="50587"/>
                      <a:pt x="4975" y="55562"/>
                      <a:pt x="11112" y="55562"/>
                    </a:cubicBezTo>
                    <a:lnTo>
                      <a:pt x="55562" y="55562"/>
                    </a:lnTo>
                  </a:path>
                </a:pathLst>
              </a:custGeom>
              <a:noFill/>
              <a:ln w="19050">
                <a:solidFill>
                  <a:srgbClr val="A50021"/>
                </a:solidFill>
              </a:ln>
            </p:spPr>
          </p:sp>
          <p:sp>
            <p:nvSpPr>
              <p:cNvPr id="183" name="Freeform 183"/>
              <p:cNvSpPr/>
              <p:nvPr/>
            </p:nvSpPr>
            <p:spPr>
              <a:xfrm>
                <a:off x="7499350" y="3748088"/>
                <a:ext cx="33338" cy="33338"/>
              </a:xfrm>
              <a:custGeom>
                <a:avLst/>
                <a:gdLst/>
                <a:ahLst/>
                <a:cxnLst/>
                <a:rect l="l" t="t" r="r" b="b"/>
                <a:pathLst>
                  <a:path w="33338" h="33338">
                    <a:moveTo>
                      <a:pt x="0" y="16669"/>
                    </a:moveTo>
                    <a:cubicBezTo>
                      <a:pt x="0" y="25875"/>
                      <a:pt x="7463" y="33338"/>
                      <a:pt x="16669" y="33338"/>
                    </a:cubicBezTo>
                    <a:cubicBezTo>
                      <a:pt x="25875" y="33338"/>
                      <a:pt x="33338" y="25875"/>
                      <a:pt x="33338" y="16669"/>
                    </a:cubicBezTo>
                    <a:cubicBezTo>
                      <a:pt x="33338" y="7463"/>
                      <a:pt x="25875" y="0"/>
                      <a:pt x="16669" y="0"/>
                    </a:cubicBezTo>
                    <a:cubicBezTo>
                      <a:pt x="7463" y="0"/>
                      <a:pt x="0" y="7463"/>
                      <a:pt x="0" y="16669"/>
                    </a:cubicBezTo>
                  </a:path>
                </a:pathLst>
              </a:custGeom>
              <a:noFill/>
              <a:ln w="19050">
                <a:solidFill>
                  <a:srgbClr val="A50021"/>
                </a:solidFill>
              </a:ln>
            </p:spPr>
          </p:sp>
          <p:sp>
            <p:nvSpPr>
              <p:cNvPr id="184" name="Freeform 184"/>
              <p:cNvSpPr/>
              <p:nvPr/>
            </p:nvSpPr>
            <p:spPr>
              <a:xfrm>
                <a:off x="7554912" y="3703638"/>
                <a:ext cx="33338" cy="33338"/>
              </a:xfrm>
              <a:custGeom>
                <a:avLst/>
                <a:gdLst/>
                <a:ahLst/>
                <a:cxnLst/>
                <a:rect l="l" t="t" r="r" b="b"/>
                <a:pathLst>
                  <a:path w="33338" h="33338">
                    <a:moveTo>
                      <a:pt x="0" y="16669"/>
                    </a:moveTo>
                    <a:cubicBezTo>
                      <a:pt x="0" y="25875"/>
                      <a:pt x="7463" y="33338"/>
                      <a:pt x="16669" y="33338"/>
                    </a:cubicBezTo>
                    <a:cubicBezTo>
                      <a:pt x="25875" y="33338"/>
                      <a:pt x="33338" y="25875"/>
                      <a:pt x="33338" y="16669"/>
                    </a:cubicBezTo>
                    <a:cubicBezTo>
                      <a:pt x="33338" y="7463"/>
                      <a:pt x="25875" y="0"/>
                      <a:pt x="16669" y="0"/>
                    </a:cubicBezTo>
                    <a:cubicBezTo>
                      <a:pt x="7463" y="0"/>
                      <a:pt x="0" y="7463"/>
                      <a:pt x="0" y="16669"/>
                    </a:cubicBezTo>
                  </a:path>
                </a:pathLst>
              </a:custGeom>
              <a:noFill/>
              <a:ln w="19050">
                <a:solidFill>
                  <a:srgbClr val="A50021"/>
                </a:solidFill>
              </a:ln>
            </p:spPr>
          </p:sp>
          <p:sp>
            <p:nvSpPr>
              <p:cNvPr id="185" name="Freeform 185"/>
              <p:cNvSpPr/>
              <p:nvPr/>
            </p:nvSpPr>
            <p:spPr>
              <a:xfrm>
                <a:off x="7466012" y="3614738"/>
                <a:ext cx="155575" cy="200025"/>
              </a:xfrm>
              <a:custGeom>
                <a:avLst/>
                <a:gdLst/>
                <a:ahLst/>
                <a:cxnLst/>
                <a:rect l="l" t="t" r="r" b="b"/>
                <a:pathLst>
                  <a:path w="155575" h="200025">
                    <a:moveTo>
                      <a:pt x="133350" y="200025"/>
                    </a:moveTo>
                    <a:lnTo>
                      <a:pt x="22225" y="200025"/>
                    </a:lnTo>
                    <a:cubicBezTo>
                      <a:pt x="9950" y="200025"/>
                      <a:pt x="0" y="190075"/>
                      <a:pt x="0" y="177800"/>
                    </a:cubicBezTo>
                    <a:lnTo>
                      <a:pt x="0" y="22225"/>
                    </a:lnTo>
                    <a:cubicBezTo>
                      <a:pt x="0" y="9950"/>
                      <a:pt x="9950" y="0"/>
                      <a:pt x="22225" y="0"/>
                    </a:cubicBezTo>
                    <a:lnTo>
                      <a:pt x="100012" y="0"/>
                    </a:lnTo>
                    <a:lnTo>
                      <a:pt x="155575" y="55562"/>
                    </a:lnTo>
                    <a:lnTo>
                      <a:pt x="155575" y="177800"/>
                    </a:lnTo>
                    <a:cubicBezTo>
                      <a:pt x="155575" y="190075"/>
                      <a:pt x="145625" y="200025"/>
                      <a:pt x="133350" y="200025"/>
                    </a:cubicBezTo>
                  </a:path>
                </a:pathLst>
              </a:custGeom>
              <a:noFill/>
              <a:ln w="19050">
                <a:solidFill>
                  <a:srgbClr val="A50021"/>
                </a:solidFill>
              </a:ln>
            </p:spPr>
          </p:sp>
          <p:sp>
            <p:nvSpPr>
              <p:cNvPr id="186" name="Freeform 186"/>
              <p:cNvSpPr/>
              <p:nvPr/>
            </p:nvSpPr>
            <p:spPr>
              <a:xfrm>
                <a:off x="7516019" y="3720306"/>
                <a:ext cx="38894" cy="27781"/>
              </a:xfrm>
              <a:custGeom>
                <a:avLst/>
                <a:gdLst/>
                <a:ahLst/>
                <a:cxnLst/>
                <a:rect l="l" t="t" r="r" b="b"/>
                <a:pathLst>
                  <a:path w="38894" h="27781">
                    <a:moveTo>
                      <a:pt x="0" y="27781"/>
                    </a:moveTo>
                    <a:cubicBezTo>
                      <a:pt x="0" y="12438"/>
                      <a:pt x="12438" y="0"/>
                      <a:pt x="27781" y="0"/>
                    </a:cubicBezTo>
                    <a:lnTo>
                      <a:pt x="38894" y="0"/>
                    </a:lnTo>
                  </a:path>
                </a:pathLst>
              </a:custGeom>
              <a:noFill/>
              <a:ln w="19050">
                <a:solidFill>
                  <a:srgbClr val="A50021"/>
                </a:solidFill>
              </a:ln>
            </p:spPr>
          </p:sp>
        </p:grpSp>
        <p:sp>
          <p:nvSpPr>
            <p:cNvPr id="188" name="TextBox 188"/>
            <p:cNvSpPr txBox="1"/>
            <p:nvPr/>
          </p:nvSpPr>
          <p:spPr>
            <a:xfrm>
              <a:off x="7755255" y="3607118"/>
              <a:ext cx="2415088" cy="274320"/>
            </a:xfrm>
            <a:prstGeom prst="rect">
              <a:avLst/>
            </a:prstGeom>
            <a:noFill/>
            <a:ln>
              <a:noFill/>
            </a:ln>
          </p:spPr>
          <p:txBody>
            <a:bodyPr wrap="none" lIns="0" tIns="0" rIns="0" bIns="0" anchor="t" anchorCtr="0">
              <a:spAutoFit/>
            </a:bodyPr>
            <a:lstStyle/>
            <a:p>
              <a:pPr algn="l"/>
              <a:r>
                <a:rPr lang="zh-CN" sz="1350" b="1" dirty="0">
                  <a:solidFill>
                    <a:srgbClr val="1F2328"/>
                  </a:solidFill>
                  <a:latin typeface="Arial"/>
                  <a:ea typeface="SimHei"/>
                  <a:cs typeface="Arial"/>
                </a:rPr>
                <a:t>⑤ 最终词向量矩阵（5x3）</a:t>
              </a:r>
            </a:p>
          </p:txBody>
        </p:sp>
        <p:sp>
          <p:nvSpPr>
            <p:cNvPr id="189" name="TextBox 189"/>
            <p:cNvSpPr txBox="1"/>
            <p:nvPr/>
          </p:nvSpPr>
          <p:spPr>
            <a:xfrm>
              <a:off x="7398068" y="3895249"/>
              <a:ext cx="3349776"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One-Hot 每行选中参数矩阵中的一行，输出稠密表示</a:t>
              </a:r>
            </a:p>
          </p:txBody>
        </p:sp>
        <p:grpSp>
          <p:nvGrpSpPr>
            <p:cNvPr id="216" name="Group 216"/>
            <p:cNvGrpSpPr/>
            <p:nvPr/>
          </p:nvGrpSpPr>
          <p:grpSpPr>
            <a:xfrm>
              <a:off x="7410450" y="4171950"/>
              <a:ext cx="2476500" cy="1090612"/>
              <a:chOff x="7410450" y="4171950"/>
              <a:chExt cx="2476500" cy="1090612"/>
            </a:xfrm>
          </p:grpSpPr>
          <p:sp>
            <p:nvSpPr>
              <p:cNvPr id="190" name="Rectangle 190"/>
              <p:cNvSpPr/>
              <p:nvPr/>
            </p:nvSpPr>
            <p:spPr>
              <a:xfrm>
                <a:off x="7410450" y="4171950"/>
                <a:ext cx="2476500" cy="1066800"/>
              </a:xfrm>
              <a:prstGeom prst="rect">
                <a:avLst/>
              </a:prstGeom>
              <a:solidFill>
                <a:srgbClr val="FFFFFF"/>
              </a:solidFill>
              <a:ln w="9525">
                <a:solidFill>
                  <a:srgbClr val="E8EAED"/>
                </a:solidFill>
              </a:ln>
            </p:spPr>
          </p:sp>
          <p:sp>
            <p:nvSpPr>
              <p:cNvPr id="191" name="Rectangle 191"/>
              <p:cNvSpPr/>
              <p:nvPr/>
            </p:nvSpPr>
            <p:spPr>
              <a:xfrm>
                <a:off x="7410450" y="4171950"/>
                <a:ext cx="2476500" cy="190500"/>
              </a:xfrm>
              <a:prstGeom prst="rect">
                <a:avLst/>
              </a:prstGeom>
              <a:solidFill>
                <a:srgbClr val="F8F9FA"/>
              </a:solidFill>
              <a:ln>
                <a:noFill/>
              </a:ln>
            </p:spPr>
          </p:sp>
          <p:sp>
            <p:nvSpPr>
              <p:cNvPr id="192" name="TextBox 192"/>
              <p:cNvSpPr txBox="1"/>
              <p:nvPr/>
            </p:nvSpPr>
            <p:spPr>
              <a:xfrm>
                <a:off x="7643812" y="4224338"/>
                <a:ext cx="238125"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SimHei"/>
                    <a:cs typeface="Arial"/>
                  </a:rPr>
                  <a:t>词元</a:t>
                </a:r>
              </a:p>
            </p:txBody>
          </p:sp>
          <p:sp>
            <p:nvSpPr>
              <p:cNvPr id="193" name="TextBox 193"/>
              <p:cNvSpPr txBox="1"/>
              <p:nvPr/>
            </p:nvSpPr>
            <p:spPr>
              <a:xfrm>
                <a:off x="8363664" y="4224338"/>
                <a:ext cx="227171"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SimHei"/>
                    <a:cs typeface="Arial"/>
                  </a:rPr>
                  <a:t>Dim1</a:t>
                </a:r>
              </a:p>
            </p:txBody>
          </p:sp>
          <p:sp>
            <p:nvSpPr>
              <p:cNvPr id="194" name="TextBox 194"/>
              <p:cNvSpPr txBox="1"/>
              <p:nvPr/>
            </p:nvSpPr>
            <p:spPr>
              <a:xfrm>
                <a:off x="8921472" y="4224338"/>
                <a:ext cx="254556"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SimHei"/>
                    <a:cs typeface="Arial"/>
                  </a:rPr>
                  <a:t>Dim2</a:t>
                </a:r>
              </a:p>
            </p:txBody>
          </p:sp>
          <p:sp>
            <p:nvSpPr>
              <p:cNvPr id="195" name="TextBox 195"/>
              <p:cNvSpPr txBox="1"/>
              <p:nvPr/>
            </p:nvSpPr>
            <p:spPr>
              <a:xfrm>
                <a:off x="9492972" y="4224338"/>
                <a:ext cx="254556"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SimHei"/>
                    <a:cs typeface="Arial"/>
                  </a:rPr>
                  <a:t>Dim3</a:t>
                </a:r>
              </a:p>
            </p:txBody>
          </p:sp>
          <p:sp>
            <p:nvSpPr>
              <p:cNvPr id="196" name="TextBox 196"/>
              <p:cNvSpPr txBox="1"/>
              <p:nvPr/>
            </p:nvSpPr>
            <p:spPr>
              <a:xfrm>
                <a:off x="7534275" y="4424362"/>
                <a:ext cx="457200" cy="152400"/>
              </a:xfrm>
              <a:prstGeom prst="rect">
                <a:avLst/>
              </a:prstGeom>
              <a:noFill/>
              <a:ln>
                <a:noFill/>
              </a:ln>
            </p:spPr>
            <p:txBody>
              <a:bodyPr wrap="none" lIns="0" tIns="0" rIns="0" bIns="0" anchor="t" anchorCtr="0">
                <a:spAutoFit/>
              </a:bodyPr>
              <a:lstStyle/>
              <a:p>
                <a:pPr algn="ctr"/>
                <a:r>
                  <a:rPr lang="zh-CN" sz="750" dirty="0">
                    <a:solidFill>
                      <a:srgbClr val="1F2328"/>
                    </a:solidFill>
                    <a:latin typeface="Arial"/>
                    <a:ea typeface="SimHei"/>
                    <a:cs typeface="Arial"/>
                  </a:rPr>
                  <a:t>中国银行</a:t>
                </a:r>
              </a:p>
            </p:txBody>
          </p:sp>
          <p:sp>
            <p:nvSpPr>
              <p:cNvPr id="197" name="TextBox 197"/>
              <p:cNvSpPr txBox="1"/>
              <p:nvPr/>
            </p:nvSpPr>
            <p:spPr>
              <a:xfrm>
                <a:off x="8309580" y="4424362"/>
                <a:ext cx="335340"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-0.28</a:t>
                </a:r>
              </a:p>
            </p:txBody>
          </p:sp>
          <p:sp>
            <p:nvSpPr>
              <p:cNvPr id="198" name="TextBox 198"/>
              <p:cNvSpPr txBox="1"/>
              <p:nvPr/>
            </p:nvSpPr>
            <p:spPr>
              <a:xfrm>
                <a:off x="8912709" y="4424362"/>
                <a:ext cx="272082"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0.73</a:t>
                </a:r>
              </a:p>
            </p:txBody>
          </p:sp>
          <p:sp>
            <p:nvSpPr>
              <p:cNvPr id="199" name="TextBox 199"/>
              <p:cNvSpPr txBox="1"/>
              <p:nvPr/>
            </p:nvSpPr>
            <p:spPr>
              <a:xfrm>
                <a:off x="9484209" y="4424362"/>
                <a:ext cx="272082"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0.36</a:t>
                </a:r>
              </a:p>
            </p:txBody>
          </p:sp>
          <p:sp>
            <p:nvSpPr>
              <p:cNvPr id="200" name="TextBox 200"/>
              <p:cNvSpPr txBox="1"/>
              <p:nvPr/>
            </p:nvSpPr>
            <p:spPr>
              <a:xfrm>
                <a:off x="7698581" y="4595812"/>
                <a:ext cx="128588" cy="152400"/>
              </a:xfrm>
              <a:prstGeom prst="rect">
                <a:avLst/>
              </a:prstGeom>
              <a:noFill/>
              <a:ln>
                <a:noFill/>
              </a:ln>
            </p:spPr>
            <p:txBody>
              <a:bodyPr wrap="none" lIns="0" tIns="0" rIns="0" bIns="0" anchor="t" anchorCtr="0">
                <a:spAutoFit/>
              </a:bodyPr>
              <a:lstStyle/>
              <a:p>
                <a:pPr algn="ctr"/>
                <a:r>
                  <a:rPr lang="zh-CN" sz="750" dirty="0">
                    <a:solidFill>
                      <a:srgbClr val="1F2328"/>
                    </a:solidFill>
                    <a:latin typeface="Arial"/>
                    <a:ea typeface="SimHei"/>
                    <a:cs typeface="Arial"/>
                  </a:rPr>
                  <a:t>是</a:t>
                </a:r>
              </a:p>
            </p:txBody>
          </p:sp>
          <p:sp>
            <p:nvSpPr>
              <p:cNvPr id="201" name="TextBox 201"/>
              <p:cNvSpPr txBox="1"/>
              <p:nvPr/>
            </p:nvSpPr>
            <p:spPr>
              <a:xfrm>
                <a:off x="8341209" y="4595812"/>
                <a:ext cx="272082"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0.45</a:t>
                </a:r>
              </a:p>
            </p:txBody>
          </p:sp>
          <p:sp>
            <p:nvSpPr>
              <p:cNvPr id="202" name="TextBox 202"/>
              <p:cNvSpPr txBox="1"/>
              <p:nvPr/>
            </p:nvSpPr>
            <p:spPr>
              <a:xfrm>
                <a:off x="8912709" y="4595812"/>
                <a:ext cx="272082"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0.05</a:t>
                </a:r>
              </a:p>
            </p:txBody>
          </p:sp>
          <p:sp>
            <p:nvSpPr>
              <p:cNvPr id="203" name="TextBox 203"/>
              <p:cNvSpPr txBox="1"/>
              <p:nvPr/>
            </p:nvSpPr>
            <p:spPr>
              <a:xfrm>
                <a:off x="9452580" y="4595812"/>
                <a:ext cx="335340"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-0.67</a:t>
                </a:r>
              </a:p>
            </p:txBody>
          </p:sp>
          <p:sp>
            <p:nvSpPr>
              <p:cNvPr id="204" name="TextBox 204"/>
              <p:cNvSpPr txBox="1"/>
              <p:nvPr/>
            </p:nvSpPr>
            <p:spPr>
              <a:xfrm>
                <a:off x="7643812" y="4767262"/>
                <a:ext cx="238125" cy="152400"/>
              </a:xfrm>
              <a:prstGeom prst="rect">
                <a:avLst/>
              </a:prstGeom>
              <a:noFill/>
              <a:ln>
                <a:noFill/>
              </a:ln>
            </p:spPr>
            <p:txBody>
              <a:bodyPr wrap="none" lIns="0" tIns="0" rIns="0" bIns="0" anchor="t" anchorCtr="0">
                <a:spAutoFit/>
              </a:bodyPr>
              <a:lstStyle/>
              <a:p>
                <a:pPr algn="ctr"/>
                <a:r>
                  <a:rPr lang="zh-CN" sz="750" dirty="0">
                    <a:solidFill>
                      <a:srgbClr val="1F2328"/>
                    </a:solidFill>
                    <a:latin typeface="Arial"/>
                    <a:ea typeface="SimHei"/>
                    <a:cs typeface="Arial"/>
                  </a:rPr>
                  <a:t>世界</a:t>
                </a:r>
              </a:p>
            </p:txBody>
          </p:sp>
          <p:sp>
            <p:nvSpPr>
              <p:cNvPr id="205" name="TextBox 205"/>
              <p:cNvSpPr txBox="1"/>
              <p:nvPr/>
            </p:nvSpPr>
            <p:spPr>
              <a:xfrm>
                <a:off x="8341209" y="4767262"/>
                <a:ext cx="272082"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0.67</a:t>
                </a:r>
              </a:p>
            </p:txBody>
          </p:sp>
          <p:sp>
            <p:nvSpPr>
              <p:cNvPr id="206" name="TextBox 206"/>
              <p:cNvSpPr txBox="1"/>
              <p:nvPr/>
            </p:nvSpPr>
            <p:spPr>
              <a:xfrm>
                <a:off x="8941463" y="4767262"/>
                <a:ext cx="214574"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0.11</a:t>
                </a:r>
              </a:p>
            </p:txBody>
          </p:sp>
          <p:sp>
            <p:nvSpPr>
              <p:cNvPr id="207" name="TextBox 207"/>
              <p:cNvSpPr txBox="1"/>
              <p:nvPr/>
            </p:nvSpPr>
            <p:spPr>
              <a:xfrm>
                <a:off x="9452580" y="4767262"/>
                <a:ext cx="335340"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-0.42</a:t>
                </a:r>
              </a:p>
            </p:txBody>
          </p:sp>
          <p:sp>
            <p:nvSpPr>
              <p:cNvPr id="208" name="TextBox 208"/>
              <p:cNvSpPr txBox="1"/>
              <p:nvPr/>
            </p:nvSpPr>
            <p:spPr>
              <a:xfrm>
                <a:off x="7643812" y="4938712"/>
                <a:ext cx="238125" cy="152400"/>
              </a:xfrm>
              <a:prstGeom prst="rect">
                <a:avLst/>
              </a:prstGeom>
              <a:noFill/>
              <a:ln>
                <a:noFill/>
              </a:ln>
            </p:spPr>
            <p:txBody>
              <a:bodyPr wrap="none" lIns="0" tIns="0" rIns="0" bIns="0" anchor="t" anchorCtr="0">
                <a:spAutoFit/>
              </a:bodyPr>
              <a:lstStyle/>
              <a:p>
                <a:pPr algn="ctr"/>
                <a:r>
                  <a:rPr lang="zh-CN" sz="750" dirty="0">
                    <a:solidFill>
                      <a:srgbClr val="1F2328"/>
                    </a:solidFill>
                    <a:latin typeface="Arial"/>
                    <a:ea typeface="SimHei"/>
                    <a:cs typeface="Arial"/>
                  </a:rPr>
                  <a:t>一流</a:t>
                </a:r>
              </a:p>
            </p:txBody>
          </p:sp>
          <p:sp>
            <p:nvSpPr>
              <p:cNvPr id="209" name="TextBox 209"/>
              <p:cNvSpPr txBox="1"/>
              <p:nvPr/>
            </p:nvSpPr>
            <p:spPr>
              <a:xfrm>
                <a:off x="8341209" y="4938712"/>
                <a:ext cx="272082"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0.82</a:t>
                </a:r>
              </a:p>
            </p:txBody>
          </p:sp>
          <p:sp>
            <p:nvSpPr>
              <p:cNvPr id="210" name="TextBox 210"/>
              <p:cNvSpPr txBox="1"/>
              <p:nvPr/>
            </p:nvSpPr>
            <p:spPr>
              <a:xfrm>
                <a:off x="8912709" y="4938712"/>
                <a:ext cx="272082"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0.39</a:t>
                </a:r>
              </a:p>
            </p:txBody>
          </p:sp>
          <p:sp>
            <p:nvSpPr>
              <p:cNvPr id="211" name="TextBox 211"/>
              <p:cNvSpPr txBox="1"/>
              <p:nvPr/>
            </p:nvSpPr>
            <p:spPr>
              <a:xfrm>
                <a:off x="9466957" y="4938712"/>
                <a:ext cx="306586"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-0.14</a:t>
                </a:r>
              </a:p>
            </p:txBody>
          </p:sp>
          <p:sp>
            <p:nvSpPr>
              <p:cNvPr id="212" name="TextBox 212"/>
              <p:cNvSpPr txBox="1"/>
              <p:nvPr/>
            </p:nvSpPr>
            <p:spPr>
              <a:xfrm>
                <a:off x="7643812" y="5110162"/>
                <a:ext cx="238125" cy="152400"/>
              </a:xfrm>
              <a:prstGeom prst="rect">
                <a:avLst/>
              </a:prstGeom>
              <a:noFill/>
              <a:ln>
                <a:noFill/>
              </a:ln>
            </p:spPr>
            <p:txBody>
              <a:bodyPr wrap="none" lIns="0" tIns="0" rIns="0" bIns="0" anchor="t" anchorCtr="0">
                <a:spAutoFit/>
              </a:bodyPr>
              <a:lstStyle/>
              <a:p>
                <a:pPr algn="ctr"/>
                <a:r>
                  <a:rPr lang="zh-CN" sz="750" dirty="0">
                    <a:solidFill>
                      <a:srgbClr val="1F2328"/>
                    </a:solidFill>
                    <a:latin typeface="Arial"/>
                    <a:ea typeface="SimHei"/>
                    <a:cs typeface="Arial"/>
                  </a:rPr>
                  <a:t>银行</a:t>
                </a:r>
              </a:p>
            </p:txBody>
          </p:sp>
          <p:sp>
            <p:nvSpPr>
              <p:cNvPr id="213" name="TextBox 213"/>
              <p:cNvSpPr txBox="1"/>
              <p:nvPr/>
            </p:nvSpPr>
            <p:spPr>
              <a:xfrm>
                <a:off x="8341209" y="5110162"/>
                <a:ext cx="272082"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0.09</a:t>
                </a:r>
              </a:p>
            </p:txBody>
          </p:sp>
          <p:sp>
            <p:nvSpPr>
              <p:cNvPr id="214" name="TextBox 214"/>
              <p:cNvSpPr txBox="1"/>
              <p:nvPr/>
            </p:nvSpPr>
            <p:spPr>
              <a:xfrm>
                <a:off x="8912709" y="5110162"/>
                <a:ext cx="272082"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0.64</a:t>
                </a:r>
              </a:p>
            </p:txBody>
          </p:sp>
          <p:sp>
            <p:nvSpPr>
              <p:cNvPr id="215" name="TextBox 215"/>
              <p:cNvSpPr txBox="1"/>
              <p:nvPr/>
            </p:nvSpPr>
            <p:spPr>
              <a:xfrm>
                <a:off x="9466957" y="5110162"/>
                <a:ext cx="306586" cy="152400"/>
              </a:xfrm>
              <a:prstGeom prst="rect">
                <a:avLst/>
              </a:prstGeom>
              <a:noFill/>
              <a:ln>
                <a:noFill/>
              </a:ln>
            </p:spPr>
            <p:txBody>
              <a:bodyPr wrap="none" lIns="0" tIns="0" rIns="0" bIns="0" anchor="t" anchorCtr="0">
                <a:spAutoFit/>
              </a:bodyPr>
              <a:lstStyle/>
              <a:p>
                <a:pPr algn="ctr"/>
                <a:r>
                  <a:rPr lang="zh-CN" sz="750" b="1" dirty="0">
                    <a:solidFill>
                      <a:srgbClr val="A50021"/>
                    </a:solidFill>
                    <a:latin typeface="Arial"/>
                    <a:ea typeface="SimHei"/>
                    <a:cs typeface="Arial"/>
                  </a:rPr>
                  <a:t>-0.31</a:t>
                </a:r>
              </a:p>
            </p:txBody>
          </p:sp>
        </p:grpSp>
        <p:sp>
          <p:nvSpPr>
            <p:cNvPr id="217" name="Rectangle 217"/>
            <p:cNvSpPr/>
            <p:nvPr/>
          </p:nvSpPr>
          <p:spPr>
            <a:xfrm>
              <a:off x="10096500" y="4171950"/>
              <a:ext cx="1162050" cy="1066800"/>
            </a:xfrm>
            <a:prstGeom prst="roundRect">
              <a:avLst>
                <a:gd name="adj" fmla="val 7143"/>
              </a:avLst>
            </a:prstGeom>
            <a:solidFill>
              <a:srgbClr val="F8F9FA"/>
            </a:solidFill>
            <a:ln>
              <a:noFill/>
            </a:ln>
          </p:spPr>
        </p:sp>
        <p:sp>
          <p:nvSpPr>
            <p:cNvPr id="218" name="TextBox 218"/>
            <p:cNvSpPr txBox="1"/>
            <p:nvPr/>
          </p:nvSpPr>
          <p:spPr>
            <a:xfrm>
              <a:off x="10366105" y="4323874"/>
              <a:ext cx="622840" cy="198120"/>
            </a:xfrm>
            <a:prstGeom prst="rect">
              <a:avLst/>
            </a:prstGeom>
            <a:noFill/>
            <a:ln>
              <a:noFill/>
            </a:ln>
          </p:spPr>
          <p:txBody>
            <a:bodyPr wrap="none" lIns="0" tIns="0" rIns="0" bIns="0" anchor="t" anchorCtr="0">
              <a:spAutoFit/>
            </a:bodyPr>
            <a:lstStyle/>
            <a:p>
              <a:pPr algn="ctr"/>
              <a:r>
                <a:rPr lang="zh-CN" sz="975" b="1" dirty="0">
                  <a:solidFill>
                    <a:srgbClr val="1F2328"/>
                  </a:solidFill>
                  <a:latin typeface="Arial"/>
                  <a:ea typeface="SimHei"/>
                  <a:cs typeface="Arial"/>
                </a:rPr>
                <a:t>输出含义</a:t>
              </a:r>
            </a:p>
          </p:txBody>
        </p:sp>
        <p:sp>
          <p:nvSpPr>
            <p:cNvPr id="219" name="TextBox 219"/>
            <p:cNvSpPr txBox="1"/>
            <p:nvPr/>
          </p:nvSpPr>
          <p:spPr>
            <a:xfrm>
              <a:off x="10218420" y="4589145"/>
              <a:ext cx="107442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5 行对应 5 个词元</a:t>
              </a:r>
            </a:p>
          </p:txBody>
        </p:sp>
        <p:sp>
          <p:nvSpPr>
            <p:cNvPr id="220" name="TextBox 220"/>
            <p:cNvSpPr txBox="1"/>
            <p:nvPr/>
          </p:nvSpPr>
          <p:spPr>
            <a:xfrm>
              <a:off x="10218420" y="4770120"/>
              <a:ext cx="1054703"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3 列对应向量维度</a:t>
              </a:r>
            </a:p>
          </p:txBody>
        </p:sp>
        <p:sp>
          <p:nvSpPr>
            <p:cNvPr id="221" name="TextBox 221"/>
            <p:cNvSpPr txBox="1"/>
            <p:nvPr/>
          </p:nvSpPr>
          <p:spPr>
            <a:xfrm>
              <a:off x="10218420" y="4951095"/>
              <a:ext cx="1205865"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可输入后续神经网络</a:t>
              </a:r>
            </a:p>
          </p:txBody>
        </p:sp>
      </p:grpSp>
      <p:grpSp>
        <p:nvGrpSpPr>
          <p:cNvPr id="226" name="Group 226"/>
          <p:cNvGrpSpPr/>
          <p:nvPr/>
        </p:nvGrpSpPr>
        <p:grpSpPr>
          <a:xfrm>
            <a:off x="673418" y="5772150"/>
            <a:ext cx="10832782" cy="501990"/>
            <a:chOff x="673418" y="5772150"/>
            <a:chExt cx="10832782" cy="501990"/>
          </a:xfrm>
        </p:grpSpPr>
        <p:sp>
          <p:nvSpPr>
            <p:cNvPr id="223" name="Rectangle 223"/>
            <p:cNvSpPr/>
            <p:nvPr/>
          </p:nvSpPr>
          <p:spPr>
            <a:xfrm>
              <a:off x="685800" y="5772150"/>
              <a:ext cx="10820400" cy="361950"/>
            </a:xfrm>
            <a:prstGeom prst="roundRect">
              <a:avLst>
                <a:gd name="adj" fmla="val 21053"/>
              </a:avLst>
            </a:prstGeom>
            <a:solidFill>
              <a:srgbClr val="A50021"/>
            </a:solidFill>
            <a:ln>
              <a:noFill/>
            </a:ln>
          </p:spPr>
        </p:sp>
        <p:sp>
          <p:nvSpPr>
            <p:cNvPr id="224" name="TextBox 224"/>
            <p:cNvSpPr txBox="1"/>
            <p:nvPr/>
          </p:nvSpPr>
          <p:spPr>
            <a:xfrm>
              <a:off x="2310984" y="5864542"/>
              <a:ext cx="7570032"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SimHei"/>
                  <a:cs typeface="Arial"/>
                </a:rPr>
                <a:t>One-Hot 稀疏矩阵（5x10） x Embedding 参数矩阵（10x3） = 词向量矩阵（5x3）</a:t>
              </a:r>
            </a:p>
          </p:txBody>
        </p:sp>
        <p:sp>
          <p:nvSpPr>
            <p:cNvPr id="225" name="TextBox 225"/>
            <p:cNvSpPr txBox="1"/>
            <p:nvPr/>
          </p:nvSpPr>
          <p:spPr>
            <a:xfrm>
              <a:off x="673418" y="6124099"/>
              <a:ext cx="4914807" cy="150041"/>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Embedding 将“高维稀疏符号”映射为“低维稠密向量”，从而让词进入连续语义空间。</a:t>
              </a:r>
            </a:p>
          </p:txBody>
        </p:sp>
      </p:grpSp>
      <p:grpSp>
        <p:nvGrpSpPr>
          <p:cNvPr id="229" name="Group 229"/>
          <p:cNvGrpSpPr/>
          <p:nvPr/>
        </p:nvGrpSpPr>
        <p:grpSpPr>
          <a:xfrm>
            <a:off x="685800" y="6286500"/>
            <a:ext cx="10820400" cy="378619"/>
            <a:chOff x="685800" y="6286500"/>
            <a:chExt cx="10820400" cy="378619"/>
          </a:xfrm>
        </p:grpSpPr>
        <p:sp>
          <p:nvSpPr>
            <p:cNvPr id="227" name="Line 227"/>
            <p:cNvSpPr/>
            <p:nvPr/>
          </p:nvSpPr>
          <p:spPr>
            <a:xfrm>
              <a:off x="685800" y="6286500"/>
              <a:ext cx="10820400" cy="9525"/>
            </a:xfrm>
            <a:custGeom>
              <a:avLst/>
              <a:gdLst/>
              <a:ahLst/>
              <a:cxnLst/>
              <a:rect l="l" t="t" r="r" b="b"/>
              <a:pathLst>
                <a:path w="10820400" h="9525">
                  <a:moveTo>
                    <a:pt x="0" y="0"/>
                  </a:moveTo>
                  <a:lnTo>
                    <a:pt x="10820400" y="0"/>
                  </a:lnTo>
                </a:path>
              </a:pathLst>
            </a:custGeom>
            <a:noFill/>
            <a:ln w="11430">
              <a:solidFill>
                <a:srgbClr val="E4E7EB"/>
              </a:solidFill>
            </a:ln>
          </p:spPr>
        </p:sp>
        <p:sp>
          <p:nvSpPr>
            <p:cNvPr id="228" name="TextBox 228"/>
            <p:cNvSpPr txBox="1"/>
            <p:nvPr/>
          </p:nvSpPr>
          <p:spPr>
            <a:xfrm>
              <a:off x="5959019" y="6466999"/>
              <a:ext cx="273963" cy="198120"/>
            </a:xfrm>
            <a:prstGeom prst="rect">
              <a:avLst/>
            </a:prstGeom>
            <a:noFill/>
            <a:ln>
              <a:noFill/>
            </a:ln>
          </p:spPr>
          <p:txBody>
            <a:bodyPr wrap="none" lIns="0" tIns="0" rIns="0" bIns="0" anchor="t" anchorCtr="0">
              <a:spAutoFit/>
            </a:bodyPr>
            <a:lstStyle/>
            <a:p>
              <a:pPr algn="ctr"/>
              <a:r>
                <a:rPr lang="zh-CN" sz="975" dirty="0">
                  <a:solidFill>
                    <a:srgbClr val="8A9099"/>
                  </a:solidFill>
                  <a:latin typeface="Arial"/>
                  <a:ea typeface="SimHei"/>
                  <a:cs typeface="Arial"/>
                </a:rPr>
                <a:t>1 / 1</a:t>
              </a:r>
            </a:p>
          </p:txBody>
        </p:sp>
      </p:grpSp>
      <p:sp>
        <p:nvSpPr>
          <p:cNvPr id="50" name="Line 50"/>
          <p:cNvSpPr/>
          <p:nvPr/>
        </p:nvSpPr>
        <p:spPr>
          <a:xfrm rot="3902603" flipV="1">
            <a:off x="6896100" y="2400300"/>
            <a:ext cx="323850" cy="666750"/>
          </a:xfrm>
          <a:prstGeom prst="line">
            <a:avLst/>
          </a:prstGeom>
          <a:noFill/>
          <a:ln w="28575">
            <a:solidFill>
              <a:srgbClr val="A50021"/>
            </a:solidFill>
            <a:tailEnd type="triangle" w="lg" len="lg"/>
          </a:ln>
        </p:spPr>
      </p:sp>
      <p:sp>
        <p:nvSpPr>
          <p:cNvPr id="52" name="TextBox 52"/>
          <p:cNvSpPr txBox="1"/>
          <p:nvPr/>
        </p:nvSpPr>
        <p:spPr>
          <a:xfrm>
            <a:off x="6783514" y="2481357"/>
            <a:ext cx="622840" cy="198120"/>
          </a:xfrm>
          <a:prstGeom prst="rect">
            <a:avLst/>
          </a:prstGeom>
          <a:noFill/>
          <a:ln>
            <a:noFill/>
          </a:ln>
        </p:spPr>
        <p:txBody>
          <a:bodyPr wrap="none" lIns="0" tIns="0" rIns="0" bIns="0" anchor="t" anchorCtr="0">
            <a:spAutoFit/>
          </a:bodyPr>
          <a:lstStyle/>
          <a:p>
            <a:pPr algn="l"/>
            <a:r>
              <a:rPr lang="zh-CN" sz="975" b="1" dirty="0">
                <a:solidFill>
                  <a:srgbClr val="A50021"/>
                </a:solidFill>
                <a:latin typeface="Arial"/>
                <a:ea typeface="SimHei"/>
                <a:cs typeface="Arial"/>
              </a:rPr>
              <a:t>矩阵乘法</a:t>
            </a:r>
          </a:p>
        </p:txBody>
      </p:sp>
      <p:sp>
        <p:nvSpPr>
          <p:cNvPr id="51" name="Line 51"/>
          <p:cNvSpPr/>
          <p:nvPr/>
        </p:nvSpPr>
        <p:spPr>
          <a:xfrm>
            <a:off x="9163050" y="3171825"/>
            <a:ext cx="1" cy="238125"/>
          </a:xfrm>
          <a:prstGeom prst="line">
            <a:avLst/>
          </a:prstGeom>
          <a:noFill/>
          <a:ln w="28575">
            <a:solidFill>
              <a:srgbClr val="A50021"/>
            </a:solidFill>
            <a:tailEnd type="triangle" w="lg" len="lg"/>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400"/>
                                        <p:tgtEl>
                                          <p:spTgt spid="48"/>
                                        </p:tgtEl>
                                      </p:cBhvr>
                                    </p:animEffect>
                                  </p:childTnLst>
                                </p:cTn>
                              </p:par>
                            </p:childTnLst>
                          </p:cTn>
                        </p:par>
                        <p:par>
                          <p:cTn id="8" fill="hold">
                            <p:stCondLst>
                              <p:cond delay="400"/>
                            </p:stCondLst>
                            <p:childTnLst>
                              <p:par>
                                <p:cTn id="9" presetID="5" presetClass="entr" presetSubtype="6" fill="hold" nodeType="afterEffect">
                                  <p:stCondLst>
                                    <p:cond delay="0"/>
                                  </p:stCondLst>
                                  <p:childTnLst>
                                    <p:set>
                                      <p:cBhvr>
                                        <p:cTn id="10" dur="1" fill="hold">
                                          <p:stCondLst>
                                            <p:cond delay="0"/>
                                          </p:stCondLst>
                                        </p:cTn>
                                        <p:tgtEl>
                                          <p:spTgt spid="120"/>
                                        </p:tgtEl>
                                        <p:attrNameLst>
                                          <p:attrName>style.visibility</p:attrName>
                                        </p:attrNameLst>
                                      </p:cBhvr>
                                      <p:to>
                                        <p:strVal val="visible"/>
                                      </p:to>
                                    </p:set>
                                    <p:animEffect transition="in" filter="checkerboard(across)">
                                      <p:cBhvr>
                                        <p:cTn id="11" dur="400"/>
                                        <p:tgtEl>
                                          <p:spTgt spid="120"/>
                                        </p:tgtEl>
                                      </p:cBhvr>
                                    </p:animEffect>
                                  </p:childTnLst>
                                </p:cTn>
                              </p:par>
                            </p:childTnLst>
                          </p:cTn>
                        </p:par>
                        <p:par>
                          <p:cTn id="12" fill="hold">
                            <p:stCondLst>
                              <p:cond delay="800"/>
                            </p:stCondLst>
                            <p:childTnLst>
                              <p:par>
                                <p:cTn id="13" presetID="9" presetClass="entr" presetSubtype="0" fill="hold" nodeType="afterEffect">
                                  <p:stCondLst>
                                    <p:cond delay="0"/>
                                  </p:stCondLst>
                                  <p:childTnLst>
                                    <p:set>
                                      <p:cBhvr>
                                        <p:cTn id="14" dur="1" fill="hold">
                                          <p:stCondLst>
                                            <p:cond delay="0"/>
                                          </p:stCondLst>
                                        </p:cTn>
                                        <p:tgtEl>
                                          <p:spTgt spid="222"/>
                                        </p:tgtEl>
                                        <p:attrNameLst>
                                          <p:attrName>style.visibility</p:attrName>
                                        </p:attrNameLst>
                                      </p:cBhvr>
                                      <p:to>
                                        <p:strVal val="visible"/>
                                      </p:to>
                                    </p:set>
                                    <p:animEffect transition="in" filter="dissolve">
                                      <p:cBhvr>
                                        <p:cTn id="15" dur="400"/>
                                        <p:tgtEl>
                                          <p:spTgt spid="222"/>
                                        </p:tgtEl>
                                      </p:cBhvr>
                                    </p:animEffect>
                                  </p:childTnLst>
                                </p:cTn>
                              </p:par>
                            </p:childTnLst>
                          </p:cTn>
                        </p:par>
                        <p:par>
                          <p:cTn id="16" fill="hold">
                            <p:stCondLst>
                              <p:cond delay="1200"/>
                            </p:stCondLst>
                            <p:childTnLst>
                              <p:par>
                                <p:cTn id="17" presetID="2" presetClass="entr" presetSubtype="4" fill="hold" nodeType="afterEffect">
                                  <p:stCondLst>
                                    <p:cond delay="0"/>
                                  </p:stCondLst>
                                  <p:childTnLst>
                                    <p:set>
                                      <p:cBhvr>
                                        <p:cTn id="18" dur="1" fill="hold">
                                          <p:stCondLst>
                                            <p:cond delay="0"/>
                                          </p:stCondLst>
                                        </p:cTn>
                                        <p:tgtEl>
                                          <p:spTgt spid="226"/>
                                        </p:tgtEl>
                                        <p:attrNameLst>
                                          <p:attrName>style.visibility</p:attrName>
                                        </p:attrNameLst>
                                      </p:cBhvr>
                                      <p:to>
                                        <p:strVal val="visible"/>
                                      </p:to>
                                    </p:set>
                                    <p:animEffect transition="in" filter="slide(fromBottom)">
                                      <p:cBhvr>
                                        <p:cTn id="19" dur="400"/>
                                        <p:tgtEl>
                                          <p:spTgt spid="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120" grpId="0"/>
      <p:bldP spid="222" grpId="0"/>
      <p:bldP spid="2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3"/>
          <p:cNvPicPr>
            <a:picLocks noChangeAspect="1"/>
          </p:cNvPicPr>
          <p:nvPr/>
        </p:nvPicPr>
        <p:blipFill>
          <a:blip r:embed="rId4"/>
          <a:stretch>
            <a:fillRect/>
          </a:stretch>
        </p:blipFill>
        <p:spPr>
          <a:xfrm>
            <a:off x="9705234" y="342900"/>
            <a:ext cx="2020783" cy="571500"/>
          </a:xfrm>
          <a:prstGeom prst="rect">
            <a:avLst/>
          </a:prstGeom>
        </p:spPr>
      </p:pic>
      <p:sp>
        <p:nvSpPr>
          <p:cNvPr id="4" name="TextBox 4"/>
          <p:cNvSpPr txBox="1"/>
          <p:nvPr/>
        </p:nvSpPr>
        <p:spPr>
          <a:xfrm>
            <a:off x="659130" y="363855"/>
            <a:ext cx="3250890" cy="323165"/>
          </a:xfrm>
          <a:prstGeom prst="rect">
            <a:avLst/>
          </a:prstGeom>
          <a:noFill/>
          <a:ln>
            <a:noFill/>
          </a:ln>
        </p:spPr>
        <p:txBody>
          <a:bodyPr wrap="none" lIns="0" tIns="0" rIns="0" bIns="0" anchor="t" anchorCtr="0">
            <a:spAutoFit/>
          </a:bodyPr>
          <a:lstStyle/>
          <a:p>
            <a:pPr algn="l"/>
            <a:r>
              <a:rPr lang="zh-CN" sz="2100" b="1" dirty="0">
                <a:solidFill>
                  <a:srgbClr val="1F2328"/>
                </a:solidFill>
                <a:latin typeface="Arial"/>
                <a:ea typeface="SimHei"/>
                <a:cs typeface="Arial"/>
              </a:rPr>
              <a:t>好的</a:t>
            </a:r>
            <a:r>
              <a:rPr lang="zh-CN" altLang="en-US" sz="2100" b="1" dirty="0">
                <a:solidFill>
                  <a:srgbClr val="1F2328"/>
                </a:solidFill>
                <a:latin typeface="Arial"/>
                <a:ea typeface="SimHei"/>
                <a:cs typeface="Arial"/>
              </a:rPr>
              <a:t>向量化</a:t>
            </a:r>
            <a:r>
              <a:rPr lang="zh-CN" sz="2100" b="1" dirty="0">
                <a:solidFill>
                  <a:srgbClr val="1F2328"/>
                </a:solidFill>
                <a:latin typeface="Arial"/>
                <a:ea typeface="SimHei"/>
                <a:cs typeface="Arial"/>
              </a:rPr>
              <a:t>与不好的</a:t>
            </a:r>
            <a:r>
              <a:rPr lang="zh-CN" altLang="en-US" sz="2100" b="1" dirty="0">
                <a:solidFill>
                  <a:srgbClr val="1F2328"/>
                </a:solidFill>
                <a:latin typeface="Arial"/>
                <a:ea typeface="SimHei"/>
                <a:cs typeface="Arial"/>
              </a:rPr>
              <a:t>向量化</a:t>
            </a:r>
            <a:endParaRPr lang="zh-CN" sz="2100" b="1" dirty="0">
              <a:solidFill>
                <a:srgbClr val="1F2328"/>
              </a:solidFill>
              <a:latin typeface="Arial"/>
              <a:ea typeface="SimHei"/>
              <a:cs typeface="Arial"/>
            </a:endParaRPr>
          </a:p>
        </p:txBody>
      </p:sp>
      <p:sp>
        <p:nvSpPr>
          <p:cNvPr id="5" name="Line 5"/>
          <p:cNvSpPr/>
          <p:nvPr/>
        </p:nvSpPr>
        <p:spPr>
          <a:xfrm>
            <a:off x="685800" y="742950"/>
            <a:ext cx="2305050" cy="9525"/>
          </a:xfrm>
          <a:custGeom>
            <a:avLst/>
            <a:gdLst/>
            <a:ahLst/>
            <a:cxnLst/>
            <a:rect l="l" t="t" r="r" b="b"/>
            <a:pathLst>
              <a:path w="2305050" h="9525">
                <a:moveTo>
                  <a:pt x="0" y="0"/>
                </a:moveTo>
                <a:lnTo>
                  <a:pt x="2305050" y="0"/>
                </a:lnTo>
              </a:path>
            </a:pathLst>
          </a:custGeom>
          <a:noFill/>
          <a:ln w="28575">
            <a:solidFill>
              <a:srgbClr val="A50021"/>
            </a:solidFill>
          </a:ln>
        </p:spPr>
      </p:sp>
      <p:sp>
        <p:nvSpPr>
          <p:cNvPr id="6" name="TextBox 6"/>
          <p:cNvSpPr txBox="1"/>
          <p:nvPr/>
        </p:nvSpPr>
        <p:spPr>
          <a:xfrm>
            <a:off x="673418" y="837724"/>
            <a:ext cx="3241272" cy="150041"/>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基于同一 One-Hot 稀疏矩阵，不同 Embedding 参数的差异</a:t>
            </a:r>
          </a:p>
        </p:txBody>
      </p:sp>
      <p:sp>
        <p:nvSpPr>
          <p:cNvPr id="7" name="Rectangle 7"/>
          <p:cNvSpPr/>
          <p:nvPr/>
        </p:nvSpPr>
        <p:spPr>
          <a:xfrm>
            <a:off x="685800" y="1066800"/>
            <a:ext cx="8096250" cy="304800"/>
          </a:xfrm>
          <a:prstGeom prst="roundRect">
            <a:avLst>
              <a:gd name="adj" fmla="val 50000"/>
            </a:avLst>
          </a:prstGeom>
          <a:solidFill>
            <a:srgbClr val="F8F9FA"/>
          </a:solidFill>
          <a:ln w="9525">
            <a:solidFill>
              <a:srgbClr val="E8EAED"/>
            </a:solidFill>
          </a:ln>
        </p:spPr>
      </p:sp>
      <p:sp>
        <p:nvSpPr>
          <p:cNvPr id="8" name="TextBox 8"/>
          <p:cNvSpPr txBox="1"/>
          <p:nvPr/>
        </p:nvSpPr>
        <p:spPr>
          <a:xfrm>
            <a:off x="1934942" y="1153478"/>
            <a:ext cx="5597966" cy="213360"/>
          </a:xfrm>
          <a:prstGeom prst="rect">
            <a:avLst/>
          </a:prstGeom>
          <a:noFill/>
          <a:ln>
            <a:noFill/>
          </a:ln>
        </p:spPr>
        <p:txBody>
          <a:bodyPr wrap="none" lIns="0" tIns="0" rIns="0" bIns="0" anchor="t" anchorCtr="0">
            <a:spAutoFit/>
          </a:bodyPr>
          <a:lstStyle/>
          <a:p>
            <a:pPr algn="ctr"/>
            <a:r>
              <a:rPr lang="zh-CN" sz="1050" b="1" dirty="0">
                <a:solidFill>
                  <a:srgbClr val="A50021"/>
                </a:solidFill>
                <a:latin typeface="Arial"/>
                <a:ea typeface="Microsoft YaHei"/>
                <a:cs typeface="Arial"/>
              </a:rPr>
              <a:t>稀疏矩阵 X（5×10） × Embedding 参数矩阵 E（10×3） = 词向量矩阵 H（5×3）</a:t>
            </a:r>
          </a:p>
        </p:txBody>
      </p:sp>
      <p:sp>
        <p:nvSpPr>
          <p:cNvPr id="10" name="Rectangle 10"/>
          <p:cNvSpPr/>
          <p:nvPr/>
        </p:nvSpPr>
        <p:spPr>
          <a:xfrm>
            <a:off x="476250" y="1485900"/>
            <a:ext cx="3067050" cy="4648200"/>
          </a:xfrm>
          <a:prstGeom prst="roundRect">
            <a:avLst>
              <a:gd name="adj" fmla="val 3106"/>
            </a:avLst>
          </a:prstGeom>
          <a:solidFill>
            <a:srgbClr val="EAF2FF"/>
          </a:solidFill>
          <a:ln w="14288">
            <a:solidFill>
              <a:srgbClr val="4285F4"/>
            </a:solidFill>
          </a:ln>
          <a:effectLst>
            <a:outerShdw blurRad="95250" dist="28575" dir="5400000" algn="ctr" rotWithShape="0">
              <a:srgbClr val="000000">
                <a:alpha val="6000"/>
              </a:srgbClr>
            </a:outerShdw>
          </a:effectLst>
        </p:spPr>
      </p:sp>
      <p:sp>
        <p:nvSpPr>
          <p:cNvPr id="11" name="TextBox 11"/>
          <p:cNvSpPr txBox="1"/>
          <p:nvPr/>
        </p:nvSpPr>
        <p:spPr>
          <a:xfrm>
            <a:off x="651510" y="1623060"/>
            <a:ext cx="2229555" cy="243840"/>
          </a:xfrm>
          <a:prstGeom prst="rect">
            <a:avLst/>
          </a:prstGeom>
          <a:noFill/>
          <a:ln>
            <a:noFill/>
          </a:ln>
        </p:spPr>
        <p:txBody>
          <a:bodyPr wrap="none" lIns="0" tIns="0" rIns="0" bIns="0" anchor="t" anchorCtr="0">
            <a:spAutoFit/>
          </a:bodyPr>
          <a:lstStyle/>
          <a:p>
            <a:pPr algn="l"/>
            <a:r>
              <a:rPr lang="zh-CN" sz="1200" b="1" dirty="0">
                <a:solidFill>
                  <a:srgbClr val="4285F4"/>
                </a:solidFill>
                <a:latin typeface="Arial"/>
                <a:ea typeface="SimHei"/>
                <a:cs typeface="Arial"/>
              </a:rPr>
              <a:t>1. 共享稀疏矩阵 X（5×10）</a:t>
            </a:r>
          </a:p>
        </p:txBody>
      </p:sp>
      <p:grpSp>
        <p:nvGrpSpPr>
          <p:cNvPr id="13" name="组合 12">
            <a:extLst>
              <a:ext uri="{FF2B5EF4-FFF2-40B4-BE49-F238E27FC236}">
                <a16:creationId xmlns:a16="http://schemas.microsoft.com/office/drawing/2014/main" id="{059408F7-B158-40E1-AADC-907FC9D774F5}"/>
              </a:ext>
            </a:extLst>
          </p:cNvPr>
          <p:cNvGrpSpPr/>
          <p:nvPr/>
        </p:nvGrpSpPr>
        <p:grpSpPr>
          <a:xfrm>
            <a:off x="666750" y="1924050"/>
            <a:ext cx="2686050" cy="514350"/>
            <a:chOff x="666750" y="1924050"/>
            <a:chExt cx="2686050" cy="514350"/>
          </a:xfrm>
        </p:grpSpPr>
        <p:sp>
          <p:nvSpPr>
            <p:cNvPr id="14" name="Rectangle 14"/>
            <p:cNvSpPr/>
            <p:nvPr/>
          </p:nvSpPr>
          <p:spPr>
            <a:xfrm>
              <a:off x="666750" y="1924050"/>
              <a:ext cx="2686050" cy="514350"/>
            </a:xfrm>
            <a:prstGeom prst="roundRect">
              <a:avLst>
                <a:gd name="adj" fmla="val 12963"/>
              </a:avLst>
            </a:prstGeom>
            <a:solidFill>
              <a:srgbClr val="FFFFFF"/>
            </a:solidFill>
            <a:ln w="7620">
              <a:solidFill>
                <a:srgbClr val="E8EAED"/>
              </a:solidFill>
            </a:ln>
          </p:spPr>
        </p:sp>
        <p:sp>
          <p:nvSpPr>
            <p:cNvPr id="15" name="TextBox 15"/>
            <p:cNvSpPr txBox="1"/>
            <p:nvPr/>
          </p:nvSpPr>
          <p:spPr>
            <a:xfrm>
              <a:off x="808672" y="2025491"/>
              <a:ext cx="780050"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原始文本输入</a:t>
              </a:r>
            </a:p>
          </p:txBody>
        </p:sp>
        <p:sp>
          <p:nvSpPr>
            <p:cNvPr id="16" name="TextBox 16"/>
            <p:cNvSpPr txBox="1"/>
            <p:nvPr/>
          </p:nvSpPr>
          <p:spPr>
            <a:xfrm>
              <a:off x="806768" y="2218849"/>
              <a:ext cx="1833941" cy="198120"/>
            </a:xfrm>
            <a:prstGeom prst="rect">
              <a:avLst/>
            </a:prstGeom>
            <a:noFill/>
            <a:ln>
              <a:noFill/>
            </a:ln>
          </p:spPr>
          <p:txBody>
            <a:bodyPr wrap="none" lIns="0" tIns="0" rIns="0" bIns="0" anchor="t" anchorCtr="0">
              <a:spAutoFit/>
            </a:bodyPr>
            <a:lstStyle/>
            <a:p>
              <a:pPr algn="l"/>
              <a:r>
                <a:rPr lang="zh-CN" sz="975" b="1" dirty="0">
                  <a:solidFill>
                    <a:srgbClr val="A50021"/>
                  </a:solidFill>
                  <a:latin typeface="Arial"/>
                  <a:ea typeface="Microsoft YaHei"/>
                  <a:cs typeface="Arial"/>
                </a:rPr>
                <a:t>“中国银行是世界一流银行”</a:t>
              </a:r>
            </a:p>
          </p:txBody>
        </p:sp>
      </p:grpSp>
      <p:grpSp>
        <p:nvGrpSpPr>
          <p:cNvPr id="12" name="组合 11">
            <a:extLst>
              <a:ext uri="{FF2B5EF4-FFF2-40B4-BE49-F238E27FC236}">
                <a16:creationId xmlns:a16="http://schemas.microsoft.com/office/drawing/2014/main" id="{2B4A2153-66CA-441D-A25A-5766107771F9}"/>
              </a:ext>
            </a:extLst>
          </p:cNvPr>
          <p:cNvGrpSpPr/>
          <p:nvPr/>
        </p:nvGrpSpPr>
        <p:grpSpPr>
          <a:xfrm>
            <a:off x="666750" y="2707105"/>
            <a:ext cx="2686050" cy="640556"/>
            <a:chOff x="666750" y="2533650"/>
            <a:chExt cx="2686050" cy="640556"/>
          </a:xfrm>
        </p:grpSpPr>
        <p:sp>
          <p:nvSpPr>
            <p:cNvPr id="17" name="Rectangle 17"/>
            <p:cNvSpPr/>
            <p:nvPr/>
          </p:nvSpPr>
          <p:spPr>
            <a:xfrm>
              <a:off x="666750" y="2533650"/>
              <a:ext cx="2686050" cy="609600"/>
            </a:xfrm>
            <a:prstGeom prst="roundRect">
              <a:avLst>
                <a:gd name="adj" fmla="val 10938"/>
              </a:avLst>
            </a:prstGeom>
            <a:solidFill>
              <a:srgbClr val="FFFFFF"/>
            </a:solidFill>
            <a:ln w="7620">
              <a:solidFill>
                <a:srgbClr val="E8EAED"/>
              </a:solidFill>
            </a:ln>
          </p:spPr>
        </p:sp>
        <p:sp>
          <p:nvSpPr>
            <p:cNvPr id="18" name="TextBox 18"/>
            <p:cNvSpPr txBox="1"/>
            <p:nvPr/>
          </p:nvSpPr>
          <p:spPr>
            <a:xfrm>
              <a:off x="808672" y="2635091"/>
              <a:ext cx="527018"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词元切分</a:t>
              </a:r>
            </a:p>
          </p:txBody>
        </p:sp>
        <p:sp>
          <p:nvSpPr>
            <p:cNvPr id="19" name="TextBox 19"/>
            <p:cNvSpPr txBox="1"/>
            <p:nvPr/>
          </p:nvSpPr>
          <p:spPr>
            <a:xfrm>
              <a:off x="808672" y="2844641"/>
              <a:ext cx="1201769"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[中国银行, 是, 世界,</a:t>
              </a:r>
            </a:p>
          </p:txBody>
        </p:sp>
        <p:sp>
          <p:nvSpPr>
            <p:cNvPr id="20" name="TextBox 20"/>
            <p:cNvSpPr txBox="1"/>
            <p:nvPr/>
          </p:nvSpPr>
          <p:spPr>
            <a:xfrm>
              <a:off x="808672" y="3006566"/>
              <a:ext cx="1430703"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一流, 银行] → 共 5 个词元</a:t>
              </a:r>
            </a:p>
          </p:txBody>
        </p:sp>
      </p:grpSp>
      <p:grpSp>
        <p:nvGrpSpPr>
          <p:cNvPr id="9" name="组合 8">
            <a:extLst>
              <a:ext uri="{FF2B5EF4-FFF2-40B4-BE49-F238E27FC236}">
                <a16:creationId xmlns:a16="http://schemas.microsoft.com/office/drawing/2014/main" id="{7D302791-3E7A-4CEE-AE2B-C67876CCE6EE}"/>
              </a:ext>
            </a:extLst>
          </p:cNvPr>
          <p:cNvGrpSpPr/>
          <p:nvPr/>
        </p:nvGrpSpPr>
        <p:grpSpPr>
          <a:xfrm>
            <a:off x="666750" y="3616366"/>
            <a:ext cx="2686050" cy="800100"/>
            <a:chOff x="666750" y="3238500"/>
            <a:chExt cx="2686050" cy="800100"/>
          </a:xfrm>
        </p:grpSpPr>
        <p:sp>
          <p:nvSpPr>
            <p:cNvPr id="21" name="Rectangle 21"/>
            <p:cNvSpPr/>
            <p:nvPr/>
          </p:nvSpPr>
          <p:spPr>
            <a:xfrm>
              <a:off x="666750" y="3238500"/>
              <a:ext cx="2686050" cy="800100"/>
            </a:xfrm>
            <a:prstGeom prst="roundRect">
              <a:avLst>
                <a:gd name="adj" fmla="val 8333"/>
              </a:avLst>
            </a:prstGeom>
            <a:solidFill>
              <a:srgbClr val="FFFFFF"/>
            </a:solidFill>
            <a:ln w="7620">
              <a:solidFill>
                <a:srgbClr val="E8EAED"/>
              </a:solidFill>
            </a:ln>
          </p:spPr>
        </p:sp>
        <p:sp>
          <p:nvSpPr>
            <p:cNvPr id="22" name="TextBox 22"/>
            <p:cNvSpPr txBox="1"/>
            <p:nvPr/>
          </p:nvSpPr>
          <p:spPr>
            <a:xfrm>
              <a:off x="808672" y="3339941"/>
              <a:ext cx="1336719"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词表 Vocabulary（10）</a:t>
              </a:r>
            </a:p>
          </p:txBody>
        </p:sp>
        <p:sp>
          <p:nvSpPr>
            <p:cNvPr id="23" name="TextBox 23"/>
            <p:cNvSpPr txBox="1"/>
            <p:nvPr/>
          </p:nvSpPr>
          <p:spPr>
            <a:xfrm>
              <a:off x="810101" y="3552111"/>
              <a:ext cx="1813143" cy="144780"/>
            </a:xfrm>
            <a:prstGeom prst="rect">
              <a:avLst/>
            </a:prstGeom>
            <a:noFill/>
            <a:ln>
              <a:noFill/>
            </a:ln>
          </p:spPr>
          <p:txBody>
            <a:bodyPr wrap="none" lIns="0" tIns="0" rIns="0" bIns="0" anchor="t" anchorCtr="0">
              <a:spAutoFit/>
            </a:bodyPr>
            <a:lstStyle/>
            <a:p>
              <a:pPr algn="l"/>
              <a:r>
                <a:rPr lang="zh-CN" sz="712" dirty="0">
                  <a:solidFill>
                    <a:srgbClr val="5F6368"/>
                  </a:solidFill>
                  <a:latin typeface="Arial"/>
                  <a:ea typeface="Microsoft YaHei"/>
                  <a:cs typeface="Arial"/>
                </a:rPr>
                <a:t>V1=客户 V2=世界 V3=中国银行 V4=金融</a:t>
              </a:r>
            </a:p>
          </p:txBody>
        </p:sp>
        <p:sp>
          <p:nvSpPr>
            <p:cNvPr id="24" name="TextBox 24"/>
            <p:cNvSpPr txBox="1"/>
            <p:nvPr/>
          </p:nvSpPr>
          <p:spPr>
            <a:xfrm>
              <a:off x="810101" y="3694986"/>
              <a:ext cx="1526977" cy="144780"/>
            </a:xfrm>
            <a:prstGeom prst="rect">
              <a:avLst/>
            </a:prstGeom>
            <a:noFill/>
            <a:ln>
              <a:noFill/>
            </a:ln>
          </p:spPr>
          <p:txBody>
            <a:bodyPr wrap="none" lIns="0" tIns="0" rIns="0" bIns="0" anchor="t" anchorCtr="0">
              <a:spAutoFit/>
            </a:bodyPr>
            <a:lstStyle/>
            <a:p>
              <a:pPr algn="l"/>
              <a:r>
                <a:rPr lang="zh-CN" sz="712" dirty="0">
                  <a:solidFill>
                    <a:srgbClr val="5F6368"/>
                  </a:solidFill>
                  <a:latin typeface="Arial"/>
                  <a:ea typeface="Microsoft YaHei"/>
                  <a:cs typeface="Arial"/>
                </a:rPr>
                <a:t>V5=银行 V6=服务 V7=机构 V8=是</a:t>
              </a:r>
            </a:p>
          </p:txBody>
        </p:sp>
        <p:sp>
          <p:nvSpPr>
            <p:cNvPr id="25" name="TextBox 25"/>
            <p:cNvSpPr txBox="1"/>
            <p:nvPr/>
          </p:nvSpPr>
          <p:spPr>
            <a:xfrm>
              <a:off x="810101" y="3837861"/>
              <a:ext cx="840176" cy="144780"/>
            </a:xfrm>
            <a:prstGeom prst="rect">
              <a:avLst/>
            </a:prstGeom>
            <a:noFill/>
            <a:ln>
              <a:noFill/>
            </a:ln>
          </p:spPr>
          <p:txBody>
            <a:bodyPr wrap="none" lIns="0" tIns="0" rIns="0" bIns="0" anchor="t" anchorCtr="0">
              <a:spAutoFit/>
            </a:bodyPr>
            <a:lstStyle/>
            <a:p>
              <a:pPr algn="l"/>
              <a:r>
                <a:rPr lang="zh-CN" sz="712" dirty="0">
                  <a:solidFill>
                    <a:srgbClr val="5F6368"/>
                  </a:solidFill>
                  <a:latin typeface="Arial"/>
                  <a:ea typeface="Microsoft YaHei"/>
                  <a:cs typeface="Arial"/>
                </a:rPr>
                <a:t>V9=中国 V10=一流</a:t>
              </a:r>
            </a:p>
          </p:txBody>
        </p:sp>
      </p:grpSp>
      <p:grpSp>
        <p:nvGrpSpPr>
          <p:cNvPr id="2" name="组合 1">
            <a:extLst>
              <a:ext uri="{FF2B5EF4-FFF2-40B4-BE49-F238E27FC236}">
                <a16:creationId xmlns:a16="http://schemas.microsoft.com/office/drawing/2014/main" id="{C3017F0C-C972-42FA-A91A-C995507D2C8A}"/>
              </a:ext>
            </a:extLst>
          </p:cNvPr>
          <p:cNvGrpSpPr/>
          <p:nvPr/>
        </p:nvGrpSpPr>
        <p:grpSpPr>
          <a:xfrm>
            <a:off x="656272" y="4685172"/>
            <a:ext cx="2353628" cy="1089422"/>
            <a:chOff x="656272" y="4082891"/>
            <a:chExt cx="2353628" cy="1089422"/>
          </a:xfrm>
        </p:grpSpPr>
        <p:sp>
          <p:nvSpPr>
            <p:cNvPr id="26" name="TextBox 26"/>
            <p:cNvSpPr txBox="1"/>
            <p:nvPr/>
          </p:nvSpPr>
          <p:spPr>
            <a:xfrm>
              <a:off x="656272" y="4082891"/>
              <a:ext cx="1184900" cy="167640"/>
            </a:xfrm>
            <a:prstGeom prst="rect">
              <a:avLst/>
            </a:prstGeom>
            <a:noFill/>
            <a:ln>
              <a:noFill/>
            </a:ln>
          </p:spPr>
          <p:txBody>
            <a:bodyPr wrap="none" lIns="0" tIns="0" rIns="0" bIns="0" anchor="t" anchorCtr="0">
              <a:spAutoFit/>
            </a:bodyPr>
            <a:lstStyle/>
            <a:p>
              <a:pPr algn="l"/>
              <a:r>
                <a:rPr lang="zh-CN" sz="825" b="1" dirty="0">
                  <a:solidFill>
                    <a:srgbClr val="1F2328"/>
                  </a:solidFill>
                  <a:latin typeface="Arial"/>
                  <a:ea typeface="Microsoft YaHei"/>
                  <a:cs typeface="Arial"/>
                </a:rPr>
                <a:t>One-Hot 稀疏矩阵 X</a:t>
              </a:r>
            </a:p>
          </p:txBody>
        </p:sp>
        <p:sp>
          <p:nvSpPr>
            <p:cNvPr id="27" name="Rectangle 27"/>
            <p:cNvSpPr/>
            <p:nvPr/>
          </p:nvSpPr>
          <p:spPr>
            <a:xfrm>
              <a:off x="666750" y="4248150"/>
              <a:ext cx="2343150" cy="914400"/>
            </a:xfrm>
            <a:prstGeom prst="roundRect">
              <a:avLst>
                <a:gd name="adj" fmla="val 4167"/>
              </a:avLst>
            </a:prstGeom>
            <a:solidFill>
              <a:srgbClr val="FFFFFF"/>
            </a:solidFill>
            <a:ln w="6668">
              <a:solidFill>
                <a:srgbClr val="E4E7EB"/>
              </a:solidFill>
            </a:ln>
          </p:spPr>
        </p:sp>
        <p:sp>
          <p:nvSpPr>
            <p:cNvPr id="28" name="Rectangle 28"/>
            <p:cNvSpPr/>
            <p:nvPr/>
          </p:nvSpPr>
          <p:spPr>
            <a:xfrm>
              <a:off x="666750" y="4248150"/>
              <a:ext cx="2343150" cy="152400"/>
            </a:xfrm>
            <a:prstGeom prst="roundRect">
              <a:avLst>
                <a:gd name="adj" fmla="val 25000"/>
              </a:avLst>
            </a:prstGeom>
            <a:solidFill>
              <a:srgbClr val="EAF2FF"/>
            </a:solidFill>
            <a:ln>
              <a:noFill/>
            </a:ln>
          </p:spPr>
        </p:sp>
        <p:sp>
          <p:nvSpPr>
            <p:cNvPr id="29" name="TextBox 29"/>
            <p:cNvSpPr txBox="1"/>
            <p:nvPr/>
          </p:nvSpPr>
          <p:spPr>
            <a:xfrm>
              <a:off x="850009" y="4308205"/>
              <a:ext cx="166883" cy="102108"/>
            </a:xfrm>
            <a:prstGeom prst="rect">
              <a:avLst/>
            </a:prstGeom>
            <a:noFill/>
            <a:ln>
              <a:noFill/>
            </a:ln>
          </p:spPr>
          <p:txBody>
            <a:bodyPr wrap="none" lIns="0" tIns="0" rIns="0" bIns="0" anchor="t" anchorCtr="0">
              <a:spAutoFit/>
            </a:bodyPr>
            <a:lstStyle/>
            <a:p>
              <a:pPr algn="ctr"/>
              <a:r>
                <a:rPr lang="zh-CN" sz="502" b="1" dirty="0">
                  <a:solidFill>
                    <a:srgbClr val="4285F4"/>
                  </a:solidFill>
                  <a:latin typeface="Arial"/>
                  <a:ea typeface="Microsoft YaHei"/>
                  <a:cs typeface="Arial"/>
                </a:rPr>
                <a:t>词元</a:t>
              </a:r>
            </a:p>
          </p:txBody>
        </p:sp>
        <p:sp>
          <p:nvSpPr>
            <p:cNvPr id="30" name="TextBox 30"/>
            <p:cNvSpPr txBox="1"/>
            <p:nvPr/>
          </p:nvSpPr>
          <p:spPr>
            <a:xfrm>
              <a:off x="1251505" y="4308205"/>
              <a:ext cx="78264" cy="102108"/>
            </a:xfrm>
            <a:prstGeom prst="rect">
              <a:avLst/>
            </a:prstGeom>
            <a:noFill/>
            <a:ln>
              <a:noFill/>
            </a:ln>
          </p:spPr>
          <p:txBody>
            <a:bodyPr wrap="none" lIns="0" tIns="0" rIns="0" bIns="0" anchor="t" anchorCtr="0">
              <a:spAutoFit/>
            </a:bodyPr>
            <a:lstStyle/>
            <a:p>
              <a:pPr algn="ctr"/>
              <a:r>
                <a:rPr lang="zh-CN" sz="502" b="1" dirty="0">
                  <a:solidFill>
                    <a:srgbClr val="4285F4"/>
                  </a:solidFill>
                  <a:latin typeface="Consolas"/>
                  <a:ea typeface="Microsoft YaHei"/>
                  <a:cs typeface="Consolas"/>
                </a:rPr>
                <a:t>V1</a:t>
              </a:r>
            </a:p>
          </p:txBody>
        </p:sp>
        <p:sp>
          <p:nvSpPr>
            <p:cNvPr id="31" name="Line 31"/>
            <p:cNvSpPr/>
            <p:nvPr/>
          </p:nvSpPr>
          <p:spPr>
            <a:xfrm>
              <a:off x="1200150" y="424815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32" name="TextBox 32"/>
            <p:cNvSpPr txBox="1"/>
            <p:nvPr/>
          </p:nvSpPr>
          <p:spPr>
            <a:xfrm>
              <a:off x="1422848" y="4308205"/>
              <a:ext cx="97529" cy="102108"/>
            </a:xfrm>
            <a:prstGeom prst="rect">
              <a:avLst/>
            </a:prstGeom>
            <a:noFill/>
            <a:ln>
              <a:noFill/>
            </a:ln>
          </p:spPr>
          <p:txBody>
            <a:bodyPr wrap="none" lIns="0" tIns="0" rIns="0" bIns="0" anchor="t" anchorCtr="0">
              <a:spAutoFit/>
            </a:bodyPr>
            <a:lstStyle/>
            <a:p>
              <a:pPr algn="ctr"/>
              <a:r>
                <a:rPr lang="zh-CN" sz="502" b="1" dirty="0">
                  <a:solidFill>
                    <a:srgbClr val="4285F4"/>
                  </a:solidFill>
                  <a:latin typeface="Consolas"/>
                  <a:ea typeface="Microsoft YaHei"/>
                  <a:cs typeface="Consolas"/>
                </a:rPr>
                <a:t>V2</a:t>
              </a:r>
            </a:p>
          </p:txBody>
        </p:sp>
        <p:sp>
          <p:nvSpPr>
            <p:cNvPr id="33" name="Line 33"/>
            <p:cNvSpPr/>
            <p:nvPr/>
          </p:nvSpPr>
          <p:spPr>
            <a:xfrm>
              <a:off x="1381125" y="424815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34" name="TextBox 34"/>
            <p:cNvSpPr txBox="1"/>
            <p:nvPr/>
          </p:nvSpPr>
          <p:spPr>
            <a:xfrm>
              <a:off x="1603823" y="4308205"/>
              <a:ext cx="97529" cy="102108"/>
            </a:xfrm>
            <a:prstGeom prst="rect">
              <a:avLst/>
            </a:prstGeom>
            <a:noFill/>
            <a:ln>
              <a:noFill/>
            </a:ln>
          </p:spPr>
          <p:txBody>
            <a:bodyPr wrap="none" lIns="0" tIns="0" rIns="0" bIns="0" anchor="t" anchorCtr="0">
              <a:spAutoFit/>
            </a:bodyPr>
            <a:lstStyle/>
            <a:p>
              <a:pPr algn="ctr"/>
              <a:r>
                <a:rPr lang="zh-CN" sz="502" b="1" dirty="0">
                  <a:solidFill>
                    <a:srgbClr val="4285F4"/>
                  </a:solidFill>
                  <a:latin typeface="Consolas"/>
                  <a:ea typeface="Microsoft YaHei"/>
                  <a:cs typeface="Consolas"/>
                </a:rPr>
                <a:t>V3</a:t>
              </a:r>
            </a:p>
          </p:txBody>
        </p:sp>
        <p:sp>
          <p:nvSpPr>
            <p:cNvPr id="35" name="Line 35"/>
            <p:cNvSpPr/>
            <p:nvPr/>
          </p:nvSpPr>
          <p:spPr>
            <a:xfrm>
              <a:off x="1562100" y="424815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36" name="TextBox 36"/>
            <p:cNvSpPr txBox="1"/>
            <p:nvPr/>
          </p:nvSpPr>
          <p:spPr>
            <a:xfrm>
              <a:off x="1784798" y="4308205"/>
              <a:ext cx="97529" cy="102108"/>
            </a:xfrm>
            <a:prstGeom prst="rect">
              <a:avLst/>
            </a:prstGeom>
            <a:noFill/>
            <a:ln>
              <a:noFill/>
            </a:ln>
          </p:spPr>
          <p:txBody>
            <a:bodyPr wrap="none" lIns="0" tIns="0" rIns="0" bIns="0" anchor="t" anchorCtr="0">
              <a:spAutoFit/>
            </a:bodyPr>
            <a:lstStyle/>
            <a:p>
              <a:pPr algn="ctr"/>
              <a:r>
                <a:rPr lang="zh-CN" sz="502" b="1" dirty="0">
                  <a:solidFill>
                    <a:srgbClr val="4285F4"/>
                  </a:solidFill>
                  <a:latin typeface="Consolas"/>
                  <a:ea typeface="Microsoft YaHei"/>
                  <a:cs typeface="Consolas"/>
                </a:rPr>
                <a:t>V4</a:t>
              </a:r>
            </a:p>
          </p:txBody>
        </p:sp>
        <p:sp>
          <p:nvSpPr>
            <p:cNvPr id="37" name="Line 37"/>
            <p:cNvSpPr/>
            <p:nvPr/>
          </p:nvSpPr>
          <p:spPr>
            <a:xfrm>
              <a:off x="1743075" y="424815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38" name="TextBox 38"/>
            <p:cNvSpPr txBox="1"/>
            <p:nvPr/>
          </p:nvSpPr>
          <p:spPr>
            <a:xfrm>
              <a:off x="1965773" y="4308205"/>
              <a:ext cx="97529" cy="102108"/>
            </a:xfrm>
            <a:prstGeom prst="rect">
              <a:avLst/>
            </a:prstGeom>
            <a:noFill/>
            <a:ln>
              <a:noFill/>
            </a:ln>
          </p:spPr>
          <p:txBody>
            <a:bodyPr wrap="none" lIns="0" tIns="0" rIns="0" bIns="0" anchor="t" anchorCtr="0">
              <a:spAutoFit/>
            </a:bodyPr>
            <a:lstStyle/>
            <a:p>
              <a:pPr algn="ctr"/>
              <a:r>
                <a:rPr lang="zh-CN" sz="502" b="1" dirty="0">
                  <a:solidFill>
                    <a:srgbClr val="4285F4"/>
                  </a:solidFill>
                  <a:latin typeface="Consolas"/>
                  <a:ea typeface="Microsoft YaHei"/>
                  <a:cs typeface="Consolas"/>
                </a:rPr>
                <a:t>V5</a:t>
              </a:r>
            </a:p>
          </p:txBody>
        </p:sp>
        <p:sp>
          <p:nvSpPr>
            <p:cNvPr id="39" name="Line 39"/>
            <p:cNvSpPr/>
            <p:nvPr/>
          </p:nvSpPr>
          <p:spPr>
            <a:xfrm>
              <a:off x="1924050" y="424815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40" name="TextBox 40"/>
            <p:cNvSpPr txBox="1"/>
            <p:nvPr/>
          </p:nvSpPr>
          <p:spPr>
            <a:xfrm>
              <a:off x="2146748" y="4308205"/>
              <a:ext cx="97529" cy="102108"/>
            </a:xfrm>
            <a:prstGeom prst="rect">
              <a:avLst/>
            </a:prstGeom>
            <a:noFill/>
            <a:ln>
              <a:noFill/>
            </a:ln>
          </p:spPr>
          <p:txBody>
            <a:bodyPr wrap="none" lIns="0" tIns="0" rIns="0" bIns="0" anchor="t" anchorCtr="0">
              <a:spAutoFit/>
            </a:bodyPr>
            <a:lstStyle/>
            <a:p>
              <a:pPr algn="ctr"/>
              <a:r>
                <a:rPr lang="zh-CN" sz="502" b="1" dirty="0">
                  <a:solidFill>
                    <a:srgbClr val="4285F4"/>
                  </a:solidFill>
                  <a:latin typeface="Consolas"/>
                  <a:ea typeface="Microsoft YaHei"/>
                  <a:cs typeface="Consolas"/>
                </a:rPr>
                <a:t>V6</a:t>
              </a:r>
            </a:p>
          </p:txBody>
        </p:sp>
        <p:sp>
          <p:nvSpPr>
            <p:cNvPr id="41" name="Line 41"/>
            <p:cNvSpPr/>
            <p:nvPr/>
          </p:nvSpPr>
          <p:spPr>
            <a:xfrm>
              <a:off x="2105025" y="424815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42" name="TextBox 42"/>
            <p:cNvSpPr txBox="1"/>
            <p:nvPr/>
          </p:nvSpPr>
          <p:spPr>
            <a:xfrm>
              <a:off x="2327723" y="4308205"/>
              <a:ext cx="97529" cy="102108"/>
            </a:xfrm>
            <a:prstGeom prst="rect">
              <a:avLst/>
            </a:prstGeom>
            <a:noFill/>
            <a:ln>
              <a:noFill/>
            </a:ln>
          </p:spPr>
          <p:txBody>
            <a:bodyPr wrap="none" lIns="0" tIns="0" rIns="0" bIns="0" anchor="t" anchorCtr="0">
              <a:spAutoFit/>
            </a:bodyPr>
            <a:lstStyle/>
            <a:p>
              <a:pPr algn="ctr"/>
              <a:r>
                <a:rPr lang="zh-CN" sz="502" b="1" dirty="0">
                  <a:solidFill>
                    <a:srgbClr val="4285F4"/>
                  </a:solidFill>
                  <a:latin typeface="Consolas"/>
                  <a:ea typeface="Microsoft YaHei"/>
                  <a:cs typeface="Consolas"/>
                </a:rPr>
                <a:t>V7</a:t>
              </a:r>
            </a:p>
          </p:txBody>
        </p:sp>
        <p:sp>
          <p:nvSpPr>
            <p:cNvPr id="43" name="Line 43"/>
            <p:cNvSpPr/>
            <p:nvPr/>
          </p:nvSpPr>
          <p:spPr>
            <a:xfrm>
              <a:off x="2286000" y="424815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44" name="TextBox 44"/>
            <p:cNvSpPr txBox="1"/>
            <p:nvPr/>
          </p:nvSpPr>
          <p:spPr>
            <a:xfrm>
              <a:off x="2508698" y="4308205"/>
              <a:ext cx="97529" cy="102108"/>
            </a:xfrm>
            <a:prstGeom prst="rect">
              <a:avLst/>
            </a:prstGeom>
            <a:noFill/>
            <a:ln>
              <a:noFill/>
            </a:ln>
          </p:spPr>
          <p:txBody>
            <a:bodyPr wrap="none" lIns="0" tIns="0" rIns="0" bIns="0" anchor="t" anchorCtr="0">
              <a:spAutoFit/>
            </a:bodyPr>
            <a:lstStyle/>
            <a:p>
              <a:pPr algn="ctr"/>
              <a:r>
                <a:rPr lang="zh-CN" sz="502" b="1" dirty="0">
                  <a:solidFill>
                    <a:srgbClr val="4285F4"/>
                  </a:solidFill>
                  <a:latin typeface="Consolas"/>
                  <a:ea typeface="Microsoft YaHei"/>
                  <a:cs typeface="Consolas"/>
                </a:rPr>
                <a:t>V8</a:t>
              </a:r>
            </a:p>
          </p:txBody>
        </p:sp>
        <p:sp>
          <p:nvSpPr>
            <p:cNvPr id="45" name="Line 45"/>
            <p:cNvSpPr/>
            <p:nvPr/>
          </p:nvSpPr>
          <p:spPr>
            <a:xfrm>
              <a:off x="2466975" y="424815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46" name="TextBox 46"/>
            <p:cNvSpPr txBox="1"/>
            <p:nvPr/>
          </p:nvSpPr>
          <p:spPr>
            <a:xfrm>
              <a:off x="2689673" y="4308205"/>
              <a:ext cx="97529" cy="102108"/>
            </a:xfrm>
            <a:prstGeom prst="rect">
              <a:avLst/>
            </a:prstGeom>
            <a:noFill/>
            <a:ln>
              <a:noFill/>
            </a:ln>
          </p:spPr>
          <p:txBody>
            <a:bodyPr wrap="none" lIns="0" tIns="0" rIns="0" bIns="0" anchor="t" anchorCtr="0">
              <a:spAutoFit/>
            </a:bodyPr>
            <a:lstStyle/>
            <a:p>
              <a:pPr algn="ctr"/>
              <a:r>
                <a:rPr lang="zh-CN" sz="502" b="1" dirty="0">
                  <a:solidFill>
                    <a:srgbClr val="4285F4"/>
                  </a:solidFill>
                  <a:latin typeface="Consolas"/>
                  <a:ea typeface="Microsoft YaHei"/>
                  <a:cs typeface="Consolas"/>
                </a:rPr>
                <a:t>V9</a:t>
              </a:r>
            </a:p>
          </p:txBody>
        </p:sp>
        <p:sp>
          <p:nvSpPr>
            <p:cNvPr id="47" name="Line 47"/>
            <p:cNvSpPr/>
            <p:nvPr/>
          </p:nvSpPr>
          <p:spPr>
            <a:xfrm>
              <a:off x="2647950" y="424815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48" name="TextBox 48"/>
            <p:cNvSpPr txBox="1"/>
            <p:nvPr/>
          </p:nvSpPr>
          <p:spPr>
            <a:xfrm>
              <a:off x="2859089" y="4308205"/>
              <a:ext cx="120647" cy="102108"/>
            </a:xfrm>
            <a:prstGeom prst="rect">
              <a:avLst/>
            </a:prstGeom>
            <a:noFill/>
            <a:ln>
              <a:noFill/>
            </a:ln>
          </p:spPr>
          <p:txBody>
            <a:bodyPr wrap="none" lIns="0" tIns="0" rIns="0" bIns="0" anchor="t" anchorCtr="0">
              <a:spAutoFit/>
            </a:bodyPr>
            <a:lstStyle/>
            <a:p>
              <a:pPr algn="ctr"/>
              <a:r>
                <a:rPr lang="zh-CN" sz="502" b="1" dirty="0">
                  <a:solidFill>
                    <a:srgbClr val="4285F4"/>
                  </a:solidFill>
                  <a:latin typeface="Consolas"/>
                  <a:ea typeface="Microsoft YaHei"/>
                  <a:cs typeface="Consolas"/>
                </a:rPr>
                <a:t>V10</a:t>
              </a:r>
            </a:p>
          </p:txBody>
        </p:sp>
        <p:sp>
          <p:nvSpPr>
            <p:cNvPr id="49" name="Line 49"/>
            <p:cNvSpPr/>
            <p:nvPr/>
          </p:nvSpPr>
          <p:spPr>
            <a:xfrm>
              <a:off x="2828925" y="424815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50" name="Line 50"/>
            <p:cNvSpPr/>
            <p:nvPr/>
          </p:nvSpPr>
          <p:spPr>
            <a:xfrm>
              <a:off x="666750" y="4400550"/>
              <a:ext cx="2343150" cy="9525"/>
            </a:xfrm>
            <a:custGeom>
              <a:avLst/>
              <a:gdLst/>
              <a:ahLst/>
              <a:cxnLst/>
              <a:rect l="l" t="t" r="r" b="b"/>
              <a:pathLst>
                <a:path w="2343150" h="9525">
                  <a:moveTo>
                    <a:pt x="0" y="0"/>
                  </a:moveTo>
                  <a:lnTo>
                    <a:pt x="2343150" y="0"/>
                  </a:lnTo>
                </a:path>
              </a:pathLst>
            </a:custGeom>
            <a:noFill/>
            <a:ln w="6668">
              <a:solidFill>
                <a:srgbClr val="E4E7EB"/>
              </a:solidFill>
            </a:ln>
          </p:spPr>
        </p:sp>
        <p:sp>
          <p:nvSpPr>
            <p:cNvPr id="51" name="TextBox 51"/>
            <p:cNvSpPr txBox="1"/>
            <p:nvPr/>
          </p:nvSpPr>
          <p:spPr>
            <a:xfrm>
              <a:off x="780288" y="4460605"/>
              <a:ext cx="306324"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Arial"/>
                  <a:ea typeface="Microsoft YaHei"/>
                  <a:cs typeface="Arial"/>
                </a:rPr>
                <a:t>中国银行</a:t>
              </a:r>
            </a:p>
          </p:txBody>
        </p:sp>
        <p:sp>
          <p:nvSpPr>
            <p:cNvPr id="52" name="TextBox 52"/>
            <p:cNvSpPr txBox="1"/>
            <p:nvPr/>
          </p:nvSpPr>
          <p:spPr>
            <a:xfrm>
              <a:off x="1264073" y="44606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53" name="TextBox 53"/>
            <p:cNvSpPr txBox="1"/>
            <p:nvPr/>
          </p:nvSpPr>
          <p:spPr>
            <a:xfrm>
              <a:off x="1445048" y="44606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54" name="TextBox 54"/>
            <p:cNvSpPr txBox="1"/>
            <p:nvPr/>
          </p:nvSpPr>
          <p:spPr>
            <a:xfrm>
              <a:off x="1634647" y="4460605"/>
              <a:ext cx="35881" cy="102108"/>
            </a:xfrm>
            <a:prstGeom prst="rect">
              <a:avLst/>
            </a:prstGeom>
            <a:noFill/>
            <a:ln>
              <a:noFill/>
            </a:ln>
          </p:spPr>
          <p:txBody>
            <a:bodyPr wrap="none" lIns="0" tIns="0" rIns="0" bIns="0" anchor="t" anchorCtr="0">
              <a:spAutoFit/>
            </a:bodyPr>
            <a:lstStyle/>
            <a:p>
              <a:pPr algn="ctr"/>
              <a:r>
                <a:rPr lang="zh-CN" sz="502" b="1" dirty="0">
                  <a:solidFill>
                    <a:srgbClr val="A50021"/>
                  </a:solidFill>
                  <a:latin typeface="Consolas"/>
                  <a:ea typeface="Microsoft YaHei"/>
                  <a:cs typeface="Consolas"/>
                </a:rPr>
                <a:t>1</a:t>
              </a:r>
            </a:p>
          </p:txBody>
        </p:sp>
        <p:sp>
          <p:nvSpPr>
            <p:cNvPr id="55" name="TextBox 55"/>
            <p:cNvSpPr txBox="1"/>
            <p:nvPr/>
          </p:nvSpPr>
          <p:spPr>
            <a:xfrm>
              <a:off x="1806998" y="44606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56" name="TextBox 56"/>
            <p:cNvSpPr txBox="1"/>
            <p:nvPr/>
          </p:nvSpPr>
          <p:spPr>
            <a:xfrm>
              <a:off x="1987973" y="44606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57" name="TextBox 57"/>
            <p:cNvSpPr txBox="1"/>
            <p:nvPr/>
          </p:nvSpPr>
          <p:spPr>
            <a:xfrm>
              <a:off x="2168948" y="44606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58" name="TextBox 58"/>
            <p:cNvSpPr txBox="1"/>
            <p:nvPr/>
          </p:nvSpPr>
          <p:spPr>
            <a:xfrm>
              <a:off x="2349923" y="44606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59" name="TextBox 59"/>
            <p:cNvSpPr txBox="1"/>
            <p:nvPr/>
          </p:nvSpPr>
          <p:spPr>
            <a:xfrm>
              <a:off x="2530898" y="44606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60" name="TextBox 60"/>
            <p:cNvSpPr txBox="1"/>
            <p:nvPr/>
          </p:nvSpPr>
          <p:spPr>
            <a:xfrm>
              <a:off x="2711873" y="44606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61" name="TextBox 61"/>
            <p:cNvSpPr txBox="1"/>
            <p:nvPr/>
          </p:nvSpPr>
          <p:spPr>
            <a:xfrm>
              <a:off x="2892848" y="44606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62" name="Rectangle 62"/>
            <p:cNvSpPr/>
            <p:nvPr/>
          </p:nvSpPr>
          <p:spPr>
            <a:xfrm>
              <a:off x="666750" y="4552950"/>
              <a:ext cx="2343150" cy="152400"/>
            </a:xfrm>
            <a:prstGeom prst="rect">
              <a:avLst/>
            </a:prstGeom>
            <a:solidFill>
              <a:srgbClr val="F8F9FA"/>
            </a:solidFill>
            <a:ln>
              <a:noFill/>
            </a:ln>
          </p:spPr>
        </p:sp>
        <p:sp>
          <p:nvSpPr>
            <p:cNvPr id="63" name="TextBox 63"/>
            <p:cNvSpPr txBox="1"/>
            <p:nvPr/>
          </p:nvSpPr>
          <p:spPr>
            <a:xfrm>
              <a:off x="890373" y="4613005"/>
              <a:ext cx="86154"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Arial"/>
                  <a:ea typeface="Microsoft YaHei"/>
                  <a:cs typeface="Arial"/>
                </a:rPr>
                <a:t>是</a:t>
              </a:r>
            </a:p>
          </p:txBody>
        </p:sp>
        <p:sp>
          <p:nvSpPr>
            <p:cNvPr id="64" name="TextBox 64"/>
            <p:cNvSpPr txBox="1"/>
            <p:nvPr/>
          </p:nvSpPr>
          <p:spPr>
            <a:xfrm>
              <a:off x="1264073" y="46130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65" name="TextBox 65"/>
            <p:cNvSpPr txBox="1"/>
            <p:nvPr/>
          </p:nvSpPr>
          <p:spPr>
            <a:xfrm>
              <a:off x="1445048" y="46130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66" name="TextBox 66"/>
            <p:cNvSpPr txBox="1"/>
            <p:nvPr/>
          </p:nvSpPr>
          <p:spPr>
            <a:xfrm>
              <a:off x="1626023" y="46130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67" name="TextBox 67"/>
            <p:cNvSpPr txBox="1"/>
            <p:nvPr/>
          </p:nvSpPr>
          <p:spPr>
            <a:xfrm>
              <a:off x="1806998" y="46130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68" name="TextBox 68"/>
            <p:cNvSpPr txBox="1"/>
            <p:nvPr/>
          </p:nvSpPr>
          <p:spPr>
            <a:xfrm>
              <a:off x="1987973" y="46130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69" name="TextBox 69"/>
            <p:cNvSpPr txBox="1"/>
            <p:nvPr/>
          </p:nvSpPr>
          <p:spPr>
            <a:xfrm>
              <a:off x="2168948" y="46130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70" name="TextBox 70"/>
            <p:cNvSpPr txBox="1"/>
            <p:nvPr/>
          </p:nvSpPr>
          <p:spPr>
            <a:xfrm>
              <a:off x="2349923" y="46130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71" name="TextBox 71"/>
            <p:cNvSpPr txBox="1"/>
            <p:nvPr/>
          </p:nvSpPr>
          <p:spPr>
            <a:xfrm>
              <a:off x="2539522" y="4613005"/>
              <a:ext cx="35881" cy="102108"/>
            </a:xfrm>
            <a:prstGeom prst="rect">
              <a:avLst/>
            </a:prstGeom>
            <a:noFill/>
            <a:ln>
              <a:noFill/>
            </a:ln>
          </p:spPr>
          <p:txBody>
            <a:bodyPr wrap="none" lIns="0" tIns="0" rIns="0" bIns="0" anchor="t" anchorCtr="0">
              <a:spAutoFit/>
            </a:bodyPr>
            <a:lstStyle/>
            <a:p>
              <a:pPr algn="ctr"/>
              <a:r>
                <a:rPr lang="zh-CN" sz="502" b="1" dirty="0">
                  <a:solidFill>
                    <a:srgbClr val="A50021"/>
                  </a:solidFill>
                  <a:latin typeface="Consolas"/>
                  <a:ea typeface="Microsoft YaHei"/>
                  <a:cs typeface="Consolas"/>
                </a:rPr>
                <a:t>1</a:t>
              </a:r>
            </a:p>
          </p:txBody>
        </p:sp>
        <p:sp>
          <p:nvSpPr>
            <p:cNvPr id="72" name="TextBox 72"/>
            <p:cNvSpPr txBox="1"/>
            <p:nvPr/>
          </p:nvSpPr>
          <p:spPr>
            <a:xfrm>
              <a:off x="2711873" y="46130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73" name="TextBox 73"/>
            <p:cNvSpPr txBox="1"/>
            <p:nvPr/>
          </p:nvSpPr>
          <p:spPr>
            <a:xfrm>
              <a:off x="2892848" y="46130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74" name="TextBox 74"/>
            <p:cNvSpPr txBox="1"/>
            <p:nvPr/>
          </p:nvSpPr>
          <p:spPr>
            <a:xfrm>
              <a:off x="853678" y="4765405"/>
              <a:ext cx="159544"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Arial"/>
                  <a:ea typeface="Microsoft YaHei"/>
                  <a:cs typeface="Arial"/>
                </a:rPr>
                <a:t>世界</a:t>
              </a:r>
            </a:p>
          </p:txBody>
        </p:sp>
        <p:sp>
          <p:nvSpPr>
            <p:cNvPr id="75" name="TextBox 75"/>
            <p:cNvSpPr txBox="1"/>
            <p:nvPr/>
          </p:nvSpPr>
          <p:spPr>
            <a:xfrm>
              <a:off x="1264073" y="47654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76" name="TextBox 76"/>
            <p:cNvSpPr txBox="1"/>
            <p:nvPr/>
          </p:nvSpPr>
          <p:spPr>
            <a:xfrm>
              <a:off x="1453672" y="4765405"/>
              <a:ext cx="35881" cy="102108"/>
            </a:xfrm>
            <a:prstGeom prst="rect">
              <a:avLst/>
            </a:prstGeom>
            <a:noFill/>
            <a:ln>
              <a:noFill/>
            </a:ln>
          </p:spPr>
          <p:txBody>
            <a:bodyPr wrap="none" lIns="0" tIns="0" rIns="0" bIns="0" anchor="t" anchorCtr="0">
              <a:spAutoFit/>
            </a:bodyPr>
            <a:lstStyle/>
            <a:p>
              <a:pPr algn="ctr"/>
              <a:r>
                <a:rPr lang="zh-CN" sz="502" b="1" dirty="0">
                  <a:solidFill>
                    <a:srgbClr val="A50021"/>
                  </a:solidFill>
                  <a:latin typeface="Consolas"/>
                  <a:ea typeface="Microsoft YaHei"/>
                  <a:cs typeface="Consolas"/>
                </a:rPr>
                <a:t>1</a:t>
              </a:r>
            </a:p>
          </p:txBody>
        </p:sp>
        <p:sp>
          <p:nvSpPr>
            <p:cNvPr id="77" name="TextBox 77"/>
            <p:cNvSpPr txBox="1"/>
            <p:nvPr/>
          </p:nvSpPr>
          <p:spPr>
            <a:xfrm>
              <a:off x="1626023" y="47654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78" name="TextBox 78"/>
            <p:cNvSpPr txBox="1"/>
            <p:nvPr/>
          </p:nvSpPr>
          <p:spPr>
            <a:xfrm>
              <a:off x="1806998" y="47654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79" name="TextBox 79"/>
            <p:cNvSpPr txBox="1"/>
            <p:nvPr/>
          </p:nvSpPr>
          <p:spPr>
            <a:xfrm>
              <a:off x="1987973" y="47654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80" name="TextBox 80"/>
            <p:cNvSpPr txBox="1"/>
            <p:nvPr/>
          </p:nvSpPr>
          <p:spPr>
            <a:xfrm>
              <a:off x="2168948" y="47654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81" name="TextBox 81"/>
            <p:cNvSpPr txBox="1"/>
            <p:nvPr/>
          </p:nvSpPr>
          <p:spPr>
            <a:xfrm>
              <a:off x="2349923" y="47654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82" name="TextBox 82"/>
            <p:cNvSpPr txBox="1"/>
            <p:nvPr/>
          </p:nvSpPr>
          <p:spPr>
            <a:xfrm>
              <a:off x="2530898" y="47654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83" name="TextBox 83"/>
            <p:cNvSpPr txBox="1"/>
            <p:nvPr/>
          </p:nvSpPr>
          <p:spPr>
            <a:xfrm>
              <a:off x="2711873" y="47654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84" name="TextBox 84"/>
            <p:cNvSpPr txBox="1"/>
            <p:nvPr/>
          </p:nvSpPr>
          <p:spPr>
            <a:xfrm>
              <a:off x="2892848" y="47654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85" name="Rectangle 85"/>
            <p:cNvSpPr/>
            <p:nvPr/>
          </p:nvSpPr>
          <p:spPr>
            <a:xfrm>
              <a:off x="666750" y="4857750"/>
              <a:ext cx="2343150" cy="152400"/>
            </a:xfrm>
            <a:prstGeom prst="rect">
              <a:avLst/>
            </a:prstGeom>
            <a:solidFill>
              <a:srgbClr val="F8F9FA"/>
            </a:solidFill>
            <a:ln>
              <a:noFill/>
            </a:ln>
          </p:spPr>
        </p:sp>
        <p:sp>
          <p:nvSpPr>
            <p:cNvPr id="86" name="TextBox 86"/>
            <p:cNvSpPr txBox="1"/>
            <p:nvPr/>
          </p:nvSpPr>
          <p:spPr>
            <a:xfrm>
              <a:off x="853678" y="4917805"/>
              <a:ext cx="159544"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Arial"/>
                  <a:ea typeface="Microsoft YaHei"/>
                  <a:cs typeface="Arial"/>
                </a:rPr>
                <a:t>一流</a:t>
              </a:r>
            </a:p>
          </p:txBody>
        </p:sp>
        <p:sp>
          <p:nvSpPr>
            <p:cNvPr id="87" name="TextBox 87"/>
            <p:cNvSpPr txBox="1"/>
            <p:nvPr/>
          </p:nvSpPr>
          <p:spPr>
            <a:xfrm>
              <a:off x="1264073" y="49178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88" name="TextBox 88"/>
            <p:cNvSpPr txBox="1"/>
            <p:nvPr/>
          </p:nvSpPr>
          <p:spPr>
            <a:xfrm>
              <a:off x="1445048" y="49178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89" name="TextBox 89"/>
            <p:cNvSpPr txBox="1"/>
            <p:nvPr/>
          </p:nvSpPr>
          <p:spPr>
            <a:xfrm>
              <a:off x="1626023" y="49178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90" name="TextBox 90"/>
            <p:cNvSpPr txBox="1"/>
            <p:nvPr/>
          </p:nvSpPr>
          <p:spPr>
            <a:xfrm>
              <a:off x="1806998" y="49178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91" name="TextBox 91"/>
            <p:cNvSpPr txBox="1"/>
            <p:nvPr/>
          </p:nvSpPr>
          <p:spPr>
            <a:xfrm>
              <a:off x="1987973" y="49178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92" name="TextBox 92"/>
            <p:cNvSpPr txBox="1"/>
            <p:nvPr/>
          </p:nvSpPr>
          <p:spPr>
            <a:xfrm>
              <a:off x="2168948" y="49178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93" name="TextBox 93"/>
            <p:cNvSpPr txBox="1"/>
            <p:nvPr/>
          </p:nvSpPr>
          <p:spPr>
            <a:xfrm>
              <a:off x="2349923" y="49178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94" name="TextBox 94"/>
            <p:cNvSpPr txBox="1"/>
            <p:nvPr/>
          </p:nvSpPr>
          <p:spPr>
            <a:xfrm>
              <a:off x="2530898" y="49178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95" name="TextBox 95"/>
            <p:cNvSpPr txBox="1"/>
            <p:nvPr/>
          </p:nvSpPr>
          <p:spPr>
            <a:xfrm>
              <a:off x="2711873" y="49178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96" name="TextBox 96"/>
            <p:cNvSpPr txBox="1"/>
            <p:nvPr/>
          </p:nvSpPr>
          <p:spPr>
            <a:xfrm>
              <a:off x="2901472" y="4917805"/>
              <a:ext cx="35881" cy="102108"/>
            </a:xfrm>
            <a:prstGeom prst="rect">
              <a:avLst/>
            </a:prstGeom>
            <a:noFill/>
            <a:ln>
              <a:noFill/>
            </a:ln>
          </p:spPr>
          <p:txBody>
            <a:bodyPr wrap="none" lIns="0" tIns="0" rIns="0" bIns="0" anchor="t" anchorCtr="0">
              <a:spAutoFit/>
            </a:bodyPr>
            <a:lstStyle/>
            <a:p>
              <a:pPr algn="ctr"/>
              <a:r>
                <a:rPr lang="zh-CN" sz="502" b="1" dirty="0">
                  <a:solidFill>
                    <a:srgbClr val="A50021"/>
                  </a:solidFill>
                  <a:latin typeface="Consolas"/>
                  <a:ea typeface="Microsoft YaHei"/>
                  <a:cs typeface="Consolas"/>
                </a:rPr>
                <a:t>1</a:t>
              </a:r>
            </a:p>
          </p:txBody>
        </p:sp>
        <p:sp>
          <p:nvSpPr>
            <p:cNvPr id="97" name="TextBox 97"/>
            <p:cNvSpPr txBox="1"/>
            <p:nvPr/>
          </p:nvSpPr>
          <p:spPr>
            <a:xfrm>
              <a:off x="853678" y="5070205"/>
              <a:ext cx="159544"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Arial"/>
                  <a:ea typeface="Microsoft YaHei"/>
                  <a:cs typeface="Arial"/>
                </a:rPr>
                <a:t>银行</a:t>
              </a:r>
            </a:p>
          </p:txBody>
        </p:sp>
        <p:sp>
          <p:nvSpPr>
            <p:cNvPr id="98" name="TextBox 98"/>
            <p:cNvSpPr txBox="1"/>
            <p:nvPr/>
          </p:nvSpPr>
          <p:spPr>
            <a:xfrm>
              <a:off x="1264073" y="50702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99" name="TextBox 99"/>
            <p:cNvSpPr txBox="1"/>
            <p:nvPr/>
          </p:nvSpPr>
          <p:spPr>
            <a:xfrm>
              <a:off x="1445048" y="50702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100" name="TextBox 100"/>
            <p:cNvSpPr txBox="1"/>
            <p:nvPr/>
          </p:nvSpPr>
          <p:spPr>
            <a:xfrm>
              <a:off x="1626023" y="50702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101" name="TextBox 101"/>
            <p:cNvSpPr txBox="1"/>
            <p:nvPr/>
          </p:nvSpPr>
          <p:spPr>
            <a:xfrm>
              <a:off x="1806998" y="50702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102" name="TextBox 102"/>
            <p:cNvSpPr txBox="1"/>
            <p:nvPr/>
          </p:nvSpPr>
          <p:spPr>
            <a:xfrm>
              <a:off x="1996597" y="5070205"/>
              <a:ext cx="35881" cy="102108"/>
            </a:xfrm>
            <a:prstGeom prst="rect">
              <a:avLst/>
            </a:prstGeom>
            <a:noFill/>
            <a:ln>
              <a:noFill/>
            </a:ln>
          </p:spPr>
          <p:txBody>
            <a:bodyPr wrap="none" lIns="0" tIns="0" rIns="0" bIns="0" anchor="t" anchorCtr="0">
              <a:spAutoFit/>
            </a:bodyPr>
            <a:lstStyle/>
            <a:p>
              <a:pPr algn="ctr"/>
              <a:r>
                <a:rPr lang="zh-CN" sz="502" b="1" dirty="0">
                  <a:solidFill>
                    <a:srgbClr val="A50021"/>
                  </a:solidFill>
                  <a:latin typeface="Consolas"/>
                  <a:ea typeface="Microsoft YaHei"/>
                  <a:cs typeface="Consolas"/>
                </a:rPr>
                <a:t>1</a:t>
              </a:r>
            </a:p>
          </p:txBody>
        </p:sp>
        <p:sp>
          <p:nvSpPr>
            <p:cNvPr id="103" name="TextBox 103"/>
            <p:cNvSpPr txBox="1"/>
            <p:nvPr/>
          </p:nvSpPr>
          <p:spPr>
            <a:xfrm>
              <a:off x="2168948" y="50702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104" name="TextBox 104"/>
            <p:cNvSpPr txBox="1"/>
            <p:nvPr/>
          </p:nvSpPr>
          <p:spPr>
            <a:xfrm>
              <a:off x="2349923" y="50702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105" name="TextBox 105"/>
            <p:cNvSpPr txBox="1"/>
            <p:nvPr/>
          </p:nvSpPr>
          <p:spPr>
            <a:xfrm>
              <a:off x="2530898" y="50702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106" name="TextBox 106"/>
            <p:cNvSpPr txBox="1"/>
            <p:nvPr/>
          </p:nvSpPr>
          <p:spPr>
            <a:xfrm>
              <a:off x="2711873" y="50702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sp>
          <p:nvSpPr>
            <p:cNvPr id="107" name="TextBox 107"/>
            <p:cNvSpPr txBox="1"/>
            <p:nvPr/>
          </p:nvSpPr>
          <p:spPr>
            <a:xfrm>
              <a:off x="2892848" y="5070205"/>
              <a:ext cx="53128" cy="102108"/>
            </a:xfrm>
            <a:prstGeom prst="rect">
              <a:avLst/>
            </a:prstGeom>
            <a:noFill/>
            <a:ln>
              <a:noFill/>
            </a:ln>
          </p:spPr>
          <p:txBody>
            <a:bodyPr wrap="none" lIns="0" tIns="0" rIns="0" bIns="0" anchor="t" anchorCtr="0">
              <a:spAutoFit/>
            </a:bodyPr>
            <a:lstStyle/>
            <a:p>
              <a:pPr algn="ctr"/>
              <a:r>
                <a:rPr lang="zh-CN" sz="502" dirty="0">
                  <a:solidFill>
                    <a:srgbClr val="5F6368"/>
                  </a:solidFill>
                  <a:latin typeface="Consolas"/>
                  <a:ea typeface="Microsoft YaHei"/>
                  <a:cs typeface="Consolas"/>
                </a:rPr>
                <a:t>0</a:t>
              </a:r>
            </a:p>
          </p:txBody>
        </p:sp>
      </p:grpSp>
      <p:sp>
        <p:nvSpPr>
          <p:cNvPr id="111" name="Line 111"/>
          <p:cNvSpPr/>
          <p:nvPr/>
        </p:nvSpPr>
        <p:spPr>
          <a:xfrm>
            <a:off x="3543300" y="3810000"/>
            <a:ext cx="161925" cy="9525"/>
          </a:xfrm>
          <a:custGeom>
            <a:avLst/>
            <a:gdLst/>
            <a:ahLst/>
            <a:cxnLst/>
            <a:rect l="l" t="t" r="r" b="b"/>
            <a:pathLst>
              <a:path w="161925" h="9525">
                <a:moveTo>
                  <a:pt x="0" y="0"/>
                </a:moveTo>
                <a:lnTo>
                  <a:pt x="161925" y="0"/>
                </a:lnTo>
              </a:path>
            </a:pathLst>
          </a:custGeom>
          <a:noFill/>
          <a:ln w="22860">
            <a:solidFill>
              <a:srgbClr val="A50021"/>
            </a:solidFill>
          </a:ln>
        </p:spPr>
      </p:sp>
      <p:sp>
        <p:nvSpPr>
          <p:cNvPr id="112" name="Line 112"/>
          <p:cNvSpPr/>
          <p:nvPr/>
        </p:nvSpPr>
        <p:spPr>
          <a:xfrm>
            <a:off x="3705225" y="2743200"/>
            <a:ext cx="9525" cy="2152650"/>
          </a:xfrm>
          <a:custGeom>
            <a:avLst/>
            <a:gdLst/>
            <a:ahLst/>
            <a:cxnLst/>
            <a:rect l="l" t="t" r="r" b="b"/>
            <a:pathLst>
              <a:path w="9525" h="2152650">
                <a:moveTo>
                  <a:pt x="0" y="0"/>
                </a:moveTo>
                <a:lnTo>
                  <a:pt x="0" y="2152650"/>
                </a:lnTo>
              </a:path>
            </a:pathLst>
          </a:custGeom>
          <a:noFill/>
          <a:ln w="22860">
            <a:solidFill>
              <a:srgbClr val="A50021"/>
            </a:solidFill>
          </a:ln>
        </p:spPr>
      </p:sp>
      <p:sp>
        <p:nvSpPr>
          <p:cNvPr id="113" name="Line 113"/>
          <p:cNvSpPr/>
          <p:nvPr/>
        </p:nvSpPr>
        <p:spPr>
          <a:xfrm>
            <a:off x="3705225" y="2743200"/>
            <a:ext cx="200025" cy="1"/>
          </a:xfrm>
          <a:prstGeom prst="line">
            <a:avLst/>
          </a:prstGeom>
          <a:noFill/>
          <a:ln w="22860">
            <a:solidFill>
              <a:srgbClr val="C62828"/>
            </a:solidFill>
            <a:tailEnd type="triangle" w="lg" len="lg"/>
          </a:ln>
        </p:spPr>
      </p:sp>
      <p:sp>
        <p:nvSpPr>
          <p:cNvPr id="114" name="Line 114"/>
          <p:cNvSpPr/>
          <p:nvPr/>
        </p:nvSpPr>
        <p:spPr>
          <a:xfrm>
            <a:off x="3705225" y="4895850"/>
            <a:ext cx="200025" cy="1"/>
          </a:xfrm>
          <a:prstGeom prst="line">
            <a:avLst/>
          </a:prstGeom>
          <a:noFill/>
          <a:ln w="22860">
            <a:solidFill>
              <a:srgbClr val="2E7D32"/>
            </a:solidFill>
            <a:tailEnd type="triangle" w="lg" len="lg"/>
          </a:ln>
        </p:spPr>
      </p:sp>
      <p:sp>
        <p:nvSpPr>
          <p:cNvPr id="115" name="TextBox 115"/>
          <p:cNvSpPr txBox="1"/>
          <p:nvPr/>
        </p:nvSpPr>
        <p:spPr>
          <a:xfrm>
            <a:off x="3593281" y="3644741"/>
            <a:ext cx="90539" cy="167640"/>
          </a:xfrm>
          <a:prstGeom prst="rect">
            <a:avLst/>
          </a:prstGeom>
          <a:noFill/>
          <a:ln>
            <a:noFill/>
          </a:ln>
        </p:spPr>
        <p:txBody>
          <a:bodyPr wrap="none" lIns="0" tIns="0" rIns="0" bIns="0" anchor="t" anchorCtr="0">
            <a:spAutoFit/>
          </a:bodyPr>
          <a:lstStyle/>
          <a:p>
            <a:pPr algn="ctr"/>
            <a:r>
              <a:rPr lang="zh-CN" sz="825" b="1" dirty="0">
                <a:solidFill>
                  <a:srgbClr val="A50021"/>
                </a:solidFill>
                <a:latin typeface="Arial"/>
                <a:ea typeface="Microsoft YaHei"/>
                <a:cs typeface="Arial"/>
              </a:rPr>
              <a:t>X</a:t>
            </a:r>
          </a:p>
        </p:txBody>
      </p:sp>
      <p:sp>
        <p:nvSpPr>
          <p:cNvPr id="117" name="Rectangle 117"/>
          <p:cNvSpPr/>
          <p:nvPr/>
        </p:nvSpPr>
        <p:spPr>
          <a:xfrm>
            <a:off x="3905250" y="1485900"/>
            <a:ext cx="7715250" cy="2266950"/>
          </a:xfrm>
          <a:prstGeom prst="roundRect">
            <a:avLst>
              <a:gd name="adj" fmla="val 4202"/>
            </a:avLst>
          </a:prstGeom>
          <a:solidFill>
            <a:srgbClr val="FFFFFF"/>
          </a:solidFill>
          <a:ln w="9525">
            <a:solidFill>
              <a:srgbClr val="E4E7EB"/>
            </a:solidFill>
          </a:ln>
        </p:spPr>
      </p:sp>
      <p:sp>
        <p:nvSpPr>
          <p:cNvPr id="118" name="TextBox 118"/>
          <p:cNvSpPr txBox="1"/>
          <p:nvPr/>
        </p:nvSpPr>
        <p:spPr>
          <a:xfrm>
            <a:off x="4043362" y="1593056"/>
            <a:ext cx="1546898" cy="173124"/>
          </a:xfrm>
          <a:prstGeom prst="rect">
            <a:avLst/>
          </a:prstGeom>
          <a:noFill/>
          <a:ln>
            <a:noFill/>
          </a:ln>
        </p:spPr>
        <p:txBody>
          <a:bodyPr wrap="none" lIns="0" tIns="0" rIns="0" bIns="0" anchor="t" anchorCtr="0">
            <a:spAutoFit/>
          </a:bodyPr>
          <a:lstStyle/>
          <a:p>
            <a:pPr algn="l"/>
            <a:r>
              <a:rPr lang="zh-CN" sz="1125" b="1" dirty="0">
                <a:solidFill>
                  <a:srgbClr val="C62828"/>
                </a:solidFill>
                <a:latin typeface="Arial"/>
                <a:ea typeface="SimHei"/>
                <a:cs typeface="Arial"/>
              </a:rPr>
              <a:t>不好的 Embedding</a:t>
            </a:r>
            <a:r>
              <a:rPr lang="zh-CN" altLang="en-US" sz="1125" b="1" dirty="0">
                <a:solidFill>
                  <a:srgbClr val="C62828"/>
                </a:solidFill>
                <a:latin typeface="Arial"/>
                <a:ea typeface="SimHei"/>
                <a:cs typeface="Arial"/>
              </a:rPr>
              <a:t>参数</a:t>
            </a:r>
            <a:endParaRPr lang="zh-CN" sz="1125" b="1" dirty="0">
              <a:solidFill>
                <a:srgbClr val="C62828"/>
              </a:solidFill>
              <a:latin typeface="Arial"/>
              <a:ea typeface="SimHei"/>
              <a:cs typeface="Arial"/>
            </a:endParaRPr>
          </a:p>
        </p:txBody>
      </p:sp>
      <p:sp>
        <p:nvSpPr>
          <p:cNvPr id="119" name="Rectangle 119"/>
          <p:cNvSpPr/>
          <p:nvPr/>
        </p:nvSpPr>
        <p:spPr>
          <a:xfrm>
            <a:off x="4057650" y="1857375"/>
            <a:ext cx="2647950" cy="1714500"/>
          </a:xfrm>
          <a:prstGeom prst="roundRect">
            <a:avLst>
              <a:gd name="adj" fmla="val 4444"/>
            </a:avLst>
          </a:prstGeom>
          <a:solidFill>
            <a:srgbClr val="FFFFFF"/>
          </a:solidFill>
          <a:ln w="12382">
            <a:solidFill>
              <a:srgbClr val="C62828"/>
            </a:solidFill>
          </a:ln>
        </p:spPr>
      </p:sp>
      <p:sp>
        <p:nvSpPr>
          <p:cNvPr id="120" name="TextBox 120"/>
          <p:cNvSpPr txBox="1"/>
          <p:nvPr/>
        </p:nvSpPr>
        <p:spPr>
          <a:xfrm>
            <a:off x="4177665" y="1972628"/>
            <a:ext cx="1105505" cy="213360"/>
          </a:xfrm>
          <a:prstGeom prst="rect">
            <a:avLst/>
          </a:prstGeom>
          <a:noFill/>
          <a:ln>
            <a:noFill/>
          </a:ln>
        </p:spPr>
        <p:txBody>
          <a:bodyPr wrap="none" lIns="0" tIns="0" rIns="0" bIns="0" anchor="t" anchorCtr="0">
            <a:spAutoFit/>
          </a:bodyPr>
          <a:lstStyle/>
          <a:p>
            <a:pPr algn="l"/>
            <a:r>
              <a:rPr lang="zh-CN" sz="1050" b="1" dirty="0">
                <a:solidFill>
                  <a:srgbClr val="C62828"/>
                </a:solidFill>
                <a:latin typeface="Arial"/>
                <a:ea typeface="SimHei"/>
                <a:cs typeface="Arial"/>
              </a:rPr>
              <a:t>E_bad（10×3）</a:t>
            </a:r>
          </a:p>
        </p:txBody>
      </p:sp>
      <p:sp>
        <p:nvSpPr>
          <p:cNvPr id="121" name="Rectangle 121"/>
          <p:cNvSpPr/>
          <p:nvPr/>
        </p:nvSpPr>
        <p:spPr>
          <a:xfrm>
            <a:off x="4191000" y="2200275"/>
            <a:ext cx="2114550" cy="1299210"/>
          </a:xfrm>
          <a:prstGeom prst="roundRect">
            <a:avLst>
              <a:gd name="adj" fmla="val 2933"/>
            </a:avLst>
          </a:prstGeom>
          <a:solidFill>
            <a:srgbClr val="FFFFFF"/>
          </a:solidFill>
          <a:ln w="6668">
            <a:solidFill>
              <a:srgbClr val="E4E7EB"/>
            </a:solidFill>
          </a:ln>
        </p:spPr>
      </p:sp>
      <p:sp>
        <p:nvSpPr>
          <p:cNvPr id="122" name="Rectangle 122"/>
          <p:cNvSpPr/>
          <p:nvPr/>
        </p:nvSpPr>
        <p:spPr>
          <a:xfrm>
            <a:off x="4191000" y="2200275"/>
            <a:ext cx="2114550" cy="118110"/>
          </a:xfrm>
          <a:prstGeom prst="roundRect">
            <a:avLst>
              <a:gd name="adj" fmla="val 32258"/>
            </a:avLst>
          </a:prstGeom>
          <a:solidFill>
            <a:srgbClr val="F3D6DC"/>
          </a:solidFill>
          <a:ln>
            <a:noFill/>
          </a:ln>
        </p:spPr>
      </p:sp>
      <p:sp>
        <p:nvSpPr>
          <p:cNvPr id="123" name="TextBox 123"/>
          <p:cNvSpPr txBox="1"/>
          <p:nvPr/>
        </p:nvSpPr>
        <p:spPr>
          <a:xfrm>
            <a:off x="4328686" y="2221182"/>
            <a:ext cx="181827" cy="111252"/>
          </a:xfrm>
          <a:prstGeom prst="rect">
            <a:avLst/>
          </a:prstGeom>
          <a:noFill/>
          <a:ln>
            <a:noFill/>
          </a:ln>
        </p:spPr>
        <p:txBody>
          <a:bodyPr wrap="none" lIns="0" tIns="0" rIns="0" bIns="0" anchor="t" anchorCtr="0">
            <a:spAutoFit/>
          </a:bodyPr>
          <a:lstStyle/>
          <a:p>
            <a:pPr algn="ctr"/>
            <a:r>
              <a:rPr lang="zh-CN" sz="548" b="1" dirty="0">
                <a:solidFill>
                  <a:srgbClr val="C62828"/>
                </a:solidFill>
                <a:latin typeface="Arial"/>
                <a:ea typeface="Microsoft YaHei"/>
                <a:cs typeface="Arial"/>
              </a:rPr>
              <a:t>词表</a:t>
            </a:r>
          </a:p>
        </p:txBody>
      </p:sp>
      <p:sp>
        <p:nvSpPr>
          <p:cNvPr id="124" name="TextBox 124"/>
          <p:cNvSpPr txBox="1"/>
          <p:nvPr/>
        </p:nvSpPr>
        <p:spPr>
          <a:xfrm>
            <a:off x="4837709" y="2221182"/>
            <a:ext cx="173431" cy="111252"/>
          </a:xfrm>
          <a:prstGeom prst="rect">
            <a:avLst/>
          </a:prstGeom>
          <a:noFill/>
          <a:ln>
            <a:noFill/>
          </a:ln>
        </p:spPr>
        <p:txBody>
          <a:bodyPr wrap="none" lIns="0" tIns="0" rIns="0" bIns="0" anchor="t" anchorCtr="0">
            <a:spAutoFit/>
          </a:bodyPr>
          <a:lstStyle/>
          <a:p>
            <a:pPr algn="ctr"/>
            <a:r>
              <a:rPr lang="zh-CN" sz="548" b="1" dirty="0">
                <a:solidFill>
                  <a:srgbClr val="C62828"/>
                </a:solidFill>
                <a:latin typeface="Consolas"/>
                <a:ea typeface="Microsoft YaHei"/>
                <a:cs typeface="Consolas"/>
              </a:rPr>
              <a:t>Dim1</a:t>
            </a:r>
          </a:p>
        </p:txBody>
      </p:sp>
      <p:sp>
        <p:nvSpPr>
          <p:cNvPr id="125" name="Line 125"/>
          <p:cNvSpPr/>
          <p:nvPr/>
        </p:nvSpPr>
        <p:spPr>
          <a:xfrm>
            <a:off x="4648200" y="2200275"/>
            <a:ext cx="9525" cy="1299210"/>
          </a:xfrm>
          <a:custGeom>
            <a:avLst/>
            <a:gdLst/>
            <a:ahLst/>
            <a:cxnLst/>
            <a:rect l="l" t="t" r="r" b="b"/>
            <a:pathLst>
              <a:path w="9525" h="1299210">
                <a:moveTo>
                  <a:pt x="0" y="0"/>
                </a:moveTo>
                <a:lnTo>
                  <a:pt x="0" y="1299210"/>
                </a:lnTo>
              </a:path>
            </a:pathLst>
          </a:custGeom>
          <a:noFill/>
          <a:ln w="5715">
            <a:solidFill>
              <a:srgbClr val="E8EAED"/>
            </a:solidFill>
          </a:ln>
        </p:spPr>
      </p:sp>
      <p:sp>
        <p:nvSpPr>
          <p:cNvPr id="126" name="TextBox 126"/>
          <p:cNvSpPr txBox="1"/>
          <p:nvPr/>
        </p:nvSpPr>
        <p:spPr>
          <a:xfrm>
            <a:off x="5379664" y="2221182"/>
            <a:ext cx="194422" cy="111252"/>
          </a:xfrm>
          <a:prstGeom prst="rect">
            <a:avLst/>
          </a:prstGeom>
          <a:noFill/>
          <a:ln>
            <a:noFill/>
          </a:ln>
        </p:spPr>
        <p:txBody>
          <a:bodyPr wrap="none" lIns="0" tIns="0" rIns="0" bIns="0" anchor="t" anchorCtr="0">
            <a:spAutoFit/>
          </a:bodyPr>
          <a:lstStyle/>
          <a:p>
            <a:pPr algn="ctr"/>
            <a:r>
              <a:rPr lang="zh-CN" sz="548" b="1" dirty="0">
                <a:solidFill>
                  <a:srgbClr val="C62828"/>
                </a:solidFill>
                <a:latin typeface="Consolas"/>
                <a:ea typeface="Microsoft YaHei"/>
                <a:cs typeface="Consolas"/>
              </a:rPr>
              <a:t>Dim2</a:t>
            </a:r>
          </a:p>
        </p:txBody>
      </p:sp>
      <p:sp>
        <p:nvSpPr>
          <p:cNvPr id="127" name="Line 127"/>
          <p:cNvSpPr/>
          <p:nvPr/>
        </p:nvSpPr>
        <p:spPr>
          <a:xfrm>
            <a:off x="5200650" y="2200275"/>
            <a:ext cx="9525" cy="1299210"/>
          </a:xfrm>
          <a:custGeom>
            <a:avLst/>
            <a:gdLst/>
            <a:ahLst/>
            <a:cxnLst/>
            <a:rect l="l" t="t" r="r" b="b"/>
            <a:pathLst>
              <a:path w="9525" h="1299210">
                <a:moveTo>
                  <a:pt x="0" y="0"/>
                </a:moveTo>
                <a:lnTo>
                  <a:pt x="0" y="1299210"/>
                </a:lnTo>
              </a:path>
            </a:pathLst>
          </a:custGeom>
          <a:noFill/>
          <a:ln w="5715">
            <a:solidFill>
              <a:srgbClr val="E8EAED"/>
            </a:solidFill>
          </a:ln>
        </p:spPr>
      </p:sp>
      <p:sp>
        <p:nvSpPr>
          <p:cNvPr id="128" name="TextBox 128"/>
          <p:cNvSpPr txBox="1"/>
          <p:nvPr/>
        </p:nvSpPr>
        <p:spPr>
          <a:xfrm>
            <a:off x="5932114" y="2221182"/>
            <a:ext cx="194422" cy="111252"/>
          </a:xfrm>
          <a:prstGeom prst="rect">
            <a:avLst/>
          </a:prstGeom>
          <a:noFill/>
          <a:ln>
            <a:noFill/>
          </a:ln>
        </p:spPr>
        <p:txBody>
          <a:bodyPr wrap="none" lIns="0" tIns="0" rIns="0" bIns="0" anchor="t" anchorCtr="0">
            <a:spAutoFit/>
          </a:bodyPr>
          <a:lstStyle/>
          <a:p>
            <a:pPr algn="ctr"/>
            <a:r>
              <a:rPr lang="zh-CN" sz="548" b="1" dirty="0">
                <a:solidFill>
                  <a:srgbClr val="C62828"/>
                </a:solidFill>
                <a:latin typeface="Consolas"/>
                <a:ea typeface="Microsoft YaHei"/>
                <a:cs typeface="Consolas"/>
              </a:rPr>
              <a:t>Dim3</a:t>
            </a:r>
          </a:p>
        </p:txBody>
      </p:sp>
      <p:sp>
        <p:nvSpPr>
          <p:cNvPr id="129" name="Line 129"/>
          <p:cNvSpPr/>
          <p:nvPr/>
        </p:nvSpPr>
        <p:spPr>
          <a:xfrm>
            <a:off x="5753100" y="2200275"/>
            <a:ext cx="9525" cy="1299210"/>
          </a:xfrm>
          <a:custGeom>
            <a:avLst/>
            <a:gdLst/>
            <a:ahLst/>
            <a:cxnLst/>
            <a:rect l="l" t="t" r="r" b="b"/>
            <a:pathLst>
              <a:path w="9525" h="1299210">
                <a:moveTo>
                  <a:pt x="0" y="0"/>
                </a:moveTo>
                <a:lnTo>
                  <a:pt x="0" y="1299210"/>
                </a:lnTo>
              </a:path>
            </a:pathLst>
          </a:custGeom>
          <a:noFill/>
          <a:ln w="5715">
            <a:solidFill>
              <a:srgbClr val="E8EAED"/>
            </a:solidFill>
          </a:ln>
        </p:spPr>
      </p:sp>
      <p:sp>
        <p:nvSpPr>
          <p:cNvPr id="130" name="Line 130"/>
          <p:cNvSpPr/>
          <p:nvPr/>
        </p:nvSpPr>
        <p:spPr>
          <a:xfrm>
            <a:off x="4191000" y="2318385"/>
            <a:ext cx="2114550" cy="9525"/>
          </a:xfrm>
          <a:custGeom>
            <a:avLst/>
            <a:gdLst/>
            <a:ahLst/>
            <a:cxnLst/>
            <a:rect l="l" t="t" r="r" b="b"/>
            <a:pathLst>
              <a:path w="2114550" h="9525">
                <a:moveTo>
                  <a:pt x="0" y="0"/>
                </a:moveTo>
                <a:lnTo>
                  <a:pt x="2114550" y="0"/>
                </a:lnTo>
              </a:path>
            </a:pathLst>
          </a:custGeom>
          <a:noFill/>
          <a:ln w="6668">
            <a:solidFill>
              <a:srgbClr val="E4E7EB"/>
            </a:solidFill>
          </a:ln>
        </p:spPr>
      </p:sp>
      <p:sp>
        <p:nvSpPr>
          <p:cNvPr id="131" name="TextBox 131"/>
          <p:cNvSpPr txBox="1"/>
          <p:nvPr/>
        </p:nvSpPr>
        <p:spPr>
          <a:xfrm>
            <a:off x="4378663" y="2339292"/>
            <a:ext cx="8187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V1</a:t>
            </a:r>
          </a:p>
        </p:txBody>
      </p:sp>
      <p:sp>
        <p:nvSpPr>
          <p:cNvPr id="132" name="TextBox 132"/>
          <p:cNvSpPr txBox="1"/>
          <p:nvPr/>
        </p:nvSpPr>
        <p:spPr>
          <a:xfrm>
            <a:off x="4829513" y="233929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0.22</a:t>
            </a:r>
          </a:p>
        </p:txBody>
      </p:sp>
      <p:sp>
        <p:nvSpPr>
          <p:cNvPr id="133" name="TextBox 133"/>
          <p:cNvSpPr txBox="1"/>
          <p:nvPr/>
        </p:nvSpPr>
        <p:spPr>
          <a:xfrm>
            <a:off x="5359973" y="2339292"/>
            <a:ext cx="23380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-0.63</a:t>
            </a:r>
          </a:p>
        </p:txBody>
      </p:sp>
      <p:sp>
        <p:nvSpPr>
          <p:cNvPr id="134" name="TextBox 134"/>
          <p:cNvSpPr txBox="1"/>
          <p:nvPr/>
        </p:nvSpPr>
        <p:spPr>
          <a:xfrm>
            <a:off x="5934413" y="233929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0.58</a:t>
            </a:r>
          </a:p>
        </p:txBody>
      </p:sp>
      <p:sp>
        <p:nvSpPr>
          <p:cNvPr id="135" name="Rectangle 135"/>
          <p:cNvSpPr/>
          <p:nvPr/>
        </p:nvSpPr>
        <p:spPr>
          <a:xfrm>
            <a:off x="4191000" y="2436495"/>
            <a:ext cx="2114550" cy="118110"/>
          </a:xfrm>
          <a:prstGeom prst="rect">
            <a:avLst/>
          </a:prstGeom>
          <a:solidFill>
            <a:srgbClr val="F8F9FA"/>
          </a:solidFill>
          <a:ln>
            <a:noFill/>
          </a:ln>
        </p:spPr>
      </p:sp>
      <p:sp>
        <p:nvSpPr>
          <p:cNvPr id="136" name="TextBox 136"/>
          <p:cNvSpPr txBox="1"/>
          <p:nvPr/>
        </p:nvSpPr>
        <p:spPr>
          <a:xfrm>
            <a:off x="4368667" y="245740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V2</a:t>
            </a:r>
          </a:p>
        </p:txBody>
      </p:sp>
      <p:sp>
        <p:nvSpPr>
          <p:cNvPr id="137" name="TextBox 137"/>
          <p:cNvSpPr txBox="1"/>
          <p:nvPr/>
        </p:nvSpPr>
        <p:spPr>
          <a:xfrm>
            <a:off x="4817519" y="2457402"/>
            <a:ext cx="213812"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-0.12</a:t>
            </a:r>
          </a:p>
        </p:txBody>
      </p:sp>
      <p:sp>
        <p:nvSpPr>
          <p:cNvPr id="138" name="TextBox 138"/>
          <p:cNvSpPr txBox="1"/>
          <p:nvPr/>
        </p:nvSpPr>
        <p:spPr>
          <a:xfrm>
            <a:off x="5391958" y="2457402"/>
            <a:ext cx="16983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0.91</a:t>
            </a:r>
          </a:p>
        </p:txBody>
      </p:sp>
      <p:sp>
        <p:nvSpPr>
          <p:cNvPr id="139" name="TextBox 139"/>
          <p:cNvSpPr txBox="1"/>
          <p:nvPr/>
        </p:nvSpPr>
        <p:spPr>
          <a:xfrm>
            <a:off x="5912423" y="2457402"/>
            <a:ext cx="23380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-0.84</a:t>
            </a:r>
          </a:p>
        </p:txBody>
      </p:sp>
      <p:sp>
        <p:nvSpPr>
          <p:cNvPr id="140" name="TextBox 140"/>
          <p:cNvSpPr txBox="1"/>
          <p:nvPr/>
        </p:nvSpPr>
        <p:spPr>
          <a:xfrm>
            <a:off x="4368667" y="257551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V3</a:t>
            </a:r>
          </a:p>
        </p:txBody>
      </p:sp>
      <p:sp>
        <p:nvSpPr>
          <p:cNvPr id="141" name="TextBox 141"/>
          <p:cNvSpPr txBox="1"/>
          <p:nvPr/>
        </p:nvSpPr>
        <p:spPr>
          <a:xfrm>
            <a:off x="4807523" y="2575512"/>
            <a:ext cx="23380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-0.74</a:t>
            </a:r>
          </a:p>
        </p:txBody>
      </p:sp>
      <p:sp>
        <p:nvSpPr>
          <p:cNvPr id="142" name="TextBox 142"/>
          <p:cNvSpPr txBox="1"/>
          <p:nvPr/>
        </p:nvSpPr>
        <p:spPr>
          <a:xfrm>
            <a:off x="5391958" y="2575512"/>
            <a:ext cx="16983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0.18</a:t>
            </a:r>
          </a:p>
        </p:txBody>
      </p:sp>
      <p:sp>
        <p:nvSpPr>
          <p:cNvPr id="143" name="TextBox 143"/>
          <p:cNvSpPr txBox="1"/>
          <p:nvPr/>
        </p:nvSpPr>
        <p:spPr>
          <a:xfrm>
            <a:off x="5922419" y="2575512"/>
            <a:ext cx="213812"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-0.31</a:t>
            </a:r>
          </a:p>
        </p:txBody>
      </p:sp>
      <p:sp>
        <p:nvSpPr>
          <p:cNvPr id="144" name="Rectangle 144"/>
          <p:cNvSpPr/>
          <p:nvPr/>
        </p:nvSpPr>
        <p:spPr>
          <a:xfrm>
            <a:off x="4191000" y="2672715"/>
            <a:ext cx="2114550" cy="118110"/>
          </a:xfrm>
          <a:prstGeom prst="rect">
            <a:avLst/>
          </a:prstGeom>
          <a:solidFill>
            <a:srgbClr val="F8F9FA"/>
          </a:solidFill>
          <a:ln>
            <a:noFill/>
          </a:ln>
        </p:spPr>
      </p:sp>
      <p:sp>
        <p:nvSpPr>
          <p:cNvPr id="145" name="TextBox 145"/>
          <p:cNvSpPr txBox="1"/>
          <p:nvPr/>
        </p:nvSpPr>
        <p:spPr>
          <a:xfrm>
            <a:off x="4368667" y="269362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V4</a:t>
            </a:r>
          </a:p>
        </p:txBody>
      </p:sp>
      <p:sp>
        <p:nvSpPr>
          <p:cNvPr id="146" name="TextBox 146"/>
          <p:cNvSpPr txBox="1"/>
          <p:nvPr/>
        </p:nvSpPr>
        <p:spPr>
          <a:xfrm>
            <a:off x="4829513" y="269362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0.64</a:t>
            </a:r>
          </a:p>
        </p:txBody>
      </p:sp>
      <p:sp>
        <p:nvSpPr>
          <p:cNvPr id="147" name="TextBox 147"/>
          <p:cNvSpPr txBox="1"/>
          <p:nvPr/>
        </p:nvSpPr>
        <p:spPr>
          <a:xfrm>
            <a:off x="5359973" y="2693622"/>
            <a:ext cx="23380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-0.44</a:t>
            </a:r>
          </a:p>
        </p:txBody>
      </p:sp>
      <p:sp>
        <p:nvSpPr>
          <p:cNvPr id="148" name="TextBox 148"/>
          <p:cNvSpPr txBox="1"/>
          <p:nvPr/>
        </p:nvSpPr>
        <p:spPr>
          <a:xfrm>
            <a:off x="5934413" y="269362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0.73</a:t>
            </a:r>
          </a:p>
        </p:txBody>
      </p:sp>
      <p:sp>
        <p:nvSpPr>
          <p:cNvPr id="149" name="TextBox 149"/>
          <p:cNvSpPr txBox="1"/>
          <p:nvPr/>
        </p:nvSpPr>
        <p:spPr>
          <a:xfrm>
            <a:off x="4368667" y="281173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V5</a:t>
            </a:r>
          </a:p>
        </p:txBody>
      </p:sp>
      <p:sp>
        <p:nvSpPr>
          <p:cNvPr id="150" name="TextBox 150"/>
          <p:cNvSpPr txBox="1"/>
          <p:nvPr/>
        </p:nvSpPr>
        <p:spPr>
          <a:xfrm>
            <a:off x="4839508" y="2811732"/>
            <a:ext cx="16983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0.71</a:t>
            </a:r>
          </a:p>
        </p:txBody>
      </p:sp>
      <p:sp>
        <p:nvSpPr>
          <p:cNvPr id="151" name="TextBox 151"/>
          <p:cNvSpPr txBox="1"/>
          <p:nvPr/>
        </p:nvSpPr>
        <p:spPr>
          <a:xfrm>
            <a:off x="5359973" y="2811732"/>
            <a:ext cx="23380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-0.07</a:t>
            </a:r>
          </a:p>
        </p:txBody>
      </p:sp>
      <p:sp>
        <p:nvSpPr>
          <p:cNvPr id="152" name="TextBox 152"/>
          <p:cNvSpPr txBox="1"/>
          <p:nvPr/>
        </p:nvSpPr>
        <p:spPr>
          <a:xfrm>
            <a:off x="5912423" y="2811732"/>
            <a:ext cx="23380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-0.79</a:t>
            </a:r>
          </a:p>
        </p:txBody>
      </p:sp>
      <p:sp>
        <p:nvSpPr>
          <p:cNvPr id="153" name="Rectangle 153"/>
          <p:cNvSpPr/>
          <p:nvPr/>
        </p:nvSpPr>
        <p:spPr>
          <a:xfrm>
            <a:off x="4191000" y="2908935"/>
            <a:ext cx="2114550" cy="118110"/>
          </a:xfrm>
          <a:prstGeom prst="rect">
            <a:avLst/>
          </a:prstGeom>
          <a:solidFill>
            <a:srgbClr val="F8F9FA"/>
          </a:solidFill>
          <a:ln>
            <a:noFill/>
          </a:ln>
        </p:spPr>
      </p:sp>
      <p:sp>
        <p:nvSpPr>
          <p:cNvPr id="154" name="TextBox 154"/>
          <p:cNvSpPr txBox="1"/>
          <p:nvPr/>
        </p:nvSpPr>
        <p:spPr>
          <a:xfrm>
            <a:off x="4368667" y="292984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V6</a:t>
            </a:r>
          </a:p>
        </p:txBody>
      </p:sp>
      <p:sp>
        <p:nvSpPr>
          <p:cNvPr id="155" name="TextBox 155"/>
          <p:cNvSpPr txBox="1"/>
          <p:nvPr/>
        </p:nvSpPr>
        <p:spPr>
          <a:xfrm>
            <a:off x="4807523" y="2929842"/>
            <a:ext cx="23380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-0.53</a:t>
            </a:r>
          </a:p>
        </p:txBody>
      </p:sp>
      <p:sp>
        <p:nvSpPr>
          <p:cNvPr id="156" name="TextBox 156"/>
          <p:cNvSpPr txBox="1"/>
          <p:nvPr/>
        </p:nvSpPr>
        <p:spPr>
          <a:xfrm>
            <a:off x="5381963" y="292984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0.62</a:t>
            </a:r>
          </a:p>
        </p:txBody>
      </p:sp>
      <p:sp>
        <p:nvSpPr>
          <p:cNvPr id="157" name="TextBox 157"/>
          <p:cNvSpPr txBox="1"/>
          <p:nvPr/>
        </p:nvSpPr>
        <p:spPr>
          <a:xfrm>
            <a:off x="5944408" y="2929842"/>
            <a:ext cx="16983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0.14</a:t>
            </a:r>
          </a:p>
        </p:txBody>
      </p:sp>
      <p:sp>
        <p:nvSpPr>
          <p:cNvPr id="158" name="TextBox 158"/>
          <p:cNvSpPr txBox="1"/>
          <p:nvPr/>
        </p:nvSpPr>
        <p:spPr>
          <a:xfrm>
            <a:off x="4368667" y="304795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V7</a:t>
            </a:r>
          </a:p>
        </p:txBody>
      </p:sp>
      <p:sp>
        <p:nvSpPr>
          <p:cNvPr id="159" name="TextBox 159"/>
          <p:cNvSpPr txBox="1"/>
          <p:nvPr/>
        </p:nvSpPr>
        <p:spPr>
          <a:xfrm>
            <a:off x="4829513" y="304795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0.39</a:t>
            </a:r>
          </a:p>
        </p:txBody>
      </p:sp>
      <p:sp>
        <p:nvSpPr>
          <p:cNvPr id="160" name="TextBox 160"/>
          <p:cNvSpPr txBox="1"/>
          <p:nvPr/>
        </p:nvSpPr>
        <p:spPr>
          <a:xfrm>
            <a:off x="5359973" y="3047952"/>
            <a:ext cx="23380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-0.88</a:t>
            </a:r>
          </a:p>
        </p:txBody>
      </p:sp>
      <p:sp>
        <p:nvSpPr>
          <p:cNvPr id="161" name="TextBox 161"/>
          <p:cNvSpPr txBox="1"/>
          <p:nvPr/>
        </p:nvSpPr>
        <p:spPr>
          <a:xfrm>
            <a:off x="5934413" y="304795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0.26</a:t>
            </a:r>
          </a:p>
        </p:txBody>
      </p:sp>
      <p:sp>
        <p:nvSpPr>
          <p:cNvPr id="162" name="Rectangle 162"/>
          <p:cNvSpPr/>
          <p:nvPr/>
        </p:nvSpPr>
        <p:spPr>
          <a:xfrm>
            <a:off x="4191000" y="3145155"/>
            <a:ext cx="2114550" cy="118110"/>
          </a:xfrm>
          <a:prstGeom prst="rect">
            <a:avLst/>
          </a:prstGeom>
          <a:solidFill>
            <a:srgbClr val="F8F9FA"/>
          </a:solidFill>
          <a:ln>
            <a:noFill/>
          </a:ln>
        </p:spPr>
      </p:sp>
      <p:sp>
        <p:nvSpPr>
          <p:cNvPr id="163" name="TextBox 163"/>
          <p:cNvSpPr txBox="1"/>
          <p:nvPr/>
        </p:nvSpPr>
        <p:spPr>
          <a:xfrm>
            <a:off x="4368667" y="316606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V8</a:t>
            </a:r>
          </a:p>
        </p:txBody>
      </p:sp>
      <p:sp>
        <p:nvSpPr>
          <p:cNvPr id="164" name="TextBox 164"/>
          <p:cNvSpPr txBox="1"/>
          <p:nvPr/>
        </p:nvSpPr>
        <p:spPr>
          <a:xfrm>
            <a:off x="4829513" y="316606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0.83</a:t>
            </a:r>
          </a:p>
        </p:txBody>
      </p:sp>
      <p:sp>
        <p:nvSpPr>
          <p:cNvPr id="165" name="TextBox 165"/>
          <p:cNvSpPr txBox="1"/>
          <p:nvPr/>
        </p:nvSpPr>
        <p:spPr>
          <a:xfrm>
            <a:off x="5359973" y="3166062"/>
            <a:ext cx="23380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-0.76</a:t>
            </a:r>
          </a:p>
        </p:txBody>
      </p:sp>
      <p:sp>
        <p:nvSpPr>
          <p:cNvPr id="166" name="TextBox 166"/>
          <p:cNvSpPr txBox="1"/>
          <p:nvPr/>
        </p:nvSpPr>
        <p:spPr>
          <a:xfrm>
            <a:off x="5934413" y="316606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0.47</a:t>
            </a:r>
          </a:p>
        </p:txBody>
      </p:sp>
      <p:sp>
        <p:nvSpPr>
          <p:cNvPr id="167" name="TextBox 167"/>
          <p:cNvSpPr txBox="1"/>
          <p:nvPr/>
        </p:nvSpPr>
        <p:spPr>
          <a:xfrm>
            <a:off x="4368667" y="328417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V9</a:t>
            </a:r>
          </a:p>
        </p:txBody>
      </p:sp>
      <p:sp>
        <p:nvSpPr>
          <p:cNvPr id="168" name="TextBox 168"/>
          <p:cNvSpPr txBox="1"/>
          <p:nvPr/>
        </p:nvSpPr>
        <p:spPr>
          <a:xfrm>
            <a:off x="4807523" y="3284172"/>
            <a:ext cx="23380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-0.28</a:t>
            </a:r>
          </a:p>
        </p:txBody>
      </p:sp>
      <p:sp>
        <p:nvSpPr>
          <p:cNvPr id="169" name="TextBox 169"/>
          <p:cNvSpPr txBox="1"/>
          <p:nvPr/>
        </p:nvSpPr>
        <p:spPr>
          <a:xfrm>
            <a:off x="5381963" y="328417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0.05</a:t>
            </a:r>
          </a:p>
        </p:txBody>
      </p:sp>
      <p:sp>
        <p:nvSpPr>
          <p:cNvPr id="170" name="TextBox 170"/>
          <p:cNvSpPr txBox="1"/>
          <p:nvPr/>
        </p:nvSpPr>
        <p:spPr>
          <a:xfrm>
            <a:off x="5934413" y="328417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0.69</a:t>
            </a:r>
          </a:p>
        </p:txBody>
      </p:sp>
      <p:sp>
        <p:nvSpPr>
          <p:cNvPr id="171" name="Rectangle 171"/>
          <p:cNvSpPr/>
          <p:nvPr/>
        </p:nvSpPr>
        <p:spPr>
          <a:xfrm>
            <a:off x="4191000" y="3381375"/>
            <a:ext cx="2114550" cy="118110"/>
          </a:xfrm>
          <a:prstGeom prst="rect">
            <a:avLst/>
          </a:prstGeom>
          <a:solidFill>
            <a:srgbClr val="F8F9FA"/>
          </a:solidFill>
          <a:ln>
            <a:noFill/>
          </a:ln>
        </p:spPr>
      </p:sp>
      <p:sp>
        <p:nvSpPr>
          <p:cNvPr id="172" name="TextBox 172"/>
          <p:cNvSpPr txBox="1"/>
          <p:nvPr/>
        </p:nvSpPr>
        <p:spPr>
          <a:xfrm>
            <a:off x="4356673" y="3402282"/>
            <a:ext cx="12585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V10</a:t>
            </a:r>
          </a:p>
        </p:txBody>
      </p:sp>
      <p:sp>
        <p:nvSpPr>
          <p:cNvPr id="173" name="TextBox 173"/>
          <p:cNvSpPr txBox="1"/>
          <p:nvPr/>
        </p:nvSpPr>
        <p:spPr>
          <a:xfrm>
            <a:off x="4829513" y="340228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0.06</a:t>
            </a:r>
          </a:p>
        </p:txBody>
      </p:sp>
      <p:sp>
        <p:nvSpPr>
          <p:cNvPr id="174" name="TextBox 174"/>
          <p:cNvSpPr txBox="1"/>
          <p:nvPr/>
        </p:nvSpPr>
        <p:spPr>
          <a:xfrm>
            <a:off x="5359973" y="3402282"/>
            <a:ext cx="23380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-0.55</a:t>
            </a:r>
          </a:p>
        </p:txBody>
      </p:sp>
      <p:sp>
        <p:nvSpPr>
          <p:cNvPr id="175" name="TextBox 175"/>
          <p:cNvSpPr txBox="1"/>
          <p:nvPr/>
        </p:nvSpPr>
        <p:spPr>
          <a:xfrm>
            <a:off x="5954404" y="3402282"/>
            <a:ext cx="14984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0.11</a:t>
            </a:r>
          </a:p>
        </p:txBody>
      </p:sp>
      <p:sp>
        <p:nvSpPr>
          <p:cNvPr id="176" name="Rectangle 176"/>
          <p:cNvSpPr/>
          <p:nvPr/>
        </p:nvSpPr>
        <p:spPr>
          <a:xfrm>
            <a:off x="6438900" y="2362200"/>
            <a:ext cx="723900" cy="323850"/>
          </a:xfrm>
          <a:prstGeom prst="roundRect">
            <a:avLst>
              <a:gd name="adj" fmla="val 50000"/>
            </a:avLst>
          </a:prstGeom>
          <a:solidFill>
            <a:srgbClr val="FFFFFF"/>
          </a:solidFill>
          <a:ln w="13335">
            <a:solidFill>
              <a:srgbClr val="C62828"/>
            </a:solidFill>
          </a:ln>
        </p:spPr>
      </p:sp>
      <p:sp>
        <p:nvSpPr>
          <p:cNvPr id="177" name="TextBox 177"/>
          <p:cNvSpPr txBox="1"/>
          <p:nvPr/>
        </p:nvSpPr>
        <p:spPr>
          <a:xfrm>
            <a:off x="6508875" y="2482691"/>
            <a:ext cx="583950" cy="167640"/>
          </a:xfrm>
          <a:prstGeom prst="rect">
            <a:avLst/>
          </a:prstGeom>
          <a:noFill/>
          <a:ln>
            <a:noFill/>
          </a:ln>
        </p:spPr>
        <p:txBody>
          <a:bodyPr wrap="none" lIns="0" tIns="0" rIns="0" bIns="0" anchor="t" anchorCtr="0">
            <a:spAutoFit/>
          </a:bodyPr>
          <a:lstStyle/>
          <a:p>
            <a:pPr algn="ctr"/>
            <a:r>
              <a:rPr lang="zh-CN" sz="825" b="1" dirty="0">
                <a:solidFill>
                  <a:srgbClr val="C62828"/>
                </a:solidFill>
                <a:latin typeface="Consolas"/>
                <a:ea typeface="Microsoft YaHei"/>
                <a:cs typeface="Consolas"/>
              </a:rPr>
              <a:t>X × E_bad</a:t>
            </a:r>
          </a:p>
        </p:txBody>
      </p:sp>
      <p:sp>
        <p:nvSpPr>
          <p:cNvPr id="178" name="Line 178"/>
          <p:cNvSpPr/>
          <p:nvPr/>
        </p:nvSpPr>
        <p:spPr>
          <a:xfrm>
            <a:off x="6705600" y="2686050"/>
            <a:ext cx="1" cy="285750"/>
          </a:xfrm>
          <a:prstGeom prst="line">
            <a:avLst/>
          </a:prstGeom>
          <a:noFill/>
          <a:ln w="17145">
            <a:solidFill>
              <a:srgbClr val="C62828"/>
            </a:solidFill>
            <a:tailEnd type="triangle" w="lg" len="lg"/>
          </a:ln>
        </p:spPr>
      </p:sp>
      <p:sp>
        <p:nvSpPr>
          <p:cNvPr id="179" name="TextBox 179"/>
          <p:cNvSpPr txBox="1"/>
          <p:nvPr/>
        </p:nvSpPr>
        <p:spPr>
          <a:xfrm>
            <a:off x="7360444" y="1746647"/>
            <a:ext cx="943928" cy="190500"/>
          </a:xfrm>
          <a:prstGeom prst="rect">
            <a:avLst/>
          </a:prstGeom>
          <a:noFill/>
          <a:ln>
            <a:noFill/>
          </a:ln>
        </p:spPr>
        <p:txBody>
          <a:bodyPr wrap="none" lIns="0" tIns="0" rIns="0" bIns="0" anchor="t" anchorCtr="0">
            <a:spAutoFit/>
          </a:bodyPr>
          <a:lstStyle/>
          <a:p>
            <a:pPr algn="l"/>
            <a:r>
              <a:rPr lang="zh-CN" sz="938" b="1" dirty="0">
                <a:solidFill>
                  <a:srgbClr val="C62828"/>
                </a:solidFill>
                <a:latin typeface="Arial"/>
                <a:ea typeface="SimHei"/>
                <a:cs typeface="Arial"/>
              </a:rPr>
              <a:t>H_bad（5×3）</a:t>
            </a:r>
          </a:p>
        </p:txBody>
      </p:sp>
      <p:sp>
        <p:nvSpPr>
          <p:cNvPr id="180" name="Rectangle 180"/>
          <p:cNvSpPr/>
          <p:nvPr/>
        </p:nvSpPr>
        <p:spPr>
          <a:xfrm>
            <a:off x="7372350" y="1943100"/>
            <a:ext cx="1790700" cy="914400"/>
          </a:xfrm>
          <a:prstGeom prst="roundRect">
            <a:avLst>
              <a:gd name="adj" fmla="val 4167"/>
            </a:avLst>
          </a:prstGeom>
          <a:solidFill>
            <a:srgbClr val="FFFFFF"/>
          </a:solidFill>
          <a:ln w="6668">
            <a:solidFill>
              <a:srgbClr val="E4E7EB"/>
            </a:solidFill>
          </a:ln>
        </p:spPr>
      </p:sp>
      <p:sp>
        <p:nvSpPr>
          <p:cNvPr id="181" name="Rectangle 181"/>
          <p:cNvSpPr/>
          <p:nvPr/>
        </p:nvSpPr>
        <p:spPr>
          <a:xfrm>
            <a:off x="7372350" y="1943100"/>
            <a:ext cx="1790700" cy="152400"/>
          </a:xfrm>
          <a:prstGeom prst="roundRect">
            <a:avLst>
              <a:gd name="adj" fmla="val 25000"/>
            </a:avLst>
          </a:prstGeom>
          <a:solidFill>
            <a:srgbClr val="F3D6DC"/>
          </a:solidFill>
          <a:ln>
            <a:noFill/>
          </a:ln>
        </p:spPr>
      </p:sp>
      <p:sp>
        <p:nvSpPr>
          <p:cNvPr id="182" name="TextBox 182"/>
          <p:cNvSpPr txBox="1"/>
          <p:nvPr/>
        </p:nvSpPr>
        <p:spPr>
          <a:xfrm>
            <a:off x="7565503" y="1991011"/>
            <a:ext cx="204245" cy="124968"/>
          </a:xfrm>
          <a:prstGeom prst="rect">
            <a:avLst/>
          </a:prstGeom>
          <a:noFill/>
          <a:ln>
            <a:noFill/>
          </a:ln>
        </p:spPr>
        <p:txBody>
          <a:bodyPr wrap="none" lIns="0" tIns="0" rIns="0" bIns="0" anchor="t" anchorCtr="0">
            <a:spAutoFit/>
          </a:bodyPr>
          <a:lstStyle/>
          <a:p>
            <a:pPr algn="ctr"/>
            <a:r>
              <a:rPr lang="zh-CN" sz="615" b="1" dirty="0">
                <a:solidFill>
                  <a:srgbClr val="C62828"/>
                </a:solidFill>
                <a:latin typeface="Arial"/>
                <a:ea typeface="Microsoft YaHei"/>
                <a:cs typeface="Arial"/>
              </a:rPr>
              <a:t>词元</a:t>
            </a:r>
          </a:p>
        </p:txBody>
      </p:sp>
      <p:sp>
        <p:nvSpPr>
          <p:cNvPr id="183" name="TextBox 183"/>
          <p:cNvSpPr txBox="1"/>
          <p:nvPr/>
        </p:nvSpPr>
        <p:spPr>
          <a:xfrm>
            <a:off x="8065518" y="1991011"/>
            <a:ext cx="194813" cy="124968"/>
          </a:xfrm>
          <a:prstGeom prst="rect">
            <a:avLst/>
          </a:prstGeom>
          <a:noFill/>
          <a:ln>
            <a:noFill/>
          </a:ln>
        </p:spPr>
        <p:txBody>
          <a:bodyPr wrap="none" lIns="0" tIns="0" rIns="0" bIns="0" anchor="t" anchorCtr="0">
            <a:spAutoFit/>
          </a:bodyPr>
          <a:lstStyle/>
          <a:p>
            <a:pPr algn="ctr"/>
            <a:r>
              <a:rPr lang="zh-CN" sz="615" b="1" dirty="0">
                <a:solidFill>
                  <a:srgbClr val="C62828"/>
                </a:solidFill>
                <a:latin typeface="Consolas"/>
                <a:ea typeface="Microsoft YaHei"/>
                <a:cs typeface="Consolas"/>
              </a:rPr>
              <a:t>Dim1</a:t>
            </a:r>
          </a:p>
        </p:txBody>
      </p:sp>
      <p:sp>
        <p:nvSpPr>
          <p:cNvPr id="184" name="Line 184"/>
          <p:cNvSpPr/>
          <p:nvPr/>
        </p:nvSpPr>
        <p:spPr>
          <a:xfrm>
            <a:off x="7962900" y="194310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185" name="TextBox 185"/>
          <p:cNvSpPr txBox="1"/>
          <p:nvPr/>
        </p:nvSpPr>
        <p:spPr>
          <a:xfrm>
            <a:off x="8453779" y="1991011"/>
            <a:ext cx="218391" cy="124968"/>
          </a:xfrm>
          <a:prstGeom prst="rect">
            <a:avLst/>
          </a:prstGeom>
          <a:noFill/>
          <a:ln>
            <a:noFill/>
          </a:ln>
        </p:spPr>
        <p:txBody>
          <a:bodyPr wrap="none" lIns="0" tIns="0" rIns="0" bIns="0" anchor="t" anchorCtr="0">
            <a:spAutoFit/>
          </a:bodyPr>
          <a:lstStyle/>
          <a:p>
            <a:pPr algn="ctr"/>
            <a:r>
              <a:rPr lang="zh-CN" sz="615" b="1" dirty="0">
                <a:solidFill>
                  <a:srgbClr val="C62828"/>
                </a:solidFill>
                <a:latin typeface="Consolas"/>
                <a:ea typeface="Microsoft YaHei"/>
                <a:cs typeface="Consolas"/>
              </a:rPr>
              <a:t>Dim2</a:t>
            </a:r>
          </a:p>
        </p:txBody>
      </p:sp>
      <p:sp>
        <p:nvSpPr>
          <p:cNvPr id="186" name="Line 186"/>
          <p:cNvSpPr/>
          <p:nvPr/>
        </p:nvSpPr>
        <p:spPr>
          <a:xfrm>
            <a:off x="8362950" y="194310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187" name="TextBox 187"/>
          <p:cNvSpPr txBox="1"/>
          <p:nvPr/>
        </p:nvSpPr>
        <p:spPr>
          <a:xfrm>
            <a:off x="8853829" y="1991011"/>
            <a:ext cx="218391" cy="124968"/>
          </a:xfrm>
          <a:prstGeom prst="rect">
            <a:avLst/>
          </a:prstGeom>
          <a:noFill/>
          <a:ln>
            <a:noFill/>
          </a:ln>
        </p:spPr>
        <p:txBody>
          <a:bodyPr wrap="none" lIns="0" tIns="0" rIns="0" bIns="0" anchor="t" anchorCtr="0">
            <a:spAutoFit/>
          </a:bodyPr>
          <a:lstStyle/>
          <a:p>
            <a:pPr algn="ctr"/>
            <a:r>
              <a:rPr lang="zh-CN" sz="615" b="1" dirty="0">
                <a:solidFill>
                  <a:srgbClr val="C62828"/>
                </a:solidFill>
                <a:latin typeface="Consolas"/>
                <a:ea typeface="Microsoft YaHei"/>
                <a:cs typeface="Consolas"/>
              </a:rPr>
              <a:t>Dim3</a:t>
            </a:r>
          </a:p>
        </p:txBody>
      </p:sp>
      <p:sp>
        <p:nvSpPr>
          <p:cNvPr id="188" name="Line 188"/>
          <p:cNvSpPr/>
          <p:nvPr/>
        </p:nvSpPr>
        <p:spPr>
          <a:xfrm>
            <a:off x="8763000" y="194310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189" name="Line 189"/>
          <p:cNvSpPr/>
          <p:nvPr/>
        </p:nvSpPr>
        <p:spPr>
          <a:xfrm>
            <a:off x="7372350" y="2095500"/>
            <a:ext cx="1790700" cy="9525"/>
          </a:xfrm>
          <a:custGeom>
            <a:avLst/>
            <a:gdLst/>
            <a:ahLst/>
            <a:cxnLst/>
            <a:rect l="l" t="t" r="r" b="b"/>
            <a:pathLst>
              <a:path w="1790700" h="9525">
                <a:moveTo>
                  <a:pt x="0" y="0"/>
                </a:moveTo>
                <a:lnTo>
                  <a:pt x="1790700" y="0"/>
                </a:lnTo>
              </a:path>
            </a:pathLst>
          </a:custGeom>
          <a:noFill/>
          <a:ln w="6668">
            <a:solidFill>
              <a:srgbClr val="E4E7EB"/>
            </a:solidFill>
          </a:ln>
        </p:spPr>
      </p:sp>
      <p:sp>
        <p:nvSpPr>
          <p:cNvPr id="190" name="TextBox 190"/>
          <p:cNvSpPr txBox="1"/>
          <p:nvPr/>
        </p:nvSpPr>
        <p:spPr>
          <a:xfrm>
            <a:off x="7480173" y="2143411"/>
            <a:ext cx="374904"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Arial"/>
                <a:ea typeface="Microsoft YaHei"/>
                <a:cs typeface="Arial"/>
              </a:rPr>
              <a:t>中国银行</a:t>
            </a:r>
          </a:p>
        </p:txBody>
      </p:sp>
      <p:sp>
        <p:nvSpPr>
          <p:cNvPr id="191" name="TextBox 191"/>
          <p:cNvSpPr txBox="1"/>
          <p:nvPr/>
        </p:nvSpPr>
        <p:spPr>
          <a:xfrm>
            <a:off x="8031611" y="2143411"/>
            <a:ext cx="262628"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-0.74</a:t>
            </a:r>
          </a:p>
        </p:txBody>
      </p:sp>
      <p:sp>
        <p:nvSpPr>
          <p:cNvPr id="192" name="TextBox 192"/>
          <p:cNvSpPr txBox="1"/>
          <p:nvPr/>
        </p:nvSpPr>
        <p:spPr>
          <a:xfrm>
            <a:off x="8467589" y="2143411"/>
            <a:ext cx="190771"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0.18</a:t>
            </a:r>
          </a:p>
        </p:txBody>
      </p:sp>
      <p:sp>
        <p:nvSpPr>
          <p:cNvPr id="193" name="TextBox 193"/>
          <p:cNvSpPr txBox="1"/>
          <p:nvPr/>
        </p:nvSpPr>
        <p:spPr>
          <a:xfrm>
            <a:off x="8842939" y="2143411"/>
            <a:ext cx="240173"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-0.31</a:t>
            </a:r>
          </a:p>
        </p:txBody>
      </p:sp>
      <p:sp>
        <p:nvSpPr>
          <p:cNvPr id="194" name="Rectangle 194"/>
          <p:cNvSpPr/>
          <p:nvPr/>
        </p:nvSpPr>
        <p:spPr>
          <a:xfrm>
            <a:off x="7372350" y="2247900"/>
            <a:ext cx="1790700" cy="152400"/>
          </a:xfrm>
          <a:prstGeom prst="rect">
            <a:avLst/>
          </a:prstGeom>
          <a:solidFill>
            <a:srgbClr val="F8F9FA"/>
          </a:solidFill>
          <a:ln>
            <a:noFill/>
          </a:ln>
        </p:spPr>
      </p:sp>
      <p:sp>
        <p:nvSpPr>
          <p:cNvPr id="195" name="TextBox 195"/>
          <p:cNvSpPr txBox="1"/>
          <p:nvPr/>
        </p:nvSpPr>
        <p:spPr>
          <a:xfrm>
            <a:off x="7614904" y="2295811"/>
            <a:ext cx="105442"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Arial"/>
                <a:ea typeface="Microsoft YaHei"/>
                <a:cs typeface="Arial"/>
              </a:rPr>
              <a:t>是</a:t>
            </a:r>
          </a:p>
        </p:txBody>
      </p:sp>
      <p:sp>
        <p:nvSpPr>
          <p:cNvPr id="196" name="TextBox 196"/>
          <p:cNvSpPr txBox="1"/>
          <p:nvPr/>
        </p:nvSpPr>
        <p:spPr>
          <a:xfrm>
            <a:off x="8056312" y="229581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0.83</a:t>
            </a:r>
          </a:p>
        </p:txBody>
      </p:sp>
      <p:sp>
        <p:nvSpPr>
          <p:cNvPr id="197" name="TextBox 197"/>
          <p:cNvSpPr txBox="1"/>
          <p:nvPr/>
        </p:nvSpPr>
        <p:spPr>
          <a:xfrm>
            <a:off x="8431661" y="2295811"/>
            <a:ext cx="262628"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-0.76</a:t>
            </a:r>
          </a:p>
        </p:txBody>
      </p:sp>
      <p:sp>
        <p:nvSpPr>
          <p:cNvPr id="198" name="TextBox 198"/>
          <p:cNvSpPr txBox="1"/>
          <p:nvPr/>
        </p:nvSpPr>
        <p:spPr>
          <a:xfrm>
            <a:off x="8856412" y="229581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0.47</a:t>
            </a:r>
          </a:p>
        </p:txBody>
      </p:sp>
      <p:sp>
        <p:nvSpPr>
          <p:cNvPr id="199" name="TextBox 199"/>
          <p:cNvSpPr txBox="1"/>
          <p:nvPr/>
        </p:nvSpPr>
        <p:spPr>
          <a:xfrm>
            <a:off x="7569994" y="2448211"/>
            <a:ext cx="195262"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Arial"/>
                <a:ea typeface="Microsoft YaHei"/>
                <a:cs typeface="Arial"/>
              </a:rPr>
              <a:t>世界</a:t>
            </a:r>
          </a:p>
        </p:txBody>
      </p:sp>
      <p:sp>
        <p:nvSpPr>
          <p:cNvPr id="200" name="TextBox 200"/>
          <p:cNvSpPr txBox="1"/>
          <p:nvPr/>
        </p:nvSpPr>
        <p:spPr>
          <a:xfrm>
            <a:off x="8042839" y="2448211"/>
            <a:ext cx="240173"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-0.12</a:t>
            </a:r>
          </a:p>
        </p:txBody>
      </p:sp>
      <p:sp>
        <p:nvSpPr>
          <p:cNvPr id="201" name="TextBox 201"/>
          <p:cNvSpPr txBox="1"/>
          <p:nvPr/>
        </p:nvSpPr>
        <p:spPr>
          <a:xfrm>
            <a:off x="8467589" y="2448211"/>
            <a:ext cx="190771"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0.91</a:t>
            </a:r>
          </a:p>
        </p:txBody>
      </p:sp>
      <p:sp>
        <p:nvSpPr>
          <p:cNvPr id="202" name="TextBox 202"/>
          <p:cNvSpPr txBox="1"/>
          <p:nvPr/>
        </p:nvSpPr>
        <p:spPr>
          <a:xfrm>
            <a:off x="8831711" y="2448211"/>
            <a:ext cx="262628"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-0.84</a:t>
            </a:r>
          </a:p>
        </p:txBody>
      </p:sp>
      <p:sp>
        <p:nvSpPr>
          <p:cNvPr id="203" name="Rectangle 203"/>
          <p:cNvSpPr/>
          <p:nvPr/>
        </p:nvSpPr>
        <p:spPr>
          <a:xfrm>
            <a:off x="7372350" y="2552700"/>
            <a:ext cx="1790700" cy="152400"/>
          </a:xfrm>
          <a:prstGeom prst="rect">
            <a:avLst/>
          </a:prstGeom>
          <a:solidFill>
            <a:srgbClr val="F8F9FA"/>
          </a:solidFill>
          <a:ln>
            <a:noFill/>
          </a:ln>
        </p:spPr>
      </p:sp>
      <p:sp>
        <p:nvSpPr>
          <p:cNvPr id="204" name="TextBox 204"/>
          <p:cNvSpPr txBox="1"/>
          <p:nvPr/>
        </p:nvSpPr>
        <p:spPr>
          <a:xfrm>
            <a:off x="7569994" y="2600611"/>
            <a:ext cx="195262"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Arial"/>
                <a:ea typeface="Microsoft YaHei"/>
                <a:cs typeface="Arial"/>
              </a:rPr>
              <a:t>一流</a:t>
            </a:r>
          </a:p>
        </p:txBody>
      </p:sp>
      <p:sp>
        <p:nvSpPr>
          <p:cNvPr id="205" name="TextBox 205"/>
          <p:cNvSpPr txBox="1"/>
          <p:nvPr/>
        </p:nvSpPr>
        <p:spPr>
          <a:xfrm>
            <a:off x="8056312" y="260061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0.06</a:t>
            </a:r>
          </a:p>
        </p:txBody>
      </p:sp>
      <p:sp>
        <p:nvSpPr>
          <p:cNvPr id="206" name="TextBox 206"/>
          <p:cNvSpPr txBox="1"/>
          <p:nvPr/>
        </p:nvSpPr>
        <p:spPr>
          <a:xfrm>
            <a:off x="8431661" y="2600611"/>
            <a:ext cx="262628"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-0.55</a:t>
            </a:r>
          </a:p>
        </p:txBody>
      </p:sp>
      <p:sp>
        <p:nvSpPr>
          <p:cNvPr id="207" name="TextBox 207"/>
          <p:cNvSpPr txBox="1"/>
          <p:nvPr/>
        </p:nvSpPr>
        <p:spPr>
          <a:xfrm>
            <a:off x="8878867" y="2600611"/>
            <a:ext cx="168316"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0.11</a:t>
            </a:r>
          </a:p>
        </p:txBody>
      </p:sp>
      <p:sp>
        <p:nvSpPr>
          <p:cNvPr id="208" name="TextBox 208"/>
          <p:cNvSpPr txBox="1"/>
          <p:nvPr/>
        </p:nvSpPr>
        <p:spPr>
          <a:xfrm>
            <a:off x="7569994" y="2753011"/>
            <a:ext cx="195262"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Arial"/>
                <a:ea typeface="Microsoft YaHei"/>
                <a:cs typeface="Arial"/>
              </a:rPr>
              <a:t>银行</a:t>
            </a:r>
          </a:p>
        </p:txBody>
      </p:sp>
      <p:sp>
        <p:nvSpPr>
          <p:cNvPr id="209" name="TextBox 209"/>
          <p:cNvSpPr txBox="1"/>
          <p:nvPr/>
        </p:nvSpPr>
        <p:spPr>
          <a:xfrm>
            <a:off x="8067539" y="2753011"/>
            <a:ext cx="190771"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0.71</a:t>
            </a:r>
          </a:p>
        </p:txBody>
      </p:sp>
      <p:sp>
        <p:nvSpPr>
          <p:cNvPr id="210" name="TextBox 210"/>
          <p:cNvSpPr txBox="1"/>
          <p:nvPr/>
        </p:nvSpPr>
        <p:spPr>
          <a:xfrm>
            <a:off x="8431661" y="2753011"/>
            <a:ext cx="262628"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-0.07</a:t>
            </a:r>
          </a:p>
        </p:txBody>
      </p:sp>
      <p:sp>
        <p:nvSpPr>
          <p:cNvPr id="211" name="TextBox 211"/>
          <p:cNvSpPr txBox="1"/>
          <p:nvPr/>
        </p:nvSpPr>
        <p:spPr>
          <a:xfrm>
            <a:off x="8831711" y="2753011"/>
            <a:ext cx="262628"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-0.79</a:t>
            </a:r>
          </a:p>
        </p:txBody>
      </p:sp>
      <p:sp>
        <p:nvSpPr>
          <p:cNvPr id="232" name="TextBox 232"/>
          <p:cNvSpPr txBox="1"/>
          <p:nvPr/>
        </p:nvSpPr>
        <p:spPr>
          <a:xfrm>
            <a:off x="7477125" y="3195638"/>
            <a:ext cx="2100262" cy="152400"/>
          </a:xfrm>
          <a:prstGeom prst="rect">
            <a:avLst/>
          </a:prstGeom>
          <a:noFill/>
          <a:ln>
            <a:noFill/>
          </a:ln>
        </p:spPr>
        <p:txBody>
          <a:bodyPr wrap="none" lIns="0" tIns="0" rIns="0" bIns="0" anchor="t" anchorCtr="0">
            <a:spAutoFit/>
          </a:bodyPr>
          <a:lstStyle/>
          <a:p>
            <a:pPr algn="l"/>
            <a:r>
              <a:rPr lang="zh-CN" sz="750" dirty="0">
                <a:solidFill>
                  <a:srgbClr val="C62828"/>
                </a:solidFill>
                <a:latin typeface="Arial"/>
                <a:ea typeface="Microsoft YaHei"/>
                <a:cs typeface="Arial"/>
              </a:rPr>
              <a:t>语义关系混乱：中国银行与银行距离较远；</a:t>
            </a:r>
          </a:p>
        </p:txBody>
      </p:sp>
      <p:sp>
        <p:nvSpPr>
          <p:cNvPr id="233" name="TextBox 233"/>
          <p:cNvSpPr txBox="1"/>
          <p:nvPr/>
        </p:nvSpPr>
        <p:spPr>
          <a:xfrm>
            <a:off x="7477125" y="3338512"/>
            <a:ext cx="2001679" cy="152400"/>
          </a:xfrm>
          <a:prstGeom prst="rect">
            <a:avLst/>
          </a:prstGeom>
          <a:noFill/>
          <a:ln>
            <a:noFill/>
          </a:ln>
        </p:spPr>
        <p:txBody>
          <a:bodyPr wrap="none" lIns="0" tIns="0" rIns="0" bIns="0" anchor="t" anchorCtr="0">
            <a:spAutoFit/>
          </a:bodyPr>
          <a:lstStyle/>
          <a:p>
            <a:pPr algn="l"/>
            <a:r>
              <a:rPr lang="zh-CN" sz="750" dirty="0">
                <a:solidFill>
                  <a:srgbClr val="C62828"/>
                </a:solidFill>
                <a:latin typeface="Arial"/>
                <a:ea typeface="Microsoft YaHei"/>
                <a:cs typeface="Arial"/>
              </a:rPr>
              <a:t>功能词“是”位置异常偏远，结构难解释。</a:t>
            </a:r>
          </a:p>
        </p:txBody>
      </p:sp>
      <p:sp>
        <p:nvSpPr>
          <p:cNvPr id="234" name="Line 234"/>
          <p:cNvSpPr/>
          <p:nvPr/>
        </p:nvSpPr>
        <p:spPr>
          <a:xfrm>
            <a:off x="7170896" y="2524126"/>
            <a:ext cx="201453" cy="0"/>
          </a:xfrm>
          <a:prstGeom prst="line">
            <a:avLst/>
          </a:prstGeom>
          <a:noFill/>
          <a:ln w="15240">
            <a:solidFill>
              <a:srgbClr val="C62828"/>
            </a:solidFill>
            <a:tailEnd type="triangle" w="lg" len="lg"/>
          </a:ln>
        </p:spPr>
      </p:sp>
      <p:sp>
        <p:nvSpPr>
          <p:cNvPr id="235" name="Line 235"/>
          <p:cNvSpPr/>
          <p:nvPr/>
        </p:nvSpPr>
        <p:spPr>
          <a:xfrm>
            <a:off x="9163050" y="2524125"/>
            <a:ext cx="190500" cy="1"/>
          </a:xfrm>
          <a:prstGeom prst="line">
            <a:avLst/>
          </a:prstGeom>
          <a:noFill/>
          <a:ln w="15240">
            <a:solidFill>
              <a:srgbClr val="C62828"/>
            </a:solidFill>
            <a:tailEnd type="triangle" w="lg" len="lg"/>
          </a:ln>
        </p:spPr>
      </p:sp>
      <p:sp>
        <p:nvSpPr>
          <p:cNvPr id="237" name="Rectangle 237"/>
          <p:cNvSpPr/>
          <p:nvPr/>
        </p:nvSpPr>
        <p:spPr>
          <a:xfrm>
            <a:off x="3905250" y="3867150"/>
            <a:ext cx="7715250" cy="2266950"/>
          </a:xfrm>
          <a:prstGeom prst="roundRect">
            <a:avLst>
              <a:gd name="adj" fmla="val 4202"/>
            </a:avLst>
          </a:prstGeom>
          <a:solidFill>
            <a:srgbClr val="FFFFFF"/>
          </a:solidFill>
          <a:ln w="9525">
            <a:solidFill>
              <a:srgbClr val="E4E7EB"/>
            </a:solidFill>
          </a:ln>
        </p:spPr>
      </p:sp>
      <p:sp>
        <p:nvSpPr>
          <p:cNvPr id="238" name="TextBox 238"/>
          <p:cNvSpPr txBox="1"/>
          <p:nvPr/>
        </p:nvSpPr>
        <p:spPr>
          <a:xfrm>
            <a:off x="4043362" y="3974306"/>
            <a:ext cx="1442703" cy="173124"/>
          </a:xfrm>
          <a:prstGeom prst="rect">
            <a:avLst/>
          </a:prstGeom>
          <a:noFill/>
          <a:ln>
            <a:noFill/>
          </a:ln>
        </p:spPr>
        <p:txBody>
          <a:bodyPr wrap="none" lIns="0" tIns="0" rIns="0" bIns="0" anchor="t" anchorCtr="0">
            <a:spAutoFit/>
          </a:bodyPr>
          <a:lstStyle/>
          <a:p>
            <a:pPr algn="l"/>
            <a:r>
              <a:rPr lang="zh-CN" sz="1125" b="1" dirty="0">
                <a:solidFill>
                  <a:srgbClr val="2E7D32"/>
                </a:solidFill>
                <a:latin typeface="Arial"/>
                <a:ea typeface="SimHei"/>
                <a:cs typeface="Arial"/>
              </a:rPr>
              <a:t>好的 Embedding </a:t>
            </a:r>
            <a:r>
              <a:rPr lang="zh-CN" altLang="en-US" sz="1125" b="1" dirty="0">
                <a:solidFill>
                  <a:srgbClr val="2E7D32"/>
                </a:solidFill>
                <a:latin typeface="Arial"/>
                <a:ea typeface="SimHei"/>
                <a:cs typeface="Arial"/>
              </a:rPr>
              <a:t>参数</a:t>
            </a:r>
            <a:endParaRPr lang="zh-CN" sz="1125" b="1" dirty="0">
              <a:solidFill>
                <a:srgbClr val="2E7D32"/>
              </a:solidFill>
              <a:latin typeface="Arial"/>
              <a:ea typeface="SimHei"/>
              <a:cs typeface="Arial"/>
            </a:endParaRPr>
          </a:p>
        </p:txBody>
      </p:sp>
      <p:sp>
        <p:nvSpPr>
          <p:cNvPr id="239" name="Rectangle 239"/>
          <p:cNvSpPr/>
          <p:nvPr/>
        </p:nvSpPr>
        <p:spPr>
          <a:xfrm>
            <a:off x="4057650" y="4238625"/>
            <a:ext cx="2647950" cy="1714500"/>
          </a:xfrm>
          <a:prstGeom prst="roundRect">
            <a:avLst>
              <a:gd name="adj" fmla="val 4444"/>
            </a:avLst>
          </a:prstGeom>
          <a:solidFill>
            <a:srgbClr val="FFFFFF"/>
          </a:solidFill>
          <a:ln w="12382">
            <a:solidFill>
              <a:srgbClr val="2E7D32"/>
            </a:solidFill>
          </a:ln>
        </p:spPr>
      </p:sp>
      <p:sp>
        <p:nvSpPr>
          <p:cNvPr id="240" name="TextBox 240"/>
          <p:cNvSpPr txBox="1"/>
          <p:nvPr/>
        </p:nvSpPr>
        <p:spPr>
          <a:xfrm>
            <a:off x="4177665" y="4353878"/>
            <a:ext cx="1194066" cy="213360"/>
          </a:xfrm>
          <a:prstGeom prst="rect">
            <a:avLst/>
          </a:prstGeom>
          <a:noFill/>
          <a:ln>
            <a:noFill/>
          </a:ln>
        </p:spPr>
        <p:txBody>
          <a:bodyPr wrap="none" lIns="0" tIns="0" rIns="0" bIns="0" anchor="t" anchorCtr="0">
            <a:spAutoFit/>
          </a:bodyPr>
          <a:lstStyle/>
          <a:p>
            <a:pPr algn="l"/>
            <a:r>
              <a:rPr lang="zh-CN" sz="1050" b="1" dirty="0">
                <a:solidFill>
                  <a:srgbClr val="2E7D32"/>
                </a:solidFill>
                <a:latin typeface="Arial"/>
                <a:ea typeface="SimHei"/>
                <a:cs typeface="Arial"/>
              </a:rPr>
              <a:t>E_good（10×3）</a:t>
            </a:r>
          </a:p>
        </p:txBody>
      </p:sp>
      <p:sp>
        <p:nvSpPr>
          <p:cNvPr id="241" name="Rectangle 241"/>
          <p:cNvSpPr/>
          <p:nvPr/>
        </p:nvSpPr>
        <p:spPr>
          <a:xfrm>
            <a:off x="4191000" y="4581525"/>
            <a:ext cx="2114550" cy="1299210"/>
          </a:xfrm>
          <a:prstGeom prst="roundRect">
            <a:avLst>
              <a:gd name="adj" fmla="val 2933"/>
            </a:avLst>
          </a:prstGeom>
          <a:solidFill>
            <a:srgbClr val="FFFFFF"/>
          </a:solidFill>
          <a:ln w="6668">
            <a:solidFill>
              <a:srgbClr val="E4E7EB"/>
            </a:solidFill>
          </a:ln>
        </p:spPr>
      </p:sp>
      <p:sp>
        <p:nvSpPr>
          <p:cNvPr id="242" name="Rectangle 242"/>
          <p:cNvSpPr/>
          <p:nvPr/>
        </p:nvSpPr>
        <p:spPr>
          <a:xfrm>
            <a:off x="4191000" y="4581525"/>
            <a:ext cx="2114550" cy="118110"/>
          </a:xfrm>
          <a:prstGeom prst="roundRect">
            <a:avLst>
              <a:gd name="adj" fmla="val 32258"/>
            </a:avLst>
          </a:prstGeom>
          <a:solidFill>
            <a:srgbClr val="EAF5EA"/>
          </a:solidFill>
          <a:ln>
            <a:noFill/>
          </a:ln>
        </p:spPr>
      </p:sp>
      <p:sp>
        <p:nvSpPr>
          <p:cNvPr id="243" name="TextBox 243"/>
          <p:cNvSpPr txBox="1"/>
          <p:nvPr/>
        </p:nvSpPr>
        <p:spPr>
          <a:xfrm>
            <a:off x="4328686" y="4602432"/>
            <a:ext cx="181827" cy="111252"/>
          </a:xfrm>
          <a:prstGeom prst="rect">
            <a:avLst/>
          </a:prstGeom>
          <a:noFill/>
          <a:ln>
            <a:noFill/>
          </a:ln>
        </p:spPr>
        <p:txBody>
          <a:bodyPr wrap="none" lIns="0" tIns="0" rIns="0" bIns="0" anchor="t" anchorCtr="0">
            <a:spAutoFit/>
          </a:bodyPr>
          <a:lstStyle/>
          <a:p>
            <a:pPr algn="ctr"/>
            <a:r>
              <a:rPr lang="zh-CN" sz="548" b="1" dirty="0">
                <a:solidFill>
                  <a:srgbClr val="2E7D32"/>
                </a:solidFill>
                <a:latin typeface="Arial"/>
                <a:ea typeface="Microsoft YaHei"/>
                <a:cs typeface="Arial"/>
              </a:rPr>
              <a:t>词表</a:t>
            </a:r>
          </a:p>
        </p:txBody>
      </p:sp>
      <p:sp>
        <p:nvSpPr>
          <p:cNvPr id="244" name="TextBox 244"/>
          <p:cNvSpPr txBox="1"/>
          <p:nvPr/>
        </p:nvSpPr>
        <p:spPr>
          <a:xfrm>
            <a:off x="4837709" y="4602432"/>
            <a:ext cx="173431" cy="111252"/>
          </a:xfrm>
          <a:prstGeom prst="rect">
            <a:avLst/>
          </a:prstGeom>
          <a:noFill/>
          <a:ln>
            <a:noFill/>
          </a:ln>
        </p:spPr>
        <p:txBody>
          <a:bodyPr wrap="none" lIns="0" tIns="0" rIns="0" bIns="0" anchor="t" anchorCtr="0">
            <a:spAutoFit/>
          </a:bodyPr>
          <a:lstStyle/>
          <a:p>
            <a:pPr algn="ctr"/>
            <a:r>
              <a:rPr lang="zh-CN" sz="548" b="1" dirty="0">
                <a:solidFill>
                  <a:srgbClr val="2E7D32"/>
                </a:solidFill>
                <a:latin typeface="Consolas"/>
                <a:ea typeface="Microsoft YaHei"/>
                <a:cs typeface="Consolas"/>
              </a:rPr>
              <a:t>Dim1</a:t>
            </a:r>
          </a:p>
        </p:txBody>
      </p:sp>
      <p:sp>
        <p:nvSpPr>
          <p:cNvPr id="245" name="Line 245"/>
          <p:cNvSpPr/>
          <p:nvPr/>
        </p:nvSpPr>
        <p:spPr>
          <a:xfrm>
            <a:off x="4648200" y="4581525"/>
            <a:ext cx="9525" cy="1299210"/>
          </a:xfrm>
          <a:custGeom>
            <a:avLst/>
            <a:gdLst/>
            <a:ahLst/>
            <a:cxnLst/>
            <a:rect l="l" t="t" r="r" b="b"/>
            <a:pathLst>
              <a:path w="9525" h="1299210">
                <a:moveTo>
                  <a:pt x="0" y="0"/>
                </a:moveTo>
                <a:lnTo>
                  <a:pt x="0" y="1299210"/>
                </a:lnTo>
              </a:path>
            </a:pathLst>
          </a:custGeom>
          <a:noFill/>
          <a:ln w="5715">
            <a:solidFill>
              <a:srgbClr val="E8EAED"/>
            </a:solidFill>
          </a:ln>
        </p:spPr>
      </p:sp>
      <p:sp>
        <p:nvSpPr>
          <p:cNvPr id="246" name="TextBox 246"/>
          <p:cNvSpPr txBox="1"/>
          <p:nvPr/>
        </p:nvSpPr>
        <p:spPr>
          <a:xfrm>
            <a:off x="5379664" y="4602432"/>
            <a:ext cx="194422" cy="111252"/>
          </a:xfrm>
          <a:prstGeom prst="rect">
            <a:avLst/>
          </a:prstGeom>
          <a:noFill/>
          <a:ln>
            <a:noFill/>
          </a:ln>
        </p:spPr>
        <p:txBody>
          <a:bodyPr wrap="none" lIns="0" tIns="0" rIns="0" bIns="0" anchor="t" anchorCtr="0">
            <a:spAutoFit/>
          </a:bodyPr>
          <a:lstStyle/>
          <a:p>
            <a:pPr algn="ctr"/>
            <a:r>
              <a:rPr lang="zh-CN" sz="548" b="1" dirty="0">
                <a:solidFill>
                  <a:srgbClr val="2E7D32"/>
                </a:solidFill>
                <a:latin typeface="Consolas"/>
                <a:ea typeface="Microsoft YaHei"/>
                <a:cs typeface="Consolas"/>
              </a:rPr>
              <a:t>Dim2</a:t>
            </a:r>
          </a:p>
        </p:txBody>
      </p:sp>
      <p:sp>
        <p:nvSpPr>
          <p:cNvPr id="247" name="Line 247"/>
          <p:cNvSpPr/>
          <p:nvPr/>
        </p:nvSpPr>
        <p:spPr>
          <a:xfrm>
            <a:off x="5200650" y="4581525"/>
            <a:ext cx="9525" cy="1299210"/>
          </a:xfrm>
          <a:custGeom>
            <a:avLst/>
            <a:gdLst/>
            <a:ahLst/>
            <a:cxnLst/>
            <a:rect l="l" t="t" r="r" b="b"/>
            <a:pathLst>
              <a:path w="9525" h="1299210">
                <a:moveTo>
                  <a:pt x="0" y="0"/>
                </a:moveTo>
                <a:lnTo>
                  <a:pt x="0" y="1299210"/>
                </a:lnTo>
              </a:path>
            </a:pathLst>
          </a:custGeom>
          <a:noFill/>
          <a:ln w="5715">
            <a:solidFill>
              <a:srgbClr val="E8EAED"/>
            </a:solidFill>
          </a:ln>
        </p:spPr>
      </p:sp>
      <p:sp>
        <p:nvSpPr>
          <p:cNvPr id="248" name="TextBox 248"/>
          <p:cNvSpPr txBox="1"/>
          <p:nvPr/>
        </p:nvSpPr>
        <p:spPr>
          <a:xfrm>
            <a:off x="5932114" y="4602432"/>
            <a:ext cx="194422" cy="111252"/>
          </a:xfrm>
          <a:prstGeom prst="rect">
            <a:avLst/>
          </a:prstGeom>
          <a:noFill/>
          <a:ln>
            <a:noFill/>
          </a:ln>
        </p:spPr>
        <p:txBody>
          <a:bodyPr wrap="none" lIns="0" tIns="0" rIns="0" bIns="0" anchor="t" anchorCtr="0">
            <a:spAutoFit/>
          </a:bodyPr>
          <a:lstStyle/>
          <a:p>
            <a:pPr algn="ctr"/>
            <a:r>
              <a:rPr lang="zh-CN" sz="548" b="1" dirty="0">
                <a:solidFill>
                  <a:srgbClr val="2E7D32"/>
                </a:solidFill>
                <a:latin typeface="Consolas"/>
                <a:ea typeface="Microsoft YaHei"/>
                <a:cs typeface="Consolas"/>
              </a:rPr>
              <a:t>Dim3</a:t>
            </a:r>
          </a:p>
        </p:txBody>
      </p:sp>
      <p:sp>
        <p:nvSpPr>
          <p:cNvPr id="249" name="Line 249"/>
          <p:cNvSpPr/>
          <p:nvPr/>
        </p:nvSpPr>
        <p:spPr>
          <a:xfrm>
            <a:off x="5753100" y="4581525"/>
            <a:ext cx="9525" cy="1299210"/>
          </a:xfrm>
          <a:custGeom>
            <a:avLst/>
            <a:gdLst/>
            <a:ahLst/>
            <a:cxnLst/>
            <a:rect l="l" t="t" r="r" b="b"/>
            <a:pathLst>
              <a:path w="9525" h="1299210">
                <a:moveTo>
                  <a:pt x="0" y="0"/>
                </a:moveTo>
                <a:lnTo>
                  <a:pt x="0" y="1299210"/>
                </a:lnTo>
              </a:path>
            </a:pathLst>
          </a:custGeom>
          <a:noFill/>
          <a:ln w="5715">
            <a:solidFill>
              <a:srgbClr val="E8EAED"/>
            </a:solidFill>
          </a:ln>
        </p:spPr>
      </p:sp>
      <p:sp>
        <p:nvSpPr>
          <p:cNvPr id="250" name="Line 250"/>
          <p:cNvSpPr/>
          <p:nvPr/>
        </p:nvSpPr>
        <p:spPr>
          <a:xfrm>
            <a:off x="4191000" y="4699635"/>
            <a:ext cx="2114550" cy="9525"/>
          </a:xfrm>
          <a:custGeom>
            <a:avLst/>
            <a:gdLst/>
            <a:ahLst/>
            <a:cxnLst/>
            <a:rect l="l" t="t" r="r" b="b"/>
            <a:pathLst>
              <a:path w="2114550" h="9525">
                <a:moveTo>
                  <a:pt x="0" y="0"/>
                </a:moveTo>
                <a:lnTo>
                  <a:pt x="2114550" y="0"/>
                </a:lnTo>
              </a:path>
            </a:pathLst>
          </a:custGeom>
          <a:noFill/>
          <a:ln w="6668">
            <a:solidFill>
              <a:srgbClr val="E4E7EB"/>
            </a:solidFill>
          </a:ln>
        </p:spPr>
      </p:sp>
      <p:sp>
        <p:nvSpPr>
          <p:cNvPr id="251" name="TextBox 251"/>
          <p:cNvSpPr txBox="1"/>
          <p:nvPr/>
        </p:nvSpPr>
        <p:spPr>
          <a:xfrm>
            <a:off x="4378663" y="4720542"/>
            <a:ext cx="8187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V1</a:t>
            </a:r>
          </a:p>
        </p:txBody>
      </p:sp>
      <p:sp>
        <p:nvSpPr>
          <p:cNvPr id="252" name="TextBox 252"/>
          <p:cNvSpPr txBox="1"/>
          <p:nvPr/>
        </p:nvSpPr>
        <p:spPr>
          <a:xfrm>
            <a:off x="4829513" y="472054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0.25</a:t>
            </a:r>
          </a:p>
        </p:txBody>
      </p:sp>
      <p:sp>
        <p:nvSpPr>
          <p:cNvPr id="253" name="TextBox 253"/>
          <p:cNvSpPr txBox="1"/>
          <p:nvPr/>
        </p:nvSpPr>
        <p:spPr>
          <a:xfrm>
            <a:off x="5391958" y="4720542"/>
            <a:ext cx="16983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0.18</a:t>
            </a:r>
          </a:p>
        </p:txBody>
      </p:sp>
      <p:sp>
        <p:nvSpPr>
          <p:cNvPr id="254" name="TextBox 254"/>
          <p:cNvSpPr txBox="1"/>
          <p:nvPr/>
        </p:nvSpPr>
        <p:spPr>
          <a:xfrm>
            <a:off x="5944408" y="4720542"/>
            <a:ext cx="16983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0.10</a:t>
            </a:r>
          </a:p>
        </p:txBody>
      </p:sp>
      <p:sp>
        <p:nvSpPr>
          <p:cNvPr id="255" name="Rectangle 255"/>
          <p:cNvSpPr/>
          <p:nvPr/>
        </p:nvSpPr>
        <p:spPr>
          <a:xfrm>
            <a:off x="4191000" y="4817745"/>
            <a:ext cx="2114550" cy="118110"/>
          </a:xfrm>
          <a:prstGeom prst="rect">
            <a:avLst/>
          </a:prstGeom>
          <a:solidFill>
            <a:srgbClr val="F8F9FA"/>
          </a:solidFill>
          <a:ln>
            <a:noFill/>
          </a:ln>
        </p:spPr>
      </p:sp>
      <p:sp>
        <p:nvSpPr>
          <p:cNvPr id="256" name="TextBox 256"/>
          <p:cNvSpPr txBox="1"/>
          <p:nvPr/>
        </p:nvSpPr>
        <p:spPr>
          <a:xfrm>
            <a:off x="4368667" y="483865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V2</a:t>
            </a:r>
          </a:p>
        </p:txBody>
      </p:sp>
      <p:sp>
        <p:nvSpPr>
          <p:cNvPr id="257" name="TextBox 257"/>
          <p:cNvSpPr txBox="1"/>
          <p:nvPr/>
        </p:nvSpPr>
        <p:spPr>
          <a:xfrm>
            <a:off x="4839508" y="4838652"/>
            <a:ext cx="16983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0.12</a:t>
            </a:r>
          </a:p>
        </p:txBody>
      </p:sp>
      <p:sp>
        <p:nvSpPr>
          <p:cNvPr id="258" name="TextBox 258"/>
          <p:cNvSpPr txBox="1"/>
          <p:nvPr/>
        </p:nvSpPr>
        <p:spPr>
          <a:xfrm>
            <a:off x="5381963" y="483865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0.95</a:t>
            </a:r>
          </a:p>
        </p:txBody>
      </p:sp>
      <p:sp>
        <p:nvSpPr>
          <p:cNvPr id="259" name="TextBox 259"/>
          <p:cNvSpPr txBox="1"/>
          <p:nvPr/>
        </p:nvSpPr>
        <p:spPr>
          <a:xfrm>
            <a:off x="5934413" y="483865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0.08</a:t>
            </a:r>
          </a:p>
        </p:txBody>
      </p:sp>
      <p:sp>
        <p:nvSpPr>
          <p:cNvPr id="260" name="TextBox 260"/>
          <p:cNvSpPr txBox="1"/>
          <p:nvPr/>
        </p:nvSpPr>
        <p:spPr>
          <a:xfrm>
            <a:off x="4368667" y="495676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V3</a:t>
            </a:r>
          </a:p>
        </p:txBody>
      </p:sp>
      <p:sp>
        <p:nvSpPr>
          <p:cNvPr id="261" name="TextBox 261"/>
          <p:cNvSpPr txBox="1"/>
          <p:nvPr/>
        </p:nvSpPr>
        <p:spPr>
          <a:xfrm>
            <a:off x="4829513" y="495676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0.90</a:t>
            </a:r>
          </a:p>
        </p:txBody>
      </p:sp>
      <p:sp>
        <p:nvSpPr>
          <p:cNvPr id="262" name="TextBox 262"/>
          <p:cNvSpPr txBox="1"/>
          <p:nvPr/>
        </p:nvSpPr>
        <p:spPr>
          <a:xfrm>
            <a:off x="5381963" y="495676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0.72</a:t>
            </a:r>
          </a:p>
        </p:txBody>
      </p:sp>
      <p:sp>
        <p:nvSpPr>
          <p:cNvPr id="263" name="TextBox 263"/>
          <p:cNvSpPr txBox="1"/>
          <p:nvPr/>
        </p:nvSpPr>
        <p:spPr>
          <a:xfrm>
            <a:off x="5934413" y="495676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0.55</a:t>
            </a:r>
          </a:p>
        </p:txBody>
      </p:sp>
      <p:sp>
        <p:nvSpPr>
          <p:cNvPr id="264" name="Rectangle 264"/>
          <p:cNvSpPr/>
          <p:nvPr/>
        </p:nvSpPr>
        <p:spPr>
          <a:xfrm>
            <a:off x="4191000" y="5053965"/>
            <a:ext cx="2114550" cy="118110"/>
          </a:xfrm>
          <a:prstGeom prst="rect">
            <a:avLst/>
          </a:prstGeom>
          <a:solidFill>
            <a:srgbClr val="F8F9FA"/>
          </a:solidFill>
          <a:ln>
            <a:noFill/>
          </a:ln>
        </p:spPr>
      </p:sp>
      <p:sp>
        <p:nvSpPr>
          <p:cNvPr id="265" name="TextBox 265"/>
          <p:cNvSpPr txBox="1"/>
          <p:nvPr/>
        </p:nvSpPr>
        <p:spPr>
          <a:xfrm>
            <a:off x="4368667" y="507487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V4</a:t>
            </a:r>
          </a:p>
        </p:txBody>
      </p:sp>
      <p:sp>
        <p:nvSpPr>
          <p:cNvPr id="266" name="TextBox 266"/>
          <p:cNvSpPr txBox="1"/>
          <p:nvPr/>
        </p:nvSpPr>
        <p:spPr>
          <a:xfrm>
            <a:off x="4829513" y="507487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0.86</a:t>
            </a:r>
          </a:p>
        </p:txBody>
      </p:sp>
      <p:sp>
        <p:nvSpPr>
          <p:cNvPr id="267" name="TextBox 267"/>
          <p:cNvSpPr txBox="1"/>
          <p:nvPr/>
        </p:nvSpPr>
        <p:spPr>
          <a:xfrm>
            <a:off x="5381963" y="507487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0.35</a:t>
            </a:r>
          </a:p>
        </p:txBody>
      </p:sp>
      <p:sp>
        <p:nvSpPr>
          <p:cNvPr id="268" name="TextBox 268"/>
          <p:cNvSpPr txBox="1"/>
          <p:nvPr/>
        </p:nvSpPr>
        <p:spPr>
          <a:xfrm>
            <a:off x="5944408" y="5074872"/>
            <a:ext cx="16983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0.18</a:t>
            </a:r>
          </a:p>
        </p:txBody>
      </p:sp>
      <p:sp>
        <p:nvSpPr>
          <p:cNvPr id="269" name="TextBox 269"/>
          <p:cNvSpPr txBox="1"/>
          <p:nvPr/>
        </p:nvSpPr>
        <p:spPr>
          <a:xfrm>
            <a:off x="4368667" y="519298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V5</a:t>
            </a:r>
          </a:p>
        </p:txBody>
      </p:sp>
      <p:sp>
        <p:nvSpPr>
          <p:cNvPr id="270" name="TextBox 270"/>
          <p:cNvSpPr txBox="1"/>
          <p:nvPr/>
        </p:nvSpPr>
        <p:spPr>
          <a:xfrm>
            <a:off x="4829513" y="519298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0.82</a:t>
            </a:r>
          </a:p>
        </p:txBody>
      </p:sp>
      <p:sp>
        <p:nvSpPr>
          <p:cNvPr id="271" name="TextBox 271"/>
          <p:cNvSpPr txBox="1"/>
          <p:nvPr/>
        </p:nvSpPr>
        <p:spPr>
          <a:xfrm>
            <a:off x="5381963" y="519298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0.28</a:t>
            </a:r>
          </a:p>
        </p:txBody>
      </p:sp>
      <p:sp>
        <p:nvSpPr>
          <p:cNvPr id="272" name="TextBox 272"/>
          <p:cNvSpPr txBox="1"/>
          <p:nvPr/>
        </p:nvSpPr>
        <p:spPr>
          <a:xfrm>
            <a:off x="5934413" y="519298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0.22</a:t>
            </a:r>
          </a:p>
        </p:txBody>
      </p:sp>
      <p:sp>
        <p:nvSpPr>
          <p:cNvPr id="273" name="Rectangle 273"/>
          <p:cNvSpPr/>
          <p:nvPr/>
        </p:nvSpPr>
        <p:spPr>
          <a:xfrm>
            <a:off x="4191000" y="5290185"/>
            <a:ext cx="2114550" cy="118110"/>
          </a:xfrm>
          <a:prstGeom prst="rect">
            <a:avLst/>
          </a:prstGeom>
          <a:solidFill>
            <a:srgbClr val="F8F9FA"/>
          </a:solidFill>
          <a:ln>
            <a:noFill/>
          </a:ln>
        </p:spPr>
      </p:sp>
      <p:sp>
        <p:nvSpPr>
          <p:cNvPr id="274" name="TextBox 274"/>
          <p:cNvSpPr txBox="1"/>
          <p:nvPr/>
        </p:nvSpPr>
        <p:spPr>
          <a:xfrm>
            <a:off x="4368667" y="531109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V6</a:t>
            </a:r>
          </a:p>
        </p:txBody>
      </p:sp>
      <p:sp>
        <p:nvSpPr>
          <p:cNvPr id="275" name="TextBox 275"/>
          <p:cNvSpPr txBox="1"/>
          <p:nvPr/>
        </p:nvSpPr>
        <p:spPr>
          <a:xfrm>
            <a:off x="4829513" y="531109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0.40</a:t>
            </a:r>
          </a:p>
        </p:txBody>
      </p:sp>
      <p:sp>
        <p:nvSpPr>
          <p:cNvPr id="276" name="TextBox 276"/>
          <p:cNvSpPr txBox="1"/>
          <p:nvPr/>
        </p:nvSpPr>
        <p:spPr>
          <a:xfrm>
            <a:off x="5381963" y="531109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0.20</a:t>
            </a:r>
          </a:p>
        </p:txBody>
      </p:sp>
      <p:sp>
        <p:nvSpPr>
          <p:cNvPr id="277" name="TextBox 277"/>
          <p:cNvSpPr txBox="1"/>
          <p:nvPr/>
        </p:nvSpPr>
        <p:spPr>
          <a:xfrm>
            <a:off x="5944408" y="5311092"/>
            <a:ext cx="16983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0.12</a:t>
            </a:r>
          </a:p>
        </p:txBody>
      </p:sp>
      <p:sp>
        <p:nvSpPr>
          <p:cNvPr id="278" name="TextBox 278"/>
          <p:cNvSpPr txBox="1"/>
          <p:nvPr/>
        </p:nvSpPr>
        <p:spPr>
          <a:xfrm>
            <a:off x="4368667" y="542920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V7</a:t>
            </a:r>
          </a:p>
        </p:txBody>
      </p:sp>
      <p:sp>
        <p:nvSpPr>
          <p:cNvPr id="279" name="TextBox 279"/>
          <p:cNvSpPr txBox="1"/>
          <p:nvPr/>
        </p:nvSpPr>
        <p:spPr>
          <a:xfrm>
            <a:off x="4829513" y="542920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0.75</a:t>
            </a:r>
          </a:p>
        </p:txBody>
      </p:sp>
      <p:sp>
        <p:nvSpPr>
          <p:cNvPr id="280" name="TextBox 280"/>
          <p:cNvSpPr txBox="1"/>
          <p:nvPr/>
        </p:nvSpPr>
        <p:spPr>
          <a:xfrm>
            <a:off x="5391958" y="5429202"/>
            <a:ext cx="16983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0.18</a:t>
            </a:r>
          </a:p>
        </p:txBody>
      </p:sp>
      <p:sp>
        <p:nvSpPr>
          <p:cNvPr id="281" name="TextBox 281"/>
          <p:cNvSpPr txBox="1"/>
          <p:nvPr/>
        </p:nvSpPr>
        <p:spPr>
          <a:xfrm>
            <a:off x="5944408" y="5429202"/>
            <a:ext cx="16983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0.10</a:t>
            </a:r>
          </a:p>
        </p:txBody>
      </p:sp>
      <p:sp>
        <p:nvSpPr>
          <p:cNvPr id="282" name="Rectangle 282"/>
          <p:cNvSpPr/>
          <p:nvPr/>
        </p:nvSpPr>
        <p:spPr>
          <a:xfrm>
            <a:off x="4191000" y="5526405"/>
            <a:ext cx="2114550" cy="118110"/>
          </a:xfrm>
          <a:prstGeom prst="rect">
            <a:avLst/>
          </a:prstGeom>
          <a:solidFill>
            <a:srgbClr val="F8F9FA"/>
          </a:solidFill>
          <a:ln>
            <a:noFill/>
          </a:ln>
        </p:spPr>
      </p:sp>
      <p:sp>
        <p:nvSpPr>
          <p:cNvPr id="283" name="TextBox 283"/>
          <p:cNvSpPr txBox="1"/>
          <p:nvPr/>
        </p:nvSpPr>
        <p:spPr>
          <a:xfrm>
            <a:off x="4368667" y="554731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V8</a:t>
            </a:r>
          </a:p>
        </p:txBody>
      </p:sp>
      <p:sp>
        <p:nvSpPr>
          <p:cNvPr id="284" name="TextBox 284"/>
          <p:cNvSpPr txBox="1"/>
          <p:nvPr/>
        </p:nvSpPr>
        <p:spPr>
          <a:xfrm>
            <a:off x="4829513" y="554731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0.05</a:t>
            </a:r>
          </a:p>
        </p:txBody>
      </p:sp>
      <p:sp>
        <p:nvSpPr>
          <p:cNvPr id="285" name="TextBox 285"/>
          <p:cNvSpPr txBox="1"/>
          <p:nvPr/>
        </p:nvSpPr>
        <p:spPr>
          <a:xfrm>
            <a:off x="5381963" y="554731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0.03</a:t>
            </a:r>
          </a:p>
        </p:txBody>
      </p:sp>
      <p:sp>
        <p:nvSpPr>
          <p:cNvPr id="286" name="TextBox 286"/>
          <p:cNvSpPr txBox="1"/>
          <p:nvPr/>
        </p:nvSpPr>
        <p:spPr>
          <a:xfrm>
            <a:off x="5934413" y="554731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0.02</a:t>
            </a:r>
          </a:p>
        </p:txBody>
      </p:sp>
      <p:sp>
        <p:nvSpPr>
          <p:cNvPr id="287" name="TextBox 287"/>
          <p:cNvSpPr txBox="1"/>
          <p:nvPr/>
        </p:nvSpPr>
        <p:spPr>
          <a:xfrm>
            <a:off x="4368667" y="5665422"/>
            <a:ext cx="101865"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V9</a:t>
            </a:r>
          </a:p>
        </p:txBody>
      </p:sp>
      <p:sp>
        <p:nvSpPr>
          <p:cNvPr id="288" name="TextBox 288"/>
          <p:cNvSpPr txBox="1"/>
          <p:nvPr/>
        </p:nvSpPr>
        <p:spPr>
          <a:xfrm>
            <a:off x="4839508" y="5665422"/>
            <a:ext cx="16983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0.10</a:t>
            </a:r>
          </a:p>
        </p:txBody>
      </p:sp>
      <p:sp>
        <p:nvSpPr>
          <p:cNvPr id="289" name="TextBox 289"/>
          <p:cNvSpPr txBox="1"/>
          <p:nvPr/>
        </p:nvSpPr>
        <p:spPr>
          <a:xfrm>
            <a:off x="5381963" y="566542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0.82</a:t>
            </a:r>
          </a:p>
        </p:txBody>
      </p:sp>
      <p:sp>
        <p:nvSpPr>
          <p:cNvPr id="290" name="TextBox 290"/>
          <p:cNvSpPr txBox="1"/>
          <p:nvPr/>
        </p:nvSpPr>
        <p:spPr>
          <a:xfrm>
            <a:off x="5944408" y="5665422"/>
            <a:ext cx="16983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0.12</a:t>
            </a:r>
          </a:p>
        </p:txBody>
      </p:sp>
      <p:sp>
        <p:nvSpPr>
          <p:cNvPr id="291" name="Rectangle 291"/>
          <p:cNvSpPr/>
          <p:nvPr/>
        </p:nvSpPr>
        <p:spPr>
          <a:xfrm>
            <a:off x="4191000" y="5762625"/>
            <a:ext cx="2114550" cy="118110"/>
          </a:xfrm>
          <a:prstGeom prst="rect">
            <a:avLst/>
          </a:prstGeom>
          <a:solidFill>
            <a:srgbClr val="F8F9FA"/>
          </a:solidFill>
          <a:ln>
            <a:noFill/>
          </a:ln>
        </p:spPr>
      </p:sp>
      <p:sp>
        <p:nvSpPr>
          <p:cNvPr id="292" name="TextBox 292"/>
          <p:cNvSpPr txBox="1"/>
          <p:nvPr/>
        </p:nvSpPr>
        <p:spPr>
          <a:xfrm>
            <a:off x="4356673" y="5783532"/>
            <a:ext cx="12585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Arial"/>
                <a:ea typeface="Microsoft YaHei"/>
                <a:cs typeface="Arial"/>
              </a:rPr>
              <a:t>V10</a:t>
            </a:r>
          </a:p>
        </p:txBody>
      </p:sp>
      <p:sp>
        <p:nvSpPr>
          <p:cNvPr id="293" name="TextBox 293"/>
          <p:cNvSpPr txBox="1"/>
          <p:nvPr/>
        </p:nvSpPr>
        <p:spPr>
          <a:xfrm>
            <a:off x="4839508" y="5783532"/>
            <a:ext cx="169833"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0.18</a:t>
            </a:r>
          </a:p>
        </p:txBody>
      </p:sp>
      <p:sp>
        <p:nvSpPr>
          <p:cNvPr id="294" name="TextBox 294"/>
          <p:cNvSpPr txBox="1"/>
          <p:nvPr/>
        </p:nvSpPr>
        <p:spPr>
          <a:xfrm>
            <a:off x="5381963" y="578353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0.20</a:t>
            </a:r>
          </a:p>
        </p:txBody>
      </p:sp>
      <p:sp>
        <p:nvSpPr>
          <p:cNvPr id="295" name="TextBox 295"/>
          <p:cNvSpPr txBox="1"/>
          <p:nvPr/>
        </p:nvSpPr>
        <p:spPr>
          <a:xfrm>
            <a:off x="5934413" y="5783532"/>
            <a:ext cx="189824" cy="111252"/>
          </a:xfrm>
          <a:prstGeom prst="rect">
            <a:avLst/>
          </a:prstGeom>
          <a:noFill/>
          <a:ln>
            <a:noFill/>
          </a:ln>
        </p:spPr>
        <p:txBody>
          <a:bodyPr wrap="none" lIns="0" tIns="0" rIns="0" bIns="0" anchor="t" anchorCtr="0">
            <a:spAutoFit/>
          </a:bodyPr>
          <a:lstStyle/>
          <a:p>
            <a:pPr algn="ctr"/>
            <a:r>
              <a:rPr lang="zh-CN" sz="548" dirty="0">
                <a:solidFill>
                  <a:srgbClr val="5F6368"/>
                </a:solidFill>
                <a:latin typeface="Consolas"/>
                <a:ea typeface="Microsoft YaHei"/>
                <a:cs typeface="Consolas"/>
              </a:rPr>
              <a:t>0.96</a:t>
            </a:r>
          </a:p>
        </p:txBody>
      </p:sp>
      <p:sp>
        <p:nvSpPr>
          <p:cNvPr id="296" name="Rectangle 296"/>
          <p:cNvSpPr/>
          <p:nvPr/>
        </p:nvSpPr>
        <p:spPr>
          <a:xfrm>
            <a:off x="6438900" y="4743450"/>
            <a:ext cx="781050" cy="323850"/>
          </a:xfrm>
          <a:prstGeom prst="roundRect">
            <a:avLst>
              <a:gd name="adj" fmla="val 50000"/>
            </a:avLst>
          </a:prstGeom>
          <a:solidFill>
            <a:srgbClr val="FFFFFF"/>
          </a:solidFill>
          <a:ln w="13335">
            <a:solidFill>
              <a:srgbClr val="2E7D32"/>
            </a:solidFill>
          </a:ln>
        </p:spPr>
      </p:sp>
      <p:sp>
        <p:nvSpPr>
          <p:cNvPr id="297" name="TextBox 297"/>
          <p:cNvSpPr txBox="1"/>
          <p:nvPr/>
        </p:nvSpPr>
        <p:spPr>
          <a:xfrm>
            <a:off x="6502658" y="4863941"/>
            <a:ext cx="653534" cy="167640"/>
          </a:xfrm>
          <a:prstGeom prst="rect">
            <a:avLst/>
          </a:prstGeom>
          <a:noFill/>
          <a:ln>
            <a:noFill/>
          </a:ln>
        </p:spPr>
        <p:txBody>
          <a:bodyPr wrap="none" lIns="0" tIns="0" rIns="0" bIns="0" anchor="t" anchorCtr="0">
            <a:spAutoFit/>
          </a:bodyPr>
          <a:lstStyle/>
          <a:p>
            <a:pPr algn="ctr"/>
            <a:r>
              <a:rPr lang="zh-CN" sz="825" b="1" dirty="0">
                <a:solidFill>
                  <a:srgbClr val="2E7D32"/>
                </a:solidFill>
                <a:latin typeface="Consolas"/>
                <a:ea typeface="Microsoft YaHei"/>
                <a:cs typeface="Consolas"/>
              </a:rPr>
              <a:t>X × E_good</a:t>
            </a:r>
          </a:p>
        </p:txBody>
      </p:sp>
      <p:sp>
        <p:nvSpPr>
          <p:cNvPr id="298" name="Line 298"/>
          <p:cNvSpPr/>
          <p:nvPr/>
        </p:nvSpPr>
        <p:spPr>
          <a:xfrm>
            <a:off x="7219950" y="4905376"/>
            <a:ext cx="152400" cy="0"/>
          </a:xfrm>
          <a:prstGeom prst="line">
            <a:avLst/>
          </a:prstGeom>
          <a:noFill/>
          <a:ln w="15240">
            <a:solidFill>
              <a:srgbClr val="2E7D32"/>
            </a:solidFill>
            <a:tailEnd type="triangle" w="lg" len="lg"/>
          </a:ln>
        </p:spPr>
      </p:sp>
      <p:sp>
        <p:nvSpPr>
          <p:cNvPr id="299" name="TextBox 299"/>
          <p:cNvSpPr txBox="1"/>
          <p:nvPr/>
        </p:nvSpPr>
        <p:spPr>
          <a:xfrm>
            <a:off x="7360444" y="4127897"/>
            <a:ext cx="1023000" cy="190500"/>
          </a:xfrm>
          <a:prstGeom prst="rect">
            <a:avLst/>
          </a:prstGeom>
          <a:noFill/>
          <a:ln>
            <a:noFill/>
          </a:ln>
        </p:spPr>
        <p:txBody>
          <a:bodyPr wrap="none" lIns="0" tIns="0" rIns="0" bIns="0" anchor="t" anchorCtr="0">
            <a:spAutoFit/>
          </a:bodyPr>
          <a:lstStyle/>
          <a:p>
            <a:pPr algn="l"/>
            <a:r>
              <a:rPr lang="zh-CN" sz="938" b="1" dirty="0">
                <a:solidFill>
                  <a:srgbClr val="2E7D32"/>
                </a:solidFill>
                <a:latin typeface="Arial"/>
                <a:ea typeface="SimHei"/>
                <a:cs typeface="Arial"/>
              </a:rPr>
              <a:t>H_good（5×3）</a:t>
            </a:r>
          </a:p>
        </p:txBody>
      </p:sp>
      <p:sp>
        <p:nvSpPr>
          <p:cNvPr id="300" name="Rectangle 300"/>
          <p:cNvSpPr/>
          <p:nvPr/>
        </p:nvSpPr>
        <p:spPr>
          <a:xfrm>
            <a:off x="7372350" y="4324350"/>
            <a:ext cx="1790700" cy="914400"/>
          </a:xfrm>
          <a:prstGeom prst="roundRect">
            <a:avLst>
              <a:gd name="adj" fmla="val 4167"/>
            </a:avLst>
          </a:prstGeom>
          <a:solidFill>
            <a:srgbClr val="FFFFFF"/>
          </a:solidFill>
          <a:ln w="6668">
            <a:solidFill>
              <a:srgbClr val="E4E7EB"/>
            </a:solidFill>
          </a:ln>
        </p:spPr>
      </p:sp>
      <p:sp>
        <p:nvSpPr>
          <p:cNvPr id="301" name="Rectangle 301"/>
          <p:cNvSpPr/>
          <p:nvPr/>
        </p:nvSpPr>
        <p:spPr>
          <a:xfrm>
            <a:off x="7372350" y="4324350"/>
            <a:ext cx="1790700" cy="152400"/>
          </a:xfrm>
          <a:prstGeom prst="roundRect">
            <a:avLst>
              <a:gd name="adj" fmla="val 25000"/>
            </a:avLst>
          </a:prstGeom>
          <a:solidFill>
            <a:srgbClr val="EAF5EA"/>
          </a:solidFill>
          <a:ln>
            <a:noFill/>
          </a:ln>
        </p:spPr>
      </p:sp>
      <p:sp>
        <p:nvSpPr>
          <p:cNvPr id="302" name="TextBox 302"/>
          <p:cNvSpPr txBox="1"/>
          <p:nvPr/>
        </p:nvSpPr>
        <p:spPr>
          <a:xfrm>
            <a:off x="7565503" y="4372261"/>
            <a:ext cx="204245" cy="124968"/>
          </a:xfrm>
          <a:prstGeom prst="rect">
            <a:avLst/>
          </a:prstGeom>
          <a:noFill/>
          <a:ln>
            <a:noFill/>
          </a:ln>
        </p:spPr>
        <p:txBody>
          <a:bodyPr wrap="none" lIns="0" tIns="0" rIns="0" bIns="0" anchor="t" anchorCtr="0">
            <a:spAutoFit/>
          </a:bodyPr>
          <a:lstStyle/>
          <a:p>
            <a:pPr algn="ctr"/>
            <a:r>
              <a:rPr lang="zh-CN" sz="615" b="1" dirty="0">
                <a:solidFill>
                  <a:srgbClr val="2E7D32"/>
                </a:solidFill>
                <a:latin typeface="Arial"/>
                <a:ea typeface="Microsoft YaHei"/>
                <a:cs typeface="Arial"/>
              </a:rPr>
              <a:t>词元</a:t>
            </a:r>
          </a:p>
        </p:txBody>
      </p:sp>
      <p:sp>
        <p:nvSpPr>
          <p:cNvPr id="303" name="TextBox 303"/>
          <p:cNvSpPr txBox="1"/>
          <p:nvPr/>
        </p:nvSpPr>
        <p:spPr>
          <a:xfrm>
            <a:off x="8065518" y="4372261"/>
            <a:ext cx="194813" cy="124968"/>
          </a:xfrm>
          <a:prstGeom prst="rect">
            <a:avLst/>
          </a:prstGeom>
          <a:noFill/>
          <a:ln>
            <a:noFill/>
          </a:ln>
        </p:spPr>
        <p:txBody>
          <a:bodyPr wrap="none" lIns="0" tIns="0" rIns="0" bIns="0" anchor="t" anchorCtr="0">
            <a:spAutoFit/>
          </a:bodyPr>
          <a:lstStyle/>
          <a:p>
            <a:pPr algn="ctr"/>
            <a:r>
              <a:rPr lang="zh-CN" sz="615" b="1" dirty="0">
                <a:solidFill>
                  <a:srgbClr val="2E7D32"/>
                </a:solidFill>
                <a:latin typeface="Consolas"/>
                <a:ea typeface="Microsoft YaHei"/>
                <a:cs typeface="Consolas"/>
              </a:rPr>
              <a:t>Dim1</a:t>
            </a:r>
          </a:p>
        </p:txBody>
      </p:sp>
      <p:sp>
        <p:nvSpPr>
          <p:cNvPr id="304" name="Line 304"/>
          <p:cNvSpPr/>
          <p:nvPr/>
        </p:nvSpPr>
        <p:spPr>
          <a:xfrm>
            <a:off x="7962900" y="432435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305" name="TextBox 305"/>
          <p:cNvSpPr txBox="1"/>
          <p:nvPr/>
        </p:nvSpPr>
        <p:spPr>
          <a:xfrm>
            <a:off x="8453779" y="4372261"/>
            <a:ext cx="218391" cy="124968"/>
          </a:xfrm>
          <a:prstGeom prst="rect">
            <a:avLst/>
          </a:prstGeom>
          <a:noFill/>
          <a:ln>
            <a:noFill/>
          </a:ln>
        </p:spPr>
        <p:txBody>
          <a:bodyPr wrap="none" lIns="0" tIns="0" rIns="0" bIns="0" anchor="t" anchorCtr="0">
            <a:spAutoFit/>
          </a:bodyPr>
          <a:lstStyle/>
          <a:p>
            <a:pPr algn="ctr"/>
            <a:r>
              <a:rPr lang="zh-CN" sz="615" b="1" dirty="0">
                <a:solidFill>
                  <a:srgbClr val="2E7D32"/>
                </a:solidFill>
                <a:latin typeface="Consolas"/>
                <a:ea typeface="Microsoft YaHei"/>
                <a:cs typeface="Consolas"/>
              </a:rPr>
              <a:t>Dim2</a:t>
            </a:r>
          </a:p>
        </p:txBody>
      </p:sp>
      <p:sp>
        <p:nvSpPr>
          <p:cNvPr id="306" name="Line 306"/>
          <p:cNvSpPr/>
          <p:nvPr/>
        </p:nvSpPr>
        <p:spPr>
          <a:xfrm>
            <a:off x="8362950" y="432435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307" name="TextBox 307"/>
          <p:cNvSpPr txBox="1"/>
          <p:nvPr/>
        </p:nvSpPr>
        <p:spPr>
          <a:xfrm>
            <a:off x="8853829" y="4372261"/>
            <a:ext cx="218391" cy="124968"/>
          </a:xfrm>
          <a:prstGeom prst="rect">
            <a:avLst/>
          </a:prstGeom>
          <a:noFill/>
          <a:ln>
            <a:noFill/>
          </a:ln>
        </p:spPr>
        <p:txBody>
          <a:bodyPr wrap="none" lIns="0" tIns="0" rIns="0" bIns="0" anchor="t" anchorCtr="0">
            <a:spAutoFit/>
          </a:bodyPr>
          <a:lstStyle/>
          <a:p>
            <a:pPr algn="ctr"/>
            <a:r>
              <a:rPr lang="zh-CN" sz="615" b="1" dirty="0">
                <a:solidFill>
                  <a:srgbClr val="2E7D32"/>
                </a:solidFill>
                <a:latin typeface="Consolas"/>
                <a:ea typeface="Microsoft YaHei"/>
                <a:cs typeface="Consolas"/>
              </a:rPr>
              <a:t>Dim3</a:t>
            </a:r>
          </a:p>
        </p:txBody>
      </p:sp>
      <p:sp>
        <p:nvSpPr>
          <p:cNvPr id="308" name="Line 308"/>
          <p:cNvSpPr/>
          <p:nvPr/>
        </p:nvSpPr>
        <p:spPr>
          <a:xfrm>
            <a:off x="8763000" y="4324350"/>
            <a:ext cx="9525" cy="914400"/>
          </a:xfrm>
          <a:custGeom>
            <a:avLst/>
            <a:gdLst/>
            <a:ahLst/>
            <a:cxnLst/>
            <a:rect l="l" t="t" r="r" b="b"/>
            <a:pathLst>
              <a:path w="9525" h="914400">
                <a:moveTo>
                  <a:pt x="0" y="0"/>
                </a:moveTo>
                <a:lnTo>
                  <a:pt x="0" y="914400"/>
                </a:lnTo>
              </a:path>
            </a:pathLst>
          </a:custGeom>
          <a:noFill/>
          <a:ln w="5715">
            <a:solidFill>
              <a:srgbClr val="E8EAED"/>
            </a:solidFill>
          </a:ln>
        </p:spPr>
      </p:sp>
      <p:sp>
        <p:nvSpPr>
          <p:cNvPr id="309" name="Line 309"/>
          <p:cNvSpPr/>
          <p:nvPr/>
        </p:nvSpPr>
        <p:spPr>
          <a:xfrm>
            <a:off x="7372350" y="4476750"/>
            <a:ext cx="1790700" cy="9525"/>
          </a:xfrm>
          <a:custGeom>
            <a:avLst/>
            <a:gdLst/>
            <a:ahLst/>
            <a:cxnLst/>
            <a:rect l="l" t="t" r="r" b="b"/>
            <a:pathLst>
              <a:path w="1790700" h="9525">
                <a:moveTo>
                  <a:pt x="0" y="0"/>
                </a:moveTo>
                <a:lnTo>
                  <a:pt x="1790700" y="0"/>
                </a:lnTo>
              </a:path>
            </a:pathLst>
          </a:custGeom>
          <a:noFill/>
          <a:ln w="6668">
            <a:solidFill>
              <a:srgbClr val="E4E7EB"/>
            </a:solidFill>
          </a:ln>
        </p:spPr>
      </p:sp>
      <p:sp>
        <p:nvSpPr>
          <p:cNvPr id="310" name="TextBox 310"/>
          <p:cNvSpPr txBox="1"/>
          <p:nvPr/>
        </p:nvSpPr>
        <p:spPr>
          <a:xfrm>
            <a:off x="7480173" y="4524661"/>
            <a:ext cx="374904"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Arial"/>
                <a:ea typeface="Microsoft YaHei"/>
                <a:cs typeface="Arial"/>
              </a:rPr>
              <a:t>中国银行</a:t>
            </a:r>
          </a:p>
        </p:txBody>
      </p:sp>
      <p:sp>
        <p:nvSpPr>
          <p:cNvPr id="311" name="TextBox 311"/>
          <p:cNvSpPr txBox="1"/>
          <p:nvPr/>
        </p:nvSpPr>
        <p:spPr>
          <a:xfrm>
            <a:off x="8056312" y="452466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0.90</a:t>
            </a:r>
          </a:p>
        </p:txBody>
      </p:sp>
      <p:sp>
        <p:nvSpPr>
          <p:cNvPr id="312" name="TextBox 312"/>
          <p:cNvSpPr txBox="1"/>
          <p:nvPr/>
        </p:nvSpPr>
        <p:spPr>
          <a:xfrm>
            <a:off x="8456362" y="452466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0.72</a:t>
            </a:r>
          </a:p>
        </p:txBody>
      </p:sp>
      <p:sp>
        <p:nvSpPr>
          <p:cNvPr id="313" name="TextBox 313"/>
          <p:cNvSpPr txBox="1"/>
          <p:nvPr/>
        </p:nvSpPr>
        <p:spPr>
          <a:xfrm>
            <a:off x="8856412" y="452466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0.55</a:t>
            </a:r>
          </a:p>
        </p:txBody>
      </p:sp>
      <p:sp>
        <p:nvSpPr>
          <p:cNvPr id="314" name="Rectangle 314"/>
          <p:cNvSpPr/>
          <p:nvPr/>
        </p:nvSpPr>
        <p:spPr>
          <a:xfrm>
            <a:off x="7372350" y="4629150"/>
            <a:ext cx="1790700" cy="152400"/>
          </a:xfrm>
          <a:prstGeom prst="rect">
            <a:avLst/>
          </a:prstGeom>
          <a:solidFill>
            <a:srgbClr val="F8F9FA"/>
          </a:solidFill>
          <a:ln>
            <a:noFill/>
          </a:ln>
        </p:spPr>
      </p:sp>
      <p:sp>
        <p:nvSpPr>
          <p:cNvPr id="315" name="TextBox 315"/>
          <p:cNvSpPr txBox="1"/>
          <p:nvPr/>
        </p:nvSpPr>
        <p:spPr>
          <a:xfrm>
            <a:off x="7614904" y="4677061"/>
            <a:ext cx="105442"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Arial"/>
                <a:ea typeface="Microsoft YaHei"/>
                <a:cs typeface="Arial"/>
              </a:rPr>
              <a:t>是</a:t>
            </a:r>
          </a:p>
        </p:txBody>
      </p:sp>
      <p:sp>
        <p:nvSpPr>
          <p:cNvPr id="316" name="TextBox 316"/>
          <p:cNvSpPr txBox="1"/>
          <p:nvPr/>
        </p:nvSpPr>
        <p:spPr>
          <a:xfrm>
            <a:off x="8056312" y="467706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0.05</a:t>
            </a:r>
          </a:p>
        </p:txBody>
      </p:sp>
      <p:sp>
        <p:nvSpPr>
          <p:cNvPr id="317" name="TextBox 317"/>
          <p:cNvSpPr txBox="1"/>
          <p:nvPr/>
        </p:nvSpPr>
        <p:spPr>
          <a:xfrm>
            <a:off x="8456362" y="467706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0.03</a:t>
            </a:r>
          </a:p>
        </p:txBody>
      </p:sp>
      <p:sp>
        <p:nvSpPr>
          <p:cNvPr id="318" name="TextBox 318"/>
          <p:cNvSpPr txBox="1"/>
          <p:nvPr/>
        </p:nvSpPr>
        <p:spPr>
          <a:xfrm>
            <a:off x="8856412" y="467706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0.02</a:t>
            </a:r>
          </a:p>
        </p:txBody>
      </p:sp>
      <p:sp>
        <p:nvSpPr>
          <p:cNvPr id="319" name="TextBox 319"/>
          <p:cNvSpPr txBox="1"/>
          <p:nvPr/>
        </p:nvSpPr>
        <p:spPr>
          <a:xfrm>
            <a:off x="7569994" y="4829461"/>
            <a:ext cx="195262"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Arial"/>
                <a:ea typeface="Microsoft YaHei"/>
                <a:cs typeface="Arial"/>
              </a:rPr>
              <a:t>世界</a:t>
            </a:r>
          </a:p>
        </p:txBody>
      </p:sp>
      <p:sp>
        <p:nvSpPr>
          <p:cNvPr id="320" name="TextBox 320"/>
          <p:cNvSpPr txBox="1"/>
          <p:nvPr/>
        </p:nvSpPr>
        <p:spPr>
          <a:xfrm>
            <a:off x="8067539" y="4829461"/>
            <a:ext cx="190771"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0.12</a:t>
            </a:r>
          </a:p>
        </p:txBody>
      </p:sp>
      <p:sp>
        <p:nvSpPr>
          <p:cNvPr id="321" name="TextBox 321"/>
          <p:cNvSpPr txBox="1"/>
          <p:nvPr/>
        </p:nvSpPr>
        <p:spPr>
          <a:xfrm>
            <a:off x="8456362" y="482946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0.95</a:t>
            </a:r>
          </a:p>
        </p:txBody>
      </p:sp>
      <p:sp>
        <p:nvSpPr>
          <p:cNvPr id="322" name="TextBox 322"/>
          <p:cNvSpPr txBox="1"/>
          <p:nvPr/>
        </p:nvSpPr>
        <p:spPr>
          <a:xfrm>
            <a:off x="8856412" y="482946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0.08</a:t>
            </a:r>
          </a:p>
        </p:txBody>
      </p:sp>
      <p:sp>
        <p:nvSpPr>
          <p:cNvPr id="323" name="Rectangle 323"/>
          <p:cNvSpPr/>
          <p:nvPr/>
        </p:nvSpPr>
        <p:spPr>
          <a:xfrm>
            <a:off x="7372350" y="4933950"/>
            <a:ext cx="1790700" cy="152400"/>
          </a:xfrm>
          <a:prstGeom prst="rect">
            <a:avLst/>
          </a:prstGeom>
          <a:solidFill>
            <a:srgbClr val="F8F9FA"/>
          </a:solidFill>
          <a:ln>
            <a:noFill/>
          </a:ln>
        </p:spPr>
      </p:sp>
      <p:sp>
        <p:nvSpPr>
          <p:cNvPr id="324" name="TextBox 324"/>
          <p:cNvSpPr txBox="1"/>
          <p:nvPr/>
        </p:nvSpPr>
        <p:spPr>
          <a:xfrm>
            <a:off x="7569994" y="4981861"/>
            <a:ext cx="195262"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Arial"/>
                <a:ea typeface="Microsoft YaHei"/>
                <a:cs typeface="Arial"/>
              </a:rPr>
              <a:t>一流</a:t>
            </a:r>
          </a:p>
        </p:txBody>
      </p:sp>
      <p:sp>
        <p:nvSpPr>
          <p:cNvPr id="325" name="TextBox 325"/>
          <p:cNvSpPr txBox="1"/>
          <p:nvPr/>
        </p:nvSpPr>
        <p:spPr>
          <a:xfrm>
            <a:off x="8067539" y="4981861"/>
            <a:ext cx="190771"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0.18</a:t>
            </a:r>
          </a:p>
        </p:txBody>
      </p:sp>
      <p:sp>
        <p:nvSpPr>
          <p:cNvPr id="326" name="TextBox 326"/>
          <p:cNvSpPr txBox="1"/>
          <p:nvPr/>
        </p:nvSpPr>
        <p:spPr>
          <a:xfrm>
            <a:off x="8456362" y="498186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0.20</a:t>
            </a:r>
          </a:p>
        </p:txBody>
      </p:sp>
      <p:sp>
        <p:nvSpPr>
          <p:cNvPr id="327" name="TextBox 327"/>
          <p:cNvSpPr txBox="1"/>
          <p:nvPr/>
        </p:nvSpPr>
        <p:spPr>
          <a:xfrm>
            <a:off x="8856412" y="498186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0.96</a:t>
            </a:r>
          </a:p>
        </p:txBody>
      </p:sp>
      <p:sp>
        <p:nvSpPr>
          <p:cNvPr id="328" name="TextBox 328"/>
          <p:cNvSpPr txBox="1"/>
          <p:nvPr/>
        </p:nvSpPr>
        <p:spPr>
          <a:xfrm>
            <a:off x="7569994" y="5134261"/>
            <a:ext cx="195262"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Arial"/>
                <a:ea typeface="Microsoft YaHei"/>
                <a:cs typeface="Arial"/>
              </a:rPr>
              <a:t>银行</a:t>
            </a:r>
          </a:p>
        </p:txBody>
      </p:sp>
      <p:sp>
        <p:nvSpPr>
          <p:cNvPr id="329" name="TextBox 329"/>
          <p:cNvSpPr txBox="1"/>
          <p:nvPr/>
        </p:nvSpPr>
        <p:spPr>
          <a:xfrm>
            <a:off x="8056312" y="513426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0.82</a:t>
            </a:r>
          </a:p>
        </p:txBody>
      </p:sp>
      <p:sp>
        <p:nvSpPr>
          <p:cNvPr id="330" name="TextBox 330"/>
          <p:cNvSpPr txBox="1"/>
          <p:nvPr/>
        </p:nvSpPr>
        <p:spPr>
          <a:xfrm>
            <a:off x="8456362" y="513426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0.28</a:t>
            </a:r>
          </a:p>
        </p:txBody>
      </p:sp>
      <p:sp>
        <p:nvSpPr>
          <p:cNvPr id="331" name="TextBox 331"/>
          <p:cNvSpPr txBox="1"/>
          <p:nvPr/>
        </p:nvSpPr>
        <p:spPr>
          <a:xfrm>
            <a:off x="8856412" y="5134261"/>
            <a:ext cx="213227" cy="124968"/>
          </a:xfrm>
          <a:prstGeom prst="rect">
            <a:avLst/>
          </a:prstGeom>
          <a:noFill/>
          <a:ln>
            <a:noFill/>
          </a:ln>
        </p:spPr>
        <p:txBody>
          <a:bodyPr wrap="none" lIns="0" tIns="0" rIns="0" bIns="0" anchor="t" anchorCtr="0">
            <a:spAutoFit/>
          </a:bodyPr>
          <a:lstStyle/>
          <a:p>
            <a:pPr algn="ctr"/>
            <a:r>
              <a:rPr lang="zh-CN" sz="615" dirty="0">
                <a:solidFill>
                  <a:srgbClr val="5F6368"/>
                </a:solidFill>
                <a:latin typeface="Consolas"/>
                <a:ea typeface="Microsoft YaHei"/>
                <a:cs typeface="Consolas"/>
              </a:rPr>
              <a:t>0.22</a:t>
            </a:r>
          </a:p>
        </p:txBody>
      </p:sp>
      <p:sp>
        <p:nvSpPr>
          <p:cNvPr id="353" name="TextBox 353"/>
          <p:cNvSpPr txBox="1"/>
          <p:nvPr/>
        </p:nvSpPr>
        <p:spPr>
          <a:xfrm>
            <a:off x="7477125" y="5576888"/>
            <a:ext cx="1930479" cy="152400"/>
          </a:xfrm>
          <a:prstGeom prst="rect">
            <a:avLst/>
          </a:prstGeom>
          <a:noFill/>
          <a:ln>
            <a:noFill/>
          </a:ln>
        </p:spPr>
        <p:txBody>
          <a:bodyPr wrap="none" lIns="0" tIns="0" rIns="0" bIns="0" anchor="t" anchorCtr="0">
            <a:spAutoFit/>
          </a:bodyPr>
          <a:lstStyle/>
          <a:p>
            <a:pPr algn="l"/>
            <a:r>
              <a:rPr lang="zh-CN" sz="750" dirty="0">
                <a:solidFill>
                  <a:srgbClr val="2E7D32"/>
                </a:solidFill>
                <a:latin typeface="Arial"/>
                <a:ea typeface="Microsoft YaHei"/>
                <a:cs typeface="Arial"/>
              </a:rPr>
              <a:t>中国银行与银行相近；世界突出 Dim2，</a:t>
            </a:r>
          </a:p>
        </p:txBody>
      </p:sp>
      <p:sp>
        <p:nvSpPr>
          <p:cNvPr id="354" name="TextBox 354"/>
          <p:cNvSpPr txBox="1"/>
          <p:nvPr/>
        </p:nvSpPr>
        <p:spPr>
          <a:xfrm>
            <a:off x="7477125" y="5719762"/>
            <a:ext cx="1612821" cy="152400"/>
          </a:xfrm>
          <a:prstGeom prst="rect">
            <a:avLst/>
          </a:prstGeom>
          <a:noFill/>
          <a:ln>
            <a:noFill/>
          </a:ln>
        </p:spPr>
        <p:txBody>
          <a:bodyPr wrap="none" lIns="0" tIns="0" rIns="0" bIns="0" anchor="t" anchorCtr="0">
            <a:spAutoFit/>
          </a:bodyPr>
          <a:lstStyle/>
          <a:p>
            <a:pPr algn="l"/>
            <a:r>
              <a:rPr lang="zh-CN" sz="750" dirty="0">
                <a:solidFill>
                  <a:srgbClr val="2E7D32"/>
                </a:solidFill>
                <a:latin typeface="Arial"/>
                <a:ea typeface="Microsoft YaHei"/>
                <a:cs typeface="Arial"/>
              </a:rPr>
              <a:t>一流突出 Dim3，“是”靠近原点。</a:t>
            </a:r>
          </a:p>
        </p:txBody>
      </p:sp>
      <p:sp>
        <p:nvSpPr>
          <p:cNvPr id="355" name="Line 355"/>
          <p:cNvSpPr/>
          <p:nvPr/>
        </p:nvSpPr>
        <p:spPr>
          <a:xfrm>
            <a:off x="9163050" y="4905375"/>
            <a:ext cx="190500" cy="1"/>
          </a:xfrm>
          <a:prstGeom prst="line">
            <a:avLst/>
          </a:prstGeom>
          <a:noFill/>
          <a:ln w="15240">
            <a:solidFill>
              <a:srgbClr val="2E7D32"/>
            </a:solidFill>
            <a:tailEnd type="triangle" w="lg" len="lg"/>
          </a:ln>
        </p:spPr>
      </p:sp>
      <p:sp>
        <p:nvSpPr>
          <p:cNvPr id="360" name="Rectangle 360"/>
          <p:cNvSpPr/>
          <p:nvPr/>
        </p:nvSpPr>
        <p:spPr>
          <a:xfrm>
            <a:off x="476250" y="6191250"/>
            <a:ext cx="11144250" cy="238125"/>
          </a:xfrm>
          <a:prstGeom prst="roundRect">
            <a:avLst>
              <a:gd name="adj" fmla="val 48000"/>
            </a:avLst>
          </a:prstGeom>
          <a:solidFill>
            <a:srgbClr val="F8F9FA"/>
          </a:solidFill>
          <a:ln w="9525">
            <a:solidFill>
              <a:srgbClr val="E8EAED"/>
            </a:solidFill>
          </a:ln>
        </p:spPr>
      </p:sp>
      <p:sp>
        <p:nvSpPr>
          <p:cNvPr id="361" name="TextBox 361"/>
          <p:cNvSpPr txBox="1"/>
          <p:nvPr/>
        </p:nvSpPr>
        <p:spPr>
          <a:xfrm>
            <a:off x="3066124" y="6256020"/>
            <a:ext cx="5964503" cy="182880"/>
          </a:xfrm>
          <a:prstGeom prst="rect">
            <a:avLst/>
          </a:prstGeom>
          <a:noFill/>
          <a:ln>
            <a:noFill/>
          </a:ln>
        </p:spPr>
        <p:txBody>
          <a:bodyPr wrap="none" lIns="0" tIns="0" rIns="0" bIns="0" anchor="t" anchorCtr="0">
            <a:spAutoFit/>
          </a:bodyPr>
          <a:lstStyle/>
          <a:p>
            <a:pPr algn="ctr"/>
            <a:r>
              <a:rPr lang="zh-CN" sz="900" b="1" dirty="0">
                <a:solidFill>
                  <a:srgbClr val="1F2328"/>
                </a:solidFill>
                <a:latin typeface="Arial"/>
                <a:ea typeface="Microsoft YaHei"/>
                <a:cs typeface="Arial"/>
              </a:rPr>
              <a:t>同一个 X，乘以不同的 E，会得到不同的 H；好的 Embedding 让词在向量空间中按语义有序排列。</a:t>
            </a:r>
          </a:p>
        </p:txBody>
      </p:sp>
      <p:sp>
        <p:nvSpPr>
          <p:cNvPr id="363" name="Line 363"/>
          <p:cNvSpPr/>
          <p:nvPr/>
        </p:nvSpPr>
        <p:spPr>
          <a:xfrm>
            <a:off x="685800" y="6515100"/>
            <a:ext cx="10820400" cy="9525"/>
          </a:xfrm>
          <a:custGeom>
            <a:avLst/>
            <a:gdLst/>
            <a:ahLst/>
            <a:cxnLst/>
            <a:rect l="l" t="t" r="r" b="b"/>
            <a:pathLst>
              <a:path w="10820400" h="9525">
                <a:moveTo>
                  <a:pt x="0" y="0"/>
                </a:moveTo>
                <a:lnTo>
                  <a:pt x="10820400" y="0"/>
                </a:lnTo>
              </a:path>
            </a:pathLst>
          </a:custGeom>
          <a:noFill/>
          <a:ln w="11430">
            <a:solidFill>
              <a:srgbClr val="E4E7EB"/>
            </a:solidFill>
          </a:ln>
        </p:spPr>
      </p:sp>
      <p:sp>
        <p:nvSpPr>
          <p:cNvPr id="364" name="TextBox 364"/>
          <p:cNvSpPr txBox="1"/>
          <p:nvPr/>
        </p:nvSpPr>
        <p:spPr>
          <a:xfrm>
            <a:off x="5959019" y="6609874"/>
            <a:ext cx="273963" cy="198120"/>
          </a:xfrm>
          <a:prstGeom prst="rect">
            <a:avLst/>
          </a:prstGeom>
          <a:noFill/>
          <a:ln>
            <a:noFill/>
          </a:ln>
        </p:spPr>
        <p:txBody>
          <a:bodyPr wrap="none" lIns="0" tIns="0" rIns="0" bIns="0" anchor="t" anchorCtr="0">
            <a:spAutoFit/>
          </a:bodyPr>
          <a:lstStyle/>
          <a:p>
            <a:pPr algn="ctr"/>
            <a:r>
              <a:rPr lang="zh-CN" sz="975" dirty="0">
                <a:solidFill>
                  <a:srgbClr val="8A9099"/>
                </a:solidFill>
                <a:latin typeface="Arial"/>
                <a:ea typeface="Microsoft YaHei"/>
                <a:cs typeface="Arial"/>
              </a:rPr>
              <a:t>1 / 1</a:t>
            </a:r>
          </a:p>
        </p:txBody>
      </p:sp>
      <p:grpSp>
        <p:nvGrpSpPr>
          <p:cNvPr id="370" name="组合 369">
            <a:extLst>
              <a:ext uri="{FF2B5EF4-FFF2-40B4-BE49-F238E27FC236}">
                <a16:creationId xmlns:a16="http://schemas.microsoft.com/office/drawing/2014/main" id="{7F3A4093-5860-4A3F-8AB8-9DEF99EEFEA5}"/>
              </a:ext>
            </a:extLst>
          </p:cNvPr>
          <p:cNvGrpSpPr/>
          <p:nvPr/>
        </p:nvGrpSpPr>
        <p:grpSpPr>
          <a:xfrm>
            <a:off x="9353550" y="1847849"/>
            <a:ext cx="2057400" cy="1704261"/>
            <a:chOff x="9353550" y="1847849"/>
            <a:chExt cx="2057400" cy="1704261"/>
          </a:xfrm>
        </p:grpSpPr>
        <p:sp>
          <p:nvSpPr>
            <p:cNvPr id="212" name="Rectangle 212"/>
            <p:cNvSpPr/>
            <p:nvPr/>
          </p:nvSpPr>
          <p:spPr>
            <a:xfrm>
              <a:off x="9353550" y="1847849"/>
              <a:ext cx="2057400" cy="1704261"/>
            </a:xfrm>
            <a:prstGeom prst="roundRect">
              <a:avLst>
                <a:gd name="adj" fmla="val 6061"/>
              </a:avLst>
            </a:prstGeom>
            <a:solidFill>
              <a:srgbClr val="FFFFFF"/>
            </a:solidFill>
            <a:ln w="9525">
              <a:solidFill>
                <a:srgbClr val="E4E7EB"/>
              </a:solidFill>
            </a:ln>
          </p:spPr>
        </p:sp>
        <p:sp>
          <p:nvSpPr>
            <p:cNvPr id="213" name="TextBox 213"/>
            <p:cNvSpPr txBox="1"/>
            <p:nvPr/>
          </p:nvSpPr>
          <p:spPr>
            <a:xfrm>
              <a:off x="9456896" y="1945243"/>
              <a:ext cx="1344573" cy="175260"/>
            </a:xfrm>
            <a:prstGeom prst="rect">
              <a:avLst/>
            </a:prstGeom>
            <a:noFill/>
            <a:ln>
              <a:noFill/>
            </a:ln>
          </p:spPr>
          <p:txBody>
            <a:bodyPr wrap="none" lIns="0" tIns="0" rIns="0" bIns="0" anchor="t" anchorCtr="0">
              <a:spAutoFit/>
            </a:bodyPr>
            <a:lstStyle/>
            <a:p>
              <a:pPr algn="l"/>
              <a:r>
                <a:rPr lang="zh-CN" sz="862" b="1" dirty="0">
                  <a:solidFill>
                    <a:srgbClr val="C62828"/>
                  </a:solidFill>
                  <a:latin typeface="Arial"/>
                  <a:ea typeface="SimHei"/>
                  <a:cs typeface="Arial"/>
                </a:rPr>
                <a:t>三维空间分布（杂乱）</a:t>
              </a:r>
            </a:p>
          </p:txBody>
        </p:sp>
        <p:pic>
          <p:nvPicPr>
            <p:cNvPr id="369" name="图片 368">
              <a:extLst>
                <a:ext uri="{FF2B5EF4-FFF2-40B4-BE49-F238E27FC236}">
                  <a16:creationId xmlns:a16="http://schemas.microsoft.com/office/drawing/2014/main" id="{AABC1170-347A-4725-8F31-8F00BBF21D8F}"/>
                </a:ext>
              </a:extLst>
            </p:cNvPr>
            <p:cNvPicPr>
              <a:picLocks noChangeAspect="1"/>
            </p:cNvPicPr>
            <p:nvPr/>
          </p:nvPicPr>
          <p:blipFill>
            <a:blip r:embed="rId5"/>
            <a:stretch>
              <a:fillRect/>
            </a:stretch>
          </p:blipFill>
          <p:spPr>
            <a:xfrm>
              <a:off x="9392663" y="2162175"/>
              <a:ext cx="1977270" cy="1342462"/>
            </a:xfrm>
            <a:prstGeom prst="rect">
              <a:avLst/>
            </a:prstGeom>
          </p:spPr>
        </p:pic>
      </p:grpSp>
      <p:grpSp>
        <p:nvGrpSpPr>
          <p:cNvPr id="372" name="组合 371">
            <a:extLst>
              <a:ext uri="{FF2B5EF4-FFF2-40B4-BE49-F238E27FC236}">
                <a16:creationId xmlns:a16="http://schemas.microsoft.com/office/drawing/2014/main" id="{9FF2B3A1-E8B3-4640-8FE2-2EC17EE83552}"/>
              </a:ext>
            </a:extLst>
          </p:cNvPr>
          <p:cNvGrpSpPr/>
          <p:nvPr/>
        </p:nvGrpSpPr>
        <p:grpSpPr>
          <a:xfrm>
            <a:off x="9353550" y="4229099"/>
            <a:ext cx="2057400" cy="1724023"/>
            <a:chOff x="9353550" y="4229099"/>
            <a:chExt cx="2057400" cy="1724023"/>
          </a:xfrm>
        </p:grpSpPr>
        <p:sp>
          <p:nvSpPr>
            <p:cNvPr id="332" name="Rectangle 332"/>
            <p:cNvSpPr/>
            <p:nvPr/>
          </p:nvSpPr>
          <p:spPr>
            <a:xfrm>
              <a:off x="9353550" y="4229099"/>
              <a:ext cx="2057400" cy="1724023"/>
            </a:xfrm>
            <a:prstGeom prst="roundRect">
              <a:avLst>
                <a:gd name="adj" fmla="val 6061"/>
              </a:avLst>
            </a:prstGeom>
            <a:solidFill>
              <a:srgbClr val="FFFFFF"/>
            </a:solidFill>
            <a:ln w="9525">
              <a:solidFill>
                <a:srgbClr val="E4E7EB"/>
              </a:solidFill>
            </a:ln>
          </p:spPr>
        </p:sp>
        <p:sp>
          <p:nvSpPr>
            <p:cNvPr id="333" name="TextBox 333"/>
            <p:cNvSpPr txBox="1"/>
            <p:nvPr/>
          </p:nvSpPr>
          <p:spPr>
            <a:xfrm>
              <a:off x="9456896" y="4326493"/>
              <a:ext cx="1344573" cy="175260"/>
            </a:xfrm>
            <a:prstGeom prst="rect">
              <a:avLst/>
            </a:prstGeom>
            <a:noFill/>
            <a:ln>
              <a:noFill/>
            </a:ln>
          </p:spPr>
          <p:txBody>
            <a:bodyPr wrap="none" lIns="0" tIns="0" rIns="0" bIns="0" anchor="t" anchorCtr="0">
              <a:spAutoFit/>
            </a:bodyPr>
            <a:lstStyle/>
            <a:p>
              <a:pPr algn="l"/>
              <a:r>
                <a:rPr lang="zh-CN" sz="862" b="1" dirty="0">
                  <a:solidFill>
                    <a:srgbClr val="2E7D32"/>
                  </a:solidFill>
                  <a:latin typeface="Arial"/>
                  <a:ea typeface="SimHei"/>
                  <a:cs typeface="Arial"/>
                </a:rPr>
                <a:t>三维空间分布（有序）</a:t>
              </a:r>
            </a:p>
          </p:txBody>
        </p:sp>
        <p:graphicFrame>
          <p:nvGraphicFramePr>
            <p:cNvPr id="371" name="对象 370">
              <a:extLst>
                <a:ext uri="{FF2B5EF4-FFF2-40B4-BE49-F238E27FC236}">
                  <a16:creationId xmlns:a16="http://schemas.microsoft.com/office/drawing/2014/main" id="{2C685BD9-0310-4FCB-89E0-0C0CB9F85C1C}"/>
                </a:ext>
              </a:extLst>
            </p:cNvPr>
            <p:cNvGraphicFramePr>
              <a:graphicFrameLocks noChangeAspect="1"/>
            </p:cNvGraphicFramePr>
            <p:nvPr/>
          </p:nvGraphicFramePr>
          <p:xfrm>
            <a:off x="9392662" y="4512829"/>
            <a:ext cx="1974233" cy="1367905"/>
          </p:xfrm>
          <a:graphic>
            <a:graphicData uri="http://schemas.openxmlformats.org/presentationml/2006/ole">
              <mc:AlternateContent xmlns:mc="http://schemas.openxmlformats.org/markup-compatibility/2006">
                <mc:Choice xmlns:v="urn:schemas-microsoft-com:vml" Requires="v">
                  <p:oleObj spid="_x0000_s1039" r:id="rId6" imgW="11284972" imgH="7819609" progId="">
                    <p:embed/>
                  </p:oleObj>
                </mc:Choice>
                <mc:Fallback>
                  <p:oleObj r:id="rId6" imgW="11284972" imgH="7819609" progId="">
                    <p:embed/>
                    <p:pic>
                      <p:nvPicPr>
                        <p:cNvPr id="371" name="对象 370">
                          <a:extLst>
                            <a:ext uri="{FF2B5EF4-FFF2-40B4-BE49-F238E27FC236}">
                              <a16:creationId xmlns:a16="http://schemas.microsoft.com/office/drawing/2014/main" id="{2C685BD9-0310-4FCB-89E0-0C0CB9F85C1C}"/>
                            </a:ext>
                          </a:extLst>
                        </p:cNvPr>
                        <p:cNvPicPr/>
                        <p:nvPr/>
                      </p:nvPicPr>
                      <p:blipFill>
                        <a:blip r:embed="rId7"/>
                        <a:stretch>
                          <a:fillRect/>
                        </a:stretch>
                      </p:blipFill>
                      <p:spPr>
                        <a:xfrm>
                          <a:off x="9392662" y="4512829"/>
                          <a:ext cx="1974233" cy="1367905"/>
                        </a:xfrm>
                        <a:prstGeom prst="rect">
                          <a:avLst/>
                        </a:prstGeom>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657225" y="342900"/>
            <a:ext cx="11068792" cy="721519"/>
            <a:chOff x="657225" y="342900"/>
            <a:chExt cx="11068792" cy="721519"/>
          </a:xfrm>
        </p:grpSpPr>
        <p:pic>
          <p:nvPicPr>
            <p:cNvPr id="3" name="Image 3"/>
            <p:cNvPicPr>
              <a:picLocks noChangeAspect="1"/>
            </p:cNvPicPr>
            <p:nvPr/>
          </p:nvPicPr>
          <p:blipFill>
            <a:blip r:embed="rId3"/>
            <a:stretch>
              <a:fillRect/>
            </a:stretch>
          </p:blipFill>
          <p:spPr>
            <a:xfrm>
              <a:off x="9705234" y="342900"/>
              <a:ext cx="2020783" cy="571500"/>
            </a:xfrm>
            <a:prstGeom prst="rect">
              <a:avLst/>
            </a:prstGeom>
          </p:spPr>
        </p:pic>
        <p:sp>
          <p:nvSpPr>
            <p:cNvPr id="4" name="TextBox 4"/>
            <p:cNvSpPr txBox="1"/>
            <p:nvPr/>
          </p:nvSpPr>
          <p:spPr>
            <a:xfrm>
              <a:off x="657225" y="347662"/>
              <a:ext cx="4062009" cy="346249"/>
            </a:xfrm>
            <a:prstGeom prst="rect">
              <a:avLst/>
            </a:prstGeom>
            <a:noFill/>
            <a:ln>
              <a:noFill/>
            </a:ln>
          </p:spPr>
          <p:txBody>
            <a:bodyPr wrap="none" lIns="0" tIns="0" rIns="0" bIns="0" anchor="t" anchorCtr="0">
              <a:spAutoFit/>
            </a:bodyPr>
            <a:lstStyle/>
            <a:p>
              <a:pPr algn="l"/>
              <a:r>
                <a:rPr lang="zh-CN" altLang="en-US" sz="2250" b="1" dirty="0">
                  <a:solidFill>
                    <a:srgbClr val="1F2328"/>
                  </a:solidFill>
                  <a:latin typeface="Arial"/>
                  <a:ea typeface="SimHei"/>
                  <a:cs typeface="Arial"/>
                </a:rPr>
                <a:t>向量化</a:t>
              </a:r>
              <a:r>
                <a:rPr lang="zh-CN" sz="2250" b="1" dirty="0">
                  <a:solidFill>
                    <a:srgbClr val="1F2328"/>
                  </a:solidFill>
                  <a:latin typeface="Arial"/>
                  <a:ea typeface="SimHei"/>
                  <a:cs typeface="Arial"/>
                </a:rPr>
                <a:t>参数是如何训练出来的？</a:t>
              </a:r>
            </a:p>
          </p:txBody>
        </p:sp>
        <p:sp>
          <p:nvSpPr>
            <p:cNvPr id="5" name="Line 5"/>
            <p:cNvSpPr/>
            <p:nvPr/>
          </p:nvSpPr>
          <p:spPr>
            <a:xfrm>
              <a:off x="685800" y="762000"/>
              <a:ext cx="2533650" cy="9525"/>
            </a:xfrm>
            <a:custGeom>
              <a:avLst/>
              <a:gdLst/>
              <a:ahLst/>
              <a:cxnLst/>
              <a:rect l="l" t="t" r="r" b="b"/>
              <a:pathLst>
                <a:path w="2533650" h="9525">
                  <a:moveTo>
                    <a:pt x="0" y="0"/>
                  </a:moveTo>
                  <a:lnTo>
                    <a:pt x="2533650" y="0"/>
                  </a:lnTo>
                </a:path>
              </a:pathLst>
            </a:custGeom>
            <a:noFill/>
            <a:ln w="28575">
              <a:solidFill>
                <a:srgbClr val="A50021"/>
              </a:solidFill>
            </a:ln>
          </p:spPr>
        </p:sp>
        <p:sp>
          <p:nvSpPr>
            <p:cNvPr id="6" name="TextBox 6"/>
            <p:cNvSpPr txBox="1"/>
            <p:nvPr/>
          </p:nvSpPr>
          <p:spPr>
            <a:xfrm>
              <a:off x="673418" y="866299"/>
              <a:ext cx="3584734"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从随机初始化，到通过预测误差和反向传播形成语义空间</a:t>
              </a:r>
            </a:p>
          </p:txBody>
        </p:sp>
      </p:grpSp>
      <p:grpSp>
        <p:nvGrpSpPr>
          <p:cNvPr id="13" name="Group 13"/>
          <p:cNvGrpSpPr/>
          <p:nvPr/>
        </p:nvGrpSpPr>
        <p:grpSpPr>
          <a:xfrm>
            <a:off x="685800" y="1104900"/>
            <a:ext cx="10820400" cy="513159"/>
            <a:chOff x="685800" y="1104900"/>
            <a:chExt cx="10820400" cy="513159"/>
          </a:xfrm>
        </p:grpSpPr>
        <p:sp>
          <p:nvSpPr>
            <p:cNvPr id="8" name="Rectangle 8"/>
            <p:cNvSpPr/>
            <p:nvPr/>
          </p:nvSpPr>
          <p:spPr>
            <a:xfrm>
              <a:off x="685800" y="1104900"/>
              <a:ext cx="10820400" cy="495300"/>
            </a:xfrm>
            <a:prstGeom prst="roundRect">
              <a:avLst>
                <a:gd name="adj" fmla="val 23077"/>
              </a:avLst>
            </a:prstGeom>
            <a:solidFill>
              <a:srgbClr val="F8F9FA"/>
            </a:solidFill>
            <a:ln w="11430">
              <a:solidFill>
                <a:srgbClr val="E4E7EB"/>
              </a:solidFill>
            </a:ln>
          </p:spPr>
        </p:sp>
        <p:sp>
          <p:nvSpPr>
            <p:cNvPr id="9" name="Rectangle 9"/>
            <p:cNvSpPr/>
            <p:nvPr/>
          </p:nvSpPr>
          <p:spPr>
            <a:xfrm>
              <a:off x="685800" y="1104900"/>
              <a:ext cx="76200" cy="495300"/>
            </a:xfrm>
            <a:prstGeom prst="roundRect">
              <a:avLst>
                <a:gd name="adj" fmla="val 50000"/>
              </a:avLst>
            </a:prstGeom>
            <a:solidFill>
              <a:srgbClr val="A50021"/>
            </a:solidFill>
            <a:ln>
              <a:noFill/>
            </a:ln>
          </p:spPr>
        </p:sp>
        <p:sp>
          <p:nvSpPr>
            <p:cNvPr id="10" name="TextBox 10"/>
            <p:cNvSpPr txBox="1"/>
            <p:nvPr/>
          </p:nvSpPr>
          <p:spPr>
            <a:xfrm>
              <a:off x="931545" y="1222058"/>
              <a:ext cx="3495792" cy="335280"/>
            </a:xfrm>
            <a:prstGeom prst="rect">
              <a:avLst/>
            </a:prstGeom>
            <a:noFill/>
            <a:ln>
              <a:noFill/>
            </a:ln>
          </p:spPr>
          <p:txBody>
            <a:bodyPr wrap="none" lIns="0" tIns="0" rIns="0" bIns="0" anchor="t" anchorCtr="0">
              <a:spAutoFit/>
            </a:bodyPr>
            <a:lstStyle/>
            <a:p>
              <a:pPr algn="l"/>
              <a:r>
                <a:rPr lang="zh-CN" sz="1650" b="1" dirty="0">
                  <a:solidFill>
                    <a:srgbClr val="A50021"/>
                  </a:solidFill>
                  <a:latin typeface="Consolas"/>
                  <a:ea typeface="Microsoft YaHei"/>
                  <a:cs typeface="Consolas"/>
                </a:rPr>
                <a:t>E(t+1) = E(t) - η · ∂L/∂E(t)</a:t>
              </a:r>
            </a:p>
          </p:txBody>
        </p:sp>
        <p:sp>
          <p:nvSpPr>
            <p:cNvPr id="11" name="TextBox 11"/>
            <p:cNvSpPr txBox="1"/>
            <p:nvPr/>
          </p:nvSpPr>
          <p:spPr>
            <a:xfrm>
              <a:off x="4881562" y="1278731"/>
              <a:ext cx="3729163" cy="228600"/>
            </a:xfrm>
            <a:prstGeom prst="rect">
              <a:avLst/>
            </a:prstGeom>
            <a:noFill/>
            <a:ln>
              <a:noFill/>
            </a:ln>
          </p:spPr>
          <p:txBody>
            <a:bodyPr wrap="none" lIns="0" tIns="0" rIns="0" bIns="0" anchor="t" anchorCtr="0">
              <a:spAutoFit/>
            </a:bodyPr>
            <a:lstStyle/>
            <a:p>
              <a:pPr algn="l"/>
              <a:r>
                <a:rPr lang="zh-CN" sz="1125" b="1" dirty="0">
                  <a:solidFill>
                    <a:srgbClr val="1F2328"/>
                  </a:solidFill>
                  <a:latin typeface="Arial"/>
                  <a:ea typeface="Microsoft YaHei"/>
                  <a:cs typeface="Arial"/>
                </a:rPr>
                <a:t>当前参数 = 原参数 - 学习率 × 损失对参数的梯度</a:t>
              </a:r>
            </a:p>
          </p:txBody>
        </p:sp>
        <p:sp>
          <p:nvSpPr>
            <p:cNvPr id="12" name="TextBox 12"/>
            <p:cNvSpPr txBox="1"/>
            <p:nvPr/>
          </p:nvSpPr>
          <p:spPr>
            <a:xfrm>
              <a:off x="4885849" y="1458039"/>
              <a:ext cx="3240405" cy="160020"/>
            </a:xfrm>
            <a:prstGeom prst="rect">
              <a:avLst/>
            </a:prstGeom>
            <a:noFill/>
            <a:ln>
              <a:noFill/>
            </a:ln>
          </p:spPr>
          <p:txBody>
            <a:bodyPr wrap="none" lIns="0" tIns="0" rIns="0" bIns="0" anchor="t" anchorCtr="0">
              <a:spAutoFit/>
            </a:bodyPr>
            <a:lstStyle/>
            <a:p>
              <a:pPr algn="l"/>
              <a:r>
                <a:rPr lang="zh-CN" sz="788" dirty="0">
                  <a:solidFill>
                    <a:srgbClr val="8A9099"/>
                  </a:solidFill>
                  <a:latin typeface="Arial"/>
                  <a:ea typeface="Microsoft YaHei"/>
                  <a:cs typeface="Arial"/>
                </a:rPr>
                <a:t>误差越大，更新越明显；预测越准，损失越小，参数逐渐稳定。</a:t>
              </a:r>
            </a:p>
          </p:txBody>
        </p:sp>
      </p:grpSp>
      <p:grpSp>
        <p:nvGrpSpPr>
          <p:cNvPr id="46" name="Group 46"/>
          <p:cNvGrpSpPr/>
          <p:nvPr/>
        </p:nvGrpSpPr>
        <p:grpSpPr>
          <a:xfrm>
            <a:off x="476250" y="1752600"/>
            <a:ext cx="3381375" cy="3105150"/>
            <a:chOff x="476250" y="1752600"/>
            <a:chExt cx="3381375" cy="3105150"/>
          </a:xfrm>
        </p:grpSpPr>
        <p:sp>
          <p:nvSpPr>
            <p:cNvPr id="14" name="Rectangle 14"/>
            <p:cNvSpPr/>
            <p:nvPr/>
          </p:nvSpPr>
          <p:spPr>
            <a:xfrm>
              <a:off x="476250" y="1752600"/>
              <a:ext cx="3381375" cy="3105150"/>
            </a:xfrm>
            <a:prstGeom prst="roundRect">
              <a:avLst>
                <a:gd name="adj" fmla="val 3681"/>
              </a:avLst>
            </a:prstGeom>
            <a:solidFill>
              <a:srgbClr val="FFFFFF"/>
            </a:solidFill>
            <a:ln w="9525">
              <a:solidFill>
                <a:srgbClr val="E4E7EB"/>
              </a:solidFill>
            </a:ln>
            <a:effectLst>
              <a:outerShdw blurRad="76200" dist="28575" dir="5400000" algn="ctr" rotWithShape="0">
                <a:srgbClr val="000000">
                  <a:alpha val="5250"/>
                </a:srgbClr>
              </a:outerShdw>
            </a:effectLst>
          </p:spPr>
        </p:sp>
        <p:sp>
          <p:nvSpPr>
            <p:cNvPr id="15" name="Rectangle 15"/>
            <p:cNvSpPr/>
            <p:nvPr/>
          </p:nvSpPr>
          <p:spPr>
            <a:xfrm>
              <a:off x="476250" y="1752600"/>
              <a:ext cx="3381375" cy="361950"/>
            </a:xfrm>
            <a:prstGeom prst="roundRect">
              <a:avLst>
                <a:gd name="adj" fmla="val 31579"/>
              </a:avLst>
            </a:prstGeom>
            <a:solidFill>
              <a:srgbClr val="FCEDEE"/>
            </a:solidFill>
            <a:ln>
              <a:noFill/>
            </a:ln>
          </p:spPr>
        </p:sp>
        <p:sp>
          <p:nvSpPr>
            <p:cNvPr id="16" name="Ellipse 16"/>
            <p:cNvSpPr/>
            <p:nvPr/>
          </p:nvSpPr>
          <p:spPr>
            <a:xfrm>
              <a:off x="609600" y="1819275"/>
              <a:ext cx="228600" cy="228600"/>
            </a:xfrm>
            <a:prstGeom prst="ellipse">
              <a:avLst/>
            </a:prstGeom>
            <a:solidFill>
              <a:srgbClr val="A50021"/>
            </a:solidFill>
            <a:ln>
              <a:noFill/>
            </a:ln>
          </p:spPr>
        </p:sp>
        <p:sp>
          <p:nvSpPr>
            <p:cNvPr id="17" name="TextBox 17"/>
            <p:cNvSpPr txBox="1"/>
            <p:nvPr/>
          </p:nvSpPr>
          <p:spPr>
            <a:xfrm>
              <a:off x="689090" y="1875949"/>
              <a:ext cx="69621"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SimHei"/>
                  <a:cs typeface="Arial"/>
                </a:rPr>
                <a:t>1</a:t>
              </a:r>
            </a:p>
          </p:txBody>
        </p:sp>
        <p:sp>
          <p:nvSpPr>
            <p:cNvPr id="18" name="TextBox 18"/>
            <p:cNvSpPr txBox="1"/>
            <p:nvPr/>
          </p:nvSpPr>
          <p:spPr>
            <a:xfrm>
              <a:off x="918210" y="1861185"/>
              <a:ext cx="1134618" cy="243840"/>
            </a:xfrm>
            <a:prstGeom prst="rect">
              <a:avLst/>
            </a:prstGeom>
            <a:noFill/>
            <a:ln>
              <a:noFill/>
            </a:ln>
          </p:spPr>
          <p:txBody>
            <a:bodyPr wrap="none" lIns="0" tIns="0" rIns="0" bIns="0" anchor="t" anchorCtr="0">
              <a:spAutoFit/>
            </a:bodyPr>
            <a:lstStyle/>
            <a:p>
              <a:pPr algn="l"/>
              <a:r>
                <a:rPr lang="zh-CN" sz="1200" b="1" dirty="0">
                  <a:solidFill>
                    <a:srgbClr val="A50021"/>
                  </a:solidFill>
                  <a:latin typeface="Arial"/>
                  <a:ea typeface="SimHei"/>
                  <a:cs typeface="Arial"/>
                </a:rPr>
                <a:t>构造训练任务</a:t>
              </a:r>
            </a:p>
          </p:txBody>
        </p:sp>
        <p:sp>
          <p:nvSpPr>
            <p:cNvPr id="19" name="TextBox 19"/>
            <p:cNvSpPr txBox="1"/>
            <p:nvPr/>
          </p:nvSpPr>
          <p:spPr>
            <a:xfrm>
              <a:off x="673894" y="2232422"/>
              <a:ext cx="1749028" cy="190500"/>
            </a:xfrm>
            <a:prstGeom prst="rect">
              <a:avLst/>
            </a:prstGeom>
            <a:noFill/>
            <a:ln>
              <a:noFill/>
            </a:ln>
          </p:spPr>
          <p:txBody>
            <a:bodyPr wrap="none" lIns="0" tIns="0" rIns="0" bIns="0" anchor="t" anchorCtr="0">
              <a:spAutoFit/>
            </a:bodyPr>
            <a:lstStyle/>
            <a:p>
              <a:pPr algn="l"/>
              <a:r>
                <a:rPr lang="zh-CN" sz="938" b="1" dirty="0">
                  <a:solidFill>
                    <a:srgbClr val="1F2328"/>
                  </a:solidFill>
                  <a:latin typeface="Arial"/>
                  <a:ea typeface="Microsoft YaHei"/>
                  <a:cs typeface="Arial"/>
                </a:rPr>
                <a:t>训练数据来自大量文本语料</a:t>
              </a:r>
            </a:p>
          </p:txBody>
        </p:sp>
        <p:sp>
          <p:nvSpPr>
            <p:cNvPr id="20" name="TextBox 20"/>
            <p:cNvSpPr txBox="1"/>
            <p:nvPr/>
          </p:nvSpPr>
          <p:spPr>
            <a:xfrm>
              <a:off x="674370" y="2465070"/>
              <a:ext cx="680085"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示例文本：</a:t>
              </a:r>
            </a:p>
          </p:txBody>
        </p:sp>
        <p:sp>
          <p:nvSpPr>
            <p:cNvPr id="21" name="Rectangle 21"/>
            <p:cNvSpPr/>
            <p:nvPr/>
          </p:nvSpPr>
          <p:spPr>
            <a:xfrm>
              <a:off x="1371600" y="2419350"/>
              <a:ext cx="2047875" cy="228600"/>
            </a:xfrm>
            <a:prstGeom prst="roundRect">
              <a:avLst>
                <a:gd name="adj" fmla="val 25000"/>
              </a:avLst>
            </a:prstGeom>
            <a:solidFill>
              <a:srgbClr val="F8F9FA"/>
            </a:solidFill>
            <a:ln w="7620">
              <a:solidFill>
                <a:srgbClr val="E8EAED"/>
              </a:solidFill>
            </a:ln>
          </p:spPr>
        </p:sp>
        <p:sp>
          <p:nvSpPr>
            <p:cNvPr id="22" name="TextBox 22"/>
            <p:cNvSpPr txBox="1"/>
            <p:nvPr/>
          </p:nvSpPr>
          <p:spPr>
            <a:xfrm>
              <a:off x="1553866" y="2484120"/>
              <a:ext cx="1692869" cy="182880"/>
            </a:xfrm>
            <a:prstGeom prst="rect">
              <a:avLst/>
            </a:prstGeom>
            <a:noFill/>
            <a:ln>
              <a:noFill/>
            </a:ln>
          </p:spPr>
          <p:txBody>
            <a:bodyPr wrap="none" lIns="0" tIns="0" rIns="0" bIns="0" anchor="t" anchorCtr="0">
              <a:spAutoFit/>
            </a:bodyPr>
            <a:lstStyle/>
            <a:p>
              <a:pPr algn="ctr"/>
              <a:r>
                <a:rPr lang="zh-CN" sz="900" b="1" dirty="0">
                  <a:solidFill>
                    <a:srgbClr val="A50021"/>
                  </a:solidFill>
                  <a:latin typeface="Arial"/>
                  <a:ea typeface="Microsoft YaHei"/>
                  <a:cs typeface="Arial"/>
                </a:rPr>
                <a:t>“中国银行是世界一流银行”</a:t>
              </a:r>
            </a:p>
          </p:txBody>
        </p:sp>
        <p:sp>
          <p:nvSpPr>
            <p:cNvPr id="23" name="TextBox 23"/>
            <p:cNvSpPr txBox="1"/>
            <p:nvPr/>
          </p:nvSpPr>
          <p:spPr>
            <a:xfrm>
              <a:off x="674370" y="2779395"/>
              <a:ext cx="680085"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词元切分：</a:t>
              </a:r>
            </a:p>
          </p:txBody>
        </p:sp>
        <p:sp>
          <p:nvSpPr>
            <p:cNvPr id="24" name="TextBox 24"/>
            <p:cNvSpPr txBox="1"/>
            <p:nvPr/>
          </p:nvSpPr>
          <p:spPr>
            <a:xfrm>
              <a:off x="674846" y="2992993"/>
              <a:ext cx="1974413" cy="175260"/>
            </a:xfrm>
            <a:prstGeom prst="rect">
              <a:avLst/>
            </a:prstGeom>
            <a:noFill/>
            <a:ln>
              <a:noFill/>
            </a:ln>
          </p:spPr>
          <p:txBody>
            <a:bodyPr wrap="none" lIns="0" tIns="0" rIns="0" bIns="0" anchor="t" anchorCtr="0">
              <a:spAutoFit/>
            </a:bodyPr>
            <a:lstStyle/>
            <a:p>
              <a:pPr algn="l"/>
              <a:r>
                <a:rPr lang="zh-CN" sz="862" dirty="0">
                  <a:solidFill>
                    <a:srgbClr val="1F2328"/>
                  </a:solidFill>
                  <a:latin typeface="Arial"/>
                  <a:ea typeface="Microsoft YaHei"/>
                  <a:cs typeface="Arial"/>
                </a:rPr>
                <a:t>[中国银行, 是, 世界, 一流, 银行]</a:t>
              </a:r>
            </a:p>
          </p:txBody>
        </p:sp>
        <p:sp>
          <p:nvSpPr>
            <p:cNvPr id="25" name="TextBox 25"/>
            <p:cNvSpPr txBox="1"/>
            <p:nvPr/>
          </p:nvSpPr>
          <p:spPr>
            <a:xfrm>
              <a:off x="674370" y="3255645"/>
              <a:ext cx="81153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自监督目标：</a:t>
              </a:r>
            </a:p>
          </p:txBody>
        </p:sp>
        <p:sp>
          <p:nvSpPr>
            <p:cNvPr id="26" name="TextBox 26"/>
            <p:cNvSpPr txBox="1"/>
            <p:nvPr/>
          </p:nvSpPr>
          <p:spPr>
            <a:xfrm>
              <a:off x="1474470" y="3255645"/>
              <a:ext cx="1541050" cy="182880"/>
            </a:xfrm>
            <a:prstGeom prst="rect">
              <a:avLst/>
            </a:prstGeom>
            <a:noFill/>
            <a:ln>
              <a:noFill/>
            </a:ln>
          </p:spPr>
          <p:txBody>
            <a:bodyPr wrap="none" lIns="0" tIns="0" rIns="0" bIns="0" anchor="t" anchorCtr="0">
              <a:spAutoFit/>
            </a:bodyPr>
            <a:lstStyle/>
            <a:p>
              <a:pPr algn="l"/>
              <a:r>
                <a:rPr lang="zh-CN" sz="900" b="1" dirty="0">
                  <a:solidFill>
                    <a:srgbClr val="1F2328"/>
                  </a:solidFill>
                  <a:latin typeface="Arial"/>
                  <a:ea typeface="Microsoft YaHei"/>
                  <a:cs typeface="Arial"/>
                </a:rPr>
                <a:t>根据上下文预测下一个词</a:t>
              </a:r>
            </a:p>
          </p:txBody>
        </p:sp>
        <p:sp>
          <p:nvSpPr>
            <p:cNvPr id="27" name="Rectangle 27"/>
            <p:cNvSpPr/>
            <p:nvPr/>
          </p:nvSpPr>
          <p:spPr>
            <a:xfrm>
              <a:off x="685800" y="3533775"/>
              <a:ext cx="2952750" cy="1066800"/>
            </a:xfrm>
            <a:prstGeom prst="roundRect">
              <a:avLst>
                <a:gd name="adj" fmla="val 5357"/>
              </a:avLst>
            </a:prstGeom>
            <a:solidFill>
              <a:srgbClr val="FFFFFF"/>
            </a:solidFill>
            <a:ln w="7620">
              <a:solidFill>
                <a:srgbClr val="E4E7EB"/>
              </a:solidFill>
            </a:ln>
          </p:spPr>
        </p:sp>
        <p:sp>
          <p:nvSpPr>
            <p:cNvPr id="28" name="Rectangle 28"/>
            <p:cNvSpPr/>
            <p:nvPr/>
          </p:nvSpPr>
          <p:spPr>
            <a:xfrm>
              <a:off x="685800" y="3533775"/>
              <a:ext cx="2952750" cy="228600"/>
            </a:xfrm>
            <a:prstGeom prst="roundRect">
              <a:avLst>
                <a:gd name="adj" fmla="val 25000"/>
              </a:avLst>
            </a:prstGeom>
            <a:solidFill>
              <a:srgbClr val="F8F9FA"/>
            </a:solidFill>
            <a:ln>
              <a:noFill/>
            </a:ln>
          </p:spPr>
        </p:sp>
        <p:sp>
          <p:nvSpPr>
            <p:cNvPr id="29" name="TextBox 29"/>
            <p:cNvSpPr txBox="1"/>
            <p:nvPr/>
          </p:nvSpPr>
          <p:spPr>
            <a:xfrm>
              <a:off x="885825" y="3605212"/>
              <a:ext cx="249079" cy="152400"/>
            </a:xfrm>
            <a:prstGeom prst="rect">
              <a:avLst/>
            </a:prstGeom>
            <a:noFill/>
            <a:ln>
              <a:noFill/>
            </a:ln>
          </p:spPr>
          <p:txBody>
            <a:bodyPr wrap="none" lIns="0" tIns="0" rIns="0" bIns="0" anchor="t" anchorCtr="0">
              <a:spAutoFit/>
            </a:bodyPr>
            <a:lstStyle/>
            <a:p>
              <a:pPr algn="l"/>
              <a:r>
                <a:rPr lang="zh-CN" sz="750" b="1" dirty="0">
                  <a:solidFill>
                    <a:srgbClr val="5F6368"/>
                  </a:solidFill>
                  <a:latin typeface="Arial"/>
                  <a:ea typeface="Microsoft YaHei"/>
                  <a:cs typeface="Arial"/>
                </a:rPr>
                <a:t>样本</a:t>
              </a:r>
            </a:p>
          </p:txBody>
        </p:sp>
        <p:sp>
          <p:nvSpPr>
            <p:cNvPr id="30" name="TextBox 30"/>
            <p:cNvSpPr txBox="1"/>
            <p:nvPr/>
          </p:nvSpPr>
          <p:spPr>
            <a:xfrm>
              <a:off x="1533525" y="3605212"/>
              <a:ext cx="594122" cy="152400"/>
            </a:xfrm>
            <a:prstGeom prst="rect">
              <a:avLst/>
            </a:prstGeom>
            <a:noFill/>
            <a:ln>
              <a:noFill/>
            </a:ln>
          </p:spPr>
          <p:txBody>
            <a:bodyPr wrap="none" lIns="0" tIns="0" rIns="0" bIns="0" anchor="t" anchorCtr="0">
              <a:spAutoFit/>
            </a:bodyPr>
            <a:lstStyle/>
            <a:p>
              <a:pPr algn="l"/>
              <a:r>
                <a:rPr lang="zh-CN" sz="750" b="1" dirty="0">
                  <a:solidFill>
                    <a:srgbClr val="5F6368"/>
                  </a:solidFill>
                  <a:latin typeface="Arial"/>
                  <a:ea typeface="Microsoft YaHei"/>
                  <a:cs typeface="Arial"/>
                </a:rPr>
                <a:t>输入上下文</a:t>
              </a:r>
            </a:p>
          </p:txBody>
        </p:sp>
        <p:sp>
          <p:nvSpPr>
            <p:cNvPr id="31" name="TextBox 31"/>
            <p:cNvSpPr txBox="1"/>
            <p:nvPr/>
          </p:nvSpPr>
          <p:spPr>
            <a:xfrm>
              <a:off x="3057525" y="3605212"/>
              <a:ext cx="364093" cy="152400"/>
            </a:xfrm>
            <a:prstGeom prst="rect">
              <a:avLst/>
            </a:prstGeom>
            <a:noFill/>
            <a:ln>
              <a:noFill/>
            </a:ln>
          </p:spPr>
          <p:txBody>
            <a:bodyPr wrap="none" lIns="0" tIns="0" rIns="0" bIns="0" anchor="t" anchorCtr="0">
              <a:spAutoFit/>
            </a:bodyPr>
            <a:lstStyle/>
            <a:p>
              <a:pPr algn="l"/>
              <a:r>
                <a:rPr lang="zh-CN" sz="750" b="1" dirty="0">
                  <a:solidFill>
                    <a:srgbClr val="5F6368"/>
                  </a:solidFill>
                  <a:latin typeface="Arial"/>
                  <a:ea typeface="Microsoft YaHei"/>
                  <a:cs typeface="Arial"/>
                </a:rPr>
                <a:t>目标词</a:t>
              </a:r>
            </a:p>
          </p:txBody>
        </p:sp>
        <p:sp>
          <p:nvSpPr>
            <p:cNvPr id="32" name="Line 32"/>
            <p:cNvSpPr/>
            <p:nvPr/>
          </p:nvSpPr>
          <p:spPr>
            <a:xfrm>
              <a:off x="1143000" y="3533775"/>
              <a:ext cx="9525" cy="1066800"/>
            </a:xfrm>
            <a:custGeom>
              <a:avLst/>
              <a:gdLst/>
              <a:ahLst/>
              <a:cxnLst/>
              <a:rect l="l" t="t" r="r" b="b"/>
              <a:pathLst>
                <a:path w="9525" h="1066800">
                  <a:moveTo>
                    <a:pt x="0" y="0"/>
                  </a:moveTo>
                  <a:lnTo>
                    <a:pt x="0" y="1066800"/>
                  </a:lnTo>
                </a:path>
              </a:pathLst>
            </a:custGeom>
            <a:noFill/>
            <a:ln w="6668">
              <a:solidFill>
                <a:srgbClr val="E8EAED"/>
              </a:solidFill>
            </a:ln>
          </p:spPr>
        </p:sp>
        <p:sp>
          <p:nvSpPr>
            <p:cNvPr id="33" name="Line 33"/>
            <p:cNvSpPr/>
            <p:nvPr/>
          </p:nvSpPr>
          <p:spPr>
            <a:xfrm>
              <a:off x="2819400" y="3533775"/>
              <a:ext cx="9525" cy="1066800"/>
            </a:xfrm>
            <a:custGeom>
              <a:avLst/>
              <a:gdLst/>
              <a:ahLst/>
              <a:cxnLst/>
              <a:rect l="l" t="t" r="r" b="b"/>
              <a:pathLst>
                <a:path w="9525" h="1066800">
                  <a:moveTo>
                    <a:pt x="0" y="0"/>
                  </a:moveTo>
                  <a:lnTo>
                    <a:pt x="0" y="1066800"/>
                  </a:lnTo>
                </a:path>
              </a:pathLst>
            </a:custGeom>
            <a:noFill/>
            <a:ln w="6668">
              <a:solidFill>
                <a:srgbClr val="E8EAED"/>
              </a:solidFill>
            </a:ln>
          </p:spPr>
        </p:sp>
        <p:sp>
          <p:nvSpPr>
            <p:cNvPr id="34" name="Line 34"/>
            <p:cNvSpPr/>
            <p:nvPr/>
          </p:nvSpPr>
          <p:spPr>
            <a:xfrm>
              <a:off x="685800" y="3762375"/>
              <a:ext cx="2952750" cy="9525"/>
            </a:xfrm>
            <a:custGeom>
              <a:avLst/>
              <a:gdLst/>
              <a:ahLst/>
              <a:cxnLst/>
              <a:rect l="l" t="t" r="r" b="b"/>
              <a:pathLst>
                <a:path w="2952750" h="9525">
                  <a:moveTo>
                    <a:pt x="0" y="0"/>
                  </a:moveTo>
                  <a:lnTo>
                    <a:pt x="2952750" y="0"/>
                  </a:lnTo>
                </a:path>
              </a:pathLst>
            </a:custGeom>
            <a:noFill/>
            <a:ln w="6668">
              <a:solidFill>
                <a:srgbClr val="E8EAED"/>
              </a:solidFill>
            </a:ln>
          </p:spPr>
        </p:sp>
        <p:sp>
          <p:nvSpPr>
            <p:cNvPr id="35" name="TextBox 35"/>
            <p:cNvSpPr txBox="1"/>
            <p:nvPr/>
          </p:nvSpPr>
          <p:spPr>
            <a:xfrm>
              <a:off x="888444" y="3862388"/>
              <a:ext cx="51911"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Consolas"/>
                  <a:ea typeface="Microsoft YaHei"/>
                  <a:cs typeface="Consolas"/>
                </a:rPr>
                <a:t>1</a:t>
              </a:r>
            </a:p>
          </p:txBody>
        </p:sp>
        <p:sp>
          <p:nvSpPr>
            <p:cNvPr id="36" name="TextBox 36"/>
            <p:cNvSpPr txBox="1"/>
            <p:nvPr/>
          </p:nvSpPr>
          <p:spPr>
            <a:xfrm>
              <a:off x="1247775" y="3862388"/>
              <a:ext cx="457200" cy="152400"/>
            </a:xfrm>
            <a:prstGeom prst="rect">
              <a:avLst/>
            </a:prstGeom>
            <a:noFill/>
            <a:ln>
              <a:noFill/>
            </a:ln>
          </p:spPr>
          <p:txBody>
            <a:bodyPr wrap="none" lIns="0" tIns="0" rIns="0" bIns="0" anchor="t" anchorCtr="0">
              <a:spAutoFit/>
            </a:bodyPr>
            <a:lstStyle/>
            <a:p>
              <a:pPr algn="l"/>
              <a:r>
                <a:rPr lang="zh-CN" sz="750" dirty="0">
                  <a:solidFill>
                    <a:srgbClr val="1F2328"/>
                  </a:solidFill>
                  <a:latin typeface="Arial"/>
                  <a:ea typeface="Microsoft YaHei"/>
                  <a:cs typeface="Arial"/>
                </a:rPr>
                <a:t>中国银行</a:t>
              </a:r>
            </a:p>
          </p:txBody>
        </p:sp>
        <p:sp>
          <p:nvSpPr>
            <p:cNvPr id="37" name="TextBox 37"/>
            <p:cNvSpPr txBox="1"/>
            <p:nvPr/>
          </p:nvSpPr>
          <p:spPr>
            <a:xfrm>
              <a:off x="3057525" y="3862388"/>
              <a:ext cx="392847" cy="152400"/>
            </a:xfrm>
            <a:prstGeom prst="rect">
              <a:avLst/>
            </a:prstGeom>
            <a:noFill/>
            <a:ln>
              <a:noFill/>
            </a:ln>
          </p:spPr>
          <p:txBody>
            <a:bodyPr wrap="none" lIns="0" tIns="0" rIns="0" bIns="0" anchor="t" anchorCtr="0">
              <a:spAutoFit/>
            </a:bodyPr>
            <a:lstStyle/>
            <a:p>
              <a:pPr algn="l"/>
              <a:r>
                <a:rPr lang="zh-CN" sz="750" b="1" dirty="0">
                  <a:solidFill>
                    <a:srgbClr val="A50021"/>
                  </a:solidFill>
                  <a:latin typeface="Arial"/>
                  <a:ea typeface="Microsoft YaHei"/>
                  <a:cs typeface="Arial"/>
                </a:rPr>
                <a:t>是 / V8</a:t>
              </a:r>
            </a:p>
          </p:txBody>
        </p:sp>
        <p:sp>
          <p:nvSpPr>
            <p:cNvPr id="38" name="Line 38"/>
            <p:cNvSpPr/>
            <p:nvPr/>
          </p:nvSpPr>
          <p:spPr>
            <a:xfrm>
              <a:off x="685800" y="4029075"/>
              <a:ext cx="2952750" cy="9525"/>
            </a:xfrm>
            <a:custGeom>
              <a:avLst/>
              <a:gdLst/>
              <a:ahLst/>
              <a:cxnLst/>
              <a:rect l="l" t="t" r="r" b="b"/>
              <a:pathLst>
                <a:path w="2952750" h="9525">
                  <a:moveTo>
                    <a:pt x="0" y="0"/>
                  </a:moveTo>
                  <a:lnTo>
                    <a:pt x="2952750" y="0"/>
                  </a:lnTo>
                </a:path>
              </a:pathLst>
            </a:custGeom>
            <a:noFill/>
            <a:ln w="6668">
              <a:solidFill>
                <a:srgbClr val="F0F1F3"/>
              </a:solidFill>
            </a:ln>
          </p:spPr>
        </p:sp>
        <p:sp>
          <p:nvSpPr>
            <p:cNvPr id="39" name="TextBox 39"/>
            <p:cNvSpPr txBox="1"/>
            <p:nvPr/>
          </p:nvSpPr>
          <p:spPr>
            <a:xfrm>
              <a:off x="874752" y="4129088"/>
              <a:ext cx="79296"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Consolas"/>
                  <a:ea typeface="Microsoft YaHei"/>
                  <a:cs typeface="Consolas"/>
                </a:rPr>
                <a:t>2</a:t>
              </a:r>
            </a:p>
          </p:txBody>
        </p:sp>
        <p:sp>
          <p:nvSpPr>
            <p:cNvPr id="40" name="TextBox 40"/>
            <p:cNvSpPr txBox="1"/>
            <p:nvPr/>
          </p:nvSpPr>
          <p:spPr>
            <a:xfrm>
              <a:off x="1247775" y="4129088"/>
              <a:ext cx="676275" cy="152400"/>
            </a:xfrm>
            <a:prstGeom prst="rect">
              <a:avLst/>
            </a:prstGeom>
            <a:noFill/>
            <a:ln>
              <a:noFill/>
            </a:ln>
          </p:spPr>
          <p:txBody>
            <a:bodyPr wrap="none" lIns="0" tIns="0" rIns="0" bIns="0" anchor="t" anchorCtr="0">
              <a:spAutoFit/>
            </a:bodyPr>
            <a:lstStyle/>
            <a:p>
              <a:pPr algn="l"/>
              <a:r>
                <a:rPr lang="zh-CN" sz="750" dirty="0">
                  <a:solidFill>
                    <a:srgbClr val="1F2328"/>
                  </a:solidFill>
                  <a:latin typeface="Arial"/>
                  <a:ea typeface="Microsoft YaHei"/>
                  <a:cs typeface="Arial"/>
                </a:rPr>
                <a:t>中国银行，是</a:t>
              </a:r>
            </a:p>
          </p:txBody>
        </p:sp>
        <p:sp>
          <p:nvSpPr>
            <p:cNvPr id="41" name="TextBox 41"/>
            <p:cNvSpPr txBox="1"/>
            <p:nvPr/>
          </p:nvSpPr>
          <p:spPr>
            <a:xfrm>
              <a:off x="3057525" y="4129088"/>
              <a:ext cx="507861" cy="152400"/>
            </a:xfrm>
            <a:prstGeom prst="rect">
              <a:avLst/>
            </a:prstGeom>
            <a:noFill/>
            <a:ln>
              <a:noFill/>
            </a:ln>
          </p:spPr>
          <p:txBody>
            <a:bodyPr wrap="none" lIns="0" tIns="0" rIns="0" bIns="0" anchor="t" anchorCtr="0">
              <a:spAutoFit/>
            </a:bodyPr>
            <a:lstStyle/>
            <a:p>
              <a:pPr algn="l"/>
              <a:r>
                <a:rPr lang="zh-CN" sz="750" b="1" dirty="0">
                  <a:solidFill>
                    <a:srgbClr val="A50021"/>
                  </a:solidFill>
                  <a:latin typeface="Arial"/>
                  <a:ea typeface="Microsoft YaHei"/>
                  <a:cs typeface="Arial"/>
                </a:rPr>
                <a:t>世界 / V2</a:t>
              </a:r>
            </a:p>
          </p:txBody>
        </p:sp>
        <p:sp>
          <p:nvSpPr>
            <p:cNvPr id="42" name="Line 42"/>
            <p:cNvSpPr/>
            <p:nvPr/>
          </p:nvSpPr>
          <p:spPr>
            <a:xfrm>
              <a:off x="685800" y="4295775"/>
              <a:ext cx="2952750" cy="9525"/>
            </a:xfrm>
            <a:custGeom>
              <a:avLst/>
              <a:gdLst/>
              <a:ahLst/>
              <a:cxnLst/>
              <a:rect l="l" t="t" r="r" b="b"/>
              <a:pathLst>
                <a:path w="2952750" h="9525">
                  <a:moveTo>
                    <a:pt x="0" y="0"/>
                  </a:moveTo>
                  <a:lnTo>
                    <a:pt x="2952750" y="0"/>
                  </a:lnTo>
                </a:path>
              </a:pathLst>
            </a:custGeom>
            <a:noFill/>
            <a:ln w="6668">
              <a:solidFill>
                <a:srgbClr val="F0F1F3"/>
              </a:solidFill>
            </a:ln>
          </p:spPr>
        </p:sp>
        <p:sp>
          <p:nvSpPr>
            <p:cNvPr id="43" name="TextBox 43"/>
            <p:cNvSpPr txBox="1"/>
            <p:nvPr/>
          </p:nvSpPr>
          <p:spPr>
            <a:xfrm>
              <a:off x="874752" y="4395788"/>
              <a:ext cx="79296"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Consolas"/>
                  <a:ea typeface="Microsoft YaHei"/>
                  <a:cs typeface="Consolas"/>
                </a:rPr>
                <a:t>4</a:t>
              </a:r>
            </a:p>
          </p:txBody>
        </p:sp>
        <p:sp>
          <p:nvSpPr>
            <p:cNvPr id="44" name="TextBox 44"/>
            <p:cNvSpPr txBox="1"/>
            <p:nvPr/>
          </p:nvSpPr>
          <p:spPr>
            <a:xfrm>
              <a:off x="1247775" y="4395788"/>
              <a:ext cx="1333500" cy="152400"/>
            </a:xfrm>
            <a:prstGeom prst="rect">
              <a:avLst/>
            </a:prstGeom>
            <a:noFill/>
            <a:ln>
              <a:noFill/>
            </a:ln>
          </p:spPr>
          <p:txBody>
            <a:bodyPr wrap="none" lIns="0" tIns="0" rIns="0" bIns="0" anchor="t" anchorCtr="0">
              <a:spAutoFit/>
            </a:bodyPr>
            <a:lstStyle/>
            <a:p>
              <a:pPr algn="l"/>
              <a:r>
                <a:rPr lang="zh-CN" sz="750" dirty="0">
                  <a:solidFill>
                    <a:srgbClr val="1F2328"/>
                  </a:solidFill>
                  <a:latin typeface="Arial"/>
                  <a:ea typeface="Microsoft YaHei"/>
                  <a:cs typeface="Arial"/>
                </a:rPr>
                <a:t>中国银行，是，世界，一流</a:t>
              </a:r>
            </a:p>
          </p:txBody>
        </p:sp>
        <p:sp>
          <p:nvSpPr>
            <p:cNvPr id="45" name="TextBox 45"/>
            <p:cNvSpPr txBox="1"/>
            <p:nvPr/>
          </p:nvSpPr>
          <p:spPr>
            <a:xfrm>
              <a:off x="3057525" y="4395788"/>
              <a:ext cx="507861" cy="152400"/>
            </a:xfrm>
            <a:prstGeom prst="rect">
              <a:avLst/>
            </a:prstGeom>
            <a:noFill/>
            <a:ln>
              <a:noFill/>
            </a:ln>
          </p:spPr>
          <p:txBody>
            <a:bodyPr wrap="none" lIns="0" tIns="0" rIns="0" bIns="0" anchor="t" anchorCtr="0">
              <a:spAutoFit/>
            </a:bodyPr>
            <a:lstStyle/>
            <a:p>
              <a:pPr algn="l"/>
              <a:r>
                <a:rPr lang="zh-CN" sz="750" b="1" dirty="0">
                  <a:solidFill>
                    <a:srgbClr val="A50021"/>
                  </a:solidFill>
                  <a:latin typeface="Arial"/>
                  <a:ea typeface="Microsoft YaHei"/>
                  <a:cs typeface="Arial"/>
                </a:rPr>
                <a:t>银行 / V5</a:t>
              </a:r>
            </a:p>
          </p:txBody>
        </p:sp>
      </p:grpSp>
      <p:grpSp>
        <p:nvGrpSpPr>
          <p:cNvPr id="73" name="Group 73"/>
          <p:cNvGrpSpPr/>
          <p:nvPr/>
        </p:nvGrpSpPr>
        <p:grpSpPr>
          <a:xfrm>
            <a:off x="4114800" y="1752600"/>
            <a:ext cx="3429000" cy="3105150"/>
            <a:chOff x="4114800" y="1752600"/>
            <a:chExt cx="3429000" cy="3105150"/>
          </a:xfrm>
        </p:grpSpPr>
        <p:sp>
          <p:nvSpPr>
            <p:cNvPr id="47" name="Rectangle 47"/>
            <p:cNvSpPr/>
            <p:nvPr/>
          </p:nvSpPr>
          <p:spPr>
            <a:xfrm>
              <a:off x="4114800" y="1752600"/>
              <a:ext cx="3429000" cy="3105150"/>
            </a:xfrm>
            <a:prstGeom prst="roundRect">
              <a:avLst>
                <a:gd name="adj" fmla="val 3681"/>
              </a:avLst>
            </a:prstGeom>
            <a:solidFill>
              <a:srgbClr val="FFFFFF"/>
            </a:solidFill>
            <a:ln w="9525">
              <a:solidFill>
                <a:srgbClr val="E4E7EB"/>
              </a:solidFill>
            </a:ln>
            <a:effectLst>
              <a:outerShdw blurRad="76200" dist="28575" dir="5400000" algn="ctr" rotWithShape="0">
                <a:srgbClr val="000000">
                  <a:alpha val="5250"/>
                </a:srgbClr>
              </a:outerShdw>
            </a:effectLst>
          </p:spPr>
        </p:sp>
        <p:sp>
          <p:nvSpPr>
            <p:cNvPr id="48" name="Rectangle 48"/>
            <p:cNvSpPr/>
            <p:nvPr/>
          </p:nvSpPr>
          <p:spPr>
            <a:xfrm>
              <a:off x="4114800" y="1752600"/>
              <a:ext cx="3429000" cy="361950"/>
            </a:xfrm>
            <a:prstGeom prst="roundRect">
              <a:avLst>
                <a:gd name="adj" fmla="val 31579"/>
              </a:avLst>
            </a:prstGeom>
            <a:solidFill>
              <a:srgbClr val="EAF2FF"/>
            </a:solidFill>
            <a:ln>
              <a:noFill/>
            </a:ln>
          </p:spPr>
        </p:sp>
        <p:sp>
          <p:nvSpPr>
            <p:cNvPr id="49" name="Ellipse 49"/>
            <p:cNvSpPr/>
            <p:nvPr/>
          </p:nvSpPr>
          <p:spPr>
            <a:xfrm>
              <a:off x="4248150" y="1819275"/>
              <a:ext cx="228600" cy="228600"/>
            </a:xfrm>
            <a:prstGeom prst="ellipse">
              <a:avLst/>
            </a:prstGeom>
            <a:solidFill>
              <a:srgbClr val="4285F4"/>
            </a:solidFill>
            <a:ln>
              <a:noFill/>
            </a:ln>
          </p:spPr>
        </p:sp>
        <p:sp>
          <p:nvSpPr>
            <p:cNvPr id="50" name="TextBox 50"/>
            <p:cNvSpPr txBox="1"/>
            <p:nvPr/>
          </p:nvSpPr>
          <p:spPr>
            <a:xfrm>
              <a:off x="4308950" y="1875949"/>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SimHei"/>
                  <a:cs typeface="Arial"/>
                </a:rPr>
                <a:t>2</a:t>
              </a:r>
            </a:p>
          </p:txBody>
        </p:sp>
        <p:sp>
          <p:nvSpPr>
            <p:cNvPr id="51" name="TextBox 51"/>
            <p:cNvSpPr txBox="1"/>
            <p:nvPr/>
          </p:nvSpPr>
          <p:spPr>
            <a:xfrm>
              <a:off x="4556760" y="1861185"/>
              <a:ext cx="2054733" cy="243840"/>
            </a:xfrm>
            <a:prstGeom prst="rect">
              <a:avLst/>
            </a:prstGeom>
            <a:noFill/>
            <a:ln>
              <a:noFill/>
            </a:ln>
          </p:spPr>
          <p:txBody>
            <a:bodyPr wrap="none" lIns="0" tIns="0" rIns="0" bIns="0" anchor="t" anchorCtr="0">
              <a:spAutoFit/>
            </a:bodyPr>
            <a:lstStyle/>
            <a:p>
              <a:pPr algn="l"/>
              <a:r>
                <a:rPr lang="zh-CN" sz="1200" b="1" dirty="0">
                  <a:solidFill>
                    <a:srgbClr val="4285F4"/>
                  </a:solidFill>
                  <a:latin typeface="Arial"/>
                  <a:ea typeface="SimHei"/>
                  <a:cs typeface="Arial"/>
                </a:rPr>
                <a:t>前向传播：使用当前参数</a:t>
              </a:r>
            </a:p>
          </p:txBody>
        </p:sp>
        <p:sp>
          <p:nvSpPr>
            <p:cNvPr id="52" name="Rectangle 52"/>
            <p:cNvSpPr/>
            <p:nvPr/>
          </p:nvSpPr>
          <p:spPr>
            <a:xfrm>
              <a:off x="4495800" y="2343150"/>
              <a:ext cx="2667000" cy="438150"/>
            </a:xfrm>
            <a:prstGeom prst="roundRect">
              <a:avLst>
                <a:gd name="adj" fmla="val 17391"/>
              </a:avLst>
            </a:prstGeom>
            <a:solidFill>
              <a:srgbClr val="F8F9FA"/>
            </a:solidFill>
            <a:ln w="9525">
              <a:solidFill>
                <a:srgbClr val="E4E7EB"/>
              </a:solidFill>
            </a:ln>
          </p:spPr>
        </p:sp>
        <p:sp>
          <p:nvSpPr>
            <p:cNvPr id="53" name="TextBox 53"/>
            <p:cNvSpPr txBox="1"/>
            <p:nvPr/>
          </p:nvSpPr>
          <p:spPr>
            <a:xfrm>
              <a:off x="5455215" y="2404110"/>
              <a:ext cx="748170" cy="243840"/>
            </a:xfrm>
            <a:prstGeom prst="rect">
              <a:avLst/>
            </a:prstGeom>
            <a:noFill/>
            <a:ln>
              <a:noFill/>
            </a:ln>
          </p:spPr>
          <p:txBody>
            <a:bodyPr wrap="none" lIns="0" tIns="0" rIns="0" bIns="0" anchor="t" anchorCtr="0">
              <a:spAutoFit/>
            </a:bodyPr>
            <a:lstStyle/>
            <a:p>
              <a:pPr algn="ctr"/>
              <a:r>
                <a:rPr lang="zh-CN" sz="1200" b="1" dirty="0">
                  <a:solidFill>
                    <a:srgbClr val="4285F4"/>
                  </a:solidFill>
                  <a:latin typeface="Consolas"/>
                  <a:ea typeface="Microsoft YaHei"/>
                  <a:cs typeface="Consolas"/>
                </a:rPr>
                <a:t>X (5×10)</a:t>
              </a:r>
            </a:p>
          </p:txBody>
        </p:sp>
        <p:sp>
          <p:nvSpPr>
            <p:cNvPr id="54" name="TextBox 54"/>
            <p:cNvSpPr txBox="1"/>
            <p:nvPr/>
          </p:nvSpPr>
          <p:spPr>
            <a:xfrm>
              <a:off x="5362456" y="2614612"/>
              <a:ext cx="933688"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Microsoft YaHei"/>
                  <a:cs typeface="Arial"/>
                </a:rPr>
                <a:t>One-Hot 稀疏矩阵</a:t>
              </a:r>
            </a:p>
          </p:txBody>
        </p:sp>
        <p:sp>
          <p:nvSpPr>
            <p:cNvPr id="55" name="Line 55"/>
            <p:cNvSpPr/>
            <p:nvPr/>
          </p:nvSpPr>
          <p:spPr>
            <a:xfrm>
              <a:off x="5829300" y="2781300"/>
              <a:ext cx="1" cy="228600"/>
            </a:xfrm>
            <a:prstGeom prst="line">
              <a:avLst/>
            </a:prstGeom>
            <a:noFill/>
            <a:ln w="19050">
              <a:solidFill>
                <a:srgbClr val="4285F4"/>
              </a:solidFill>
              <a:tailEnd type="triangle" w="lg" len="lg"/>
            </a:ln>
          </p:spPr>
        </p:sp>
        <p:sp>
          <p:nvSpPr>
            <p:cNvPr id="56" name="TextBox 56"/>
            <p:cNvSpPr txBox="1"/>
            <p:nvPr/>
          </p:nvSpPr>
          <p:spPr>
            <a:xfrm>
              <a:off x="5965508" y="2824639"/>
              <a:ext cx="139923" cy="259080"/>
            </a:xfrm>
            <a:prstGeom prst="rect">
              <a:avLst/>
            </a:prstGeom>
            <a:noFill/>
            <a:ln>
              <a:noFill/>
            </a:ln>
          </p:spPr>
          <p:txBody>
            <a:bodyPr wrap="none" lIns="0" tIns="0" rIns="0" bIns="0" anchor="t" anchorCtr="0">
              <a:spAutoFit/>
            </a:bodyPr>
            <a:lstStyle/>
            <a:p>
              <a:pPr algn="l"/>
              <a:r>
                <a:rPr lang="zh-CN" sz="1275" b="1" dirty="0">
                  <a:solidFill>
                    <a:srgbClr val="4285F4"/>
                  </a:solidFill>
                  <a:latin typeface="Consolas"/>
                  <a:ea typeface="Microsoft YaHei"/>
                  <a:cs typeface="Consolas"/>
                </a:rPr>
                <a:t>×</a:t>
              </a:r>
            </a:p>
          </p:txBody>
        </p:sp>
        <p:sp>
          <p:nvSpPr>
            <p:cNvPr id="57" name="Rectangle 57"/>
            <p:cNvSpPr/>
            <p:nvPr/>
          </p:nvSpPr>
          <p:spPr>
            <a:xfrm>
              <a:off x="4495800" y="3048000"/>
              <a:ext cx="2667000" cy="495300"/>
            </a:xfrm>
            <a:prstGeom prst="roundRect">
              <a:avLst>
                <a:gd name="adj" fmla="val 15385"/>
              </a:avLst>
            </a:prstGeom>
            <a:solidFill>
              <a:srgbClr val="FFFFFF"/>
            </a:solidFill>
            <a:ln w="13335">
              <a:solidFill>
                <a:srgbClr val="4285F4"/>
              </a:solidFill>
            </a:ln>
          </p:spPr>
        </p:sp>
        <p:sp>
          <p:nvSpPr>
            <p:cNvPr id="58" name="TextBox 58"/>
            <p:cNvSpPr txBox="1"/>
            <p:nvPr/>
          </p:nvSpPr>
          <p:spPr>
            <a:xfrm>
              <a:off x="5303396" y="3137535"/>
              <a:ext cx="1051808" cy="243840"/>
            </a:xfrm>
            <a:prstGeom prst="rect">
              <a:avLst/>
            </a:prstGeom>
            <a:noFill/>
            <a:ln>
              <a:noFill/>
            </a:ln>
          </p:spPr>
          <p:txBody>
            <a:bodyPr wrap="none" lIns="0" tIns="0" rIns="0" bIns="0" anchor="t" anchorCtr="0">
              <a:spAutoFit/>
            </a:bodyPr>
            <a:lstStyle/>
            <a:p>
              <a:pPr algn="ctr"/>
              <a:r>
                <a:rPr lang="zh-CN" sz="1200" b="1" dirty="0">
                  <a:solidFill>
                    <a:srgbClr val="1F2328"/>
                  </a:solidFill>
                  <a:latin typeface="Consolas"/>
                  <a:ea typeface="Microsoft YaHei"/>
                  <a:cs typeface="Consolas"/>
                </a:rPr>
                <a:t>E(t) (10×3)</a:t>
              </a:r>
            </a:p>
          </p:txBody>
        </p:sp>
        <p:sp>
          <p:nvSpPr>
            <p:cNvPr id="59" name="TextBox 59"/>
            <p:cNvSpPr txBox="1"/>
            <p:nvPr/>
          </p:nvSpPr>
          <p:spPr>
            <a:xfrm>
              <a:off x="4806553" y="3357562"/>
              <a:ext cx="2045494"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Microsoft YaHei"/>
                  <a:cs typeface="Arial"/>
                </a:rPr>
                <a:t>当前 Embedding 参数矩阵；初始通常随机</a:t>
              </a:r>
            </a:p>
          </p:txBody>
        </p:sp>
        <p:sp>
          <p:nvSpPr>
            <p:cNvPr id="60" name="Line 60"/>
            <p:cNvSpPr/>
            <p:nvPr/>
          </p:nvSpPr>
          <p:spPr>
            <a:xfrm>
              <a:off x="5829300" y="3543300"/>
              <a:ext cx="1" cy="228600"/>
            </a:xfrm>
            <a:prstGeom prst="line">
              <a:avLst/>
            </a:prstGeom>
            <a:noFill/>
            <a:ln w="19050">
              <a:solidFill>
                <a:srgbClr val="4285F4"/>
              </a:solidFill>
              <a:tailEnd type="triangle" w="lg" len="lg"/>
            </a:ln>
          </p:spPr>
        </p:sp>
        <p:sp>
          <p:nvSpPr>
            <p:cNvPr id="61" name="Rectangle 61"/>
            <p:cNvSpPr/>
            <p:nvPr/>
          </p:nvSpPr>
          <p:spPr>
            <a:xfrm>
              <a:off x="4495800" y="3810000"/>
              <a:ext cx="2667000" cy="495300"/>
            </a:xfrm>
            <a:prstGeom prst="roundRect">
              <a:avLst>
                <a:gd name="adj" fmla="val 15385"/>
              </a:avLst>
            </a:prstGeom>
            <a:solidFill>
              <a:srgbClr val="EAF2FF"/>
            </a:solidFill>
            <a:ln w="9525">
              <a:solidFill>
                <a:srgbClr val="4285F4"/>
              </a:solidFill>
            </a:ln>
          </p:spPr>
        </p:sp>
        <p:sp>
          <p:nvSpPr>
            <p:cNvPr id="62" name="TextBox 62"/>
            <p:cNvSpPr txBox="1"/>
            <p:nvPr/>
          </p:nvSpPr>
          <p:spPr>
            <a:xfrm>
              <a:off x="5146977" y="3899535"/>
              <a:ext cx="1364647" cy="243840"/>
            </a:xfrm>
            <a:prstGeom prst="rect">
              <a:avLst/>
            </a:prstGeom>
            <a:noFill/>
            <a:ln>
              <a:noFill/>
            </a:ln>
          </p:spPr>
          <p:txBody>
            <a:bodyPr wrap="none" lIns="0" tIns="0" rIns="0" bIns="0" anchor="t" anchorCtr="0">
              <a:spAutoFit/>
            </a:bodyPr>
            <a:lstStyle/>
            <a:p>
              <a:pPr algn="ctr"/>
              <a:r>
                <a:rPr lang="zh-CN" sz="1200" b="1" dirty="0">
                  <a:solidFill>
                    <a:srgbClr val="4285F4"/>
                  </a:solidFill>
                  <a:latin typeface="Consolas"/>
                  <a:ea typeface="Microsoft YaHei"/>
                  <a:cs typeface="Consolas"/>
                </a:rPr>
                <a:t>H(t) = X × E(t)</a:t>
              </a:r>
            </a:p>
          </p:txBody>
        </p:sp>
        <p:sp>
          <p:nvSpPr>
            <p:cNvPr id="63" name="TextBox 63"/>
            <p:cNvSpPr txBox="1"/>
            <p:nvPr/>
          </p:nvSpPr>
          <p:spPr>
            <a:xfrm>
              <a:off x="5269349" y="4119562"/>
              <a:ext cx="1119902"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Microsoft YaHei"/>
                  <a:cs typeface="Arial"/>
                </a:rPr>
                <a:t>当前词向量矩阵 (5×3)</a:t>
              </a:r>
            </a:p>
          </p:txBody>
        </p:sp>
        <p:sp>
          <p:nvSpPr>
            <p:cNvPr id="64" name="TextBox 64"/>
            <p:cNvSpPr txBox="1"/>
            <p:nvPr/>
          </p:nvSpPr>
          <p:spPr>
            <a:xfrm>
              <a:off x="4409599" y="4439364"/>
              <a:ext cx="1170146" cy="160020"/>
            </a:xfrm>
            <a:prstGeom prst="rect">
              <a:avLst/>
            </a:prstGeom>
            <a:noFill/>
            <a:ln>
              <a:noFill/>
            </a:ln>
          </p:spPr>
          <p:txBody>
            <a:bodyPr wrap="none" lIns="0" tIns="0" rIns="0" bIns="0" anchor="t" anchorCtr="0">
              <a:spAutoFit/>
            </a:bodyPr>
            <a:lstStyle/>
            <a:p>
              <a:pPr algn="l"/>
              <a:r>
                <a:rPr lang="zh-CN" sz="788" dirty="0">
                  <a:solidFill>
                    <a:srgbClr val="5F6368"/>
                  </a:solidFill>
                  <a:latin typeface="Arial"/>
                  <a:ea typeface="Microsoft YaHei"/>
                  <a:cs typeface="Arial"/>
                </a:rPr>
                <a:t>参数随训练轮次演化：</a:t>
              </a:r>
            </a:p>
          </p:txBody>
        </p:sp>
        <p:sp>
          <p:nvSpPr>
            <p:cNvPr id="65" name="Ellipse 65"/>
            <p:cNvSpPr/>
            <p:nvPr/>
          </p:nvSpPr>
          <p:spPr>
            <a:xfrm>
              <a:off x="5353050" y="4410075"/>
              <a:ext cx="152400" cy="152400"/>
            </a:xfrm>
            <a:prstGeom prst="ellipse">
              <a:avLst/>
            </a:prstGeom>
            <a:solidFill>
              <a:srgbClr val="FCEDEE"/>
            </a:solidFill>
            <a:ln w="9525">
              <a:solidFill>
                <a:srgbClr val="C62828"/>
              </a:solidFill>
            </a:ln>
          </p:spPr>
        </p:sp>
        <p:sp>
          <p:nvSpPr>
            <p:cNvPr id="66" name="TextBox 66"/>
            <p:cNvSpPr txBox="1"/>
            <p:nvPr/>
          </p:nvSpPr>
          <p:spPr>
            <a:xfrm>
              <a:off x="5367385" y="4455557"/>
              <a:ext cx="123731" cy="129540"/>
            </a:xfrm>
            <a:prstGeom prst="rect">
              <a:avLst/>
            </a:prstGeom>
            <a:noFill/>
            <a:ln>
              <a:noFill/>
            </a:ln>
          </p:spPr>
          <p:txBody>
            <a:bodyPr wrap="none" lIns="0" tIns="0" rIns="0" bIns="0" anchor="t" anchorCtr="0">
              <a:spAutoFit/>
            </a:bodyPr>
            <a:lstStyle/>
            <a:p>
              <a:pPr algn="ctr"/>
              <a:r>
                <a:rPr lang="zh-CN" sz="638" b="1" dirty="0">
                  <a:solidFill>
                    <a:srgbClr val="C62828"/>
                  </a:solidFill>
                  <a:latin typeface="Consolas"/>
                  <a:ea typeface="Microsoft YaHei"/>
                  <a:cs typeface="Consolas"/>
                </a:rPr>
                <a:t>E0</a:t>
              </a:r>
            </a:p>
          </p:txBody>
        </p:sp>
        <p:sp>
          <p:nvSpPr>
            <p:cNvPr id="67" name="Line 67"/>
            <p:cNvSpPr/>
            <p:nvPr/>
          </p:nvSpPr>
          <p:spPr>
            <a:xfrm>
              <a:off x="5524500" y="4486275"/>
              <a:ext cx="504825" cy="1"/>
            </a:xfrm>
            <a:prstGeom prst="line">
              <a:avLst/>
            </a:prstGeom>
            <a:noFill/>
            <a:ln w="13335">
              <a:solidFill>
                <a:srgbClr val="A50021"/>
              </a:solidFill>
              <a:tailEnd type="triangle" w="lg" len="lg"/>
            </a:ln>
          </p:spPr>
        </p:sp>
        <p:sp>
          <p:nvSpPr>
            <p:cNvPr id="68" name="Ellipse 68"/>
            <p:cNvSpPr/>
            <p:nvPr/>
          </p:nvSpPr>
          <p:spPr>
            <a:xfrm>
              <a:off x="6115050" y="4410075"/>
              <a:ext cx="152400" cy="152400"/>
            </a:xfrm>
            <a:prstGeom prst="ellipse">
              <a:avLst/>
            </a:prstGeom>
            <a:solidFill>
              <a:srgbClr val="F8F9FA"/>
            </a:solidFill>
            <a:ln w="9525">
              <a:solidFill>
                <a:srgbClr val="8A9099"/>
              </a:solidFill>
            </a:ln>
          </p:spPr>
        </p:sp>
        <p:sp>
          <p:nvSpPr>
            <p:cNvPr id="69" name="TextBox 69"/>
            <p:cNvSpPr txBox="1"/>
            <p:nvPr/>
          </p:nvSpPr>
          <p:spPr>
            <a:xfrm>
              <a:off x="6141605" y="4455557"/>
              <a:ext cx="99290" cy="129540"/>
            </a:xfrm>
            <a:prstGeom prst="rect">
              <a:avLst/>
            </a:prstGeom>
            <a:noFill/>
            <a:ln>
              <a:noFill/>
            </a:ln>
          </p:spPr>
          <p:txBody>
            <a:bodyPr wrap="none" lIns="0" tIns="0" rIns="0" bIns="0" anchor="t" anchorCtr="0">
              <a:spAutoFit/>
            </a:bodyPr>
            <a:lstStyle/>
            <a:p>
              <a:pPr algn="ctr"/>
              <a:r>
                <a:rPr lang="zh-CN" sz="638" b="1" dirty="0">
                  <a:solidFill>
                    <a:srgbClr val="5F6368"/>
                  </a:solidFill>
                  <a:latin typeface="Consolas"/>
                  <a:ea typeface="Microsoft YaHei"/>
                  <a:cs typeface="Consolas"/>
                </a:rPr>
                <a:t>E1</a:t>
              </a:r>
            </a:p>
          </p:txBody>
        </p:sp>
        <p:sp>
          <p:nvSpPr>
            <p:cNvPr id="70" name="Line 70"/>
            <p:cNvSpPr/>
            <p:nvPr/>
          </p:nvSpPr>
          <p:spPr>
            <a:xfrm>
              <a:off x="6286500" y="4486275"/>
              <a:ext cx="504825" cy="1"/>
            </a:xfrm>
            <a:prstGeom prst="line">
              <a:avLst/>
            </a:prstGeom>
            <a:noFill/>
            <a:ln w="13335">
              <a:solidFill>
                <a:srgbClr val="A50021"/>
              </a:solidFill>
              <a:custDash>
                <a:ds d="285714" sp="214285"/>
              </a:custDash>
              <a:tailEnd type="triangle" w="lg" len="lg"/>
            </a:ln>
          </p:spPr>
        </p:sp>
        <p:sp>
          <p:nvSpPr>
            <p:cNvPr id="71" name="Ellipse 71"/>
            <p:cNvSpPr/>
            <p:nvPr/>
          </p:nvSpPr>
          <p:spPr>
            <a:xfrm>
              <a:off x="6877050" y="4410075"/>
              <a:ext cx="152400" cy="152400"/>
            </a:xfrm>
            <a:prstGeom prst="ellipse">
              <a:avLst/>
            </a:prstGeom>
            <a:solidFill>
              <a:srgbClr val="EAF5EA"/>
            </a:solidFill>
            <a:ln w="9525">
              <a:solidFill>
                <a:srgbClr val="2E7D32"/>
              </a:solidFill>
            </a:ln>
          </p:spPr>
        </p:sp>
        <p:sp>
          <p:nvSpPr>
            <p:cNvPr id="72" name="TextBox 72"/>
            <p:cNvSpPr txBox="1"/>
            <p:nvPr/>
          </p:nvSpPr>
          <p:spPr>
            <a:xfrm>
              <a:off x="6891385" y="4455557"/>
              <a:ext cx="123731" cy="129540"/>
            </a:xfrm>
            <a:prstGeom prst="rect">
              <a:avLst/>
            </a:prstGeom>
            <a:noFill/>
            <a:ln>
              <a:noFill/>
            </a:ln>
          </p:spPr>
          <p:txBody>
            <a:bodyPr wrap="none" lIns="0" tIns="0" rIns="0" bIns="0" anchor="t" anchorCtr="0">
              <a:spAutoFit/>
            </a:bodyPr>
            <a:lstStyle/>
            <a:p>
              <a:pPr algn="ctr"/>
              <a:r>
                <a:rPr lang="zh-CN" sz="638" b="1" dirty="0">
                  <a:solidFill>
                    <a:srgbClr val="2E7D32"/>
                  </a:solidFill>
                  <a:latin typeface="Consolas"/>
                  <a:ea typeface="Microsoft YaHei"/>
                  <a:cs typeface="Consolas"/>
                </a:rPr>
                <a:t>ET</a:t>
              </a:r>
            </a:p>
          </p:txBody>
        </p:sp>
      </p:grpSp>
      <p:grpSp>
        <p:nvGrpSpPr>
          <p:cNvPr id="98" name="Group 98"/>
          <p:cNvGrpSpPr/>
          <p:nvPr/>
        </p:nvGrpSpPr>
        <p:grpSpPr>
          <a:xfrm>
            <a:off x="7800975" y="1752600"/>
            <a:ext cx="4224516" cy="3105150"/>
            <a:chOff x="7800975" y="1752600"/>
            <a:chExt cx="4224516" cy="3105150"/>
          </a:xfrm>
        </p:grpSpPr>
        <p:sp>
          <p:nvSpPr>
            <p:cNvPr id="74" name="Rectangle 74"/>
            <p:cNvSpPr/>
            <p:nvPr/>
          </p:nvSpPr>
          <p:spPr>
            <a:xfrm>
              <a:off x="7800975" y="1752600"/>
              <a:ext cx="3914775" cy="3105150"/>
            </a:xfrm>
            <a:prstGeom prst="roundRect">
              <a:avLst>
                <a:gd name="adj" fmla="val 3681"/>
              </a:avLst>
            </a:prstGeom>
            <a:solidFill>
              <a:srgbClr val="FFFFFF"/>
            </a:solidFill>
            <a:ln w="9525">
              <a:solidFill>
                <a:srgbClr val="E4E7EB"/>
              </a:solidFill>
            </a:ln>
            <a:effectLst>
              <a:outerShdw blurRad="76200" dist="28575" dir="5400000" algn="ctr" rotWithShape="0">
                <a:srgbClr val="000000">
                  <a:alpha val="5250"/>
                </a:srgbClr>
              </a:outerShdw>
            </a:effectLst>
          </p:spPr>
        </p:sp>
        <p:sp>
          <p:nvSpPr>
            <p:cNvPr id="75" name="Rectangle 75"/>
            <p:cNvSpPr/>
            <p:nvPr/>
          </p:nvSpPr>
          <p:spPr>
            <a:xfrm>
              <a:off x="7800975" y="1752600"/>
              <a:ext cx="3914775" cy="361950"/>
            </a:xfrm>
            <a:prstGeom prst="roundRect">
              <a:avLst>
                <a:gd name="adj" fmla="val 31579"/>
              </a:avLst>
            </a:prstGeom>
            <a:solidFill>
              <a:srgbClr val="EAF5EA"/>
            </a:solidFill>
            <a:ln>
              <a:noFill/>
            </a:ln>
          </p:spPr>
        </p:sp>
        <p:sp>
          <p:nvSpPr>
            <p:cNvPr id="76" name="Ellipse 76"/>
            <p:cNvSpPr/>
            <p:nvPr/>
          </p:nvSpPr>
          <p:spPr>
            <a:xfrm>
              <a:off x="7934325" y="1819275"/>
              <a:ext cx="228600" cy="228600"/>
            </a:xfrm>
            <a:prstGeom prst="ellipse">
              <a:avLst/>
            </a:prstGeom>
            <a:solidFill>
              <a:srgbClr val="2E7D32"/>
            </a:solidFill>
            <a:ln>
              <a:noFill/>
            </a:ln>
          </p:spPr>
        </p:sp>
        <p:sp>
          <p:nvSpPr>
            <p:cNvPr id="77" name="TextBox 77"/>
            <p:cNvSpPr txBox="1"/>
            <p:nvPr/>
          </p:nvSpPr>
          <p:spPr>
            <a:xfrm>
              <a:off x="7995125" y="1875949"/>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SimHei"/>
                  <a:cs typeface="Arial"/>
                </a:rPr>
                <a:t>3</a:t>
              </a:r>
            </a:p>
          </p:txBody>
        </p:sp>
        <p:sp>
          <p:nvSpPr>
            <p:cNvPr id="78" name="TextBox 78"/>
            <p:cNvSpPr txBox="1"/>
            <p:nvPr/>
          </p:nvSpPr>
          <p:spPr>
            <a:xfrm>
              <a:off x="8242935" y="1861185"/>
              <a:ext cx="1686687"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Arial"/>
                  <a:ea typeface="SimHei"/>
                  <a:cs typeface="Arial"/>
                </a:rPr>
                <a:t>预测误差与反向传播</a:t>
              </a:r>
            </a:p>
          </p:txBody>
        </p:sp>
        <p:sp>
          <p:nvSpPr>
            <p:cNvPr id="79" name="TextBox 79"/>
            <p:cNvSpPr txBox="1"/>
            <p:nvPr/>
          </p:nvSpPr>
          <p:spPr>
            <a:xfrm>
              <a:off x="8008144" y="2232422"/>
              <a:ext cx="2848853" cy="190500"/>
            </a:xfrm>
            <a:prstGeom prst="rect">
              <a:avLst/>
            </a:prstGeom>
            <a:noFill/>
            <a:ln>
              <a:noFill/>
            </a:ln>
          </p:spPr>
          <p:txBody>
            <a:bodyPr wrap="none" lIns="0" tIns="0" rIns="0" bIns="0" anchor="t" anchorCtr="0">
              <a:spAutoFit/>
            </a:bodyPr>
            <a:lstStyle/>
            <a:p>
              <a:pPr algn="l"/>
              <a:r>
                <a:rPr lang="zh-CN" sz="938" b="1" dirty="0">
                  <a:solidFill>
                    <a:srgbClr val="1F2328"/>
                  </a:solidFill>
                  <a:latin typeface="Arial"/>
                  <a:ea typeface="Microsoft YaHei"/>
                  <a:cs typeface="Arial"/>
                </a:rPr>
                <a:t>样本4：上下文“中国银行，是，世界，一流”</a:t>
              </a:r>
            </a:p>
          </p:txBody>
        </p:sp>
        <p:sp>
          <p:nvSpPr>
            <p:cNvPr id="80" name="TextBox 80"/>
            <p:cNvSpPr txBox="1"/>
            <p:nvPr/>
          </p:nvSpPr>
          <p:spPr>
            <a:xfrm>
              <a:off x="8009096" y="2459593"/>
              <a:ext cx="777716" cy="175260"/>
            </a:xfrm>
            <a:prstGeom prst="rect">
              <a:avLst/>
            </a:prstGeom>
            <a:noFill/>
            <a:ln>
              <a:noFill/>
            </a:ln>
          </p:spPr>
          <p:txBody>
            <a:bodyPr wrap="none" lIns="0" tIns="0" rIns="0" bIns="0" anchor="t" anchorCtr="0">
              <a:spAutoFit/>
            </a:bodyPr>
            <a:lstStyle/>
            <a:p>
              <a:pPr algn="l"/>
              <a:r>
                <a:rPr lang="zh-CN" sz="862" dirty="0">
                  <a:solidFill>
                    <a:srgbClr val="5F6368"/>
                  </a:solidFill>
                  <a:latin typeface="Arial"/>
                  <a:ea typeface="Microsoft YaHei"/>
                  <a:cs typeface="Arial"/>
                </a:rPr>
                <a:t>真实目标词：</a:t>
              </a:r>
            </a:p>
          </p:txBody>
        </p:sp>
        <p:sp>
          <p:nvSpPr>
            <p:cNvPr id="81" name="TextBox 81"/>
            <p:cNvSpPr txBox="1"/>
            <p:nvPr/>
          </p:nvSpPr>
          <p:spPr>
            <a:xfrm>
              <a:off x="8713946" y="2459593"/>
              <a:ext cx="617107" cy="175260"/>
            </a:xfrm>
            <a:prstGeom prst="rect">
              <a:avLst/>
            </a:prstGeom>
            <a:noFill/>
            <a:ln>
              <a:noFill/>
            </a:ln>
          </p:spPr>
          <p:txBody>
            <a:bodyPr wrap="none" lIns="0" tIns="0" rIns="0" bIns="0" anchor="t" anchorCtr="0">
              <a:spAutoFit/>
            </a:bodyPr>
            <a:lstStyle/>
            <a:p>
              <a:pPr algn="l"/>
              <a:r>
                <a:rPr lang="zh-CN" sz="862" b="1" dirty="0">
                  <a:solidFill>
                    <a:srgbClr val="A50021"/>
                  </a:solidFill>
                  <a:latin typeface="Arial"/>
                  <a:ea typeface="Microsoft YaHei"/>
                  <a:cs typeface="Arial"/>
                </a:rPr>
                <a:t>银行 (V5)</a:t>
              </a:r>
            </a:p>
          </p:txBody>
        </p:sp>
        <p:sp>
          <p:nvSpPr>
            <p:cNvPr id="82" name="TextBox 82"/>
            <p:cNvSpPr txBox="1"/>
            <p:nvPr/>
          </p:nvSpPr>
          <p:spPr>
            <a:xfrm>
              <a:off x="9628346" y="2459593"/>
              <a:ext cx="1451646" cy="175260"/>
            </a:xfrm>
            <a:prstGeom prst="rect">
              <a:avLst/>
            </a:prstGeom>
            <a:noFill/>
            <a:ln>
              <a:noFill/>
            </a:ln>
          </p:spPr>
          <p:txBody>
            <a:bodyPr wrap="none" lIns="0" tIns="0" rIns="0" bIns="0" anchor="t" anchorCtr="0">
              <a:spAutoFit/>
            </a:bodyPr>
            <a:lstStyle/>
            <a:p>
              <a:pPr algn="l"/>
              <a:r>
                <a:rPr lang="zh-CN" sz="862" dirty="0">
                  <a:solidFill>
                    <a:srgbClr val="5F6368"/>
                  </a:solidFill>
                  <a:latin typeface="Arial"/>
                  <a:ea typeface="Microsoft YaHei"/>
                  <a:cs typeface="Arial"/>
                </a:rPr>
                <a:t>目标：让 P(V5) 尽可能高</a:t>
              </a:r>
            </a:p>
          </p:txBody>
        </p:sp>
        <p:sp>
          <p:nvSpPr>
            <p:cNvPr id="83" name="Rectangle 83"/>
            <p:cNvSpPr/>
            <p:nvPr/>
          </p:nvSpPr>
          <p:spPr>
            <a:xfrm>
              <a:off x="8020050" y="2743200"/>
              <a:ext cx="3476625" cy="742950"/>
            </a:xfrm>
            <a:prstGeom prst="roundRect">
              <a:avLst>
                <a:gd name="adj" fmla="val 10256"/>
              </a:avLst>
            </a:prstGeom>
            <a:solidFill>
              <a:srgbClr val="F8F9FA"/>
            </a:solidFill>
            <a:ln w="8572">
              <a:solidFill>
                <a:srgbClr val="E4E7EB"/>
              </a:solidFill>
            </a:ln>
          </p:spPr>
        </p:sp>
        <p:sp>
          <p:nvSpPr>
            <p:cNvPr id="84" name="TextBox 84"/>
            <p:cNvSpPr txBox="1"/>
            <p:nvPr/>
          </p:nvSpPr>
          <p:spPr>
            <a:xfrm>
              <a:off x="8162449" y="2867739"/>
              <a:ext cx="744593" cy="160020"/>
            </a:xfrm>
            <a:prstGeom prst="rect">
              <a:avLst/>
            </a:prstGeom>
            <a:noFill/>
            <a:ln>
              <a:noFill/>
            </a:ln>
          </p:spPr>
          <p:txBody>
            <a:bodyPr wrap="none" lIns="0" tIns="0" rIns="0" bIns="0" anchor="t" anchorCtr="0">
              <a:spAutoFit/>
            </a:bodyPr>
            <a:lstStyle/>
            <a:p>
              <a:pPr algn="l"/>
              <a:r>
                <a:rPr lang="zh-CN" sz="788" b="1" dirty="0">
                  <a:solidFill>
                    <a:srgbClr val="5F6368"/>
                  </a:solidFill>
                  <a:latin typeface="Arial"/>
                  <a:ea typeface="Microsoft YaHei"/>
                  <a:cs typeface="Arial"/>
                </a:rPr>
                <a:t>预测概率变化</a:t>
              </a:r>
            </a:p>
          </p:txBody>
        </p:sp>
        <p:sp>
          <p:nvSpPr>
            <p:cNvPr id="85" name="TextBox 85"/>
            <p:cNvSpPr txBox="1"/>
            <p:nvPr/>
          </p:nvSpPr>
          <p:spPr>
            <a:xfrm>
              <a:off x="8162449" y="3086814"/>
              <a:ext cx="1331166" cy="160020"/>
            </a:xfrm>
            <a:prstGeom prst="rect">
              <a:avLst/>
            </a:prstGeom>
            <a:noFill/>
            <a:ln>
              <a:noFill/>
            </a:ln>
          </p:spPr>
          <p:txBody>
            <a:bodyPr wrap="none" lIns="0" tIns="0" rIns="0" bIns="0" anchor="t" anchorCtr="0">
              <a:spAutoFit/>
            </a:bodyPr>
            <a:lstStyle/>
            <a:p>
              <a:pPr algn="l"/>
              <a:r>
                <a:rPr lang="zh-CN" sz="788" dirty="0">
                  <a:solidFill>
                    <a:srgbClr val="C62828"/>
                  </a:solidFill>
                  <a:latin typeface="Arial"/>
                  <a:ea typeface="Microsoft YaHei"/>
                  <a:cs typeface="Arial"/>
                </a:rPr>
                <a:t>训练早期：P(银行)=0.08</a:t>
              </a:r>
            </a:p>
          </p:txBody>
        </p:sp>
        <p:sp>
          <p:nvSpPr>
            <p:cNvPr id="86" name="Rectangle 86"/>
            <p:cNvSpPr/>
            <p:nvPr/>
          </p:nvSpPr>
          <p:spPr>
            <a:xfrm>
              <a:off x="9582150" y="3076575"/>
              <a:ext cx="1428750" cy="95250"/>
            </a:xfrm>
            <a:prstGeom prst="roundRect">
              <a:avLst>
                <a:gd name="adj" fmla="val 50000"/>
              </a:avLst>
            </a:prstGeom>
            <a:solidFill>
              <a:srgbClr val="F3D6DC"/>
            </a:solidFill>
            <a:ln>
              <a:noFill/>
            </a:ln>
          </p:spPr>
        </p:sp>
        <p:sp>
          <p:nvSpPr>
            <p:cNvPr id="87" name="Rectangle 87"/>
            <p:cNvSpPr/>
            <p:nvPr/>
          </p:nvSpPr>
          <p:spPr>
            <a:xfrm>
              <a:off x="9582150" y="3076575"/>
              <a:ext cx="114300" cy="95250"/>
            </a:xfrm>
            <a:prstGeom prst="roundRect">
              <a:avLst>
                <a:gd name="adj" fmla="val 50000"/>
              </a:avLst>
            </a:prstGeom>
            <a:solidFill>
              <a:srgbClr val="C62828"/>
            </a:solidFill>
            <a:ln>
              <a:noFill/>
            </a:ln>
          </p:spPr>
        </p:sp>
        <p:sp>
          <p:nvSpPr>
            <p:cNvPr id="88" name="TextBox 88"/>
            <p:cNvSpPr txBox="1"/>
            <p:nvPr/>
          </p:nvSpPr>
          <p:spPr>
            <a:xfrm>
              <a:off x="8162449" y="3305889"/>
              <a:ext cx="1331166" cy="160020"/>
            </a:xfrm>
            <a:prstGeom prst="rect">
              <a:avLst/>
            </a:prstGeom>
            <a:noFill/>
            <a:ln>
              <a:noFill/>
            </a:ln>
          </p:spPr>
          <p:txBody>
            <a:bodyPr wrap="none" lIns="0" tIns="0" rIns="0" bIns="0" anchor="t" anchorCtr="0">
              <a:spAutoFit/>
            </a:bodyPr>
            <a:lstStyle/>
            <a:p>
              <a:pPr algn="l"/>
              <a:r>
                <a:rPr lang="zh-CN" sz="788" dirty="0">
                  <a:solidFill>
                    <a:srgbClr val="2E7D32"/>
                  </a:solidFill>
                  <a:latin typeface="Arial"/>
                  <a:ea typeface="Microsoft YaHei"/>
                  <a:cs typeface="Arial"/>
                </a:rPr>
                <a:t>训练后期：P(银行)=0.62</a:t>
              </a:r>
            </a:p>
          </p:txBody>
        </p:sp>
        <p:sp>
          <p:nvSpPr>
            <p:cNvPr id="89" name="Rectangle 89"/>
            <p:cNvSpPr/>
            <p:nvPr/>
          </p:nvSpPr>
          <p:spPr>
            <a:xfrm>
              <a:off x="9582150" y="3295650"/>
              <a:ext cx="1428750" cy="95250"/>
            </a:xfrm>
            <a:prstGeom prst="roundRect">
              <a:avLst>
                <a:gd name="adj" fmla="val 50000"/>
              </a:avLst>
            </a:prstGeom>
            <a:solidFill>
              <a:srgbClr val="EAF5EA"/>
            </a:solidFill>
            <a:ln>
              <a:noFill/>
            </a:ln>
          </p:spPr>
        </p:sp>
        <p:sp>
          <p:nvSpPr>
            <p:cNvPr id="90" name="Rectangle 90"/>
            <p:cNvSpPr/>
            <p:nvPr/>
          </p:nvSpPr>
          <p:spPr>
            <a:xfrm>
              <a:off x="9582150" y="3295650"/>
              <a:ext cx="885825" cy="95250"/>
            </a:xfrm>
            <a:prstGeom prst="roundRect">
              <a:avLst>
                <a:gd name="adj" fmla="val 50000"/>
              </a:avLst>
            </a:prstGeom>
            <a:solidFill>
              <a:srgbClr val="2E7D32"/>
            </a:solidFill>
            <a:ln>
              <a:noFill/>
            </a:ln>
          </p:spPr>
        </p:sp>
        <p:sp>
          <p:nvSpPr>
            <p:cNvPr id="91" name="Rectangle 91"/>
            <p:cNvSpPr/>
            <p:nvPr/>
          </p:nvSpPr>
          <p:spPr>
            <a:xfrm>
              <a:off x="8020050" y="3638550"/>
              <a:ext cx="3476625" cy="971550"/>
            </a:xfrm>
            <a:prstGeom prst="roundRect">
              <a:avLst>
                <a:gd name="adj" fmla="val 7843"/>
              </a:avLst>
            </a:prstGeom>
            <a:solidFill>
              <a:srgbClr val="FFFFFF"/>
            </a:solidFill>
            <a:ln w="8572">
              <a:solidFill>
                <a:srgbClr val="E4E7EB"/>
              </a:solidFill>
            </a:ln>
          </p:spPr>
        </p:sp>
        <p:sp>
          <p:nvSpPr>
            <p:cNvPr id="92" name="TextBox 92"/>
            <p:cNvSpPr txBox="1"/>
            <p:nvPr/>
          </p:nvSpPr>
          <p:spPr>
            <a:xfrm>
              <a:off x="8159115" y="3744278"/>
              <a:ext cx="2361462" cy="213360"/>
            </a:xfrm>
            <a:prstGeom prst="rect">
              <a:avLst/>
            </a:prstGeom>
            <a:noFill/>
            <a:ln>
              <a:noFill/>
            </a:ln>
          </p:spPr>
          <p:txBody>
            <a:bodyPr wrap="none" lIns="0" tIns="0" rIns="0" bIns="0" anchor="t" anchorCtr="0">
              <a:spAutoFit/>
            </a:bodyPr>
            <a:lstStyle/>
            <a:p>
              <a:pPr algn="l"/>
              <a:r>
                <a:rPr lang="zh-CN" sz="1050" b="1" dirty="0">
                  <a:solidFill>
                    <a:srgbClr val="1F2328"/>
                  </a:solidFill>
                  <a:latin typeface="Consolas"/>
                  <a:ea typeface="Microsoft YaHei"/>
                  <a:cs typeface="Consolas"/>
                </a:rPr>
                <a:t>L = -log P(真实目标词 | 上下文)</a:t>
              </a:r>
            </a:p>
          </p:txBody>
        </p:sp>
        <p:sp>
          <p:nvSpPr>
            <p:cNvPr id="93" name="Line 93"/>
            <p:cNvSpPr/>
            <p:nvPr/>
          </p:nvSpPr>
          <p:spPr>
            <a:xfrm>
              <a:off x="8172450" y="3990975"/>
              <a:ext cx="3143250" cy="9525"/>
            </a:xfrm>
            <a:custGeom>
              <a:avLst/>
              <a:gdLst/>
              <a:ahLst/>
              <a:cxnLst/>
              <a:rect l="l" t="t" r="r" b="b"/>
              <a:pathLst>
                <a:path w="3143250" h="9525">
                  <a:moveTo>
                    <a:pt x="0" y="0"/>
                  </a:moveTo>
                  <a:lnTo>
                    <a:pt x="3143250" y="0"/>
                  </a:lnTo>
                </a:path>
              </a:pathLst>
            </a:custGeom>
            <a:noFill/>
            <a:ln w="9525">
              <a:solidFill>
                <a:srgbClr val="E8EAED"/>
              </a:solidFill>
            </a:ln>
          </p:spPr>
        </p:sp>
        <p:sp>
          <p:nvSpPr>
            <p:cNvPr id="94" name="TextBox 94"/>
            <p:cNvSpPr txBox="1"/>
            <p:nvPr/>
          </p:nvSpPr>
          <p:spPr>
            <a:xfrm>
              <a:off x="8161496" y="4116943"/>
              <a:ext cx="903684" cy="175260"/>
            </a:xfrm>
            <a:prstGeom prst="rect">
              <a:avLst/>
            </a:prstGeom>
            <a:noFill/>
            <a:ln>
              <a:noFill/>
            </a:ln>
          </p:spPr>
          <p:txBody>
            <a:bodyPr wrap="none" lIns="0" tIns="0" rIns="0" bIns="0" anchor="t" anchorCtr="0">
              <a:spAutoFit/>
            </a:bodyPr>
            <a:lstStyle/>
            <a:p>
              <a:pPr algn="l"/>
              <a:r>
                <a:rPr lang="zh-CN" sz="862" dirty="0">
                  <a:solidFill>
                    <a:srgbClr val="5F6368"/>
                  </a:solidFill>
                  <a:latin typeface="Arial"/>
                  <a:ea typeface="Microsoft YaHei"/>
                  <a:cs typeface="Arial"/>
                </a:rPr>
                <a:t>反向传播路径：</a:t>
              </a:r>
            </a:p>
          </p:txBody>
        </p:sp>
        <p:sp>
          <p:nvSpPr>
            <p:cNvPr id="95" name="TextBox 95"/>
            <p:cNvSpPr txBox="1"/>
            <p:nvPr/>
          </p:nvSpPr>
          <p:spPr>
            <a:xfrm>
              <a:off x="8999220" y="4112895"/>
              <a:ext cx="1251214" cy="182880"/>
            </a:xfrm>
            <a:prstGeom prst="rect">
              <a:avLst/>
            </a:prstGeom>
            <a:noFill/>
            <a:ln>
              <a:noFill/>
            </a:ln>
          </p:spPr>
          <p:txBody>
            <a:bodyPr wrap="none" lIns="0" tIns="0" rIns="0" bIns="0" anchor="t" anchorCtr="0">
              <a:spAutoFit/>
            </a:bodyPr>
            <a:lstStyle/>
            <a:p>
              <a:pPr algn="l"/>
              <a:r>
                <a:rPr lang="zh-CN" sz="900" b="1" dirty="0">
                  <a:solidFill>
                    <a:srgbClr val="A50021"/>
                  </a:solidFill>
                  <a:latin typeface="Consolas"/>
                  <a:ea typeface="Microsoft YaHei"/>
                  <a:cs typeface="Consolas"/>
                </a:rPr>
                <a:t>Loss → H(t) → E(t)</a:t>
              </a:r>
            </a:p>
          </p:txBody>
        </p:sp>
        <p:sp>
          <p:nvSpPr>
            <p:cNvPr id="96" name="TextBox 96"/>
            <p:cNvSpPr txBox="1"/>
            <p:nvPr/>
          </p:nvSpPr>
          <p:spPr>
            <a:xfrm>
              <a:off x="8160068" y="4352449"/>
              <a:ext cx="1848893" cy="198120"/>
            </a:xfrm>
            <a:prstGeom prst="rect">
              <a:avLst/>
            </a:prstGeom>
            <a:noFill/>
            <a:ln>
              <a:noFill/>
            </a:ln>
          </p:spPr>
          <p:txBody>
            <a:bodyPr wrap="none" lIns="0" tIns="0" rIns="0" bIns="0" anchor="t" anchorCtr="0">
              <a:spAutoFit/>
            </a:bodyPr>
            <a:lstStyle/>
            <a:p>
              <a:pPr algn="l"/>
              <a:r>
                <a:rPr lang="zh-CN" sz="975" b="1" dirty="0">
                  <a:solidFill>
                    <a:srgbClr val="4285F4"/>
                  </a:solidFill>
                  <a:latin typeface="Consolas"/>
                  <a:ea typeface="Microsoft YaHei"/>
                  <a:cs typeface="Consolas"/>
                </a:rPr>
                <a:t>∂L/∂E(t) = Xᵀ × ∂L/∂H(t)</a:t>
              </a:r>
            </a:p>
          </p:txBody>
        </p:sp>
        <p:sp>
          <p:nvSpPr>
            <p:cNvPr id="97" name="TextBox 97"/>
            <p:cNvSpPr txBox="1"/>
            <p:nvPr/>
          </p:nvSpPr>
          <p:spPr>
            <a:xfrm>
              <a:off x="10131742" y="4352449"/>
              <a:ext cx="1893749" cy="198120"/>
            </a:xfrm>
            <a:prstGeom prst="rect">
              <a:avLst/>
            </a:prstGeom>
            <a:noFill/>
            <a:ln>
              <a:noFill/>
            </a:ln>
          </p:spPr>
          <p:txBody>
            <a:bodyPr wrap="none" lIns="0" tIns="0" rIns="0" bIns="0" anchor="t" anchorCtr="0">
              <a:spAutoFit/>
            </a:bodyPr>
            <a:lstStyle/>
            <a:p>
              <a:pPr algn="l"/>
              <a:r>
                <a:rPr lang="zh-CN" sz="975" b="1" dirty="0">
                  <a:solidFill>
                    <a:srgbClr val="A50021"/>
                  </a:solidFill>
                  <a:latin typeface="Consolas"/>
                  <a:ea typeface="Microsoft YaHei"/>
                  <a:cs typeface="Consolas"/>
                </a:rPr>
                <a:t>E(t+1) = E(t) - η∂L/∂E(t)</a:t>
              </a:r>
            </a:p>
          </p:txBody>
        </p:sp>
      </p:grpSp>
      <p:grpSp>
        <p:nvGrpSpPr>
          <p:cNvPr id="126" name="Group 126"/>
          <p:cNvGrpSpPr/>
          <p:nvPr/>
        </p:nvGrpSpPr>
        <p:grpSpPr>
          <a:xfrm>
            <a:off x="476250" y="5010150"/>
            <a:ext cx="11239500" cy="1181100"/>
            <a:chOff x="476250" y="5010150"/>
            <a:chExt cx="11239500" cy="1181100"/>
          </a:xfrm>
        </p:grpSpPr>
        <p:sp>
          <p:nvSpPr>
            <p:cNvPr id="104" name="Rectangle 104"/>
            <p:cNvSpPr/>
            <p:nvPr/>
          </p:nvSpPr>
          <p:spPr>
            <a:xfrm>
              <a:off x="476250" y="5010150"/>
              <a:ext cx="11239500" cy="1181100"/>
            </a:xfrm>
            <a:prstGeom prst="roundRect">
              <a:avLst>
                <a:gd name="adj" fmla="val 9677"/>
              </a:avLst>
            </a:prstGeom>
            <a:solidFill>
              <a:srgbClr val="F8F9FA"/>
            </a:solidFill>
            <a:ln w="9525">
              <a:solidFill>
                <a:srgbClr val="E4E7EB"/>
              </a:solidFill>
            </a:ln>
          </p:spPr>
        </p:sp>
        <p:sp>
          <p:nvSpPr>
            <p:cNvPr id="105" name="TextBox 105"/>
            <p:cNvSpPr txBox="1"/>
            <p:nvPr/>
          </p:nvSpPr>
          <p:spPr>
            <a:xfrm>
              <a:off x="671989" y="5130879"/>
              <a:ext cx="2529185" cy="220980"/>
            </a:xfrm>
            <a:prstGeom prst="rect">
              <a:avLst/>
            </a:prstGeom>
            <a:noFill/>
            <a:ln>
              <a:noFill/>
            </a:ln>
          </p:spPr>
          <p:txBody>
            <a:bodyPr wrap="none" lIns="0" tIns="0" rIns="0" bIns="0" anchor="t" anchorCtr="0">
              <a:spAutoFit/>
            </a:bodyPr>
            <a:lstStyle/>
            <a:p>
              <a:pPr algn="l"/>
              <a:r>
                <a:rPr lang="zh-CN" sz="1088" b="1" dirty="0">
                  <a:solidFill>
                    <a:srgbClr val="1F2328"/>
                  </a:solidFill>
                  <a:latin typeface="Arial"/>
                  <a:ea typeface="SimHei"/>
                  <a:cs typeface="Arial"/>
                </a:rPr>
                <a:t>从随机到有序：语义空间如何形成</a:t>
              </a:r>
            </a:p>
          </p:txBody>
        </p:sp>
        <p:sp>
          <p:nvSpPr>
            <p:cNvPr id="106" name="Rectangle 106"/>
            <p:cNvSpPr/>
            <p:nvPr/>
          </p:nvSpPr>
          <p:spPr>
            <a:xfrm>
              <a:off x="685800" y="5391150"/>
              <a:ext cx="2381250" cy="428625"/>
            </a:xfrm>
            <a:prstGeom prst="roundRect">
              <a:avLst>
                <a:gd name="adj" fmla="val 17778"/>
              </a:avLst>
            </a:prstGeom>
            <a:solidFill>
              <a:srgbClr val="FFFFFF"/>
            </a:solidFill>
            <a:ln w="9525">
              <a:solidFill>
                <a:srgbClr val="C62828"/>
              </a:solidFill>
            </a:ln>
          </p:spPr>
        </p:sp>
        <p:sp>
          <p:nvSpPr>
            <p:cNvPr id="107" name="TextBox 107"/>
            <p:cNvSpPr txBox="1"/>
            <p:nvPr/>
          </p:nvSpPr>
          <p:spPr>
            <a:xfrm>
              <a:off x="1423340" y="5474970"/>
              <a:ext cx="906170" cy="182880"/>
            </a:xfrm>
            <a:prstGeom prst="rect">
              <a:avLst/>
            </a:prstGeom>
            <a:noFill/>
            <a:ln>
              <a:noFill/>
            </a:ln>
          </p:spPr>
          <p:txBody>
            <a:bodyPr wrap="none" lIns="0" tIns="0" rIns="0" bIns="0" anchor="t" anchorCtr="0">
              <a:spAutoFit/>
            </a:bodyPr>
            <a:lstStyle/>
            <a:p>
              <a:pPr algn="ctr"/>
              <a:r>
                <a:rPr lang="zh-CN" sz="900" b="1" dirty="0">
                  <a:solidFill>
                    <a:srgbClr val="C62828"/>
                  </a:solidFill>
                  <a:latin typeface="Arial"/>
                  <a:ea typeface="Microsoft YaHei"/>
                  <a:cs typeface="Arial"/>
                </a:rPr>
                <a:t>随机初始化 E0</a:t>
              </a:r>
            </a:p>
          </p:txBody>
        </p:sp>
        <p:sp>
          <p:nvSpPr>
            <p:cNvPr id="108" name="TextBox 108"/>
            <p:cNvSpPr txBox="1"/>
            <p:nvPr/>
          </p:nvSpPr>
          <p:spPr>
            <a:xfrm>
              <a:off x="1100138" y="5653088"/>
              <a:ext cx="1552575"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Microsoft YaHei"/>
                  <a:cs typeface="Arial"/>
                </a:rPr>
                <a:t>向量位置随机，空间无明显语义</a:t>
              </a:r>
            </a:p>
          </p:txBody>
        </p:sp>
        <p:sp>
          <p:nvSpPr>
            <p:cNvPr id="109" name="Line 109"/>
            <p:cNvSpPr/>
            <p:nvPr/>
          </p:nvSpPr>
          <p:spPr>
            <a:xfrm>
              <a:off x="3067050" y="5610225"/>
              <a:ext cx="714375" cy="1"/>
            </a:xfrm>
            <a:prstGeom prst="line">
              <a:avLst/>
            </a:prstGeom>
            <a:noFill/>
            <a:ln w="19050">
              <a:solidFill>
                <a:srgbClr val="A50021"/>
              </a:solidFill>
              <a:tailEnd type="triangle" w="lg" len="lg"/>
            </a:ln>
          </p:spPr>
        </p:sp>
        <p:sp>
          <p:nvSpPr>
            <p:cNvPr id="110" name="Rectangle 110"/>
            <p:cNvSpPr/>
            <p:nvPr/>
          </p:nvSpPr>
          <p:spPr>
            <a:xfrm>
              <a:off x="3876675" y="5391150"/>
              <a:ext cx="2762250" cy="428625"/>
            </a:xfrm>
            <a:prstGeom prst="roundRect">
              <a:avLst>
                <a:gd name="adj" fmla="val 17778"/>
              </a:avLst>
            </a:prstGeom>
            <a:solidFill>
              <a:srgbClr val="FFFFFF"/>
            </a:solidFill>
            <a:ln w="9525">
              <a:solidFill>
                <a:srgbClr val="A50021"/>
              </a:solidFill>
            </a:ln>
          </p:spPr>
        </p:sp>
        <p:sp>
          <p:nvSpPr>
            <p:cNvPr id="111" name="TextBox 111"/>
            <p:cNvSpPr txBox="1"/>
            <p:nvPr/>
          </p:nvSpPr>
          <p:spPr>
            <a:xfrm>
              <a:off x="4583887" y="5474970"/>
              <a:ext cx="1347826" cy="182880"/>
            </a:xfrm>
            <a:prstGeom prst="rect">
              <a:avLst/>
            </a:prstGeom>
            <a:noFill/>
            <a:ln>
              <a:noFill/>
            </a:ln>
          </p:spPr>
          <p:txBody>
            <a:bodyPr wrap="none" lIns="0" tIns="0" rIns="0" bIns="0" anchor="t" anchorCtr="0">
              <a:spAutoFit/>
            </a:bodyPr>
            <a:lstStyle/>
            <a:p>
              <a:pPr algn="ctr"/>
              <a:r>
                <a:rPr lang="zh-CN" sz="900" b="1" dirty="0">
                  <a:solidFill>
                    <a:srgbClr val="A50021"/>
                  </a:solidFill>
                  <a:latin typeface="Arial"/>
                  <a:ea typeface="Microsoft YaHei"/>
                  <a:cs typeface="Arial"/>
                </a:rPr>
                <a:t>多轮训练 E1, E2, ...</a:t>
              </a:r>
            </a:p>
          </p:txBody>
        </p:sp>
        <p:sp>
          <p:nvSpPr>
            <p:cNvPr id="112" name="TextBox 112"/>
            <p:cNvSpPr txBox="1"/>
            <p:nvPr/>
          </p:nvSpPr>
          <p:spPr>
            <a:xfrm>
              <a:off x="4621173" y="5653088"/>
              <a:ext cx="1273254"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Microsoft YaHei"/>
                  <a:cs typeface="Arial"/>
                </a:rPr>
                <a:t>预测 → 损失 → 反传 → 更新</a:t>
              </a:r>
            </a:p>
          </p:txBody>
        </p:sp>
        <p:sp>
          <p:nvSpPr>
            <p:cNvPr id="113" name="Line 113"/>
            <p:cNvSpPr/>
            <p:nvPr/>
          </p:nvSpPr>
          <p:spPr>
            <a:xfrm>
              <a:off x="6638925" y="5610225"/>
              <a:ext cx="714375" cy="1"/>
            </a:xfrm>
            <a:prstGeom prst="line">
              <a:avLst/>
            </a:prstGeom>
            <a:noFill/>
            <a:ln w="19050">
              <a:solidFill>
                <a:srgbClr val="A50021"/>
              </a:solidFill>
              <a:tailEnd type="triangle" w="lg" len="lg"/>
            </a:ln>
          </p:spPr>
        </p:sp>
        <p:sp>
          <p:nvSpPr>
            <p:cNvPr id="114" name="Rectangle 114"/>
            <p:cNvSpPr/>
            <p:nvPr/>
          </p:nvSpPr>
          <p:spPr>
            <a:xfrm>
              <a:off x="7448550" y="5391150"/>
              <a:ext cx="2381250" cy="428625"/>
            </a:xfrm>
            <a:prstGeom prst="roundRect">
              <a:avLst>
                <a:gd name="adj" fmla="val 17778"/>
              </a:avLst>
            </a:prstGeom>
            <a:solidFill>
              <a:srgbClr val="FFFFFF"/>
            </a:solidFill>
            <a:ln w="9525">
              <a:solidFill>
                <a:srgbClr val="2E7D32"/>
              </a:solidFill>
            </a:ln>
          </p:spPr>
        </p:sp>
        <p:sp>
          <p:nvSpPr>
            <p:cNvPr id="115" name="TextBox 115"/>
            <p:cNvSpPr txBox="1"/>
            <p:nvPr/>
          </p:nvSpPr>
          <p:spPr>
            <a:xfrm>
              <a:off x="8034271" y="5474970"/>
              <a:ext cx="1209808" cy="182880"/>
            </a:xfrm>
            <a:prstGeom prst="rect">
              <a:avLst/>
            </a:prstGeom>
            <a:noFill/>
            <a:ln>
              <a:noFill/>
            </a:ln>
          </p:spPr>
          <p:txBody>
            <a:bodyPr wrap="none" lIns="0" tIns="0" rIns="0" bIns="0" anchor="t" anchorCtr="0">
              <a:spAutoFit/>
            </a:bodyPr>
            <a:lstStyle/>
            <a:p>
              <a:pPr algn="ctr"/>
              <a:r>
                <a:rPr lang="zh-CN" sz="900" b="1" dirty="0">
                  <a:solidFill>
                    <a:srgbClr val="2E7D32"/>
                  </a:solidFill>
                  <a:latin typeface="Arial"/>
                  <a:ea typeface="Microsoft YaHei"/>
                  <a:cs typeface="Arial"/>
                </a:rPr>
                <a:t>好的 Embedding ET</a:t>
              </a:r>
            </a:p>
          </p:txBody>
        </p:sp>
        <p:sp>
          <p:nvSpPr>
            <p:cNvPr id="116" name="TextBox 116"/>
            <p:cNvSpPr txBox="1"/>
            <p:nvPr/>
          </p:nvSpPr>
          <p:spPr>
            <a:xfrm>
              <a:off x="7917656" y="5653088"/>
              <a:ext cx="1443038" cy="152400"/>
            </a:xfrm>
            <a:prstGeom prst="rect">
              <a:avLst/>
            </a:prstGeom>
            <a:noFill/>
            <a:ln>
              <a:noFill/>
            </a:ln>
          </p:spPr>
          <p:txBody>
            <a:bodyPr wrap="none" lIns="0" tIns="0" rIns="0" bIns="0" anchor="t" anchorCtr="0">
              <a:spAutoFit/>
            </a:bodyPr>
            <a:lstStyle/>
            <a:p>
              <a:pPr algn="ctr"/>
              <a:r>
                <a:rPr lang="zh-CN" sz="750" dirty="0">
                  <a:solidFill>
                    <a:srgbClr val="5F6368"/>
                  </a:solidFill>
                  <a:latin typeface="Arial"/>
                  <a:ea typeface="Microsoft YaHei"/>
                  <a:cs typeface="Arial"/>
                </a:rPr>
                <a:t>相似词靠近，功能差异更清晰</a:t>
              </a:r>
            </a:p>
          </p:txBody>
        </p:sp>
        <p:sp>
          <p:nvSpPr>
            <p:cNvPr id="117" name="Rectangle 117"/>
            <p:cNvSpPr/>
            <p:nvPr/>
          </p:nvSpPr>
          <p:spPr>
            <a:xfrm>
              <a:off x="10001250" y="5314950"/>
              <a:ext cx="1476375" cy="590550"/>
            </a:xfrm>
            <a:prstGeom prst="roundRect">
              <a:avLst>
                <a:gd name="adj" fmla="val 12903"/>
              </a:avLst>
            </a:prstGeom>
            <a:solidFill>
              <a:srgbClr val="FFFFFF"/>
            </a:solidFill>
            <a:ln w="7620">
              <a:solidFill>
                <a:srgbClr val="E4E7EB"/>
              </a:solidFill>
            </a:ln>
          </p:spPr>
        </p:sp>
        <p:sp>
          <p:nvSpPr>
            <p:cNvPr id="118" name="TextBox 118"/>
            <p:cNvSpPr txBox="1"/>
            <p:nvPr/>
          </p:nvSpPr>
          <p:spPr>
            <a:xfrm>
              <a:off x="10116026" y="5409486"/>
              <a:ext cx="330279" cy="144780"/>
            </a:xfrm>
            <a:prstGeom prst="rect">
              <a:avLst/>
            </a:prstGeom>
            <a:noFill/>
            <a:ln>
              <a:noFill/>
            </a:ln>
          </p:spPr>
          <p:txBody>
            <a:bodyPr wrap="none" lIns="0" tIns="0" rIns="0" bIns="0" anchor="t" anchorCtr="0">
              <a:spAutoFit/>
            </a:bodyPr>
            <a:lstStyle/>
            <a:p>
              <a:pPr algn="l"/>
              <a:r>
                <a:rPr lang="zh-CN" sz="712" dirty="0">
                  <a:solidFill>
                    <a:srgbClr val="5F6368"/>
                  </a:solidFill>
                  <a:latin typeface="Arial"/>
                  <a:ea typeface="Microsoft YaHei"/>
                  <a:cs typeface="Arial"/>
                </a:rPr>
                <a:t>示意：</a:t>
              </a:r>
            </a:p>
          </p:txBody>
        </p:sp>
        <p:sp>
          <p:nvSpPr>
            <p:cNvPr id="119" name="TextBox 119"/>
            <p:cNvSpPr txBox="1"/>
            <p:nvPr/>
          </p:nvSpPr>
          <p:spPr>
            <a:xfrm>
              <a:off x="10411301" y="5409486"/>
              <a:ext cx="799333" cy="144780"/>
            </a:xfrm>
            <a:prstGeom prst="rect">
              <a:avLst/>
            </a:prstGeom>
            <a:noFill/>
            <a:ln>
              <a:noFill/>
            </a:ln>
          </p:spPr>
          <p:txBody>
            <a:bodyPr wrap="none" lIns="0" tIns="0" rIns="0" bIns="0" anchor="t" anchorCtr="0">
              <a:spAutoFit/>
            </a:bodyPr>
            <a:lstStyle/>
            <a:p>
              <a:pPr algn="l"/>
              <a:r>
                <a:rPr lang="zh-CN" sz="712" b="1" dirty="0">
                  <a:solidFill>
                    <a:srgbClr val="2E7D32"/>
                  </a:solidFill>
                  <a:latin typeface="Arial"/>
                  <a:ea typeface="Microsoft YaHei"/>
                  <a:cs typeface="Arial"/>
                </a:rPr>
                <a:t>中国银行 ↔ 银行</a:t>
              </a:r>
            </a:p>
          </p:txBody>
        </p:sp>
        <p:sp>
          <p:nvSpPr>
            <p:cNvPr id="120" name="TextBox 120"/>
            <p:cNvSpPr txBox="1"/>
            <p:nvPr/>
          </p:nvSpPr>
          <p:spPr>
            <a:xfrm>
              <a:off x="10116026" y="5580936"/>
              <a:ext cx="330279" cy="144780"/>
            </a:xfrm>
            <a:prstGeom prst="rect">
              <a:avLst/>
            </a:prstGeom>
            <a:noFill/>
            <a:ln>
              <a:noFill/>
            </a:ln>
          </p:spPr>
          <p:txBody>
            <a:bodyPr wrap="none" lIns="0" tIns="0" rIns="0" bIns="0" anchor="t" anchorCtr="0">
              <a:spAutoFit/>
            </a:bodyPr>
            <a:lstStyle/>
            <a:p>
              <a:pPr algn="l"/>
              <a:r>
                <a:rPr lang="zh-CN" sz="712" dirty="0">
                  <a:solidFill>
                    <a:srgbClr val="5F6368"/>
                  </a:solidFill>
                  <a:latin typeface="Arial"/>
                  <a:ea typeface="Microsoft YaHei"/>
                  <a:cs typeface="Arial"/>
                </a:rPr>
                <a:t>范围：</a:t>
              </a:r>
            </a:p>
          </p:txBody>
        </p:sp>
        <p:sp>
          <p:nvSpPr>
            <p:cNvPr id="121" name="TextBox 121"/>
            <p:cNvSpPr txBox="1"/>
            <p:nvPr/>
          </p:nvSpPr>
          <p:spPr>
            <a:xfrm>
              <a:off x="10411301" y="5580936"/>
              <a:ext cx="924986" cy="144780"/>
            </a:xfrm>
            <a:prstGeom prst="rect">
              <a:avLst/>
            </a:prstGeom>
            <a:noFill/>
            <a:ln>
              <a:noFill/>
            </a:ln>
          </p:spPr>
          <p:txBody>
            <a:bodyPr wrap="none" lIns="0" tIns="0" rIns="0" bIns="0" anchor="t" anchorCtr="0">
              <a:spAutoFit/>
            </a:bodyPr>
            <a:lstStyle/>
            <a:p>
              <a:pPr algn="l"/>
              <a:r>
                <a:rPr lang="zh-CN" sz="712" b="1" dirty="0">
                  <a:solidFill>
                    <a:srgbClr val="4285F4"/>
                  </a:solidFill>
                  <a:latin typeface="Arial"/>
                  <a:ea typeface="Microsoft YaHei"/>
                  <a:cs typeface="Arial"/>
                </a:rPr>
                <a:t>世界 / 中国 / 全球</a:t>
              </a:r>
            </a:p>
          </p:txBody>
        </p:sp>
        <p:sp>
          <p:nvSpPr>
            <p:cNvPr id="122" name="TextBox 122"/>
            <p:cNvSpPr txBox="1"/>
            <p:nvPr/>
          </p:nvSpPr>
          <p:spPr>
            <a:xfrm>
              <a:off x="10116026" y="5752386"/>
              <a:ext cx="330279" cy="144780"/>
            </a:xfrm>
            <a:prstGeom prst="rect">
              <a:avLst/>
            </a:prstGeom>
            <a:noFill/>
            <a:ln>
              <a:noFill/>
            </a:ln>
          </p:spPr>
          <p:txBody>
            <a:bodyPr wrap="none" lIns="0" tIns="0" rIns="0" bIns="0" anchor="t" anchorCtr="0">
              <a:spAutoFit/>
            </a:bodyPr>
            <a:lstStyle/>
            <a:p>
              <a:pPr algn="l"/>
              <a:r>
                <a:rPr lang="zh-CN" sz="712" dirty="0">
                  <a:solidFill>
                    <a:srgbClr val="5F6368"/>
                  </a:solidFill>
                  <a:latin typeface="Arial"/>
                  <a:ea typeface="Microsoft YaHei"/>
                  <a:cs typeface="Arial"/>
                </a:rPr>
                <a:t>评价：</a:t>
              </a:r>
            </a:p>
          </p:txBody>
        </p:sp>
        <p:sp>
          <p:nvSpPr>
            <p:cNvPr id="123" name="TextBox 123"/>
            <p:cNvSpPr txBox="1"/>
            <p:nvPr/>
          </p:nvSpPr>
          <p:spPr>
            <a:xfrm>
              <a:off x="10411301" y="5752386"/>
              <a:ext cx="924986" cy="144780"/>
            </a:xfrm>
            <a:prstGeom prst="rect">
              <a:avLst/>
            </a:prstGeom>
            <a:noFill/>
            <a:ln>
              <a:noFill/>
            </a:ln>
          </p:spPr>
          <p:txBody>
            <a:bodyPr wrap="none" lIns="0" tIns="0" rIns="0" bIns="0" anchor="t" anchorCtr="0">
              <a:spAutoFit/>
            </a:bodyPr>
            <a:lstStyle/>
            <a:p>
              <a:pPr algn="l"/>
              <a:r>
                <a:rPr lang="zh-CN" sz="712" b="1" dirty="0">
                  <a:solidFill>
                    <a:srgbClr val="A50021"/>
                  </a:solidFill>
                  <a:latin typeface="Arial"/>
                  <a:ea typeface="Microsoft YaHei"/>
                  <a:cs typeface="Arial"/>
                </a:rPr>
                <a:t>一流 / 优秀 / 卓越</a:t>
              </a:r>
            </a:p>
          </p:txBody>
        </p:sp>
        <p:sp>
          <p:nvSpPr>
            <p:cNvPr id="124" name="Rectangle 124"/>
            <p:cNvSpPr/>
            <p:nvPr/>
          </p:nvSpPr>
          <p:spPr>
            <a:xfrm>
              <a:off x="685800" y="5924550"/>
              <a:ext cx="10791825" cy="190500"/>
            </a:xfrm>
            <a:prstGeom prst="roundRect">
              <a:avLst>
                <a:gd name="adj" fmla="val 50000"/>
              </a:avLst>
            </a:prstGeom>
            <a:solidFill>
              <a:srgbClr val="FFFFFF"/>
            </a:solidFill>
            <a:ln w="7620">
              <a:solidFill>
                <a:srgbClr val="E8EAED"/>
              </a:solidFill>
            </a:ln>
          </p:spPr>
        </p:sp>
        <p:sp>
          <p:nvSpPr>
            <p:cNvPr id="125" name="TextBox 125"/>
            <p:cNvSpPr txBox="1"/>
            <p:nvPr/>
          </p:nvSpPr>
          <p:spPr>
            <a:xfrm>
              <a:off x="2812240" y="5964793"/>
              <a:ext cx="6529421" cy="175260"/>
            </a:xfrm>
            <a:prstGeom prst="rect">
              <a:avLst/>
            </a:prstGeom>
            <a:noFill/>
            <a:ln>
              <a:noFill/>
            </a:ln>
          </p:spPr>
          <p:txBody>
            <a:bodyPr wrap="none" lIns="0" tIns="0" rIns="0" bIns="0" anchor="t" anchorCtr="0">
              <a:spAutoFit/>
            </a:bodyPr>
            <a:lstStyle/>
            <a:p>
              <a:pPr algn="ctr"/>
              <a:r>
                <a:rPr lang="zh-CN" sz="862" b="1" dirty="0">
                  <a:solidFill>
                    <a:srgbClr val="1F2328"/>
                  </a:solidFill>
                  <a:latin typeface="Arial"/>
                  <a:ea typeface="Microsoft YaHei"/>
                  <a:cs typeface="Arial"/>
                </a:rPr>
                <a:t>Embedding 的训练过程，本质上是让词向量服务于预测任务，并通过误差反向传播逐步形成有意义的语义空间。</a:t>
              </a:r>
            </a:p>
          </p:txBody>
        </p:sp>
      </p:grpSp>
      <p:grpSp>
        <p:nvGrpSpPr>
          <p:cNvPr id="129" name="Group 129"/>
          <p:cNvGrpSpPr/>
          <p:nvPr/>
        </p:nvGrpSpPr>
        <p:grpSpPr>
          <a:xfrm>
            <a:off x="685800" y="6286500"/>
            <a:ext cx="10820400" cy="385762"/>
            <a:chOff x="685800" y="6286500"/>
            <a:chExt cx="10820400" cy="385762"/>
          </a:xfrm>
        </p:grpSpPr>
        <p:sp>
          <p:nvSpPr>
            <p:cNvPr id="127" name="Line 127"/>
            <p:cNvSpPr/>
            <p:nvPr/>
          </p:nvSpPr>
          <p:spPr>
            <a:xfrm>
              <a:off x="685800" y="6286500"/>
              <a:ext cx="10820400" cy="9525"/>
            </a:xfrm>
            <a:custGeom>
              <a:avLst/>
              <a:gdLst/>
              <a:ahLst/>
              <a:cxnLst/>
              <a:rect l="l" t="t" r="r" b="b"/>
              <a:pathLst>
                <a:path w="10820400" h="9525">
                  <a:moveTo>
                    <a:pt x="0" y="0"/>
                  </a:moveTo>
                  <a:lnTo>
                    <a:pt x="10820400" y="0"/>
                  </a:lnTo>
                </a:path>
              </a:pathLst>
            </a:custGeom>
            <a:noFill/>
            <a:ln w="11430">
              <a:solidFill>
                <a:srgbClr val="E4E7EB"/>
              </a:solidFill>
            </a:ln>
          </p:spPr>
        </p:sp>
        <p:sp>
          <p:nvSpPr>
            <p:cNvPr id="128" name="TextBox 128"/>
            <p:cNvSpPr txBox="1"/>
            <p:nvPr/>
          </p:nvSpPr>
          <p:spPr>
            <a:xfrm>
              <a:off x="5948482" y="6458902"/>
              <a:ext cx="295037"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Arial"/>
                  <a:ea typeface="Microsoft YaHei"/>
                  <a:cs typeface="Arial"/>
                </a:rPr>
                <a:t>1 / 1</a:t>
              </a:r>
            </a:p>
          </p:txBody>
        </p:sp>
      </p:grpSp>
      <p:grpSp>
        <p:nvGrpSpPr>
          <p:cNvPr id="103" name="Group 103"/>
          <p:cNvGrpSpPr/>
          <p:nvPr/>
        </p:nvGrpSpPr>
        <p:grpSpPr>
          <a:xfrm>
            <a:off x="3857625" y="3257550"/>
            <a:ext cx="7057280" cy="1960959"/>
            <a:chOff x="3857625" y="3257550"/>
            <a:chExt cx="7057280" cy="1960959"/>
          </a:xfrm>
        </p:grpSpPr>
        <p:sp>
          <p:nvSpPr>
            <p:cNvPr id="99" name="Line 99"/>
            <p:cNvSpPr/>
            <p:nvPr/>
          </p:nvSpPr>
          <p:spPr>
            <a:xfrm>
              <a:off x="3857625" y="3257550"/>
              <a:ext cx="257175" cy="1"/>
            </a:xfrm>
            <a:prstGeom prst="line">
              <a:avLst/>
            </a:prstGeom>
            <a:noFill/>
            <a:ln w="20955">
              <a:solidFill>
                <a:srgbClr val="A50021"/>
              </a:solidFill>
              <a:tailEnd type="triangle" w="lg" len="lg"/>
            </a:ln>
          </p:spPr>
        </p:sp>
        <p:sp>
          <p:nvSpPr>
            <p:cNvPr id="100" name="Line 100"/>
            <p:cNvSpPr/>
            <p:nvPr/>
          </p:nvSpPr>
          <p:spPr>
            <a:xfrm>
              <a:off x="7543800" y="3257550"/>
              <a:ext cx="257175" cy="1"/>
            </a:xfrm>
            <a:prstGeom prst="line">
              <a:avLst/>
            </a:prstGeom>
            <a:noFill/>
            <a:ln w="20955">
              <a:solidFill>
                <a:srgbClr val="4285F4"/>
              </a:solidFill>
              <a:tailEnd type="triangle" w="lg" len="lg"/>
            </a:ln>
          </p:spPr>
        </p:sp>
        <p:sp>
          <p:nvSpPr>
            <p:cNvPr id="101" name="Freeform 101"/>
            <p:cNvSpPr/>
            <p:nvPr/>
          </p:nvSpPr>
          <p:spPr>
            <a:xfrm>
              <a:off x="9429750" y="4819650"/>
              <a:ext cx="1295400" cy="285750"/>
            </a:xfrm>
            <a:custGeom>
              <a:avLst/>
              <a:gdLst/>
              <a:ahLst/>
              <a:cxnLst/>
              <a:rect l="l" t="t" r="r" b="b"/>
              <a:pathLst>
                <a:path w="1295400" h="285750">
                  <a:moveTo>
                    <a:pt x="1295400" y="38100"/>
                  </a:moveTo>
                  <a:cubicBezTo>
                    <a:pt x="1295400" y="285750"/>
                    <a:pt x="0" y="285750"/>
                    <a:pt x="0" y="0"/>
                  </a:cubicBezTo>
                </a:path>
              </a:pathLst>
            </a:custGeom>
            <a:noFill/>
            <a:ln w="19050">
              <a:solidFill>
                <a:srgbClr val="A50021"/>
              </a:solidFill>
              <a:custDash>
                <a:ds d="300000" sp="200000"/>
              </a:custDash>
              <a:tailEnd type="triangle" w="lg" len="lg"/>
            </a:ln>
          </p:spPr>
        </p:sp>
        <p:sp>
          <p:nvSpPr>
            <p:cNvPr id="102" name="TextBox 102"/>
            <p:cNvSpPr txBox="1"/>
            <p:nvPr/>
          </p:nvSpPr>
          <p:spPr>
            <a:xfrm>
              <a:off x="9125694" y="5058489"/>
              <a:ext cx="1789211" cy="160020"/>
            </a:xfrm>
            <a:prstGeom prst="rect">
              <a:avLst/>
            </a:prstGeom>
            <a:noFill/>
            <a:ln>
              <a:noFill/>
            </a:ln>
          </p:spPr>
          <p:txBody>
            <a:bodyPr wrap="none" lIns="0" tIns="0" rIns="0" bIns="0" anchor="t" anchorCtr="0">
              <a:spAutoFit/>
            </a:bodyPr>
            <a:lstStyle/>
            <a:p>
              <a:pPr algn="ctr"/>
              <a:r>
                <a:rPr lang="zh-CN" sz="788" b="1" dirty="0">
                  <a:solidFill>
                    <a:srgbClr val="A50021"/>
                  </a:solidFill>
                  <a:latin typeface="Arial"/>
                  <a:ea typeface="Microsoft YaHei"/>
                  <a:cs typeface="Arial"/>
                </a:rPr>
                <a:t>更新后的 E(t+1) 进入下一轮训练</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blinds(horizontal)">
                                      <p:cBhvr>
                                        <p:cTn id="11" dur="400"/>
                                        <p:tgtEl>
                                          <p:spTgt spid="46"/>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checkerboard(across)">
                                      <p:cBhvr>
                                        <p:cTn id="15" dur="400"/>
                                        <p:tgtEl>
                                          <p:spTgt spid="73"/>
                                        </p:tgtEl>
                                      </p:cBhvr>
                                    </p:animEffect>
                                  </p:childTnLst>
                                </p:cTn>
                              </p:par>
                            </p:childTnLst>
                          </p:cTn>
                        </p:par>
                        <p:par>
                          <p:cTn id="16" fill="hold">
                            <p:stCondLst>
                              <p:cond delay="2700"/>
                            </p:stCondLst>
                            <p:childTnLst>
                              <p:par>
                                <p:cTn id="17" presetID="9" presetClass="entr" presetSubtype="0" fill="hold" nodeType="afterEffect">
                                  <p:stCondLst>
                                    <p:cond delay="0"/>
                                  </p:stCondLst>
                                  <p:childTnLst>
                                    <p:set>
                                      <p:cBhvr>
                                        <p:cTn id="18" dur="1" fill="hold">
                                          <p:stCondLst>
                                            <p:cond delay="0"/>
                                          </p:stCondLst>
                                        </p:cTn>
                                        <p:tgtEl>
                                          <p:spTgt spid="98"/>
                                        </p:tgtEl>
                                        <p:attrNameLst>
                                          <p:attrName>style.visibility</p:attrName>
                                        </p:attrNameLst>
                                      </p:cBhvr>
                                      <p:to>
                                        <p:strVal val="visible"/>
                                      </p:to>
                                    </p:set>
                                    <p:animEffect transition="in" filter="dissolve">
                                      <p:cBhvr>
                                        <p:cTn id="19" dur="400"/>
                                        <p:tgtEl>
                                          <p:spTgt spid="98"/>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103"/>
                                        </p:tgtEl>
                                        <p:attrNameLst>
                                          <p:attrName>style.visibility</p:attrName>
                                        </p:attrNameLst>
                                      </p:cBhvr>
                                      <p:to>
                                        <p:strVal val="visible"/>
                                      </p:to>
                                    </p:set>
                                    <p:animEffect transition="in" filter="slide(fromBottom)">
                                      <p:cBhvr>
                                        <p:cTn id="23" dur="400"/>
                                        <p:tgtEl>
                                          <p:spTgt spid="103"/>
                                        </p:tgtEl>
                                      </p:cBhvr>
                                    </p:animEffect>
                                  </p:childTnLst>
                                </p:cTn>
                              </p:par>
                            </p:childTnLst>
                          </p:cTn>
                        </p:par>
                        <p:par>
                          <p:cTn id="24" fill="hold">
                            <p:stCondLst>
                              <p:cond delay="4500"/>
                            </p:stCondLst>
                            <p:childTnLst>
                              <p:par>
                                <p:cTn id="25" presetID="42" presetClass="entr" presetSubtype="8" fill="hold" nodeType="afterEffect">
                                  <p:stCondLst>
                                    <p:cond delay="0"/>
                                  </p:stCondLst>
                                  <p:childTnLst>
                                    <p:set>
                                      <p:cBhvr>
                                        <p:cTn id="26" dur="1" fill="hold">
                                          <p:stCondLst>
                                            <p:cond delay="0"/>
                                          </p:stCondLst>
                                        </p:cTn>
                                        <p:tgtEl>
                                          <p:spTgt spid="126"/>
                                        </p:tgtEl>
                                        <p:attrNameLst>
                                          <p:attrName>style.visibility</p:attrName>
                                        </p:attrNameLst>
                                      </p:cBhvr>
                                      <p:to>
                                        <p:strVal val="visible"/>
                                      </p:to>
                                    </p:set>
                                    <p:animEffect transition="in" filter="slide(fromLeft)">
                                      <p:cBhvr>
                                        <p:cTn id="27" dur="4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6" grpId="0"/>
      <p:bldP spid="73" grpId="0"/>
      <p:bldP spid="98" grpId="0"/>
      <p:bldP spid="126" grpId="0"/>
      <p:bldP spid="10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3"/>
          <p:cNvPicPr>
            <a:picLocks noChangeAspect="1"/>
          </p:cNvPicPr>
          <p:nvPr/>
        </p:nvPicPr>
        <p:blipFill>
          <a:blip r:embed="rId3"/>
          <a:stretch>
            <a:fillRect/>
          </a:stretch>
        </p:blipFill>
        <p:spPr>
          <a:xfrm>
            <a:off x="9705234" y="419100"/>
            <a:ext cx="2020783" cy="571500"/>
          </a:xfrm>
          <a:prstGeom prst="rect">
            <a:avLst/>
          </a:prstGeom>
        </p:spPr>
      </p:pic>
      <p:sp>
        <p:nvSpPr>
          <p:cNvPr id="4" name="TextBox 4"/>
          <p:cNvSpPr txBox="1"/>
          <p:nvPr/>
        </p:nvSpPr>
        <p:spPr>
          <a:xfrm>
            <a:off x="657225" y="519112"/>
            <a:ext cx="4577215" cy="457200"/>
          </a:xfrm>
          <a:prstGeom prst="rect">
            <a:avLst/>
          </a:prstGeom>
          <a:noFill/>
          <a:ln>
            <a:noFill/>
          </a:ln>
        </p:spPr>
        <p:txBody>
          <a:bodyPr wrap="none" lIns="0" tIns="0" rIns="0" bIns="0" anchor="t" anchorCtr="0">
            <a:spAutoFit/>
          </a:bodyPr>
          <a:lstStyle/>
          <a:p>
            <a:pPr algn="l"/>
            <a:r>
              <a:rPr lang="zh-CN" sz="2250" b="1" dirty="0">
                <a:solidFill>
                  <a:srgbClr val="1F2328"/>
                </a:solidFill>
                <a:latin typeface="Arial"/>
                <a:ea typeface="SimHei"/>
                <a:cs typeface="Arial"/>
              </a:rPr>
              <a:t>大模型的本质是“猜向量游戏”</a:t>
            </a:r>
          </a:p>
        </p:txBody>
      </p:sp>
      <p:sp>
        <p:nvSpPr>
          <p:cNvPr id="5" name="Line 5"/>
          <p:cNvSpPr/>
          <p:nvPr/>
        </p:nvSpPr>
        <p:spPr>
          <a:xfrm>
            <a:off x="685800" y="933450"/>
            <a:ext cx="2171700" cy="9525"/>
          </a:xfrm>
          <a:custGeom>
            <a:avLst/>
            <a:gdLst/>
            <a:ahLst/>
            <a:cxnLst/>
            <a:rect l="l" t="t" r="r" b="b"/>
            <a:pathLst>
              <a:path w="2171700" h="9525">
                <a:moveTo>
                  <a:pt x="0" y="0"/>
                </a:moveTo>
                <a:lnTo>
                  <a:pt x="2171700" y="0"/>
                </a:lnTo>
              </a:path>
            </a:pathLst>
          </a:custGeom>
          <a:noFill/>
          <a:ln w="28575">
            <a:solidFill>
              <a:srgbClr val="A50021"/>
            </a:solidFill>
          </a:ln>
        </p:spPr>
      </p:sp>
      <p:sp>
        <p:nvSpPr>
          <p:cNvPr id="7" name="Rectangle 7"/>
          <p:cNvSpPr/>
          <p:nvPr/>
        </p:nvSpPr>
        <p:spPr>
          <a:xfrm>
            <a:off x="685800" y="1123950"/>
            <a:ext cx="10820400" cy="552450"/>
          </a:xfrm>
          <a:prstGeom prst="roundRect">
            <a:avLst>
              <a:gd name="adj" fmla="val 17241"/>
            </a:avLst>
          </a:prstGeom>
          <a:solidFill>
            <a:srgbClr val="F8F9FA"/>
          </a:solidFill>
          <a:ln w="11430">
            <a:solidFill>
              <a:srgbClr val="E4E7EB"/>
            </a:solidFill>
          </a:ln>
        </p:spPr>
      </p:sp>
      <p:sp>
        <p:nvSpPr>
          <p:cNvPr id="8" name="Rectangle 8"/>
          <p:cNvSpPr/>
          <p:nvPr/>
        </p:nvSpPr>
        <p:spPr>
          <a:xfrm>
            <a:off x="685800" y="1123950"/>
            <a:ext cx="1066800" cy="552450"/>
          </a:xfrm>
          <a:prstGeom prst="roundRect">
            <a:avLst>
              <a:gd name="adj" fmla="val 17241"/>
            </a:avLst>
          </a:prstGeom>
          <a:solidFill>
            <a:srgbClr val="A50021"/>
          </a:solidFill>
          <a:ln>
            <a:noFill/>
          </a:ln>
        </p:spPr>
      </p:sp>
      <p:sp>
        <p:nvSpPr>
          <p:cNvPr id="9" name="Rectangle 9"/>
          <p:cNvSpPr/>
          <p:nvPr/>
        </p:nvSpPr>
        <p:spPr>
          <a:xfrm>
            <a:off x="1562100" y="1123950"/>
            <a:ext cx="190500" cy="552450"/>
          </a:xfrm>
          <a:prstGeom prst="rect">
            <a:avLst/>
          </a:prstGeom>
          <a:solidFill>
            <a:srgbClr val="A50021"/>
          </a:solidFill>
          <a:ln>
            <a:noFill/>
          </a:ln>
        </p:spPr>
      </p:sp>
      <p:sp>
        <p:nvSpPr>
          <p:cNvPr id="10" name="TextBox 10"/>
          <p:cNvSpPr txBox="1"/>
          <p:nvPr/>
        </p:nvSpPr>
        <p:spPr>
          <a:xfrm>
            <a:off x="788003" y="1311592"/>
            <a:ext cx="86239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SimHei"/>
                <a:cs typeface="Arial"/>
              </a:rPr>
              <a:t>核心结论</a:t>
            </a:r>
          </a:p>
        </p:txBody>
      </p:sp>
      <p:sp>
        <p:nvSpPr>
          <p:cNvPr id="11" name="TextBox 11"/>
          <p:cNvSpPr txBox="1"/>
          <p:nvPr/>
        </p:nvSpPr>
        <p:spPr>
          <a:xfrm>
            <a:off x="1965960" y="1213485"/>
            <a:ext cx="4616648" cy="184666"/>
          </a:xfrm>
          <a:prstGeom prst="rect">
            <a:avLst/>
          </a:prstGeom>
          <a:noFill/>
          <a:ln>
            <a:noFill/>
          </a:ln>
        </p:spPr>
        <p:txBody>
          <a:bodyPr wrap="none" lIns="0" tIns="0" rIns="0" bIns="0" anchor="t" anchorCtr="0">
            <a:spAutoFit/>
          </a:bodyPr>
          <a:lstStyle/>
          <a:p>
            <a:pPr algn="l"/>
            <a:r>
              <a:rPr lang="zh-CN" sz="1200" b="1" dirty="0">
                <a:solidFill>
                  <a:srgbClr val="1F2328"/>
                </a:solidFill>
                <a:latin typeface="Arial"/>
                <a:ea typeface="Microsoft YaHei"/>
                <a:cs typeface="Arial"/>
              </a:rPr>
              <a:t>大模型不是直接“读懂”文字，而是预测下一步最可能出现的向量。</a:t>
            </a:r>
          </a:p>
        </p:txBody>
      </p:sp>
      <p:sp>
        <p:nvSpPr>
          <p:cNvPr id="12" name="TextBox 12"/>
          <p:cNvSpPr txBox="1"/>
          <p:nvPr/>
        </p:nvSpPr>
        <p:spPr>
          <a:xfrm>
            <a:off x="1968818" y="1456849"/>
            <a:ext cx="5863114"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字符可以表示为向量；一段文字或语音可以表示为矩阵；输出的新向量再被还原成下一个字。</a:t>
            </a:r>
          </a:p>
        </p:txBody>
      </p:sp>
      <p:sp>
        <p:nvSpPr>
          <p:cNvPr id="14" name="Line 14"/>
          <p:cNvSpPr/>
          <p:nvPr/>
        </p:nvSpPr>
        <p:spPr>
          <a:xfrm>
            <a:off x="3105150" y="3629025"/>
            <a:ext cx="266700" cy="1"/>
          </a:xfrm>
          <a:prstGeom prst="line">
            <a:avLst/>
          </a:prstGeom>
          <a:noFill/>
          <a:ln w="28575">
            <a:solidFill>
              <a:srgbClr val="A50021"/>
            </a:solidFill>
            <a:tailEnd type="triangle" w="lg" len="lg"/>
          </a:ln>
        </p:spPr>
      </p:sp>
      <p:sp>
        <p:nvSpPr>
          <p:cNvPr id="15" name="Line 15"/>
          <p:cNvSpPr/>
          <p:nvPr/>
        </p:nvSpPr>
        <p:spPr>
          <a:xfrm>
            <a:off x="5848350" y="3629025"/>
            <a:ext cx="266700" cy="1"/>
          </a:xfrm>
          <a:prstGeom prst="line">
            <a:avLst/>
          </a:prstGeom>
          <a:noFill/>
          <a:ln w="28575">
            <a:solidFill>
              <a:srgbClr val="A50021"/>
            </a:solidFill>
            <a:tailEnd type="triangle" w="lg" len="lg"/>
          </a:ln>
        </p:spPr>
      </p:sp>
      <p:sp>
        <p:nvSpPr>
          <p:cNvPr id="16" name="Line 16"/>
          <p:cNvSpPr/>
          <p:nvPr/>
        </p:nvSpPr>
        <p:spPr>
          <a:xfrm>
            <a:off x="8591550" y="3629025"/>
            <a:ext cx="266700" cy="1"/>
          </a:xfrm>
          <a:prstGeom prst="line">
            <a:avLst/>
          </a:prstGeom>
          <a:noFill/>
          <a:ln w="28575">
            <a:solidFill>
              <a:srgbClr val="A50021"/>
            </a:solidFill>
            <a:tailEnd type="triangle" w="lg" len="lg"/>
          </a:ln>
        </p:spPr>
      </p:sp>
      <p:sp>
        <p:nvSpPr>
          <p:cNvPr id="18" name="Rectangle 18"/>
          <p:cNvSpPr/>
          <p:nvPr/>
        </p:nvSpPr>
        <p:spPr>
          <a:xfrm>
            <a:off x="685800" y="2000250"/>
            <a:ext cx="2381250" cy="3181350"/>
          </a:xfrm>
          <a:prstGeom prst="roundRect">
            <a:avLst>
              <a:gd name="adj" fmla="val 5600"/>
            </a:avLst>
          </a:prstGeom>
          <a:solidFill>
            <a:srgbClr val="FFFFFF"/>
          </a:solidFill>
          <a:ln w="11430">
            <a:solidFill>
              <a:srgbClr val="E4E7EB"/>
            </a:solidFill>
          </a:ln>
          <a:effectLst>
            <a:outerShdw blurRad="152400" dist="38100" dir="5400000" algn="ctr" rotWithShape="0">
              <a:srgbClr val="000000">
                <a:alpha val="7500"/>
              </a:srgbClr>
            </a:outerShdw>
          </a:effectLst>
        </p:spPr>
      </p:sp>
      <p:sp>
        <p:nvSpPr>
          <p:cNvPr id="19" name="Ellipse 19"/>
          <p:cNvSpPr/>
          <p:nvPr/>
        </p:nvSpPr>
        <p:spPr>
          <a:xfrm>
            <a:off x="828675" y="2152650"/>
            <a:ext cx="323850" cy="323850"/>
          </a:xfrm>
          <a:prstGeom prst="ellipse">
            <a:avLst/>
          </a:prstGeom>
          <a:solidFill>
            <a:srgbClr val="A50021"/>
          </a:solidFill>
          <a:ln>
            <a:noFill/>
          </a:ln>
        </p:spPr>
      </p:sp>
      <p:sp>
        <p:nvSpPr>
          <p:cNvPr id="20" name="TextBox 20"/>
          <p:cNvSpPr txBox="1"/>
          <p:nvPr/>
        </p:nvSpPr>
        <p:spPr>
          <a:xfrm>
            <a:off x="902991" y="2250281"/>
            <a:ext cx="17521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SimHei"/>
                <a:cs typeface="Arial"/>
              </a:rPr>
              <a:t>01</a:t>
            </a:r>
          </a:p>
        </p:txBody>
      </p:sp>
      <p:sp>
        <p:nvSpPr>
          <p:cNvPr id="21" name="TextBox 21"/>
          <p:cNvSpPr txBox="1"/>
          <p:nvPr/>
        </p:nvSpPr>
        <p:spPr>
          <a:xfrm>
            <a:off x="1236345" y="2203132"/>
            <a:ext cx="1054036" cy="335280"/>
          </a:xfrm>
          <a:prstGeom prst="rect">
            <a:avLst/>
          </a:prstGeom>
          <a:noFill/>
          <a:ln>
            <a:noFill/>
          </a:ln>
        </p:spPr>
        <p:txBody>
          <a:bodyPr wrap="none" lIns="0" tIns="0" rIns="0" bIns="0" anchor="t" anchorCtr="0">
            <a:spAutoFit/>
          </a:bodyPr>
          <a:lstStyle/>
          <a:p>
            <a:pPr algn="l"/>
            <a:r>
              <a:rPr lang="zh-CN" sz="1650" b="1" dirty="0">
                <a:solidFill>
                  <a:srgbClr val="1F2328"/>
                </a:solidFill>
                <a:latin typeface="Arial"/>
                <a:ea typeface="SimHei"/>
                <a:cs typeface="Arial"/>
              </a:rPr>
              <a:t>输入文本</a:t>
            </a:r>
          </a:p>
        </p:txBody>
      </p:sp>
      <p:sp>
        <p:nvSpPr>
          <p:cNvPr id="22" name="TextBox 22"/>
          <p:cNvSpPr txBox="1"/>
          <p:nvPr/>
        </p:nvSpPr>
        <p:spPr>
          <a:xfrm>
            <a:off x="902018" y="2618899"/>
            <a:ext cx="2051844" cy="123111"/>
          </a:xfrm>
          <a:prstGeom prst="rect">
            <a:avLst/>
          </a:prstGeom>
          <a:noFill/>
          <a:ln>
            <a:noFill/>
          </a:ln>
        </p:spPr>
        <p:txBody>
          <a:bodyPr wrap="none" lIns="0" tIns="0" rIns="0" bIns="0" anchor="t" anchorCtr="0">
            <a:spAutoFit/>
          </a:bodyPr>
          <a:lstStyle/>
          <a:p>
            <a:pPr algn="l"/>
            <a:r>
              <a:rPr lang="zh-CN" sz="800" dirty="0">
                <a:solidFill>
                  <a:srgbClr val="5F6368"/>
                </a:solidFill>
                <a:latin typeface="Arial"/>
                <a:ea typeface="Microsoft YaHei"/>
                <a:cs typeface="Arial"/>
              </a:rPr>
              <a:t>自然语言进入模型前，先被拆成连续的符号。</a:t>
            </a:r>
          </a:p>
        </p:txBody>
      </p:sp>
      <p:sp>
        <p:nvSpPr>
          <p:cNvPr id="23" name="Rectangle 23"/>
          <p:cNvSpPr/>
          <p:nvPr/>
        </p:nvSpPr>
        <p:spPr>
          <a:xfrm>
            <a:off x="990600" y="3028949"/>
            <a:ext cx="1771650" cy="1945481"/>
          </a:xfrm>
          <a:prstGeom prst="roundRect">
            <a:avLst>
              <a:gd name="adj" fmla="val 7500"/>
            </a:avLst>
          </a:prstGeom>
          <a:solidFill>
            <a:srgbClr val="F8F9FA"/>
          </a:solidFill>
          <a:ln w="11430">
            <a:solidFill>
              <a:srgbClr val="E4E7EB"/>
            </a:solidFill>
          </a:ln>
        </p:spPr>
      </p:sp>
      <p:sp>
        <p:nvSpPr>
          <p:cNvPr id="24" name="TextBox 24"/>
          <p:cNvSpPr txBox="1"/>
          <p:nvPr/>
        </p:nvSpPr>
        <p:spPr>
          <a:xfrm>
            <a:off x="1202055" y="3188018"/>
            <a:ext cx="862393" cy="274320"/>
          </a:xfrm>
          <a:prstGeom prst="rect">
            <a:avLst/>
          </a:prstGeom>
          <a:noFill/>
          <a:ln>
            <a:noFill/>
          </a:ln>
        </p:spPr>
        <p:txBody>
          <a:bodyPr wrap="none" lIns="0" tIns="0" rIns="0" bIns="0" anchor="t" anchorCtr="0">
            <a:spAutoFit/>
          </a:bodyPr>
          <a:lstStyle/>
          <a:p>
            <a:pPr algn="l"/>
            <a:r>
              <a:rPr lang="zh-CN" sz="1350" b="1" dirty="0">
                <a:solidFill>
                  <a:srgbClr val="A50021"/>
                </a:solidFill>
                <a:latin typeface="Arial"/>
                <a:ea typeface="SimHei"/>
                <a:cs typeface="Arial"/>
              </a:rPr>
              <a:t>示例文本</a:t>
            </a:r>
          </a:p>
        </p:txBody>
      </p:sp>
      <p:sp>
        <p:nvSpPr>
          <p:cNvPr id="25" name="TextBox 25"/>
          <p:cNvSpPr txBox="1"/>
          <p:nvPr/>
        </p:nvSpPr>
        <p:spPr>
          <a:xfrm>
            <a:off x="1702141" y="3466148"/>
            <a:ext cx="348567" cy="396240"/>
          </a:xfrm>
          <a:prstGeom prst="rect">
            <a:avLst/>
          </a:prstGeom>
          <a:noFill/>
          <a:ln>
            <a:noFill/>
          </a:ln>
        </p:spPr>
        <p:txBody>
          <a:bodyPr wrap="none" lIns="0" tIns="0" rIns="0" bIns="0" anchor="t" anchorCtr="0">
            <a:spAutoFit/>
          </a:bodyPr>
          <a:lstStyle/>
          <a:p>
            <a:pPr algn="ctr"/>
            <a:r>
              <a:rPr lang="zh-CN" sz="1950" b="1" dirty="0">
                <a:solidFill>
                  <a:srgbClr val="1F2328"/>
                </a:solidFill>
                <a:latin typeface="Arial"/>
                <a:ea typeface="SimHei"/>
                <a:cs typeface="Arial"/>
              </a:rPr>
              <a:t>今</a:t>
            </a:r>
          </a:p>
        </p:txBody>
      </p:sp>
      <p:sp>
        <p:nvSpPr>
          <p:cNvPr id="26" name="TextBox 26"/>
          <p:cNvSpPr txBox="1"/>
          <p:nvPr/>
        </p:nvSpPr>
        <p:spPr>
          <a:xfrm>
            <a:off x="1702141" y="3761422"/>
            <a:ext cx="348567" cy="396240"/>
          </a:xfrm>
          <a:prstGeom prst="rect">
            <a:avLst/>
          </a:prstGeom>
          <a:noFill/>
          <a:ln>
            <a:noFill/>
          </a:ln>
        </p:spPr>
        <p:txBody>
          <a:bodyPr wrap="none" lIns="0" tIns="0" rIns="0" bIns="0" anchor="t" anchorCtr="0">
            <a:spAutoFit/>
          </a:bodyPr>
          <a:lstStyle/>
          <a:p>
            <a:pPr algn="ctr"/>
            <a:r>
              <a:rPr lang="zh-CN" sz="1950" b="1" dirty="0">
                <a:solidFill>
                  <a:srgbClr val="1F2328"/>
                </a:solidFill>
                <a:latin typeface="Arial"/>
                <a:ea typeface="SimHei"/>
                <a:cs typeface="Arial"/>
              </a:rPr>
              <a:t>天</a:t>
            </a:r>
          </a:p>
        </p:txBody>
      </p:sp>
      <p:sp>
        <p:nvSpPr>
          <p:cNvPr id="27" name="TextBox 27"/>
          <p:cNvSpPr txBox="1"/>
          <p:nvPr/>
        </p:nvSpPr>
        <p:spPr>
          <a:xfrm>
            <a:off x="1702141" y="4056698"/>
            <a:ext cx="348567" cy="396240"/>
          </a:xfrm>
          <a:prstGeom prst="rect">
            <a:avLst/>
          </a:prstGeom>
          <a:noFill/>
          <a:ln>
            <a:noFill/>
          </a:ln>
        </p:spPr>
        <p:txBody>
          <a:bodyPr wrap="none" lIns="0" tIns="0" rIns="0" bIns="0" anchor="t" anchorCtr="0">
            <a:spAutoFit/>
          </a:bodyPr>
          <a:lstStyle/>
          <a:p>
            <a:pPr algn="ctr"/>
            <a:r>
              <a:rPr lang="zh-CN" sz="1950" b="1" dirty="0">
                <a:solidFill>
                  <a:srgbClr val="1F2328"/>
                </a:solidFill>
                <a:latin typeface="Arial"/>
                <a:ea typeface="SimHei"/>
                <a:cs typeface="Arial"/>
              </a:rPr>
              <a:t>天</a:t>
            </a:r>
          </a:p>
        </p:txBody>
      </p:sp>
      <p:sp>
        <p:nvSpPr>
          <p:cNvPr id="28" name="TextBox 28"/>
          <p:cNvSpPr txBox="1"/>
          <p:nvPr/>
        </p:nvSpPr>
        <p:spPr>
          <a:xfrm>
            <a:off x="1702141" y="4351972"/>
            <a:ext cx="348567" cy="396240"/>
          </a:xfrm>
          <a:prstGeom prst="rect">
            <a:avLst/>
          </a:prstGeom>
          <a:noFill/>
          <a:ln>
            <a:noFill/>
          </a:ln>
        </p:spPr>
        <p:txBody>
          <a:bodyPr wrap="none" lIns="0" tIns="0" rIns="0" bIns="0" anchor="t" anchorCtr="0">
            <a:spAutoFit/>
          </a:bodyPr>
          <a:lstStyle/>
          <a:p>
            <a:pPr algn="ctr"/>
            <a:r>
              <a:rPr lang="zh-CN" sz="1950" b="1" dirty="0">
                <a:solidFill>
                  <a:srgbClr val="1F2328"/>
                </a:solidFill>
                <a:latin typeface="Arial"/>
                <a:ea typeface="SimHei"/>
                <a:cs typeface="Arial"/>
              </a:rPr>
              <a:t>气</a:t>
            </a:r>
          </a:p>
        </p:txBody>
      </p:sp>
      <p:sp>
        <p:nvSpPr>
          <p:cNvPr id="29" name="TextBox 29"/>
          <p:cNvSpPr txBox="1"/>
          <p:nvPr/>
        </p:nvSpPr>
        <p:spPr>
          <a:xfrm>
            <a:off x="1736574" y="4706302"/>
            <a:ext cx="279702"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Consolas"/>
                <a:ea typeface="Microsoft YaHei"/>
                <a:cs typeface="Consolas"/>
              </a:rPr>
              <a:t>...</a:t>
            </a:r>
          </a:p>
        </p:txBody>
      </p:sp>
      <p:sp>
        <p:nvSpPr>
          <p:cNvPr id="31" name="Rectangle 31"/>
          <p:cNvSpPr/>
          <p:nvPr/>
        </p:nvSpPr>
        <p:spPr>
          <a:xfrm>
            <a:off x="3429000" y="2000250"/>
            <a:ext cx="2381250" cy="3181350"/>
          </a:xfrm>
          <a:prstGeom prst="roundRect">
            <a:avLst>
              <a:gd name="adj" fmla="val 5600"/>
            </a:avLst>
          </a:prstGeom>
          <a:solidFill>
            <a:srgbClr val="FFFFFF"/>
          </a:solidFill>
          <a:ln w="11430">
            <a:solidFill>
              <a:srgbClr val="E4E7EB"/>
            </a:solidFill>
          </a:ln>
          <a:effectLst>
            <a:outerShdw blurRad="152400" dist="38100" dir="5400000" algn="ctr" rotWithShape="0">
              <a:srgbClr val="000000">
                <a:alpha val="7500"/>
              </a:srgbClr>
            </a:outerShdw>
          </a:effectLst>
        </p:spPr>
      </p:sp>
      <p:sp>
        <p:nvSpPr>
          <p:cNvPr id="32" name="Ellipse 32"/>
          <p:cNvSpPr/>
          <p:nvPr/>
        </p:nvSpPr>
        <p:spPr>
          <a:xfrm>
            <a:off x="3571875" y="2152650"/>
            <a:ext cx="323850" cy="323850"/>
          </a:xfrm>
          <a:prstGeom prst="ellipse">
            <a:avLst/>
          </a:prstGeom>
          <a:solidFill>
            <a:srgbClr val="A50021"/>
          </a:solidFill>
          <a:ln>
            <a:noFill/>
          </a:ln>
        </p:spPr>
      </p:sp>
      <p:sp>
        <p:nvSpPr>
          <p:cNvPr id="33" name="TextBox 33"/>
          <p:cNvSpPr txBox="1"/>
          <p:nvPr/>
        </p:nvSpPr>
        <p:spPr>
          <a:xfrm>
            <a:off x="3624626" y="2250281"/>
            <a:ext cx="218349"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SimHei"/>
                <a:cs typeface="Arial"/>
              </a:rPr>
              <a:t>02</a:t>
            </a:r>
          </a:p>
        </p:txBody>
      </p:sp>
      <p:sp>
        <p:nvSpPr>
          <p:cNvPr id="34" name="TextBox 34"/>
          <p:cNvSpPr txBox="1"/>
          <p:nvPr/>
        </p:nvSpPr>
        <p:spPr>
          <a:xfrm>
            <a:off x="3979545" y="2203132"/>
            <a:ext cx="801005" cy="335280"/>
          </a:xfrm>
          <a:prstGeom prst="rect">
            <a:avLst/>
          </a:prstGeom>
          <a:noFill/>
          <a:ln>
            <a:noFill/>
          </a:ln>
        </p:spPr>
        <p:txBody>
          <a:bodyPr wrap="none" lIns="0" tIns="0" rIns="0" bIns="0" anchor="t" anchorCtr="0">
            <a:spAutoFit/>
          </a:bodyPr>
          <a:lstStyle/>
          <a:p>
            <a:pPr algn="l"/>
            <a:r>
              <a:rPr lang="zh-CN" sz="1650" b="1" dirty="0">
                <a:solidFill>
                  <a:srgbClr val="1F2328"/>
                </a:solidFill>
                <a:latin typeface="Arial"/>
                <a:ea typeface="SimHei"/>
                <a:cs typeface="Arial"/>
              </a:rPr>
              <a:t>向量化</a:t>
            </a:r>
          </a:p>
        </p:txBody>
      </p:sp>
      <p:sp>
        <p:nvSpPr>
          <p:cNvPr id="35" name="TextBox 35"/>
          <p:cNvSpPr txBox="1"/>
          <p:nvPr/>
        </p:nvSpPr>
        <p:spPr>
          <a:xfrm>
            <a:off x="3645218" y="2618899"/>
            <a:ext cx="2051844" cy="123111"/>
          </a:xfrm>
          <a:prstGeom prst="rect">
            <a:avLst/>
          </a:prstGeom>
          <a:noFill/>
          <a:ln>
            <a:noFill/>
          </a:ln>
        </p:spPr>
        <p:txBody>
          <a:bodyPr wrap="none" lIns="0" tIns="0" rIns="0" bIns="0" anchor="t" anchorCtr="0">
            <a:spAutoFit/>
          </a:bodyPr>
          <a:lstStyle/>
          <a:p>
            <a:pPr algn="l"/>
            <a:r>
              <a:rPr lang="zh-CN" sz="800" dirty="0">
                <a:solidFill>
                  <a:srgbClr val="5F6368"/>
                </a:solidFill>
                <a:latin typeface="Arial"/>
                <a:ea typeface="Microsoft YaHei"/>
                <a:cs typeface="Arial"/>
              </a:rPr>
              <a:t>字符变向量；文本或语音变成可计算的矩阵。</a:t>
            </a:r>
          </a:p>
        </p:txBody>
      </p:sp>
      <p:sp>
        <p:nvSpPr>
          <p:cNvPr id="36" name="Rectangle 36"/>
          <p:cNvSpPr/>
          <p:nvPr/>
        </p:nvSpPr>
        <p:spPr>
          <a:xfrm>
            <a:off x="3733800" y="3048000"/>
            <a:ext cx="1771650" cy="1485900"/>
          </a:xfrm>
          <a:prstGeom prst="roundRect">
            <a:avLst>
              <a:gd name="adj" fmla="val 7692"/>
            </a:avLst>
          </a:prstGeom>
          <a:solidFill>
            <a:srgbClr val="F6F0E4"/>
          </a:solidFill>
          <a:ln w="11430">
            <a:solidFill>
              <a:srgbClr val="E5D8BA"/>
            </a:solidFill>
          </a:ln>
        </p:spPr>
      </p:sp>
      <p:sp>
        <p:nvSpPr>
          <p:cNvPr id="37" name="TextBox 37"/>
          <p:cNvSpPr txBox="1"/>
          <p:nvPr/>
        </p:nvSpPr>
        <p:spPr>
          <a:xfrm>
            <a:off x="3805430" y="3114866"/>
            <a:ext cx="1628389" cy="274320"/>
          </a:xfrm>
          <a:prstGeom prst="rect">
            <a:avLst/>
          </a:prstGeom>
          <a:noFill/>
          <a:ln>
            <a:noFill/>
          </a:ln>
        </p:spPr>
        <p:txBody>
          <a:bodyPr wrap="none" lIns="0" tIns="0" rIns="0" bIns="0" anchor="t" anchorCtr="0">
            <a:spAutoFit/>
          </a:bodyPr>
          <a:lstStyle/>
          <a:p>
            <a:pPr algn="ctr"/>
            <a:r>
              <a:rPr lang="zh-CN" sz="1350" b="1" dirty="0">
                <a:solidFill>
                  <a:srgbClr val="B08A3C"/>
                </a:solidFill>
                <a:latin typeface="Arial"/>
                <a:ea typeface="SimHei"/>
                <a:cs typeface="Arial"/>
              </a:rPr>
              <a:t>Vector / Matrix</a:t>
            </a:r>
          </a:p>
        </p:txBody>
      </p:sp>
      <p:sp>
        <p:nvSpPr>
          <p:cNvPr id="38" name="Rectangle 38"/>
          <p:cNvSpPr/>
          <p:nvPr/>
        </p:nvSpPr>
        <p:spPr>
          <a:xfrm>
            <a:off x="3867150" y="3432048"/>
            <a:ext cx="1504950" cy="266700"/>
          </a:xfrm>
          <a:prstGeom prst="roundRect">
            <a:avLst>
              <a:gd name="adj" fmla="val 25000"/>
            </a:avLst>
          </a:prstGeom>
          <a:solidFill>
            <a:srgbClr val="FFFFFF"/>
          </a:solidFill>
          <a:ln w="10478">
            <a:solidFill>
              <a:srgbClr val="E4E7EB"/>
            </a:solidFill>
          </a:ln>
        </p:spPr>
      </p:sp>
      <p:sp>
        <p:nvSpPr>
          <p:cNvPr id="39" name="TextBox 39"/>
          <p:cNvSpPr txBox="1"/>
          <p:nvPr/>
        </p:nvSpPr>
        <p:spPr>
          <a:xfrm>
            <a:off x="4034088" y="3507772"/>
            <a:ext cx="1171075" cy="198120"/>
          </a:xfrm>
          <a:prstGeom prst="rect">
            <a:avLst/>
          </a:prstGeom>
          <a:noFill/>
          <a:ln>
            <a:noFill/>
          </a:ln>
        </p:spPr>
        <p:txBody>
          <a:bodyPr wrap="none" lIns="0" tIns="0" rIns="0" bIns="0" anchor="t" anchorCtr="0">
            <a:spAutoFit/>
          </a:bodyPr>
          <a:lstStyle/>
          <a:p>
            <a:pPr algn="ctr"/>
            <a:r>
              <a:rPr lang="zh-CN" sz="975" dirty="0">
                <a:solidFill>
                  <a:srgbClr val="5F6368"/>
                </a:solidFill>
                <a:latin typeface="Consolas"/>
                <a:ea typeface="Microsoft YaHei"/>
                <a:cs typeface="Consolas"/>
              </a:rPr>
              <a:t>[0.1, -0.5, ...]</a:t>
            </a:r>
          </a:p>
        </p:txBody>
      </p:sp>
      <p:sp>
        <p:nvSpPr>
          <p:cNvPr id="40" name="Rectangle 40"/>
          <p:cNvSpPr/>
          <p:nvPr/>
        </p:nvSpPr>
        <p:spPr>
          <a:xfrm>
            <a:off x="3867150" y="3803523"/>
            <a:ext cx="1504950" cy="266700"/>
          </a:xfrm>
          <a:prstGeom prst="roundRect">
            <a:avLst>
              <a:gd name="adj" fmla="val 25000"/>
            </a:avLst>
          </a:prstGeom>
          <a:solidFill>
            <a:srgbClr val="FFFFFF"/>
          </a:solidFill>
          <a:ln w="10478">
            <a:solidFill>
              <a:srgbClr val="E4E7EB"/>
            </a:solidFill>
          </a:ln>
        </p:spPr>
      </p:sp>
      <p:sp>
        <p:nvSpPr>
          <p:cNvPr id="41" name="TextBox 41"/>
          <p:cNvSpPr txBox="1"/>
          <p:nvPr/>
        </p:nvSpPr>
        <p:spPr>
          <a:xfrm>
            <a:off x="4034088" y="3879247"/>
            <a:ext cx="1171075" cy="198120"/>
          </a:xfrm>
          <a:prstGeom prst="rect">
            <a:avLst/>
          </a:prstGeom>
          <a:noFill/>
          <a:ln>
            <a:noFill/>
          </a:ln>
        </p:spPr>
        <p:txBody>
          <a:bodyPr wrap="none" lIns="0" tIns="0" rIns="0" bIns="0" anchor="t" anchorCtr="0">
            <a:spAutoFit/>
          </a:bodyPr>
          <a:lstStyle/>
          <a:p>
            <a:pPr algn="ctr"/>
            <a:r>
              <a:rPr lang="zh-CN" sz="975" dirty="0">
                <a:solidFill>
                  <a:srgbClr val="5F6368"/>
                </a:solidFill>
                <a:latin typeface="Consolas"/>
                <a:ea typeface="Microsoft YaHei"/>
                <a:cs typeface="Consolas"/>
              </a:rPr>
              <a:t>[-0.1, 0.9, ...]</a:t>
            </a:r>
          </a:p>
        </p:txBody>
      </p:sp>
      <p:sp>
        <p:nvSpPr>
          <p:cNvPr id="42" name="Rectangle 42"/>
          <p:cNvSpPr/>
          <p:nvPr/>
        </p:nvSpPr>
        <p:spPr>
          <a:xfrm>
            <a:off x="3867150" y="4174998"/>
            <a:ext cx="1504950" cy="266700"/>
          </a:xfrm>
          <a:prstGeom prst="roundRect">
            <a:avLst>
              <a:gd name="adj" fmla="val 25000"/>
            </a:avLst>
          </a:prstGeom>
          <a:solidFill>
            <a:srgbClr val="FFFFFF"/>
          </a:solidFill>
          <a:ln w="10478">
            <a:solidFill>
              <a:srgbClr val="E4E7EB"/>
            </a:solidFill>
          </a:ln>
        </p:spPr>
      </p:sp>
      <p:sp>
        <p:nvSpPr>
          <p:cNvPr id="43" name="TextBox 43"/>
          <p:cNvSpPr txBox="1"/>
          <p:nvPr/>
        </p:nvSpPr>
        <p:spPr>
          <a:xfrm>
            <a:off x="4016288" y="4250722"/>
            <a:ext cx="1206675" cy="198120"/>
          </a:xfrm>
          <a:prstGeom prst="rect">
            <a:avLst/>
          </a:prstGeom>
          <a:noFill/>
          <a:ln>
            <a:noFill/>
          </a:ln>
        </p:spPr>
        <p:txBody>
          <a:bodyPr wrap="none" lIns="0" tIns="0" rIns="0" bIns="0" anchor="t" anchorCtr="0">
            <a:spAutoFit/>
          </a:bodyPr>
          <a:lstStyle/>
          <a:p>
            <a:pPr algn="ctr"/>
            <a:r>
              <a:rPr lang="zh-CN" sz="975" dirty="0">
                <a:solidFill>
                  <a:srgbClr val="5F6368"/>
                </a:solidFill>
                <a:latin typeface="Consolas"/>
                <a:ea typeface="Microsoft YaHei"/>
                <a:cs typeface="Consolas"/>
              </a:rPr>
              <a:t>[-0.8, 0.2, ...]</a:t>
            </a:r>
          </a:p>
        </p:txBody>
      </p:sp>
      <p:sp>
        <p:nvSpPr>
          <p:cNvPr id="44" name="TextBox 44"/>
          <p:cNvSpPr txBox="1"/>
          <p:nvPr/>
        </p:nvSpPr>
        <p:spPr>
          <a:xfrm>
            <a:off x="3885248" y="4760595"/>
            <a:ext cx="1468755" cy="182880"/>
          </a:xfrm>
          <a:prstGeom prst="rect">
            <a:avLst/>
          </a:prstGeom>
          <a:noFill/>
          <a:ln>
            <a:noFill/>
          </a:ln>
        </p:spPr>
        <p:txBody>
          <a:bodyPr wrap="none" lIns="0" tIns="0" rIns="0" bIns="0" anchor="t" anchorCtr="0">
            <a:spAutoFit/>
          </a:bodyPr>
          <a:lstStyle/>
          <a:p>
            <a:pPr algn="ctr"/>
            <a:r>
              <a:rPr lang="zh-CN" sz="900" dirty="0">
                <a:solidFill>
                  <a:srgbClr val="8A9099"/>
                </a:solidFill>
                <a:latin typeface="Arial"/>
                <a:ea typeface="Microsoft YaHei"/>
                <a:cs typeface="Arial"/>
              </a:rPr>
              <a:t>向量序列成为模型的输入</a:t>
            </a:r>
          </a:p>
        </p:txBody>
      </p:sp>
      <p:sp>
        <p:nvSpPr>
          <p:cNvPr id="46" name="Rectangle 46"/>
          <p:cNvSpPr/>
          <p:nvPr/>
        </p:nvSpPr>
        <p:spPr>
          <a:xfrm>
            <a:off x="6172200" y="2000250"/>
            <a:ext cx="2381250" cy="3181350"/>
          </a:xfrm>
          <a:prstGeom prst="roundRect">
            <a:avLst>
              <a:gd name="adj" fmla="val 5600"/>
            </a:avLst>
          </a:prstGeom>
          <a:solidFill>
            <a:srgbClr val="FFFFFF"/>
          </a:solidFill>
          <a:ln w="11430">
            <a:solidFill>
              <a:srgbClr val="E4E7EB"/>
            </a:solidFill>
          </a:ln>
          <a:effectLst>
            <a:outerShdw blurRad="152400" dist="38100" dir="5400000" algn="ctr" rotWithShape="0">
              <a:srgbClr val="000000">
                <a:alpha val="7500"/>
              </a:srgbClr>
            </a:outerShdw>
          </a:effectLst>
        </p:spPr>
      </p:sp>
      <p:sp>
        <p:nvSpPr>
          <p:cNvPr id="47" name="Ellipse 47"/>
          <p:cNvSpPr/>
          <p:nvPr/>
        </p:nvSpPr>
        <p:spPr>
          <a:xfrm>
            <a:off x="6315075" y="2152650"/>
            <a:ext cx="323850" cy="323850"/>
          </a:xfrm>
          <a:prstGeom prst="ellipse">
            <a:avLst/>
          </a:prstGeom>
          <a:solidFill>
            <a:srgbClr val="A50021"/>
          </a:solidFill>
          <a:ln>
            <a:noFill/>
          </a:ln>
        </p:spPr>
      </p:sp>
      <p:sp>
        <p:nvSpPr>
          <p:cNvPr id="48" name="TextBox 48"/>
          <p:cNvSpPr txBox="1"/>
          <p:nvPr/>
        </p:nvSpPr>
        <p:spPr>
          <a:xfrm>
            <a:off x="6367826" y="2250281"/>
            <a:ext cx="218349"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SimHei"/>
                <a:cs typeface="Arial"/>
              </a:rPr>
              <a:t>03</a:t>
            </a:r>
          </a:p>
        </p:txBody>
      </p:sp>
      <p:sp>
        <p:nvSpPr>
          <p:cNvPr id="49" name="TextBox 49"/>
          <p:cNvSpPr txBox="1"/>
          <p:nvPr/>
        </p:nvSpPr>
        <p:spPr>
          <a:xfrm>
            <a:off x="6722745" y="2203132"/>
            <a:ext cx="1307068" cy="335280"/>
          </a:xfrm>
          <a:prstGeom prst="rect">
            <a:avLst/>
          </a:prstGeom>
          <a:noFill/>
          <a:ln>
            <a:noFill/>
          </a:ln>
        </p:spPr>
        <p:txBody>
          <a:bodyPr wrap="none" lIns="0" tIns="0" rIns="0" bIns="0" anchor="t" anchorCtr="0">
            <a:spAutoFit/>
          </a:bodyPr>
          <a:lstStyle/>
          <a:p>
            <a:pPr algn="l"/>
            <a:r>
              <a:rPr lang="zh-CN" sz="1650" b="1" dirty="0">
                <a:solidFill>
                  <a:srgbClr val="1F2328"/>
                </a:solidFill>
                <a:latin typeface="Arial"/>
                <a:ea typeface="SimHei"/>
                <a:cs typeface="Arial"/>
              </a:rPr>
              <a:t>大模型处理</a:t>
            </a:r>
          </a:p>
        </p:txBody>
      </p:sp>
      <p:sp>
        <p:nvSpPr>
          <p:cNvPr id="50" name="TextBox 50"/>
          <p:cNvSpPr txBox="1"/>
          <p:nvPr/>
        </p:nvSpPr>
        <p:spPr>
          <a:xfrm>
            <a:off x="6388418" y="2618899"/>
            <a:ext cx="2024593" cy="123111"/>
          </a:xfrm>
          <a:prstGeom prst="rect">
            <a:avLst/>
          </a:prstGeom>
          <a:noFill/>
          <a:ln>
            <a:noFill/>
          </a:ln>
        </p:spPr>
        <p:txBody>
          <a:bodyPr wrap="none" lIns="0" tIns="0" rIns="0" bIns="0" anchor="t" anchorCtr="0">
            <a:spAutoFit/>
          </a:bodyPr>
          <a:lstStyle/>
          <a:p>
            <a:pPr algn="l"/>
            <a:r>
              <a:rPr lang="zh-CN" sz="800" dirty="0">
                <a:solidFill>
                  <a:srgbClr val="5F6368"/>
                </a:solidFill>
                <a:latin typeface="Arial"/>
                <a:ea typeface="Microsoft YaHei"/>
                <a:cs typeface="Arial"/>
              </a:rPr>
              <a:t>Transformer 在向量序列中寻找上下文模式。</a:t>
            </a:r>
          </a:p>
        </p:txBody>
      </p:sp>
      <p:sp>
        <p:nvSpPr>
          <p:cNvPr id="51" name="Ellipse 51"/>
          <p:cNvSpPr/>
          <p:nvPr/>
        </p:nvSpPr>
        <p:spPr>
          <a:xfrm>
            <a:off x="6677025" y="3038475"/>
            <a:ext cx="1371600" cy="1371600"/>
          </a:xfrm>
          <a:prstGeom prst="ellipse">
            <a:avLst/>
          </a:prstGeom>
          <a:solidFill>
            <a:srgbClr val="F8F9FA"/>
          </a:solidFill>
          <a:ln w="22860">
            <a:solidFill>
              <a:srgbClr val="A50021"/>
            </a:solidFill>
          </a:ln>
        </p:spPr>
      </p:sp>
      <p:grpSp>
        <p:nvGrpSpPr>
          <p:cNvPr id="80" name="组合 79">
            <a:extLst>
              <a:ext uri="{FF2B5EF4-FFF2-40B4-BE49-F238E27FC236}">
                <a16:creationId xmlns:a16="http://schemas.microsoft.com/office/drawing/2014/main" id="{A6381CD8-E47F-4F36-9732-246EE683D78C}"/>
              </a:ext>
            </a:extLst>
          </p:cNvPr>
          <p:cNvGrpSpPr/>
          <p:nvPr/>
        </p:nvGrpSpPr>
        <p:grpSpPr>
          <a:xfrm>
            <a:off x="6867525" y="3252787"/>
            <a:ext cx="990600" cy="971550"/>
            <a:chOff x="6867525" y="3252787"/>
            <a:chExt cx="990600" cy="971550"/>
          </a:xfrm>
        </p:grpSpPr>
        <p:sp>
          <p:nvSpPr>
            <p:cNvPr id="52" name="Ellipse 52"/>
            <p:cNvSpPr/>
            <p:nvPr/>
          </p:nvSpPr>
          <p:spPr>
            <a:xfrm>
              <a:off x="6877050" y="3252787"/>
              <a:ext cx="971550" cy="971550"/>
            </a:xfrm>
            <a:prstGeom prst="ellipse">
              <a:avLst/>
            </a:prstGeom>
            <a:solidFill>
              <a:srgbClr val="FFFFFF"/>
            </a:solidFill>
            <a:ln w="11430">
              <a:solidFill>
                <a:srgbClr val="E4E7EB"/>
              </a:solidFill>
            </a:ln>
          </p:spPr>
        </p:sp>
        <p:grpSp>
          <p:nvGrpSpPr>
            <p:cNvPr id="79" name="组合 78">
              <a:extLst>
                <a:ext uri="{FF2B5EF4-FFF2-40B4-BE49-F238E27FC236}">
                  <a16:creationId xmlns:a16="http://schemas.microsoft.com/office/drawing/2014/main" id="{794BAB21-B91A-4FA4-9C6E-705117AA2423}"/>
                </a:ext>
              </a:extLst>
            </p:cNvPr>
            <p:cNvGrpSpPr/>
            <p:nvPr/>
          </p:nvGrpSpPr>
          <p:grpSpPr>
            <a:xfrm>
              <a:off x="6867525" y="3276600"/>
              <a:ext cx="990600" cy="923925"/>
              <a:chOff x="6867525" y="3314700"/>
              <a:chExt cx="990600" cy="923925"/>
            </a:xfrm>
          </p:grpSpPr>
          <p:sp>
            <p:nvSpPr>
              <p:cNvPr id="53" name="Freeform 53"/>
              <p:cNvSpPr/>
              <p:nvPr/>
            </p:nvSpPr>
            <p:spPr>
              <a:xfrm>
                <a:off x="6867525" y="3314700"/>
                <a:ext cx="990600" cy="923925"/>
              </a:xfrm>
              <a:custGeom>
                <a:avLst/>
                <a:gdLst/>
                <a:ahLst/>
                <a:cxnLst/>
                <a:rect l="l" t="t" r="r" b="b"/>
                <a:pathLst>
                  <a:path w="990600" h="923925">
                    <a:moveTo>
                      <a:pt x="133350" y="323850"/>
                    </a:moveTo>
                    <a:cubicBezTo>
                      <a:pt x="133350" y="114300"/>
                      <a:pt x="323850" y="0"/>
                      <a:pt x="495300" y="171450"/>
                    </a:cubicBezTo>
                    <a:cubicBezTo>
                      <a:pt x="666750" y="0"/>
                      <a:pt x="857250" y="114300"/>
                      <a:pt x="857250" y="323850"/>
                    </a:cubicBezTo>
                    <a:cubicBezTo>
                      <a:pt x="990600" y="400050"/>
                      <a:pt x="981075" y="619125"/>
                      <a:pt x="809625" y="676275"/>
                    </a:cubicBezTo>
                    <a:cubicBezTo>
                      <a:pt x="781050" y="885825"/>
                      <a:pt x="581025" y="923925"/>
                      <a:pt x="495300" y="742950"/>
                    </a:cubicBezTo>
                    <a:cubicBezTo>
                      <a:pt x="409575" y="923925"/>
                      <a:pt x="209550" y="885825"/>
                      <a:pt x="180975" y="676275"/>
                    </a:cubicBezTo>
                    <a:cubicBezTo>
                      <a:pt x="9525" y="619125"/>
                      <a:pt x="0" y="400050"/>
                      <a:pt x="133350" y="323850"/>
                    </a:cubicBezTo>
                    <a:close/>
                  </a:path>
                </a:pathLst>
              </a:custGeom>
              <a:solidFill>
                <a:srgbClr val="A50021">
                  <a:alpha val="16000"/>
                </a:srgbClr>
              </a:solidFill>
              <a:ln w="19050">
                <a:solidFill>
                  <a:srgbClr val="A50021"/>
                </a:solidFill>
              </a:ln>
            </p:spPr>
          </p:sp>
          <p:sp>
            <p:nvSpPr>
              <p:cNvPr id="54" name="TextBox 54"/>
              <p:cNvSpPr txBox="1"/>
              <p:nvPr/>
            </p:nvSpPr>
            <p:spPr>
              <a:xfrm>
                <a:off x="6968720" y="3572828"/>
                <a:ext cx="788210" cy="518160"/>
              </a:xfrm>
              <a:prstGeom prst="rect">
                <a:avLst/>
              </a:prstGeom>
              <a:noFill/>
              <a:ln>
                <a:noFill/>
              </a:ln>
            </p:spPr>
            <p:txBody>
              <a:bodyPr wrap="none" lIns="0" tIns="0" rIns="0" bIns="0" anchor="t" anchorCtr="0">
                <a:spAutoFit/>
              </a:bodyPr>
              <a:lstStyle/>
              <a:p>
                <a:pPr algn="ctr"/>
                <a:r>
                  <a:rPr lang="zh-CN" sz="2550" b="1" dirty="0">
                    <a:solidFill>
                      <a:srgbClr val="A50021"/>
                    </a:solidFill>
                    <a:latin typeface="Arial"/>
                    <a:ea typeface="SimHei"/>
                    <a:cs typeface="Arial"/>
                  </a:rPr>
                  <a:t>LLM</a:t>
                </a:r>
              </a:p>
            </p:txBody>
          </p:sp>
        </p:grpSp>
      </p:grpSp>
      <p:sp>
        <p:nvSpPr>
          <p:cNvPr id="55" name="Rectangle 55"/>
          <p:cNvSpPr/>
          <p:nvPr/>
        </p:nvSpPr>
        <p:spPr>
          <a:xfrm>
            <a:off x="6667500" y="4667250"/>
            <a:ext cx="1390650" cy="304800"/>
          </a:xfrm>
          <a:prstGeom prst="roundRect">
            <a:avLst>
              <a:gd name="adj" fmla="val 50000"/>
            </a:avLst>
          </a:prstGeom>
          <a:solidFill>
            <a:srgbClr val="A50021"/>
          </a:solidFill>
          <a:ln>
            <a:noFill/>
          </a:ln>
        </p:spPr>
      </p:sp>
      <p:sp>
        <p:nvSpPr>
          <p:cNvPr id="56" name="TextBox 56"/>
          <p:cNvSpPr txBox="1"/>
          <p:nvPr/>
        </p:nvSpPr>
        <p:spPr>
          <a:xfrm>
            <a:off x="6611008" y="4745831"/>
            <a:ext cx="150363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SimHei"/>
                <a:cs typeface="Arial"/>
              </a:rPr>
              <a:t>Transformer 架构</a:t>
            </a:r>
          </a:p>
        </p:txBody>
      </p:sp>
      <p:sp>
        <p:nvSpPr>
          <p:cNvPr id="58" name="Rectangle 58"/>
          <p:cNvSpPr/>
          <p:nvPr/>
        </p:nvSpPr>
        <p:spPr>
          <a:xfrm>
            <a:off x="8915400" y="2000250"/>
            <a:ext cx="2381250" cy="3181350"/>
          </a:xfrm>
          <a:prstGeom prst="roundRect">
            <a:avLst>
              <a:gd name="adj" fmla="val 5600"/>
            </a:avLst>
          </a:prstGeom>
          <a:solidFill>
            <a:srgbClr val="FFFFFF"/>
          </a:solidFill>
          <a:ln w="11430">
            <a:solidFill>
              <a:srgbClr val="E4E7EB"/>
            </a:solidFill>
          </a:ln>
          <a:effectLst>
            <a:outerShdw blurRad="152400" dist="38100" dir="5400000" algn="ctr" rotWithShape="0">
              <a:srgbClr val="000000">
                <a:alpha val="7500"/>
              </a:srgbClr>
            </a:outerShdw>
          </a:effectLst>
        </p:spPr>
      </p:sp>
      <p:sp>
        <p:nvSpPr>
          <p:cNvPr id="59" name="Ellipse 59"/>
          <p:cNvSpPr/>
          <p:nvPr/>
        </p:nvSpPr>
        <p:spPr>
          <a:xfrm>
            <a:off x="9058275" y="2152650"/>
            <a:ext cx="323850" cy="323850"/>
          </a:xfrm>
          <a:prstGeom prst="ellipse">
            <a:avLst/>
          </a:prstGeom>
          <a:solidFill>
            <a:srgbClr val="A50021"/>
          </a:solidFill>
          <a:ln>
            <a:noFill/>
          </a:ln>
        </p:spPr>
      </p:sp>
      <p:sp>
        <p:nvSpPr>
          <p:cNvPr id="60" name="TextBox 60"/>
          <p:cNvSpPr txBox="1"/>
          <p:nvPr/>
        </p:nvSpPr>
        <p:spPr>
          <a:xfrm>
            <a:off x="9111026" y="2250281"/>
            <a:ext cx="218349"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SimHei"/>
                <a:cs typeface="Arial"/>
              </a:rPr>
              <a:t>04</a:t>
            </a:r>
          </a:p>
        </p:txBody>
      </p:sp>
      <p:sp>
        <p:nvSpPr>
          <p:cNvPr id="61" name="TextBox 61"/>
          <p:cNvSpPr txBox="1"/>
          <p:nvPr/>
        </p:nvSpPr>
        <p:spPr>
          <a:xfrm>
            <a:off x="9465945" y="2203132"/>
            <a:ext cx="1054036" cy="335280"/>
          </a:xfrm>
          <a:prstGeom prst="rect">
            <a:avLst/>
          </a:prstGeom>
          <a:noFill/>
          <a:ln>
            <a:noFill/>
          </a:ln>
        </p:spPr>
        <p:txBody>
          <a:bodyPr wrap="none" lIns="0" tIns="0" rIns="0" bIns="0" anchor="t" anchorCtr="0">
            <a:spAutoFit/>
          </a:bodyPr>
          <a:lstStyle/>
          <a:p>
            <a:pPr algn="l"/>
            <a:r>
              <a:rPr lang="zh-CN" sz="1650" b="1" dirty="0">
                <a:solidFill>
                  <a:srgbClr val="1F2328"/>
                </a:solidFill>
                <a:latin typeface="Arial"/>
                <a:ea typeface="SimHei"/>
                <a:cs typeface="Arial"/>
              </a:rPr>
              <a:t>预测输出</a:t>
            </a:r>
          </a:p>
        </p:txBody>
      </p:sp>
      <p:sp>
        <p:nvSpPr>
          <p:cNvPr id="62" name="TextBox 62"/>
          <p:cNvSpPr txBox="1"/>
          <p:nvPr/>
        </p:nvSpPr>
        <p:spPr>
          <a:xfrm>
            <a:off x="9131618" y="2618899"/>
            <a:ext cx="2051844" cy="123111"/>
          </a:xfrm>
          <a:prstGeom prst="rect">
            <a:avLst/>
          </a:prstGeom>
          <a:noFill/>
          <a:ln>
            <a:noFill/>
          </a:ln>
        </p:spPr>
        <p:txBody>
          <a:bodyPr wrap="none" lIns="0" tIns="0" rIns="0" bIns="0" anchor="t" anchorCtr="0">
            <a:spAutoFit/>
          </a:bodyPr>
          <a:lstStyle/>
          <a:p>
            <a:pPr algn="l"/>
            <a:r>
              <a:rPr lang="zh-CN" sz="800" dirty="0">
                <a:solidFill>
                  <a:srgbClr val="5F6368"/>
                </a:solidFill>
                <a:latin typeface="Arial"/>
                <a:ea typeface="Microsoft YaHei"/>
                <a:cs typeface="Arial"/>
              </a:rPr>
              <a:t>输出概率最高的新向量，再映射回下一个字。</a:t>
            </a:r>
          </a:p>
        </p:txBody>
      </p:sp>
      <p:sp>
        <p:nvSpPr>
          <p:cNvPr id="63" name="Rectangle 63"/>
          <p:cNvSpPr/>
          <p:nvPr/>
        </p:nvSpPr>
        <p:spPr>
          <a:xfrm>
            <a:off x="9391650" y="3057525"/>
            <a:ext cx="1428750" cy="1676400"/>
          </a:xfrm>
          <a:prstGeom prst="roundRect">
            <a:avLst>
              <a:gd name="adj" fmla="val 9333"/>
            </a:avLst>
          </a:prstGeom>
          <a:solidFill>
            <a:srgbClr val="FFFFFF"/>
          </a:solidFill>
          <a:ln w="19050">
            <a:solidFill>
              <a:srgbClr val="A50021"/>
            </a:solidFill>
            <a:custDash>
              <a:ds d="350000" sp="350000"/>
            </a:custDash>
          </a:ln>
        </p:spPr>
      </p:sp>
      <p:grpSp>
        <p:nvGrpSpPr>
          <p:cNvPr id="77" name="组合 76">
            <a:extLst>
              <a:ext uri="{FF2B5EF4-FFF2-40B4-BE49-F238E27FC236}">
                <a16:creationId xmlns:a16="http://schemas.microsoft.com/office/drawing/2014/main" id="{AC0A23B5-80F3-4B5E-92E7-FB9FD259DF37}"/>
              </a:ext>
            </a:extLst>
          </p:cNvPr>
          <p:cNvGrpSpPr/>
          <p:nvPr/>
        </p:nvGrpSpPr>
        <p:grpSpPr>
          <a:xfrm>
            <a:off x="9585246" y="3220117"/>
            <a:ext cx="1041559" cy="285750"/>
            <a:chOff x="9585246" y="3343275"/>
            <a:chExt cx="1041559" cy="285750"/>
          </a:xfrm>
        </p:grpSpPr>
        <p:sp>
          <p:nvSpPr>
            <p:cNvPr id="64" name="Rectangle 64"/>
            <p:cNvSpPr/>
            <p:nvPr/>
          </p:nvSpPr>
          <p:spPr>
            <a:xfrm>
              <a:off x="9601200" y="3343275"/>
              <a:ext cx="1009650" cy="285750"/>
            </a:xfrm>
            <a:prstGeom prst="roundRect">
              <a:avLst>
                <a:gd name="adj" fmla="val 26667"/>
              </a:avLst>
            </a:prstGeom>
            <a:solidFill>
              <a:srgbClr val="F6E8EC"/>
            </a:solidFill>
            <a:ln w="11430">
              <a:solidFill>
                <a:srgbClr val="A50021"/>
              </a:solidFill>
            </a:ln>
          </p:spPr>
        </p:sp>
        <p:sp>
          <p:nvSpPr>
            <p:cNvPr id="65" name="TextBox 65"/>
            <p:cNvSpPr txBox="1"/>
            <p:nvPr/>
          </p:nvSpPr>
          <p:spPr>
            <a:xfrm>
              <a:off x="9585246" y="3394710"/>
              <a:ext cx="1041559" cy="182880"/>
            </a:xfrm>
            <a:prstGeom prst="rect">
              <a:avLst/>
            </a:prstGeom>
            <a:noFill/>
            <a:ln>
              <a:noFill/>
            </a:ln>
          </p:spPr>
          <p:txBody>
            <a:bodyPr wrap="none" lIns="0" tIns="0" rIns="0" bIns="0" anchor="t" anchorCtr="0">
              <a:spAutoFit/>
            </a:bodyPr>
            <a:lstStyle/>
            <a:p>
              <a:pPr algn="ctr"/>
              <a:r>
                <a:rPr lang="zh-CN" sz="900" dirty="0">
                  <a:solidFill>
                    <a:srgbClr val="A50021"/>
                  </a:solidFill>
                  <a:latin typeface="Consolas"/>
                  <a:ea typeface="Microsoft YaHei"/>
                  <a:cs typeface="Consolas"/>
                </a:rPr>
                <a:t>[0.8, 0.2, ...]</a:t>
              </a:r>
            </a:p>
          </p:txBody>
        </p:sp>
      </p:grpSp>
      <p:sp>
        <p:nvSpPr>
          <p:cNvPr id="66" name="Line 66"/>
          <p:cNvSpPr/>
          <p:nvPr/>
        </p:nvSpPr>
        <p:spPr>
          <a:xfrm>
            <a:off x="10106025" y="3633788"/>
            <a:ext cx="1" cy="314325"/>
          </a:xfrm>
          <a:prstGeom prst="line">
            <a:avLst/>
          </a:prstGeom>
          <a:noFill/>
          <a:ln w="24765">
            <a:solidFill>
              <a:srgbClr val="A50021"/>
            </a:solidFill>
            <a:tailEnd type="triangle" w="lg" len="lg"/>
          </a:ln>
        </p:spPr>
      </p:sp>
      <p:grpSp>
        <p:nvGrpSpPr>
          <p:cNvPr id="78" name="组合 77">
            <a:extLst>
              <a:ext uri="{FF2B5EF4-FFF2-40B4-BE49-F238E27FC236}">
                <a16:creationId xmlns:a16="http://schemas.microsoft.com/office/drawing/2014/main" id="{55157F3E-7498-421B-94A9-B86980C97A15}"/>
              </a:ext>
            </a:extLst>
          </p:cNvPr>
          <p:cNvGrpSpPr/>
          <p:nvPr/>
        </p:nvGrpSpPr>
        <p:grpSpPr>
          <a:xfrm>
            <a:off x="9753600" y="4049269"/>
            <a:ext cx="704850" cy="671512"/>
            <a:chOff x="9753600" y="4267200"/>
            <a:chExt cx="704850" cy="671512"/>
          </a:xfrm>
        </p:grpSpPr>
        <p:sp>
          <p:nvSpPr>
            <p:cNvPr id="67" name="Rectangle 67"/>
            <p:cNvSpPr/>
            <p:nvPr/>
          </p:nvSpPr>
          <p:spPr>
            <a:xfrm>
              <a:off x="9753600" y="4267200"/>
              <a:ext cx="704850" cy="571500"/>
            </a:xfrm>
            <a:prstGeom prst="roundRect">
              <a:avLst>
                <a:gd name="adj" fmla="val 20000"/>
              </a:avLst>
            </a:prstGeom>
            <a:solidFill>
              <a:srgbClr val="F8F9FA"/>
            </a:solidFill>
            <a:ln w="11430">
              <a:solidFill>
                <a:srgbClr val="E4E7EB"/>
              </a:solidFill>
            </a:ln>
          </p:spPr>
        </p:sp>
        <p:sp>
          <p:nvSpPr>
            <p:cNvPr id="68" name="TextBox 68"/>
            <p:cNvSpPr txBox="1"/>
            <p:nvPr/>
          </p:nvSpPr>
          <p:spPr>
            <a:xfrm>
              <a:off x="9851303" y="4359592"/>
              <a:ext cx="509445" cy="579120"/>
            </a:xfrm>
            <a:prstGeom prst="rect">
              <a:avLst/>
            </a:prstGeom>
            <a:noFill/>
            <a:ln>
              <a:noFill/>
            </a:ln>
          </p:spPr>
          <p:txBody>
            <a:bodyPr wrap="none" lIns="0" tIns="0" rIns="0" bIns="0" anchor="t" anchorCtr="0">
              <a:spAutoFit/>
            </a:bodyPr>
            <a:lstStyle/>
            <a:p>
              <a:pPr algn="ctr"/>
              <a:r>
                <a:rPr lang="zh-CN" sz="2850" b="1" dirty="0">
                  <a:solidFill>
                    <a:srgbClr val="A50021"/>
                  </a:solidFill>
                  <a:latin typeface="Arial"/>
                  <a:ea typeface="SimHei"/>
                  <a:cs typeface="Arial"/>
                </a:rPr>
                <a:t>好</a:t>
              </a:r>
            </a:p>
          </p:txBody>
        </p:sp>
      </p:grpSp>
      <p:sp>
        <p:nvSpPr>
          <p:cNvPr id="69" name="TextBox 69"/>
          <p:cNvSpPr txBox="1"/>
          <p:nvPr/>
        </p:nvSpPr>
        <p:spPr>
          <a:xfrm>
            <a:off x="9496520" y="4893945"/>
            <a:ext cx="1219010" cy="182880"/>
          </a:xfrm>
          <a:prstGeom prst="rect">
            <a:avLst/>
          </a:prstGeom>
          <a:noFill/>
          <a:ln>
            <a:noFill/>
          </a:ln>
        </p:spPr>
        <p:txBody>
          <a:bodyPr wrap="none" lIns="0" tIns="0" rIns="0" bIns="0" anchor="t" anchorCtr="0">
            <a:spAutoFit/>
          </a:bodyPr>
          <a:lstStyle/>
          <a:p>
            <a:pPr algn="ctr"/>
            <a:r>
              <a:rPr lang="zh-CN" sz="900" dirty="0">
                <a:solidFill>
                  <a:srgbClr val="8A9099"/>
                </a:solidFill>
                <a:latin typeface="Arial"/>
                <a:ea typeface="Microsoft YaHei"/>
                <a:cs typeface="Arial"/>
              </a:rPr>
              <a:t>“好”成为下一步预测</a:t>
            </a:r>
          </a:p>
        </p:txBody>
      </p:sp>
      <p:sp>
        <p:nvSpPr>
          <p:cNvPr id="71" name="Rectangle 71"/>
          <p:cNvSpPr/>
          <p:nvPr/>
        </p:nvSpPr>
        <p:spPr>
          <a:xfrm>
            <a:off x="1581150" y="5562600"/>
            <a:ext cx="9029700" cy="495300"/>
          </a:xfrm>
          <a:prstGeom prst="roundRect">
            <a:avLst>
              <a:gd name="adj" fmla="val 50000"/>
            </a:avLst>
          </a:prstGeom>
          <a:solidFill>
            <a:srgbClr val="1F2A3A"/>
          </a:solidFill>
          <a:ln>
            <a:noFill/>
          </a:ln>
        </p:spPr>
      </p:sp>
      <p:sp>
        <p:nvSpPr>
          <p:cNvPr id="72" name="TextBox 72"/>
          <p:cNvSpPr txBox="1"/>
          <p:nvPr/>
        </p:nvSpPr>
        <p:spPr>
          <a:xfrm>
            <a:off x="3874237" y="5715000"/>
            <a:ext cx="4443524" cy="230832"/>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SimHei"/>
                <a:cs typeface="Arial"/>
              </a:rPr>
              <a:t>输入序列向量 → 模型处理 → 输出概率最高的新向量</a:t>
            </a:r>
          </a:p>
        </p:txBody>
      </p:sp>
      <p:sp>
        <p:nvSpPr>
          <p:cNvPr id="74" name="Line 74"/>
          <p:cNvSpPr/>
          <p:nvPr/>
        </p:nvSpPr>
        <p:spPr>
          <a:xfrm>
            <a:off x="685800" y="6286500"/>
            <a:ext cx="10820400" cy="9525"/>
          </a:xfrm>
          <a:custGeom>
            <a:avLst/>
            <a:gdLst/>
            <a:ahLst/>
            <a:cxnLst/>
            <a:rect l="l" t="t" r="r" b="b"/>
            <a:pathLst>
              <a:path w="10820400" h="9525">
                <a:moveTo>
                  <a:pt x="0" y="0"/>
                </a:moveTo>
                <a:lnTo>
                  <a:pt x="10820400" y="0"/>
                </a:lnTo>
              </a:path>
            </a:pathLst>
          </a:custGeom>
          <a:noFill/>
          <a:ln w="11430">
            <a:solidFill>
              <a:srgbClr val="E4E7EB"/>
            </a:solidFill>
          </a:ln>
        </p:spPr>
      </p:sp>
      <p:sp>
        <p:nvSpPr>
          <p:cNvPr id="75" name="TextBox 75"/>
          <p:cNvSpPr txBox="1"/>
          <p:nvPr/>
        </p:nvSpPr>
        <p:spPr>
          <a:xfrm>
            <a:off x="5825800" y="6458902"/>
            <a:ext cx="540401"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Arial"/>
                <a:ea typeface="SimHei"/>
                <a:cs typeface="Arial"/>
              </a:rPr>
              <a:t>07 / 27</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FFFFF"/>
          </a:solidFill>
          <a:ln>
            <a:noFill/>
          </a:ln>
        </p:spPr>
      </p:sp>
      <p:grpSp>
        <p:nvGrpSpPr>
          <p:cNvPr id="7" name="header"/>
          <p:cNvGrpSpPr/>
          <p:nvPr/>
        </p:nvGrpSpPr>
        <p:grpSpPr>
          <a:xfrm>
            <a:off x="657225" y="419100"/>
            <a:ext cx="11065192" cy="869156"/>
            <a:chOff x="657225" y="419100"/>
            <a:chExt cx="11065192" cy="869156"/>
          </a:xfrm>
        </p:grpSpPr>
        <p:pic>
          <p:nvPicPr>
            <p:cNvPr id="3" name="Image 3"/>
            <p:cNvPicPr>
              <a:picLocks noChangeAspect="1"/>
            </p:cNvPicPr>
            <p:nvPr/>
          </p:nvPicPr>
          <p:blipFill>
            <a:blip r:embed="rId3"/>
            <a:stretch>
              <a:fillRect/>
            </a:stretch>
          </p:blipFill>
          <p:spPr>
            <a:xfrm>
              <a:off x="9709785" y="419100"/>
              <a:ext cx="2012632" cy="571500"/>
            </a:xfrm>
            <a:prstGeom prst="rect">
              <a:avLst/>
            </a:prstGeom>
          </p:spPr>
        </p:pic>
        <p:sp>
          <p:nvSpPr>
            <p:cNvPr id="4" name="pageTitle"/>
            <p:cNvSpPr txBox="1"/>
            <p:nvPr/>
          </p:nvSpPr>
          <p:spPr>
            <a:xfrm>
              <a:off x="657225" y="519112"/>
              <a:ext cx="5526084" cy="457200"/>
            </a:xfrm>
            <a:prstGeom prst="rect">
              <a:avLst/>
            </a:prstGeom>
            <a:noFill/>
            <a:ln>
              <a:noFill/>
            </a:ln>
          </p:spPr>
          <p:txBody>
            <a:bodyPr wrap="none" lIns="0" tIns="0" rIns="0" bIns="0" anchor="t" anchorCtr="0">
              <a:spAutoFit/>
            </a:bodyPr>
            <a:lstStyle/>
            <a:p>
              <a:pPr algn="l"/>
              <a:r>
                <a:rPr lang="zh-CN" sz="2250" b="1" dirty="0">
                  <a:solidFill>
                    <a:srgbClr val="1F2328"/>
                  </a:solidFill>
                  <a:latin typeface="Arial"/>
                  <a:ea typeface="SimHei"/>
                  <a:cs typeface="Arial"/>
                </a:rPr>
                <a:t>AI应用演进：从手工输入到自动循环</a:t>
              </a:r>
            </a:p>
          </p:txBody>
        </p:sp>
        <p:sp>
          <p:nvSpPr>
            <p:cNvPr id="5" name="Line 5"/>
            <p:cNvSpPr/>
            <p:nvPr/>
          </p:nvSpPr>
          <p:spPr>
            <a:xfrm>
              <a:off x="685800" y="933450"/>
              <a:ext cx="2171700" cy="1"/>
            </a:xfrm>
            <a:prstGeom prst="line">
              <a:avLst/>
            </a:prstGeom>
            <a:noFill/>
            <a:ln w="28575">
              <a:solidFill>
                <a:srgbClr val="A50021"/>
              </a:solidFill>
            </a:ln>
          </p:spPr>
        </p:sp>
        <p:sp>
          <p:nvSpPr>
            <p:cNvPr id="6" name="TextBox 6"/>
            <p:cNvSpPr txBox="1"/>
            <p:nvPr/>
          </p:nvSpPr>
          <p:spPr>
            <a:xfrm>
              <a:off x="671512" y="1059656"/>
              <a:ext cx="6272212"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核心变化不是模型单点增强，而是输入、检索、记忆和输出链路的自动化程度持续提升</a:t>
              </a:r>
            </a:p>
          </p:txBody>
        </p:sp>
      </p:grpSp>
      <p:grpSp>
        <p:nvGrpSpPr>
          <p:cNvPr id="64" name="evolutionFlow"/>
          <p:cNvGrpSpPr/>
          <p:nvPr/>
        </p:nvGrpSpPr>
        <p:grpSpPr>
          <a:xfrm>
            <a:off x="685800" y="1466850"/>
            <a:ext cx="10629900" cy="3638550"/>
            <a:chOff x="685800" y="1466850"/>
            <a:chExt cx="10629900" cy="3638550"/>
          </a:xfrm>
        </p:grpSpPr>
        <p:sp>
          <p:nvSpPr>
            <p:cNvPr id="8" name="Line 8"/>
            <p:cNvSpPr/>
            <p:nvPr/>
          </p:nvSpPr>
          <p:spPr>
            <a:xfrm>
              <a:off x="3952875" y="3095625"/>
              <a:ext cx="285750" cy="1"/>
            </a:xfrm>
            <a:prstGeom prst="line">
              <a:avLst/>
            </a:prstGeom>
            <a:noFill/>
            <a:ln w="28575">
              <a:solidFill>
                <a:srgbClr val="A50021"/>
              </a:solidFill>
              <a:tailEnd type="triangle" w="lg" len="lg"/>
            </a:ln>
          </p:spPr>
        </p:sp>
        <p:sp>
          <p:nvSpPr>
            <p:cNvPr id="9" name="Line 9"/>
            <p:cNvSpPr/>
            <p:nvPr/>
          </p:nvSpPr>
          <p:spPr>
            <a:xfrm>
              <a:off x="7600950" y="3095625"/>
              <a:ext cx="285750" cy="1"/>
            </a:xfrm>
            <a:prstGeom prst="line">
              <a:avLst/>
            </a:prstGeom>
            <a:noFill/>
            <a:ln w="28575">
              <a:solidFill>
                <a:srgbClr val="A50021"/>
              </a:solidFill>
              <a:tailEnd type="triangle" w="lg" len="lg"/>
            </a:ln>
          </p:spPr>
        </p:sp>
        <p:grpSp>
          <p:nvGrpSpPr>
            <p:cNvPr id="27" name="stage-chat"/>
            <p:cNvGrpSpPr/>
            <p:nvPr/>
          </p:nvGrpSpPr>
          <p:grpSpPr>
            <a:xfrm>
              <a:off x="685800" y="1466850"/>
              <a:ext cx="3333750" cy="3638550"/>
              <a:chOff x="685800" y="1466850"/>
              <a:chExt cx="3333750" cy="3638550"/>
            </a:xfrm>
          </p:grpSpPr>
          <p:sp>
            <p:nvSpPr>
              <p:cNvPr id="10" name="chatCardBackground"/>
              <p:cNvSpPr/>
              <p:nvPr/>
            </p:nvSpPr>
            <p:spPr>
              <a:xfrm>
                <a:off x="685800" y="1466850"/>
                <a:ext cx="3333750" cy="3638550"/>
              </a:xfrm>
              <a:prstGeom prst="roundRect">
                <a:avLst>
                  <a:gd name="adj" fmla="val 2857"/>
                </a:avLst>
              </a:prstGeom>
              <a:solidFill>
                <a:srgbClr val="FAFBFC"/>
              </a:solidFill>
              <a:ln w="14288">
                <a:solidFill>
                  <a:srgbClr val="E8EAED"/>
                </a:solidFill>
              </a:ln>
            </p:spPr>
          </p:sp>
          <p:sp>
            <p:nvSpPr>
              <p:cNvPr id="11" name="chatIconBackplate"/>
              <p:cNvSpPr/>
              <p:nvPr/>
            </p:nvSpPr>
            <p:spPr>
              <a:xfrm>
                <a:off x="828675" y="1647825"/>
                <a:ext cx="476250" cy="476250"/>
              </a:xfrm>
              <a:prstGeom prst="ellipse">
                <a:avLst/>
              </a:prstGeom>
              <a:solidFill>
                <a:srgbClr val="F1E6D4"/>
              </a:solidFill>
              <a:ln>
                <a:noFill/>
              </a:ln>
            </p:spPr>
          </p:sp>
          <p:grpSp>
            <p:nvGrpSpPr>
              <p:cNvPr id="14" name="Group 14"/>
              <p:cNvGrpSpPr/>
              <p:nvPr/>
            </p:nvGrpSpPr>
            <p:grpSpPr>
              <a:xfrm>
                <a:off x="920819" y="1746636"/>
                <a:ext cx="296719" cy="289522"/>
                <a:chOff x="920819" y="1746636"/>
                <a:chExt cx="296719" cy="289522"/>
              </a:xfrm>
            </p:grpSpPr>
            <p:sp>
              <p:nvSpPr>
                <p:cNvPr id="12" name="Freeform 12"/>
                <p:cNvSpPr/>
                <p:nvPr/>
              </p:nvSpPr>
              <p:spPr>
                <a:xfrm>
                  <a:off x="928418" y="1746657"/>
                  <a:ext cx="266975" cy="273659"/>
                </a:xfrm>
                <a:custGeom>
                  <a:avLst/>
                  <a:gdLst/>
                  <a:ahLst/>
                  <a:cxnLst/>
                  <a:rect l="l" t="t" r="r" b="b"/>
                  <a:pathLst>
                    <a:path w="266975" h="273659">
                      <a:moveTo>
                        <a:pt x="266969" y="139293"/>
                      </a:moveTo>
                      <a:cubicBezTo>
                        <a:pt x="266975" y="185256"/>
                        <a:pt x="242448" y="227726"/>
                        <a:pt x="202635" y="250693"/>
                      </a:cubicBezTo>
                      <a:cubicBezTo>
                        <a:pt x="162823" y="273659"/>
                        <a:pt x="113779" y="273630"/>
                        <a:pt x="73994" y="250615"/>
                      </a:cubicBezTo>
                      <a:lnTo>
                        <a:pt x="73994" y="250615"/>
                      </a:lnTo>
                      <a:lnTo>
                        <a:pt x="23912" y="267318"/>
                      </a:lnTo>
                      <a:cubicBezTo>
                        <a:pt x="20061" y="268603"/>
                        <a:pt x="15815" y="267601"/>
                        <a:pt x="12945" y="264730"/>
                      </a:cubicBezTo>
                      <a:cubicBezTo>
                        <a:pt x="10074" y="261860"/>
                        <a:pt x="9072" y="257614"/>
                        <a:pt x="10357" y="253763"/>
                      </a:cubicBezTo>
                      <a:lnTo>
                        <a:pt x="27060" y="203681"/>
                      </a:lnTo>
                      <a:lnTo>
                        <a:pt x="27060" y="203681"/>
                      </a:lnTo>
                      <a:cubicBezTo>
                        <a:pt x="0" y="156876"/>
                        <a:pt x="5107" y="98144"/>
                        <a:pt x="39839" y="56713"/>
                      </a:cubicBezTo>
                      <a:cubicBezTo>
                        <a:pt x="74572" y="15281"/>
                        <a:pt x="131510" y="0"/>
                        <a:pt x="182320" y="18474"/>
                      </a:cubicBezTo>
                      <a:cubicBezTo>
                        <a:pt x="233130" y="36947"/>
                        <a:pt x="266957" y="85230"/>
                        <a:pt x="266969" y="139293"/>
                      </a:cubicBezTo>
                      <a:close/>
                    </a:path>
                  </a:pathLst>
                </a:custGeom>
                <a:solidFill>
                  <a:srgbClr val="B08A3C">
                    <a:alpha val="20000"/>
                  </a:srgbClr>
                </a:solidFill>
                <a:ln>
                  <a:noFill/>
                </a:ln>
              </p:spPr>
            </p:sp>
            <p:sp>
              <p:nvSpPr>
                <p:cNvPr id="13" name="Freeform 13"/>
                <p:cNvSpPr/>
                <p:nvPr/>
              </p:nvSpPr>
              <p:spPr>
                <a:xfrm>
                  <a:off x="920819" y="1746636"/>
                  <a:ext cx="296719" cy="289522"/>
                </a:xfrm>
                <a:custGeom>
                  <a:avLst/>
                  <a:gdLst/>
                  <a:ahLst/>
                  <a:cxnLst/>
                  <a:rect l="l" t="t" r="r" b="b"/>
                  <a:pathLst>
                    <a:path w="296719" h="289522">
                      <a:moveTo>
                        <a:pt x="145981" y="11"/>
                      </a:moveTo>
                      <a:cubicBezTo>
                        <a:pt x="97061" y="0"/>
                        <a:pt x="51719" y="25652"/>
                        <a:pt x="26531" y="67590"/>
                      </a:cubicBezTo>
                      <a:cubicBezTo>
                        <a:pt x="1343" y="109528"/>
                        <a:pt x="0" y="161605"/>
                        <a:pt x="22993" y="204786"/>
                      </a:cubicBezTo>
                      <a:lnTo>
                        <a:pt x="7790" y="250395"/>
                      </a:lnTo>
                      <a:cubicBezTo>
                        <a:pt x="5222" y="258096"/>
                        <a:pt x="7226" y="266588"/>
                        <a:pt x="12966" y="272329"/>
                      </a:cubicBezTo>
                      <a:cubicBezTo>
                        <a:pt x="18707" y="278070"/>
                        <a:pt x="27199" y="280074"/>
                        <a:pt x="34901" y="277505"/>
                      </a:cubicBezTo>
                      <a:lnTo>
                        <a:pt x="80509" y="262302"/>
                      </a:lnTo>
                      <a:cubicBezTo>
                        <a:pt x="131685" y="289522"/>
                        <a:pt x="194369" y="282207"/>
                        <a:pt x="237902" y="243935"/>
                      </a:cubicBezTo>
                      <a:cubicBezTo>
                        <a:pt x="281435" y="205662"/>
                        <a:pt x="296719" y="144432"/>
                        <a:pt x="276279" y="90191"/>
                      </a:cubicBezTo>
                      <a:cubicBezTo>
                        <a:pt x="255839" y="35950"/>
                        <a:pt x="203946" y="34"/>
                        <a:pt x="145981" y="11"/>
                      </a:cubicBezTo>
                      <a:close/>
                      <a:moveTo>
                        <a:pt x="145981" y="257186"/>
                      </a:moveTo>
                      <a:cubicBezTo>
                        <a:pt x="125260" y="257200"/>
                        <a:pt x="104902" y="251743"/>
                        <a:pt x="86965" y="241367"/>
                      </a:cubicBezTo>
                      <a:cubicBezTo>
                        <a:pt x="85337" y="240422"/>
                        <a:pt x="83489" y="239923"/>
                        <a:pt x="81607" y="239920"/>
                      </a:cubicBezTo>
                      <a:cubicBezTo>
                        <a:pt x="80454" y="239921"/>
                        <a:pt x="79310" y="240111"/>
                        <a:pt x="78218" y="240483"/>
                      </a:cubicBezTo>
                      <a:lnTo>
                        <a:pt x="28110" y="257186"/>
                      </a:lnTo>
                      <a:lnTo>
                        <a:pt x="44813" y="207090"/>
                      </a:lnTo>
                      <a:cubicBezTo>
                        <a:pt x="45786" y="204178"/>
                        <a:pt x="45465" y="200989"/>
                        <a:pt x="43928" y="198330"/>
                      </a:cubicBezTo>
                      <a:cubicBezTo>
                        <a:pt x="17214" y="152143"/>
                        <a:pt x="24857" y="93771"/>
                        <a:pt x="62561" y="56018"/>
                      </a:cubicBezTo>
                      <a:cubicBezTo>
                        <a:pt x="100266" y="18266"/>
                        <a:pt x="158629" y="10550"/>
                        <a:pt x="204849" y="37206"/>
                      </a:cubicBezTo>
                      <a:cubicBezTo>
                        <a:pt x="251070" y="63862"/>
                        <a:pt x="273620" y="118242"/>
                        <a:pt x="259827" y="169785"/>
                      </a:cubicBezTo>
                      <a:cubicBezTo>
                        <a:pt x="246034" y="221328"/>
                        <a:pt x="199338" y="257177"/>
                        <a:pt x="145981" y="257186"/>
                      </a:cubicBezTo>
                      <a:close/>
                      <a:moveTo>
                        <a:pt x="199560" y="117883"/>
                      </a:moveTo>
                      <a:cubicBezTo>
                        <a:pt x="199560" y="123801"/>
                        <a:pt x="194762" y="128598"/>
                        <a:pt x="188844" y="128598"/>
                      </a:cubicBezTo>
                      <a:lnTo>
                        <a:pt x="103119" y="128598"/>
                      </a:lnTo>
                      <a:cubicBezTo>
                        <a:pt x="97201" y="128598"/>
                        <a:pt x="92403" y="123801"/>
                        <a:pt x="92403" y="117883"/>
                      </a:cubicBezTo>
                      <a:cubicBezTo>
                        <a:pt x="92403" y="111964"/>
                        <a:pt x="97201" y="107167"/>
                        <a:pt x="103119" y="107167"/>
                      </a:cubicBezTo>
                      <a:lnTo>
                        <a:pt x="188844" y="107167"/>
                      </a:lnTo>
                      <a:cubicBezTo>
                        <a:pt x="194762" y="107167"/>
                        <a:pt x="199560" y="111964"/>
                        <a:pt x="199560" y="117883"/>
                      </a:cubicBezTo>
                      <a:close/>
                      <a:moveTo>
                        <a:pt x="199560" y="160745"/>
                      </a:moveTo>
                      <a:cubicBezTo>
                        <a:pt x="199560" y="166663"/>
                        <a:pt x="194762" y="171461"/>
                        <a:pt x="188844" y="171461"/>
                      </a:cubicBezTo>
                      <a:lnTo>
                        <a:pt x="103119" y="171461"/>
                      </a:lnTo>
                      <a:cubicBezTo>
                        <a:pt x="97201" y="171461"/>
                        <a:pt x="92403" y="166663"/>
                        <a:pt x="92403" y="160745"/>
                      </a:cubicBezTo>
                      <a:cubicBezTo>
                        <a:pt x="92403" y="154827"/>
                        <a:pt x="97201" y="150029"/>
                        <a:pt x="103119" y="150029"/>
                      </a:cubicBezTo>
                      <a:lnTo>
                        <a:pt x="188844" y="150029"/>
                      </a:lnTo>
                      <a:cubicBezTo>
                        <a:pt x="194762" y="150029"/>
                        <a:pt x="199560" y="154827"/>
                        <a:pt x="199560" y="160745"/>
                      </a:cubicBezTo>
                      <a:close/>
                    </a:path>
                  </a:pathLst>
                </a:custGeom>
                <a:solidFill>
                  <a:srgbClr val="B08A3C"/>
                </a:solidFill>
                <a:ln>
                  <a:noFill/>
                </a:ln>
              </p:spPr>
            </p:sp>
          </p:grpSp>
          <p:sp>
            <p:nvSpPr>
              <p:cNvPr id="15" name="TextBox 15"/>
              <p:cNvSpPr txBox="1"/>
              <p:nvPr/>
            </p:nvSpPr>
            <p:spPr>
              <a:xfrm>
                <a:off x="1416368" y="1742599"/>
                <a:ext cx="495749" cy="198120"/>
              </a:xfrm>
              <a:prstGeom prst="rect">
                <a:avLst/>
              </a:prstGeom>
              <a:noFill/>
              <a:ln>
                <a:noFill/>
              </a:ln>
            </p:spPr>
            <p:txBody>
              <a:bodyPr wrap="none" lIns="0" tIns="0" rIns="0" bIns="0" anchor="t" anchorCtr="0">
                <a:spAutoFit/>
              </a:bodyPr>
              <a:lstStyle/>
              <a:p>
                <a:pPr algn="l"/>
                <a:r>
                  <a:rPr lang="zh-CN" sz="975" b="1" dirty="0">
                    <a:solidFill>
                      <a:srgbClr val="8A9099"/>
                    </a:solidFill>
                    <a:latin typeface="Arial"/>
                    <a:ea typeface="Microsoft YaHei"/>
                    <a:cs typeface="Arial"/>
                  </a:rPr>
                  <a:t>阶段 01</a:t>
                </a:r>
              </a:p>
            </p:txBody>
          </p:sp>
          <p:sp>
            <p:nvSpPr>
              <p:cNvPr id="16" name="chatStageTitle"/>
              <p:cNvSpPr txBox="1"/>
              <p:nvPr/>
            </p:nvSpPr>
            <p:spPr>
              <a:xfrm>
                <a:off x="1407795" y="1936432"/>
                <a:ext cx="1560100" cy="335280"/>
              </a:xfrm>
              <a:prstGeom prst="rect">
                <a:avLst/>
              </a:prstGeom>
              <a:noFill/>
              <a:ln>
                <a:noFill/>
              </a:ln>
            </p:spPr>
            <p:txBody>
              <a:bodyPr wrap="none" lIns="0" tIns="0" rIns="0" bIns="0" anchor="t" anchorCtr="0">
                <a:spAutoFit/>
              </a:bodyPr>
              <a:lstStyle/>
              <a:p>
                <a:pPr algn="l"/>
                <a:r>
                  <a:rPr lang="zh-CN" sz="1650" b="1" dirty="0">
                    <a:solidFill>
                      <a:srgbClr val="1F2328"/>
                    </a:solidFill>
                    <a:latin typeface="Arial"/>
                    <a:ea typeface="SimHei"/>
                    <a:cs typeface="Arial"/>
                  </a:rPr>
                  <a:t>普通对话模型</a:t>
                </a:r>
              </a:p>
            </p:txBody>
          </p:sp>
          <p:sp>
            <p:nvSpPr>
              <p:cNvPr id="17" name="Line 17"/>
              <p:cNvSpPr/>
              <p:nvPr/>
            </p:nvSpPr>
            <p:spPr>
              <a:xfrm>
                <a:off x="876300" y="2343150"/>
                <a:ext cx="2952750" cy="1"/>
              </a:xfrm>
              <a:prstGeom prst="line">
                <a:avLst/>
              </a:prstGeom>
              <a:noFill/>
              <a:ln w="9525">
                <a:solidFill>
                  <a:srgbClr val="E4E7EB"/>
                </a:solidFill>
              </a:ln>
            </p:spPr>
          </p:sp>
          <p:sp>
            <p:nvSpPr>
              <p:cNvPr id="18" name="TextBox 18"/>
              <p:cNvSpPr txBox="1"/>
              <p:nvPr/>
            </p:nvSpPr>
            <p:spPr>
              <a:xfrm>
                <a:off x="862965" y="2515552"/>
                <a:ext cx="348710" cy="213360"/>
              </a:xfrm>
              <a:prstGeom prst="rect">
                <a:avLst/>
              </a:prstGeom>
              <a:noFill/>
              <a:ln>
                <a:noFill/>
              </a:ln>
            </p:spPr>
            <p:txBody>
              <a:bodyPr wrap="none" lIns="0" tIns="0" rIns="0" bIns="0" anchor="t" anchorCtr="0">
                <a:spAutoFit/>
              </a:bodyPr>
              <a:lstStyle/>
              <a:p>
                <a:pPr algn="l"/>
                <a:r>
                  <a:rPr lang="zh-CN" sz="1050" b="1" dirty="0">
                    <a:solidFill>
                      <a:srgbClr val="A50021"/>
                    </a:solidFill>
                    <a:latin typeface="Arial"/>
                    <a:ea typeface="Microsoft YaHei"/>
                    <a:cs typeface="Arial"/>
                  </a:rPr>
                  <a:t>特点</a:t>
                </a:r>
              </a:p>
            </p:txBody>
          </p:sp>
          <p:sp>
            <p:nvSpPr>
              <p:cNvPr id="19" name="TextBox 19"/>
              <p:cNvSpPr txBox="1"/>
              <p:nvPr/>
            </p:nvSpPr>
            <p:spPr>
              <a:xfrm>
                <a:off x="862012" y="2755106"/>
                <a:ext cx="2000250" cy="228600"/>
              </a:xfrm>
              <a:prstGeom prst="rect">
                <a:avLst/>
              </a:prstGeom>
              <a:noFill/>
              <a:ln>
                <a:noFill/>
              </a:ln>
            </p:spPr>
            <p:txBody>
              <a:bodyPr wrap="none" lIns="0" tIns="0" rIns="0" bIns="0" anchor="t" anchorCtr="0">
                <a:spAutoFit/>
              </a:bodyPr>
              <a:lstStyle/>
              <a:p>
                <a:pPr algn="l"/>
                <a:r>
                  <a:rPr lang="zh-CN" sz="1125" dirty="0">
                    <a:solidFill>
                      <a:srgbClr val="1F2328"/>
                    </a:solidFill>
                    <a:latin typeface="Arial"/>
                    <a:ea typeface="Microsoft YaHei"/>
                    <a:cs typeface="Arial"/>
                  </a:rPr>
                  <a:t>人工输入任务、背景和材料</a:t>
                </a:r>
              </a:p>
            </p:txBody>
          </p:sp>
          <p:sp>
            <p:nvSpPr>
              <p:cNvPr id="20" name="TextBox 20"/>
              <p:cNvSpPr txBox="1"/>
              <p:nvPr/>
            </p:nvSpPr>
            <p:spPr>
              <a:xfrm>
                <a:off x="862012" y="2974181"/>
                <a:ext cx="2000250" cy="228600"/>
              </a:xfrm>
              <a:prstGeom prst="rect">
                <a:avLst/>
              </a:prstGeom>
              <a:noFill/>
              <a:ln>
                <a:noFill/>
              </a:ln>
            </p:spPr>
            <p:txBody>
              <a:bodyPr wrap="none" lIns="0" tIns="0" rIns="0" bIns="0" anchor="t" anchorCtr="0">
                <a:spAutoFit/>
              </a:bodyPr>
              <a:lstStyle/>
              <a:p>
                <a:pPr algn="l"/>
                <a:r>
                  <a:rPr lang="zh-CN" sz="1125" dirty="0">
                    <a:solidFill>
                      <a:srgbClr val="1F2328"/>
                    </a:solidFill>
                    <a:latin typeface="Arial"/>
                    <a:ea typeface="Microsoft YaHei"/>
                    <a:cs typeface="Arial"/>
                  </a:rPr>
                  <a:t>人工读取输出并判断可用性</a:t>
                </a:r>
              </a:p>
            </p:txBody>
          </p:sp>
          <p:sp>
            <p:nvSpPr>
              <p:cNvPr id="21" name="TextBox 21"/>
              <p:cNvSpPr txBox="1"/>
              <p:nvPr/>
            </p:nvSpPr>
            <p:spPr>
              <a:xfrm>
                <a:off x="862965" y="3429952"/>
                <a:ext cx="670750" cy="213360"/>
              </a:xfrm>
              <a:prstGeom prst="rect">
                <a:avLst/>
              </a:prstGeom>
              <a:noFill/>
              <a:ln>
                <a:noFill/>
              </a:ln>
            </p:spPr>
            <p:txBody>
              <a:bodyPr wrap="none" lIns="0" tIns="0" rIns="0" bIns="0" anchor="t" anchorCtr="0">
                <a:spAutoFit/>
              </a:bodyPr>
              <a:lstStyle/>
              <a:p>
                <a:pPr algn="l"/>
                <a:r>
                  <a:rPr lang="zh-CN" sz="1050" b="1" dirty="0">
                    <a:solidFill>
                      <a:srgbClr val="A50021"/>
                    </a:solidFill>
                    <a:latin typeface="Arial"/>
                    <a:ea typeface="Microsoft YaHei"/>
                    <a:cs typeface="Arial"/>
                  </a:rPr>
                  <a:t>典型场景</a:t>
                </a:r>
              </a:p>
            </p:txBody>
          </p:sp>
          <p:sp>
            <p:nvSpPr>
              <p:cNvPr id="22" name="TextBox 22"/>
              <p:cNvSpPr txBox="1"/>
              <p:nvPr/>
            </p:nvSpPr>
            <p:spPr>
              <a:xfrm>
                <a:off x="862012" y="3669506"/>
                <a:ext cx="1835944"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内部辅助、一般性对话、</a:t>
                </a:r>
              </a:p>
            </p:txBody>
          </p:sp>
          <p:sp>
            <p:nvSpPr>
              <p:cNvPr id="23" name="TextBox 23"/>
              <p:cNvSpPr txBox="1"/>
              <p:nvPr/>
            </p:nvSpPr>
            <p:spPr>
              <a:xfrm>
                <a:off x="862012" y="3888581"/>
                <a:ext cx="1507331"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公文润色等轻量任务</a:t>
                </a:r>
              </a:p>
            </p:txBody>
          </p:sp>
          <p:sp>
            <p:nvSpPr>
              <p:cNvPr id="24" name="chatKnowledgeBox"/>
              <p:cNvSpPr/>
              <p:nvPr/>
            </p:nvSpPr>
            <p:spPr>
              <a:xfrm>
                <a:off x="876300" y="4343400"/>
                <a:ext cx="2952750" cy="495300"/>
              </a:xfrm>
              <a:prstGeom prst="roundRect">
                <a:avLst>
                  <a:gd name="adj" fmla="val 15384"/>
                </a:avLst>
              </a:prstGeom>
              <a:solidFill>
                <a:srgbClr val="FFFFFF"/>
              </a:solidFill>
              <a:ln w="9525">
                <a:solidFill>
                  <a:srgbClr val="E4E7EB"/>
                </a:solidFill>
              </a:ln>
            </p:spPr>
          </p:sp>
          <p:sp>
            <p:nvSpPr>
              <p:cNvPr id="25" name="TextBox 25"/>
              <p:cNvSpPr txBox="1"/>
              <p:nvPr/>
            </p:nvSpPr>
            <p:spPr>
              <a:xfrm>
                <a:off x="1035368" y="4457224"/>
                <a:ext cx="1071396" cy="198120"/>
              </a:xfrm>
              <a:prstGeom prst="rect">
                <a:avLst/>
              </a:prstGeom>
              <a:noFill/>
              <a:ln>
                <a:noFill/>
              </a:ln>
            </p:spPr>
            <p:txBody>
              <a:bodyPr wrap="none" lIns="0" tIns="0" rIns="0" bIns="0" anchor="t" anchorCtr="0">
                <a:spAutoFit/>
              </a:bodyPr>
              <a:lstStyle/>
              <a:p>
                <a:pPr algn="l"/>
                <a:r>
                  <a:rPr lang="zh-CN" sz="975" b="1" dirty="0">
                    <a:solidFill>
                      <a:srgbClr val="5F6368"/>
                    </a:solidFill>
                    <a:latin typeface="Arial"/>
                    <a:ea typeface="Microsoft YaHei"/>
                    <a:cs typeface="Arial"/>
                  </a:rPr>
                  <a:t>向量知识库作用</a:t>
                </a:r>
              </a:p>
            </p:txBody>
          </p:sp>
          <p:sp>
            <p:nvSpPr>
              <p:cNvPr id="26" name="TextBox 26"/>
              <p:cNvSpPr txBox="1"/>
              <p:nvPr/>
            </p:nvSpPr>
            <p:spPr>
              <a:xfrm>
                <a:off x="1035368" y="4657249"/>
                <a:ext cx="2018347"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未打通，需手工检索后复制粘贴</a:t>
                </a:r>
              </a:p>
            </p:txBody>
          </p:sp>
        </p:grpSp>
        <p:grpSp>
          <p:nvGrpSpPr>
            <p:cNvPr id="45" name="stage-rag"/>
            <p:cNvGrpSpPr/>
            <p:nvPr/>
          </p:nvGrpSpPr>
          <p:grpSpPr>
            <a:xfrm>
              <a:off x="4333875" y="1466850"/>
              <a:ext cx="3333750" cy="3638550"/>
              <a:chOff x="4333875" y="1466850"/>
              <a:chExt cx="3333750" cy="3638550"/>
            </a:xfrm>
          </p:grpSpPr>
          <p:sp>
            <p:nvSpPr>
              <p:cNvPr id="28" name="ragCardBackground"/>
              <p:cNvSpPr/>
              <p:nvPr/>
            </p:nvSpPr>
            <p:spPr>
              <a:xfrm>
                <a:off x="4333875" y="1466850"/>
                <a:ext cx="3333750" cy="3638550"/>
              </a:xfrm>
              <a:prstGeom prst="roundRect">
                <a:avLst>
                  <a:gd name="adj" fmla="val 2857"/>
                </a:avLst>
              </a:prstGeom>
              <a:solidFill>
                <a:srgbClr val="FAFBFC"/>
              </a:solidFill>
              <a:ln w="14288">
                <a:solidFill>
                  <a:srgbClr val="E8EAED"/>
                </a:solidFill>
              </a:ln>
            </p:spPr>
          </p:sp>
          <p:sp>
            <p:nvSpPr>
              <p:cNvPr id="29" name="ragIconBackplate"/>
              <p:cNvSpPr/>
              <p:nvPr/>
            </p:nvSpPr>
            <p:spPr>
              <a:xfrm>
                <a:off x="4476750" y="1647825"/>
                <a:ext cx="476250" cy="476250"/>
              </a:xfrm>
              <a:prstGeom prst="ellipse">
                <a:avLst/>
              </a:prstGeom>
              <a:solidFill>
                <a:srgbClr val="F1E6D4"/>
              </a:solidFill>
              <a:ln>
                <a:noFill/>
              </a:ln>
            </p:spPr>
          </p:sp>
          <p:grpSp>
            <p:nvGrpSpPr>
              <p:cNvPr id="32" name="Group 32"/>
              <p:cNvGrpSpPr/>
              <p:nvPr/>
            </p:nvGrpSpPr>
            <p:grpSpPr>
              <a:xfrm>
                <a:off x="4586288" y="1746647"/>
                <a:ext cx="257175" cy="278606"/>
                <a:chOff x="4586288" y="1746647"/>
                <a:chExt cx="257175" cy="278606"/>
              </a:xfrm>
            </p:grpSpPr>
            <p:sp>
              <p:nvSpPr>
                <p:cNvPr id="30" name="Freeform 30"/>
                <p:cNvSpPr/>
                <p:nvPr/>
              </p:nvSpPr>
              <p:spPr>
                <a:xfrm>
                  <a:off x="4597003" y="1757362"/>
                  <a:ext cx="235744" cy="128588"/>
                </a:xfrm>
                <a:custGeom>
                  <a:avLst/>
                  <a:gdLst/>
                  <a:ahLst/>
                  <a:cxnLst/>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a:srgbClr val="B08A3C">
                    <a:alpha val="20000"/>
                  </a:srgbClr>
                </a:solidFill>
                <a:ln>
                  <a:noFill/>
                </a:ln>
              </p:spPr>
            </p:sp>
            <p:sp>
              <p:nvSpPr>
                <p:cNvPr id="31" name="Freeform 31"/>
                <p:cNvSpPr/>
                <p:nvPr/>
              </p:nvSpPr>
              <p:spPr>
                <a:xfrm>
                  <a:off x="4586288" y="1746647"/>
                  <a:ext cx="257175" cy="278606"/>
                </a:xfrm>
                <a:custGeom>
                  <a:avLst/>
                  <a:gdLst/>
                  <a:ahLst/>
                  <a:cxnLst/>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a:srgbClr val="B08A3C"/>
                </a:solidFill>
                <a:ln>
                  <a:noFill/>
                </a:ln>
              </p:spPr>
            </p:sp>
          </p:grpSp>
          <p:sp>
            <p:nvSpPr>
              <p:cNvPr id="33" name="TextBox 33"/>
              <p:cNvSpPr txBox="1"/>
              <p:nvPr/>
            </p:nvSpPr>
            <p:spPr>
              <a:xfrm>
                <a:off x="5064442" y="1742599"/>
                <a:ext cx="533129" cy="198120"/>
              </a:xfrm>
              <a:prstGeom prst="rect">
                <a:avLst/>
              </a:prstGeom>
              <a:noFill/>
              <a:ln>
                <a:noFill/>
              </a:ln>
            </p:spPr>
            <p:txBody>
              <a:bodyPr wrap="none" lIns="0" tIns="0" rIns="0" bIns="0" anchor="t" anchorCtr="0">
                <a:spAutoFit/>
              </a:bodyPr>
              <a:lstStyle/>
              <a:p>
                <a:pPr algn="l"/>
                <a:r>
                  <a:rPr lang="zh-CN" sz="975" b="1" dirty="0">
                    <a:solidFill>
                      <a:srgbClr val="8A9099"/>
                    </a:solidFill>
                    <a:latin typeface="Arial"/>
                    <a:ea typeface="Microsoft YaHei"/>
                    <a:cs typeface="Arial"/>
                  </a:rPr>
                  <a:t>阶段 02</a:t>
                </a:r>
              </a:p>
            </p:txBody>
          </p:sp>
          <p:sp>
            <p:nvSpPr>
              <p:cNvPr id="34" name="ragStageTitle"/>
              <p:cNvSpPr txBox="1"/>
              <p:nvPr/>
            </p:nvSpPr>
            <p:spPr>
              <a:xfrm>
                <a:off x="5055870" y="1936432"/>
                <a:ext cx="2066163" cy="335280"/>
              </a:xfrm>
              <a:prstGeom prst="rect">
                <a:avLst/>
              </a:prstGeom>
              <a:noFill/>
              <a:ln>
                <a:noFill/>
              </a:ln>
            </p:spPr>
            <p:txBody>
              <a:bodyPr wrap="none" lIns="0" tIns="0" rIns="0" bIns="0" anchor="t" anchorCtr="0">
                <a:spAutoFit/>
              </a:bodyPr>
              <a:lstStyle/>
              <a:p>
                <a:pPr algn="l"/>
                <a:r>
                  <a:rPr lang="zh-CN" sz="1650" b="1" dirty="0">
                    <a:solidFill>
                      <a:srgbClr val="1F2328"/>
                    </a:solidFill>
                    <a:latin typeface="Arial"/>
                    <a:ea typeface="SimHei"/>
                    <a:cs typeface="Arial"/>
                  </a:rPr>
                  <a:t>大模型加挂知识库</a:t>
                </a:r>
              </a:p>
            </p:txBody>
          </p:sp>
          <p:sp>
            <p:nvSpPr>
              <p:cNvPr id="35" name="Line 35"/>
              <p:cNvSpPr/>
              <p:nvPr/>
            </p:nvSpPr>
            <p:spPr>
              <a:xfrm>
                <a:off x="4524375" y="2343150"/>
                <a:ext cx="2952750" cy="1"/>
              </a:xfrm>
              <a:prstGeom prst="line">
                <a:avLst/>
              </a:prstGeom>
              <a:noFill/>
              <a:ln w="9525">
                <a:solidFill>
                  <a:srgbClr val="E4E7EB"/>
                </a:solidFill>
              </a:ln>
            </p:spPr>
          </p:sp>
          <p:sp>
            <p:nvSpPr>
              <p:cNvPr id="36" name="TextBox 36"/>
              <p:cNvSpPr txBox="1"/>
              <p:nvPr/>
            </p:nvSpPr>
            <p:spPr>
              <a:xfrm>
                <a:off x="4511040" y="2515552"/>
                <a:ext cx="348710" cy="213360"/>
              </a:xfrm>
              <a:prstGeom prst="rect">
                <a:avLst/>
              </a:prstGeom>
              <a:noFill/>
              <a:ln>
                <a:noFill/>
              </a:ln>
            </p:spPr>
            <p:txBody>
              <a:bodyPr wrap="none" lIns="0" tIns="0" rIns="0" bIns="0" anchor="t" anchorCtr="0">
                <a:spAutoFit/>
              </a:bodyPr>
              <a:lstStyle/>
              <a:p>
                <a:pPr algn="l"/>
                <a:r>
                  <a:rPr lang="zh-CN" sz="1050" b="1" dirty="0">
                    <a:solidFill>
                      <a:srgbClr val="A50021"/>
                    </a:solidFill>
                    <a:latin typeface="Arial"/>
                    <a:ea typeface="Microsoft YaHei"/>
                    <a:cs typeface="Arial"/>
                  </a:rPr>
                  <a:t>特点</a:t>
                </a:r>
              </a:p>
            </p:txBody>
          </p:sp>
          <p:sp>
            <p:nvSpPr>
              <p:cNvPr id="37" name="TextBox 37"/>
              <p:cNvSpPr txBox="1"/>
              <p:nvPr/>
            </p:nvSpPr>
            <p:spPr>
              <a:xfrm>
                <a:off x="4510088" y="2755106"/>
                <a:ext cx="2328862" cy="228600"/>
              </a:xfrm>
              <a:prstGeom prst="rect">
                <a:avLst/>
              </a:prstGeom>
              <a:noFill/>
              <a:ln>
                <a:noFill/>
              </a:ln>
            </p:spPr>
            <p:txBody>
              <a:bodyPr wrap="none" lIns="0" tIns="0" rIns="0" bIns="0" anchor="t" anchorCtr="0">
                <a:spAutoFit/>
              </a:bodyPr>
              <a:lstStyle/>
              <a:p>
                <a:pPr algn="l"/>
                <a:r>
                  <a:rPr lang="zh-CN" sz="1125" dirty="0">
                    <a:solidFill>
                      <a:srgbClr val="1F2328"/>
                    </a:solidFill>
                    <a:latin typeface="Arial"/>
                    <a:ea typeface="Microsoft YaHei"/>
                    <a:cs typeface="Arial"/>
                  </a:rPr>
                  <a:t>知识库自动检索并注入模型输入</a:t>
                </a:r>
              </a:p>
            </p:txBody>
          </p:sp>
          <p:sp>
            <p:nvSpPr>
              <p:cNvPr id="38" name="TextBox 38"/>
              <p:cNvSpPr txBox="1"/>
              <p:nvPr/>
            </p:nvSpPr>
            <p:spPr>
              <a:xfrm>
                <a:off x="4510088" y="2974181"/>
                <a:ext cx="2164556" cy="228600"/>
              </a:xfrm>
              <a:prstGeom prst="rect">
                <a:avLst/>
              </a:prstGeom>
              <a:noFill/>
              <a:ln>
                <a:noFill/>
              </a:ln>
            </p:spPr>
            <p:txBody>
              <a:bodyPr wrap="none" lIns="0" tIns="0" rIns="0" bIns="0" anchor="t" anchorCtr="0">
                <a:spAutoFit/>
              </a:bodyPr>
              <a:lstStyle/>
              <a:p>
                <a:pPr algn="l"/>
                <a:r>
                  <a:rPr lang="zh-CN" sz="1125" dirty="0">
                    <a:solidFill>
                      <a:srgbClr val="1F2328"/>
                    </a:solidFill>
                    <a:latin typeface="Arial"/>
                    <a:ea typeface="Microsoft YaHei"/>
                    <a:cs typeface="Arial"/>
                  </a:rPr>
                  <a:t>人工仍负责读取、判断和追问</a:t>
                </a:r>
              </a:p>
            </p:txBody>
          </p:sp>
          <p:sp>
            <p:nvSpPr>
              <p:cNvPr id="39" name="TextBox 39"/>
              <p:cNvSpPr txBox="1"/>
              <p:nvPr/>
            </p:nvSpPr>
            <p:spPr>
              <a:xfrm>
                <a:off x="4511040" y="3429952"/>
                <a:ext cx="670750" cy="213360"/>
              </a:xfrm>
              <a:prstGeom prst="rect">
                <a:avLst/>
              </a:prstGeom>
              <a:noFill/>
              <a:ln>
                <a:noFill/>
              </a:ln>
            </p:spPr>
            <p:txBody>
              <a:bodyPr wrap="none" lIns="0" tIns="0" rIns="0" bIns="0" anchor="t" anchorCtr="0">
                <a:spAutoFit/>
              </a:bodyPr>
              <a:lstStyle/>
              <a:p>
                <a:pPr algn="l"/>
                <a:r>
                  <a:rPr lang="zh-CN" sz="1050" b="1" dirty="0">
                    <a:solidFill>
                      <a:srgbClr val="A50021"/>
                    </a:solidFill>
                    <a:latin typeface="Arial"/>
                    <a:ea typeface="Microsoft YaHei"/>
                    <a:cs typeface="Arial"/>
                  </a:rPr>
                  <a:t>典型场景</a:t>
                </a:r>
              </a:p>
            </p:txBody>
          </p:sp>
          <p:sp>
            <p:nvSpPr>
              <p:cNvPr id="40" name="TextBox 40"/>
              <p:cNvSpPr txBox="1"/>
              <p:nvPr/>
            </p:nvSpPr>
            <p:spPr>
              <a:xfrm>
                <a:off x="4510088" y="3669506"/>
                <a:ext cx="2000250"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专业问答、渠道智慧响应、</a:t>
                </a:r>
              </a:p>
            </p:txBody>
          </p:sp>
          <p:sp>
            <p:nvSpPr>
              <p:cNvPr id="41" name="TextBox 41"/>
              <p:cNvSpPr txBox="1"/>
              <p:nvPr/>
            </p:nvSpPr>
            <p:spPr>
              <a:xfrm>
                <a:off x="4510088" y="3888581"/>
                <a:ext cx="1835944"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个金营销组件和网御系统</a:t>
                </a:r>
              </a:p>
            </p:txBody>
          </p:sp>
          <p:sp>
            <p:nvSpPr>
              <p:cNvPr id="42" name="ragKnowledgeBox"/>
              <p:cNvSpPr/>
              <p:nvPr/>
            </p:nvSpPr>
            <p:spPr>
              <a:xfrm>
                <a:off x="4524375" y="4343400"/>
                <a:ext cx="2952750" cy="495300"/>
              </a:xfrm>
              <a:prstGeom prst="roundRect">
                <a:avLst>
                  <a:gd name="adj" fmla="val 15384"/>
                </a:avLst>
              </a:prstGeom>
              <a:solidFill>
                <a:srgbClr val="FFFFFF"/>
              </a:solidFill>
              <a:ln w="9525">
                <a:solidFill>
                  <a:srgbClr val="E4E7EB"/>
                </a:solidFill>
              </a:ln>
            </p:spPr>
          </p:sp>
          <p:sp>
            <p:nvSpPr>
              <p:cNvPr id="43" name="TextBox 43"/>
              <p:cNvSpPr txBox="1"/>
              <p:nvPr/>
            </p:nvSpPr>
            <p:spPr>
              <a:xfrm>
                <a:off x="4683442" y="4457224"/>
                <a:ext cx="1071396" cy="198120"/>
              </a:xfrm>
              <a:prstGeom prst="rect">
                <a:avLst/>
              </a:prstGeom>
              <a:noFill/>
              <a:ln>
                <a:noFill/>
              </a:ln>
            </p:spPr>
            <p:txBody>
              <a:bodyPr wrap="none" lIns="0" tIns="0" rIns="0" bIns="0" anchor="t" anchorCtr="0">
                <a:spAutoFit/>
              </a:bodyPr>
              <a:lstStyle/>
              <a:p>
                <a:pPr algn="l"/>
                <a:r>
                  <a:rPr lang="zh-CN" sz="975" b="1" dirty="0">
                    <a:solidFill>
                      <a:srgbClr val="5F6368"/>
                    </a:solidFill>
                    <a:latin typeface="Arial"/>
                    <a:ea typeface="Microsoft YaHei"/>
                    <a:cs typeface="Arial"/>
                  </a:rPr>
                  <a:t>向量知识库作用</a:t>
                </a:r>
              </a:p>
            </p:txBody>
          </p:sp>
          <p:sp>
            <p:nvSpPr>
              <p:cNvPr id="44" name="TextBox 44"/>
              <p:cNvSpPr txBox="1"/>
              <p:nvPr/>
            </p:nvSpPr>
            <p:spPr>
              <a:xfrm>
                <a:off x="4683442" y="4657249"/>
                <a:ext cx="2566583"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核心支柱：SOP、合同、法规、客服语料</a:t>
                </a:r>
              </a:p>
            </p:txBody>
          </p:sp>
        </p:grpSp>
        <p:grpSp>
          <p:nvGrpSpPr>
            <p:cNvPr id="63" name="stage-agent"/>
            <p:cNvGrpSpPr/>
            <p:nvPr/>
          </p:nvGrpSpPr>
          <p:grpSpPr>
            <a:xfrm>
              <a:off x="7981950" y="1466850"/>
              <a:ext cx="3333750" cy="3638550"/>
              <a:chOff x="7981950" y="1466850"/>
              <a:chExt cx="3333750" cy="3638550"/>
            </a:xfrm>
          </p:grpSpPr>
          <p:sp>
            <p:nvSpPr>
              <p:cNvPr id="46" name="agentCardBackground"/>
              <p:cNvSpPr/>
              <p:nvPr/>
            </p:nvSpPr>
            <p:spPr>
              <a:xfrm>
                <a:off x="7981950" y="1466850"/>
                <a:ext cx="3333750" cy="3638550"/>
              </a:xfrm>
              <a:prstGeom prst="roundRect">
                <a:avLst>
                  <a:gd name="adj" fmla="val 2857"/>
                </a:avLst>
              </a:prstGeom>
              <a:solidFill>
                <a:srgbClr val="FFFFFF"/>
              </a:solidFill>
              <a:ln w="23812">
                <a:solidFill>
                  <a:srgbClr val="A50021"/>
                </a:solidFill>
              </a:ln>
              <a:effectLst>
                <a:outerShdw blurRad="152400" dist="38100" dir="5400000" algn="ctr" rotWithShape="0">
                  <a:srgbClr val="000000">
                    <a:alpha val="7500"/>
                  </a:srgbClr>
                </a:outerShdw>
              </a:effectLst>
            </p:spPr>
          </p:sp>
          <p:sp>
            <p:nvSpPr>
              <p:cNvPr id="47" name="agentIconBackplate"/>
              <p:cNvSpPr/>
              <p:nvPr/>
            </p:nvSpPr>
            <p:spPr>
              <a:xfrm>
                <a:off x="8124825" y="1647825"/>
                <a:ext cx="476250" cy="476250"/>
              </a:xfrm>
              <a:prstGeom prst="ellipse">
                <a:avLst/>
              </a:prstGeom>
              <a:solidFill>
                <a:srgbClr val="F1E6D4"/>
              </a:solidFill>
              <a:ln>
                <a:noFill/>
              </a:ln>
            </p:spPr>
          </p:sp>
          <p:grpSp>
            <p:nvGrpSpPr>
              <p:cNvPr id="50" name="Group 50"/>
              <p:cNvGrpSpPr/>
              <p:nvPr/>
            </p:nvGrpSpPr>
            <p:grpSpPr>
              <a:xfrm>
                <a:off x="8223647" y="1725216"/>
                <a:ext cx="278606" cy="289322"/>
                <a:chOff x="8223647" y="1725216"/>
                <a:chExt cx="278606" cy="289322"/>
              </a:xfrm>
            </p:grpSpPr>
            <p:sp>
              <p:nvSpPr>
                <p:cNvPr id="48" name="Freeform 48"/>
                <p:cNvSpPr/>
                <p:nvPr/>
              </p:nvSpPr>
              <p:spPr>
                <a:xfrm>
                  <a:off x="8234362" y="1789509"/>
                  <a:ext cx="257175" cy="214312"/>
                </a:xfrm>
                <a:custGeom>
                  <a:avLst/>
                  <a:gdLst/>
                  <a:ahLst/>
                  <a:cxnLst/>
                  <a:rect l="l" t="t" r="r" b="b"/>
                  <a:pathLst>
                    <a:path w="257175" h="214312">
                      <a:moveTo>
                        <a:pt x="225028" y="0"/>
                      </a:moveTo>
                      <a:lnTo>
                        <a:pt x="32147" y="0"/>
                      </a:lnTo>
                      <a:cubicBezTo>
                        <a:pt x="14393" y="0"/>
                        <a:pt x="0" y="14393"/>
                        <a:pt x="0" y="32147"/>
                      </a:cubicBezTo>
                      <a:lnTo>
                        <a:pt x="0" y="182166"/>
                      </a:lnTo>
                      <a:cubicBezTo>
                        <a:pt x="0" y="199920"/>
                        <a:pt x="14393" y="214312"/>
                        <a:pt x="32147" y="214312"/>
                      </a:cubicBezTo>
                      <a:lnTo>
                        <a:pt x="225028" y="214312"/>
                      </a:lnTo>
                      <a:cubicBezTo>
                        <a:pt x="242782" y="214312"/>
                        <a:pt x="257175" y="199920"/>
                        <a:pt x="257175" y="182166"/>
                      </a:cubicBezTo>
                      <a:lnTo>
                        <a:pt x="257175" y="32147"/>
                      </a:lnTo>
                      <a:cubicBezTo>
                        <a:pt x="257175" y="14393"/>
                        <a:pt x="242782" y="0"/>
                        <a:pt x="225028" y="0"/>
                      </a:cubicBezTo>
                      <a:close/>
                      <a:moveTo>
                        <a:pt x="176808" y="171450"/>
                      </a:moveTo>
                      <a:lnTo>
                        <a:pt x="80367" y="171450"/>
                      </a:lnTo>
                      <a:cubicBezTo>
                        <a:pt x="65572" y="171450"/>
                        <a:pt x="53578" y="159456"/>
                        <a:pt x="53578" y="144661"/>
                      </a:cubicBezTo>
                      <a:cubicBezTo>
                        <a:pt x="53578" y="129866"/>
                        <a:pt x="65572" y="117872"/>
                        <a:pt x="80367" y="117872"/>
                      </a:cubicBezTo>
                      <a:lnTo>
                        <a:pt x="176808" y="117872"/>
                      </a:lnTo>
                      <a:cubicBezTo>
                        <a:pt x="191603" y="117872"/>
                        <a:pt x="203597" y="129866"/>
                        <a:pt x="203597" y="144661"/>
                      </a:cubicBezTo>
                      <a:cubicBezTo>
                        <a:pt x="203597" y="159456"/>
                        <a:pt x="191603" y="171450"/>
                        <a:pt x="176808" y="171450"/>
                      </a:cubicBezTo>
                      <a:close/>
                    </a:path>
                  </a:pathLst>
                </a:custGeom>
                <a:solidFill>
                  <a:srgbClr val="A50021">
                    <a:alpha val="20000"/>
                  </a:srgbClr>
                </a:solidFill>
                <a:ln>
                  <a:noFill/>
                </a:ln>
              </p:spPr>
            </p:sp>
            <p:sp>
              <p:nvSpPr>
                <p:cNvPr id="49" name="Freeform 49"/>
                <p:cNvSpPr/>
                <p:nvPr/>
              </p:nvSpPr>
              <p:spPr>
                <a:xfrm>
                  <a:off x="8223647" y="1725216"/>
                  <a:ext cx="278606" cy="289322"/>
                </a:xfrm>
                <a:custGeom>
                  <a:avLst/>
                  <a:gdLst/>
                  <a:ahLst/>
                  <a:cxnLst/>
                  <a:rect l="l" t="t" r="r" b="b"/>
                  <a:pathLst>
                    <a:path w="278606" h="289322">
                      <a:moveTo>
                        <a:pt x="235744" y="53578"/>
                      </a:moveTo>
                      <a:lnTo>
                        <a:pt x="150019" y="53578"/>
                      </a:lnTo>
                      <a:lnTo>
                        <a:pt x="150019" y="10716"/>
                      </a:lnTo>
                      <a:cubicBezTo>
                        <a:pt x="150019" y="4798"/>
                        <a:pt x="145221" y="0"/>
                        <a:pt x="139303" y="0"/>
                      </a:cubicBezTo>
                      <a:cubicBezTo>
                        <a:pt x="133385" y="0"/>
                        <a:pt x="128588" y="4798"/>
                        <a:pt x="128588" y="10716"/>
                      </a:cubicBezTo>
                      <a:lnTo>
                        <a:pt x="128588" y="53578"/>
                      </a:lnTo>
                      <a:lnTo>
                        <a:pt x="42862" y="53578"/>
                      </a:lnTo>
                      <a:cubicBezTo>
                        <a:pt x="19190" y="53578"/>
                        <a:pt x="0" y="72768"/>
                        <a:pt x="0" y="96441"/>
                      </a:cubicBezTo>
                      <a:lnTo>
                        <a:pt x="0" y="246459"/>
                      </a:lnTo>
                      <a:cubicBezTo>
                        <a:pt x="0" y="270132"/>
                        <a:pt x="19190" y="289322"/>
                        <a:pt x="42862" y="289322"/>
                      </a:cubicBezTo>
                      <a:lnTo>
                        <a:pt x="235744" y="289322"/>
                      </a:lnTo>
                      <a:cubicBezTo>
                        <a:pt x="259416" y="289322"/>
                        <a:pt x="278606" y="270132"/>
                        <a:pt x="278606" y="246459"/>
                      </a:cubicBezTo>
                      <a:lnTo>
                        <a:pt x="278606" y="96441"/>
                      </a:lnTo>
                      <a:cubicBezTo>
                        <a:pt x="278606" y="72768"/>
                        <a:pt x="259416" y="53578"/>
                        <a:pt x="235744" y="53578"/>
                      </a:cubicBezTo>
                      <a:close/>
                      <a:moveTo>
                        <a:pt x="257175" y="246459"/>
                      </a:moveTo>
                      <a:cubicBezTo>
                        <a:pt x="257175" y="258296"/>
                        <a:pt x="247580" y="267891"/>
                        <a:pt x="235744" y="267891"/>
                      </a:cubicBezTo>
                      <a:lnTo>
                        <a:pt x="42862" y="267891"/>
                      </a:lnTo>
                      <a:cubicBezTo>
                        <a:pt x="31026" y="267891"/>
                        <a:pt x="21431" y="258296"/>
                        <a:pt x="21431" y="246459"/>
                      </a:cubicBezTo>
                      <a:lnTo>
                        <a:pt x="21431" y="96441"/>
                      </a:lnTo>
                      <a:cubicBezTo>
                        <a:pt x="21431" y="84604"/>
                        <a:pt x="31026" y="75009"/>
                        <a:pt x="42862" y="75009"/>
                      </a:cubicBezTo>
                      <a:lnTo>
                        <a:pt x="235744" y="75009"/>
                      </a:lnTo>
                      <a:cubicBezTo>
                        <a:pt x="247580" y="75009"/>
                        <a:pt x="257175" y="84604"/>
                        <a:pt x="257175" y="96441"/>
                      </a:cubicBezTo>
                      <a:close/>
                      <a:moveTo>
                        <a:pt x="187523" y="171450"/>
                      </a:moveTo>
                      <a:lnTo>
                        <a:pt x="91083" y="171450"/>
                      </a:lnTo>
                      <a:cubicBezTo>
                        <a:pt x="70370" y="171450"/>
                        <a:pt x="53578" y="188241"/>
                        <a:pt x="53578" y="208955"/>
                      </a:cubicBezTo>
                      <a:cubicBezTo>
                        <a:pt x="53578" y="229668"/>
                        <a:pt x="70370" y="246459"/>
                        <a:pt x="91083" y="246459"/>
                      </a:cubicBezTo>
                      <a:lnTo>
                        <a:pt x="187523" y="246459"/>
                      </a:lnTo>
                      <a:cubicBezTo>
                        <a:pt x="208237" y="246459"/>
                        <a:pt x="225028" y="229668"/>
                        <a:pt x="225028" y="208955"/>
                      </a:cubicBezTo>
                      <a:cubicBezTo>
                        <a:pt x="225028" y="188241"/>
                        <a:pt x="208237" y="171450"/>
                        <a:pt x="187523" y="171450"/>
                      </a:cubicBezTo>
                      <a:close/>
                      <a:moveTo>
                        <a:pt x="150019" y="192881"/>
                      </a:moveTo>
                      <a:lnTo>
                        <a:pt x="150019" y="225028"/>
                      </a:lnTo>
                      <a:lnTo>
                        <a:pt x="128588" y="225028"/>
                      </a:lnTo>
                      <a:lnTo>
                        <a:pt x="128588" y="192881"/>
                      </a:lnTo>
                      <a:close/>
                      <a:moveTo>
                        <a:pt x="75009" y="208955"/>
                      </a:moveTo>
                      <a:cubicBezTo>
                        <a:pt x="75009" y="200078"/>
                        <a:pt x="82206" y="192881"/>
                        <a:pt x="91083" y="192881"/>
                      </a:cubicBezTo>
                      <a:lnTo>
                        <a:pt x="107156" y="192881"/>
                      </a:lnTo>
                      <a:lnTo>
                        <a:pt x="107156" y="225028"/>
                      </a:lnTo>
                      <a:lnTo>
                        <a:pt x="91083" y="225028"/>
                      </a:lnTo>
                      <a:cubicBezTo>
                        <a:pt x="82206" y="225028"/>
                        <a:pt x="75009" y="217832"/>
                        <a:pt x="75009" y="208955"/>
                      </a:cubicBezTo>
                      <a:close/>
                      <a:moveTo>
                        <a:pt x="187523" y="225028"/>
                      </a:moveTo>
                      <a:lnTo>
                        <a:pt x="171450" y="225028"/>
                      </a:lnTo>
                      <a:lnTo>
                        <a:pt x="171450" y="192881"/>
                      </a:lnTo>
                      <a:lnTo>
                        <a:pt x="187523" y="192881"/>
                      </a:lnTo>
                      <a:cubicBezTo>
                        <a:pt x="196401" y="192881"/>
                        <a:pt x="203597" y="200078"/>
                        <a:pt x="203597" y="208955"/>
                      </a:cubicBezTo>
                      <a:cubicBezTo>
                        <a:pt x="203597" y="217832"/>
                        <a:pt x="196401" y="225028"/>
                        <a:pt x="187523" y="225028"/>
                      </a:cubicBezTo>
                      <a:close/>
                      <a:moveTo>
                        <a:pt x="64294" y="133945"/>
                      </a:moveTo>
                      <a:cubicBezTo>
                        <a:pt x="64294" y="125068"/>
                        <a:pt x="71490" y="117872"/>
                        <a:pt x="80367" y="117872"/>
                      </a:cubicBezTo>
                      <a:cubicBezTo>
                        <a:pt x="89244" y="117872"/>
                        <a:pt x="96441" y="125068"/>
                        <a:pt x="96441" y="133945"/>
                      </a:cubicBezTo>
                      <a:cubicBezTo>
                        <a:pt x="96441" y="142822"/>
                        <a:pt x="89244" y="150019"/>
                        <a:pt x="80367" y="150019"/>
                      </a:cubicBezTo>
                      <a:cubicBezTo>
                        <a:pt x="71490" y="150019"/>
                        <a:pt x="64294" y="142822"/>
                        <a:pt x="64294" y="133945"/>
                      </a:cubicBezTo>
                      <a:close/>
                      <a:moveTo>
                        <a:pt x="182166" y="133945"/>
                      </a:moveTo>
                      <a:cubicBezTo>
                        <a:pt x="182166" y="125068"/>
                        <a:pt x="189362" y="117872"/>
                        <a:pt x="198239" y="117872"/>
                      </a:cubicBezTo>
                      <a:cubicBezTo>
                        <a:pt x="207116" y="117872"/>
                        <a:pt x="214312" y="125068"/>
                        <a:pt x="214312" y="133945"/>
                      </a:cubicBezTo>
                      <a:cubicBezTo>
                        <a:pt x="214312" y="142822"/>
                        <a:pt x="207116" y="150019"/>
                        <a:pt x="198239" y="150019"/>
                      </a:cubicBezTo>
                      <a:cubicBezTo>
                        <a:pt x="189362" y="150019"/>
                        <a:pt x="182166" y="142822"/>
                        <a:pt x="182166" y="133945"/>
                      </a:cubicBezTo>
                      <a:close/>
                    </a:path>
                  </a:pathLst>
                </a:custGeom>
                <a:solidFill>
                  <a:srgbClr val="A50021"/>
                </a:solidFill>
                <a:ln>
                  <a:noFill/>
                </a:ln>
              </p:spPr>
            </p:sp>
          </p:grpSp>
          <p:sp>
            <p:nvSpPr>
              <p:cNvPr id="51" name="TextBox 51"/>
              <p:cNvSpPr txBox="1"/>
              <p:nvPr/>
            </p:nvSpPr>
            <p:spPr>
              <a:xfrm>
                <a:off x="8712518" y="1742599"/>
                <a:ext cx="533129" cy="198120"/>
              </a:xfrm>
              <a:prstGeom prst="rect">
                <a:avLst/>
              </a:prstGeom>
              <a:noFill/>
              <a:ln>
                <a:noFill/>
              </a:ln>
            </p:spPr>
            <p:txBody>
              <a:bodyPr wrap="none" lIns="0" tIns="0" rIns="0" bIns="0" anchor="t" anchorCtr="0">
                <a:spAutoFit/>
              </a:bodyPr>
              <a:lstStyle/>
              <a:p>
                <a:pPr algn="l"/>
                <a:r>
                  <a:rPr lang="zh-CN" sz="975" b="1" dirty="0">
                    <a:solidFill>
                      <a:srgbClr val="8A9099"/>
                    </a:solidFill>
                    <a:latin typeface="Arial"/>
                    <a:ea typeface="Microsoft YaHei"/>
                    <a:cs typeface="Arial"/>
                  </a:rPr>
                  <a:t>阶段 03</a:t>
                </a:r>
              </a:p>
            </p:txBody>
          </p:sp>
          <p:sp>
            <p:nvSpPr>
              <p:cNvPr id="52" name="agentStageTitle"/>
              <p:cNvSpPr txBox="1"/>
              <p:nvPr/>
            </p:nvSpPr>
            <p:spPr>
              <a:xfrm>
                <a:off x="8703945" y="1936432"/>
                <a:ext cx="1091991" cy="335280"/>
              </a:xfrm>
              <a:prstGeom prst="rect">
                <a:avLst/>
              </a:prstGeom>
              <a:noFill/>
              <a:ln>
                <a:noFill/>
              </a:ln>
            </p:spPr>
            <p:txBody>
              <a:bodyPr wrap="none" lIns="0" tIns="0" rIns="0" bIns="0" anchor="t" anchorCtr="0">
                <a:spAutoFit/>
              </a:bodyPr>
              <a:lstStyle/>
              <a:p>
                <a:pPr algn="l"/>
                <a:r>
                  <a:rPr lang="zh-CN" sz="1650" b="1" dirty="0">
                    <a:solidFill>
                      <a:srgbClr val="1F2328"/>
                    </a:solidFill>
                    <a:latin typeface="Arial"/>
                    <a:ea typeface="SimHei"/>
                    <a:cs typeface="Arial"/>
                  </a:rPr>
                  <a:t>AI 智能体</a:t>
                </a:r>
              </a:p>
            </p:txBody>
          </p:sp>
          <p:sp>
            <p:nvSpPr>
              <p:cNvPr id="53" name="Line 53"/>
              <p:cNvSpPr/>
              <p:nvPr/>
            </p:nvSpPr>
            <p:spPr>
              <a:xfrm>
                <a:off x="8172450" y="2343150"/>
                <a:ext cx="2952750" cy="1"/>
              </a:xfrm>
              <a:prstGeom prst="line">
                <a:avLst/>
              </a:prstGeom>
              <a:noFill/>
              <a:ln w="9525">
                <a:solidFill>
                  <a:srgbClr val="E4E7EB"/>
                </a:solidFill>
              </a:ln>
            </p:spPr>
          </p:sp>
          <p:sp>
            <p:nvSpPr>
              <p:cNvPr id="54" name="TextBox 54"/>
              <p:cNvSpPr txBox="1"/>
              <p:nvPr/>
            </p:nvSpPr>
            <p:spPr>
              <a:xfrm>
                <a:off x="8159115" y="2515552"/>
                <a:ext cx="348710" cy="213360"/>
              </a:xfrm>
              <a:prstGeom prst="rect">
                <a:avLst/>
              </a:prstGeom>
              <a:noFill/>
              <a:ln>
                <a:noFill/>
              </a:ln>
            </p:spPr>
            <p:txBody>
              <a:bodyPr wrap="none" lIns="0" tIns="0" rIns="0" bIns="0" anchor="t" anchorCtr="0">
                <a:spAutoFit/>
              </a:bodyPr>
              <a:lstStyle/>
              <a:p>
                <a:pPr algn="l"/>
                <a:r>
                  <a:rPr lang="zh-CN" sz="1050" b="1" dirty="0">
                    <a:solidFill>
                      <a:srgbClr val="A50021"/>
                    </a:solidFill>
                    <a:latin typeface="Arial"/>
                    <a:ea typeface="Microsoft YaHei"/>
                    <a:cs typeface="Arial"/>
                  </a:rPr>
                  <a:t>特点</a:t>
                </a:r>
              </a:p>
            </p:txBody>
          </p:sp>
          <p:sp>
            <p:nvSpPr>
              <p:cNvPr id="55" name="TextBox 55"/>
              <p:cNvSpPr txBox="1"/>
              <p:nvPr/>
            </p:nvSpPr>
            <p:spPr>
              <a:xfrm>
                <a:off x="8158162" y="2755106"/>
                <a:ext cx="2164556" cy="228600"/>
              </a:xfrm>
              <a:prstGeom prst="rect">
                <a:avLst/>
              </a:prstGeom>
              <a:noFill/>
              <a:ln>
                <a:noFill/>
              </a:ln>
            </p:spPr>
            <p:txBody>
              <a:bodyPr wrap="none" lIns="0" tIns="0" rIns="0" bIns="0" anchor="t" anchorCtr="0">
                <a:spAutoFit/>
              </a:bodyPr>
              <a:lstStyle/>
              <a:p>
                <a:pPr algn="l"/>
                <a:r>
                  <a:rPr lang="zh-CN" sz="1125" dirty="0">
                    <a:solidFill>
                      <a:srgbClr val="1F2328"/>
                    </a:solidFill>
                    <a:latin typeface="Arial"/>
                    <a:ea typeface="Microsoft YaHei"/>
                    <a:cs typeface="Arial"/>
                  </a:rPr>
                  <a:t>一次设定任务目标后自动循环</a:t>
                </a:r>
              </a:p>
            </p:txBody>
          </p:sp>
          <p:sp>
            <p:nvSpPr>
              <p:cNvPr id="56" name="TextBox 56"/>
              <p:cNvSpPr txBox="1"/>
              <p:nvPr/>
            </p:nvSpPr>
            <p:spPr>
              <a:xfrm>
                <a:off x="8158162" y="2974181"/>
                <a:ext cx="2328862" cy="228600"/>
              </a:xfrm>
              <a:prstGeom prst="rect">
                <a:avLst/>
              </a:prstGeom>
              <a:noFill/>
              <a:ln>
                <a:noFill/>
              </a:ln>
            </p:spPr>
            <p:txBody>
              <a:bodyPr wrap="none" lIns="0" tIns="0" rIns="0" bIns="0" anchor="t" anchorCtr="0">
                <a:spAutoFit/>
              </a:bodyPr>
              <a:lstStyle/>
              <a:p>
                <a:pPr algn="l"/>
                <a:r>
                  <a:rPr lang="zh-CN" sz="1125" dirty="0">
                    <a:solidFill>
                      <a:srgbClr val="1F2328"/>
                    </a:solidFill>
                    <a:latin typeface="Arial"/>
                    <a:ea typeface="Microsoft YaHei"/>
                    <a:cs typeface="Arial"/>
                  </a:rPr>
                  <a:t>持续输入、执行、输出直至完成</a:t>
                </a:r>
              </a:p>
            </p:txBody>
          </p:sp>
          <p:sp>
            <p:nvSpPr>
              <p:cNvPr id="57" name="TextBox 57"/>
              <p:cNvSpPr txBox="1"/>
              <p:nvPr/>
            </p:nvSpPr>
            <p:spPr>
              <a:xfrm>
                <a:off x="8159115" y="3429952"/>
                <a:ext cx="670750" cy="213360"/>
              </a:xfrm>
              <a:prstGeom prst="rect">
                <a:avLst/>
              </a:prstGeom>
              <a:noFill/>
              <a:ln>
                <a:noFill/>
              </a:ln>
            </p:spPr>
            <p:txBody>
              <a:bodyPr wrap="none" lIns="0" tIns="0" rIns="0" bIns="0" anchor="t" anchorCtr="0">
                <a:spAutoFit/>
              </a:bodyPr>
              <a:lstStyle/>
              <a:p>
                <a:pPr algn="l"/>
                <a:r>
                  <a:rPr lang="zh-CN" sz="1050" b="1" dirty="0">
                    <a:solidFill>
                      <a:srgbClr val="A50021"/>
                    </a:solidFill>
                    <a:latin typeface="Arial"/>
                    <a:ea typeface="Microsoft YaHei"/>
                    <a:cs typeface="Arial"/>
                  </a:rPr>
                  <a:t>典型场景</a:t>
                </a:r>
              </a:p>
            </p:txBody>
          </p:sp>
          <p:sp>
            <p:nvSpPr>
              <p:cNvPr id="58" name="TextBox 58"/>
              <p:cNvSpPr txBox="1"/>
              <p:nvPr/>
            </p:nvSpPr>
            <p:spPr>
              <a:xfrm>
                <a:off x="8158162" y="3669506"/>
                <a:ext cx="2164556"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反洗钱报告生成、智能用数、</a:t>
                </a:r>
              </a:p>
            </p:txBody>
          </p:sp>
          <p:sp>
            <p:nvSpPr>
              <p:cNvPr id="59" name="TextBox 59"/>
              <p:cNvSpPr txBox="1"/>
              <p:nvPr/>
            </p:nvSpPr>
            <p:spPr>
              <a:xfrm>
                <a:off x="8158162" y="3888581"/>
                <a:ext cx="1507331"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BOCAI 平台技术体验</a:t>
                </a:r>
              </a:p>
            </p:txBody>
          </p:sp>
          <p:sp>
            <p:nvSpPr>
              <p:cNvPr id="60" name="agentKnowledgeBox"/>
              <p:cNvSpPr/>
              <p:nvPr/>
            </p:nvSpPr>
            <p:spPr>
              <a:xfrm>
                <a:off x="8172450" y="4343400"/>
                <a:ext cx="2952750" cy="495300"/>
              </a:xfrm>
              <a:prstGeom prst="roundRect">
                <a:avLst>
                  <a:gd name="adj" fmla="val 15384"/>
                </a:avLst>
              </a:prstGeom>
              <a:solidFill>
                <a:srgbClr val="F1E6D4"/>
              </a:solidFill>
              <a:ln w="9525">
                <a:solidFill>
                  <a:srgbClr val="B08A3C"/>
                </a:solidFill>
              </a:ln>
            </p:spPr>
          </p:sp>
          <p:sp>
            <p:nvSpPr>
              <p:cNvPr id="61" name="TextBox 61"/>
              <p:cNvSpPr txBox="1"/>
              <p:nvPr/>
            </p:nvSpPr>
            <p:spPr>
              <a:xfrm>
                <a:off x="8331518" y="4457224"/>
                <a:ext cx="1071396" cy="198120"/>
              </a:xfrm>
              <a:prstGeom prst="rect">
                <a:avLst/>
              </a:prstGeom>
              <a:noFill/>
              <a:ln>
                <a:noFill/>
              </a:ln>
            </p:spPr>
            <p:txBody>
              <a:bodyPr wrap="none" lIns="0" tIns="0" rIns="0" bIns="0" anchor="t" anchorCtr="0">
                <a:spAutoFit/>
              </a:bodyPr>
              <a:lstStyle/>
              <a:p>
                <a:pPr algn="l"/>
                <a:r>
                  <a:rPr lang="zh-CN" sz="975" b="1" dirty="0">
                    <a:solidFill>
                      <a:srgbClr val="A50021"/>
                    </a:solidFill>
                    <a:latin typeface="Arial"/>
                    <a:ea typeface="Microsoft YaHei"/>
                    <a:cs typeface="Arial"/>
                  </a:rPr>
                  <a:t>向量知识库作用</a:t>
                </a:r>
              </a:p>
            </p:txBody>
          </p:sp>
          <p:sp>
            <p:nvSpPr>
              <p:cNvPr id="62" name="TextBox 62"/>
              <p:cNvSpPr txBox="1"/>
              <p:nvPr/>
            </p:nvSpPr>
            <p:spPr>
              <a:xfrm>
                <a:off x="8331518" y="4657249"/>
                <a:ext cx="2445544"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长期记忆：画像、历史交互、推理轨迹</a:t>
                </a:r>
              </a:p>
            </p:txBody>
          </p:sp>
        </p:grpSp>
      </p:grpSp>
      <p:grpSp>
        <p:nvGrpSpPr>
          <p:cNvPr id="81" name="takeawayBand"/>
          <p:cNvGrpSpPr/>
          <p:nvPr/>
        </p:nvGrpSpPr>
        <p:grpSpPr>
          <a:xfrm>
            <a:off x="685800" y="5334000"/>
            <a:ext cx="10629900" cy="742950"/>
            <a:chOff x="685800" y="5334000"/>
            <a:chExt cx="10629900" cy="742950"/>
          </a:xfrm>
        </p:grpSpPr>
        <p:sp>
          <p:nvSpPr>
            <p:cNvPr id="65" name="takeawayBandBackground"/>
            <p:cNvSpPr/>
            <p:nvPr/>
          </p:nvSpPr>
          <p:spPr>
            <a:xfrm>
              <a:off x="685800" y="5334000"/>
              <a:ext cx="10629900" cy="742950"/>
            </a:xfrm>
            <a:prstGeom prst="roundRect">
              <a:avLst>
                <a:gd name="adj" fmla="val 12820"/>
              </a:avLst>
            </a:prstGeom>
            <a:solidFill>
              <a:srgbClr val="F7F3F0"/>
            </a:solidFill>
            <a:ln w="9525">
              <a:solidFill>
                <a:srgbClr val="E4E7EB"/>
              </a:solidFill>
            </a:ln>
          </p:spPr>
        </p:sp>
        <p:sp>
          <p:nvSpPr>
            <p:cNvPr id="66" name="takeawayIconBackplate"/>
            <p:cNvSpPr/>
            <p:nvPr/>
          </p:nvSpPr>
          <p:spPr>
            <a:xfrm>
              <a:off x="866775" y="5514975"/>
              <a:ext cx="381000" cy="381000"/>
            </a:xfrm>
            <a:prstGeom prst="ellipse">
              <a:avLst/>
            </a:prstGeom>
            <a:solidFill>
              <a:srgbClr val="A50021"/>
            </a:solidFill>
            <a:ln>
              <a:noFill/>
            </a:ln>
          </p:spPr>
        </p:sp>
        <p:grpSp>
          <p:nvGrpSpPr>
            <p:cNvPr id="69" name="Group 69"/>
            <p:cNvGrpSpPr/>
            <p:nvPr/>
          </p:nvGrpSpPr>
          <p:grpSpPr>
            <a:xfrm>
              <a:off x="971548" y="5619750"/>
              <a:ext cx="171452" cy="171450"/>
              <a:chOff x="971548" y="5619750"/>
              <a:chExt cx="171452" cy="171450"/>
            </a:xfrm>
          </p:grpSpPr>
          <p:sp>
            <p:nvSpPr>
              <p:cNvPr id="67" name="Freeform 67"/>
              <p:cNvSpPr/>
              <p:nvPr/>
            </p:nvSpPr>
            <p:spPr>
              <a:xfrm>
                <a:off x="978694" y="5634038"/>
                <a:ext cx="157162" cy="142875"/>
              </a:xfrm>
              <a:custGeom>
                <a:avLst/>
                <a:gdLst/>
                <a:ahLst/>
                <a:cxnLst/>
                <a:rect l="l" t="t" r="r" b="b"/>
                <a:pathLst>
                  <a:path w="157162" h="142875">
                    <a:moveTo>
                      <a:pt x="157162" y="0"/>
                    </a:moveTo>
                    <a:lnTo>
                      <a:pt x="157162" y="42862"/>
                    </a:lnTo>
                    <a:lnTo>
                      <a:pt x="114300" y="42862"/>
                    </a:lnTo>
                    <a:close/>
                    <a:moveTo>
                      <a:pt x="0" y="142875"/>
                    </a:moveTo>
                    <a:lnTo>
                      <a:pt x="42862" y="100012"/>
                    </a:lnTo>
                    <a:lnTo>
                      <a:pt x="0" y="100012"/>
                    </a:lnTo>
                    <a:close/>
                  </a:path>
                </a:pathLst>
              </a:custGeom>
              <a:solidFill>
                <a:srgbClr val="FFFFFF">
                  <a:alpha val="20000"/>
                </a:srgbClr>
              </a:solidFill>
              <a:ln>
                <a:noFill/>
              </a:ln>
            </p:spPr>
          </p:sp>
          <p:sp>
            <p:nvSpPr>
              <p:cNvPr id="68" name="Freeform 68"/>
              <p:cNvSpPr/>
              <p:nvPr/>
            </p:nvSpPr>
            <p:spPr>
              <a:xfrm>
                <a:off x="971548" y="5619750"/>
                <a:ext cx="171452" cy="171450"/>
              </a:xfrm>
              <a:custGeom>
                <a:avLst/>
                <a:gdLst/>
                <a:ahLst/>
                <a:cxnLst/>
                <a:rect l="l" t="t" r="r" b="b"/>
                <a:pathLst>
                  <a:path w="171452" h="171450">
                    <a:moveTo>
                      <a:pt x="167041" y="7688"/>
                    </a:moveTo>
                    <a:cubicBezTo>
                      <a:pt x="164372" y="6581"/>
                      <a:pt x="161299" y="7191"/>
                      <a:pt x="159254" y="9233"/>
                    </a:cubicBezTo>
                    <a:lnTo>
                      <a:pt x="144913" y="23583"/>
                    </a:lnTo>
                    <a:cubicBezTo>
                      <a:pt x="126920" y="8126"/>
                      <a:pt x="106587" y="0"/>
                      <a:pt x="85727" y="0"/>
                    </a:cubicBezTo>
                    <a:cubicBezTo>
                      <a:pt x="47490" y="0"/>
                      <a:pt x="24487" y="22565"/>
                      <a:pt x="23523" y="23521"/>
                    </a:cubicBezTo>
                    <a:cubicBezTo>
                      <a:pt x="20732" y="26312"/>
                      <a:pt x="20732" y="30838"/>
                      <a:pt x="23523" y="33629"/>
                    </a:cubicBezTo>
                    <a:cubicBezTo>
                      <a:pt x="26314" y="36421"/>
                      <a:pt x="30840" y="36421"/>
                      <a:pt x="33631" y="33629"/>
                    </a:cubicBezTo>
                    <a:cubicBezTo>
                      <a:pt x="33819" y="33433"/>
                      <a:pt x="53339" y="14288"/>
                      <a:pt x="85727" y="14288"/>
                    </a:cubicBezTo>
                    <a:cubicBezTo>
                      <a:pt x="106417" y="14288"/>
                      <a:pt x="123161" y="23976"/>
                      <a:pt x="134769" y="33718"/>
                    </a:cubicBezTo>
                    <a:lnTo>
                      <a:pt x="116392" y="52096"/>
                    </a:lnTo>
                    <a:cubicBezTo>
                      <a:pt x="114346" y="54139"/>
                      <a:pt x="113734" y="57214"/>
                      <a:pt x="114841" y="59885"/>
                    </a:cubicBezTo>
                    <a:cubicBezTo>
                      <a:pt x="115947" y="62555"/>
                      <a:pt x="118555" y="64296"/>
                      <a:pt x="121446" y="64294"/>
                    </a:cubicBezTo>
                    <a:lnTo>
                      <a:pt x="164309" y="64294"/>
                    </a:lnTo>
                    <a:cubicBezTo>
                      <a:pt x="168254" y="64294"/>
                      <a:pt x="171452" y="61095"/>
                      <a:pt x="171452" y="57150"/>
                    </a:cubicBezTo>
                    <a:lnTo>
                      <a:pt x="171452" y="14288"/>
                    </a:lnTo>
                    <a:cubicBezTo>
                      <a:pt x="171452" y="11398"/>
                      <a:pt x="169711" y="8794"/>
                      <a:pt x="167041" y="7688"/>
                    </a:cubicBezTo>
                    <a:close/>
                    <a:moveTo>
                      <a:pt x="157165" y="50006"/>
                    </a:moveTo>
                    <a:lnTo>
                      <a:pt x="138689" y="50006"/>
                    </a:lnTo>
                    <a:lnTo>
                      <a:pt x="157165" y="31531"/>
                    </a:lnTo>
                    <a:close/>
                    <a:moveTo>
                      <a:pt x="137823" y="137821"/>
                    </a:moveTo>
                    <a:cubicBezTo>
                      <a:pt x="137636" y="138017"/>
                      <a:pt x="118115" y="157162"/>
                      <a:pt x="85727" y="157162"/>
                    </a:cubicBezTo>
                    <a:cubicBezTo>
                      <a:pt x="65037" y="157162"/>
                      <a:pt x="48294" y="147474"/>
                      <a:pt x="36685" y="137732"/>
                    </a:cubicBezTo>
                    <a:lnTo>
                      <a:pt x="55063" y="119354"/>
                    </a:lnTo>
                    <a:cubicBezTo>
                      <a:pt x="57108" y="117311"/>
                      <a:pt x="57720" y="114236"/>
                      <a:pt x="56614" y="111565"/>
                    </a:cubicBezTo>
                    <a:cubicBezTo>
                      <a:pt x="55507" y="108895"/>
                      <a:pt x="52900" y="107154"/>
                      <a:pt x="50009" y="107156"/>
                    </a:cubicBezTo>
                    <a:lnTo>
                      <a:pt x="7146" y="107156"/>
                    </a:lnTo>
                    <a:cubicBezTo>
                      <a:pt x="3201" y="107156"/>
                      <a:pt x="2" y="110355"/>
                      <a:pt x="2" y="114300"/>
                    </a:cubicBezTo>
                    <a:lnTo>
                      <a:pt x="2" y="157162"/>
                    </a:lnTo>
                    <a:cubicBezTo>
                      <a:pt x="0" y="160054"/>
                      <a:pt x="1741" y="162661"/>
                      <a:pt x="4411" y="163768"/>
                    </a:cubicBezTo>
                    <a:cubicBezTo>
                      <a:pt x="7082" y="164874"/>
                      <a:pt x="10157" y="164262"/>
                      <a:pt x="12200" y="162217"/>
                    </a:cubicBezTo>
                    <a:lnTo>
                      <a:pt x="26541" y="147867"/>
                    </a:lnTo>
                    <a:cubicBezTo>
                      <a:pt x="44535" y="163324"/>
                      <a:pt x="64868" y="171450"/>
                      <a:pt x="85727" y="171450"/>
                    </a:cubicBezTo>
                    <a:cubicBezTo>
                      <a:pt x="123964" y="171450"/>
                      <a:pt x="146967" y="148885"/>
                      <a:pt x="147931" y="147929"/>
                    </a:cubicBezTo>
                    <a:cubicBezTo>
                      <a:pt x="150723" y="145138"/>
                      <a:pt x="150723" y="140612"/>
                      <a:pt x="147931" y="137821"/>
                    </a:cubicBezTo>
                    <a:cubicBezTo>
                      <a:pt x="145140" y="135029"/>
                      <a:pt x="140614" y="135029"/>
                      <a:pt x="137823" y="137821"/>
                    </a:cubicBezTo>
                    <a:close/>
                    <a:moveTo>
                      <a:pt x="14290" y="121444"/>
                    </a:moveTo>
                    <a:lnTo>
                      <a:pt x="32765" y="121444"/>
                    </a:lnTo>
                    <a:lnTo>
                      <a:pt x="14290" y="139919"/>
                    </a:lnTo>
                    <a:close/>
                  </a:path>
                </a:pathLst>
              </a:custGeom>
              <a:solidFill>
                <a:srgbClr val="FFFFFF"/>
              </a:solidFill>
              <a:ln>
                <a:noFill/>
              </a:ln>
            </p:spPr>
          </p:sp>
        </p:grpSp>
        <p:grpSp>
          <p:nvGrpSpPr>
            <p:cNvPr id="80" name="automationScale"/>
            <p:cNvGrpSpPr/>
            <p:nvPr/>
          </p:nvGrpSpPr>
          <p:grpSpPr>
            <a:xfrm>
              <a:off x="1511617" y="5534025"/>
              <a:ext cx="4705350" cy="342900"/>
              <a:chOff x="1511617" y="5534025"/>
              <a:chExt cx="4705350" cy="342900"/>
            </a:xfrm>
          </p:grpSpPr>
          <p:sp>
            <p:nvSpPr>
              <p:cNvPr id="72" name="manualPill"/>
              <p:cNvSpPr/>
              <p:nvPr/>
            </p:nvSpPr>
            <p:spPr>
              <a:xfrm>
                <a:off x="1511617" y="5534025"/>
                <a:ext cx="1276350" cy="342900"/>
              </a:xfrm>
              <a:prstGeom prst="roundRect">
                <a:avLst>
                  <a:gd name="adj" fmla="val 50000"/>
                </a:avLst>
              </a:prstGeom>
              <a:solidFill>
                <a:srgbClr val="FFFFFF"/>
              </a:solidFill>
              <a:ln w="9525">
                <a:solidFill>
                  <a:srgbClr val="E4E7EB"/>
                </a:solidFill>
              </a:ln>
            </p:spPr>
          </p:sp>
          <p:sp>
            <p:nvSpPr>
              <p:cNvPr id="73" name="TextBox 73"/>
              <p:cNvSpPr txBox="1"/>
              <p:nvPr/>
            </p:nvSpPr>
            <p:spPr>
              <a:xfrm>
                <a:off x="1913131" y="5647849"/>
                <a:ext cx="473321" cy="198120"/>
              </a:xfrm>
              <a:prstGeom prst="rect">
                <a:avLst/>
              </a:prstGeom>
              <a:noFill/>
              <a:ln>
                <a:noFill/>
              </a:ln>
            </p:spPr>
            <p:txBody>
              <a:bodyPr wrap="none" lIns="0" tIns="0" rIns="0" bIns="0" anchor="t" anchorCtr="0">
                <a:spAutoFit/>
              </a:bodyPr>
              <a:lstStyle/>
              <a:p>
                <a:pPr algn="ctr"/>
                <a:r>
                  <a:rPr lang="zh-CN" sz="975" b="1" dirty="0">
                    <a:solidFill>
                      <a:srgbClr val="5F6368"/>
                    </a:solidFill>
                    <a:latin typeface="Arial"/>
                    <a:ea typeface="Microsoft YaHei"/>
                    <a:cs typeface="Arial"/>
                  </a:rPr>
                  <a:t>全手动</a:t>
                </a:r>
              </a:p>
            </p:txBody>
          </p:sp>
          <p:sp>
            <p:nvSpPr>
              <p:cNvPr id="74" name="Line 74"/>
              <p:cNvSpPr/>
              <p:nvPr/>
            </p:nvSpPr>
            <p:spPr>
              <a:xfrm>
                <a:off x="2892742" y="5705475"/>
                <a:ext cx="400050" cy="1"/>
              </a:xfrm>
              <a:prstGeom prst="line">
                <a:avLst/>
              </a:prstGeom>
              <a:noFill/>
              <a:ln w="23812">
                <a:solidFill>
                  <a:srgbClr val="B08A3C"/>
                </a:solidFill>
                <a:tailEnd type="triangle" w="lg" len="lg"/>
              </a:ln>
            </p:spPr>
          </p:sp>
          <p:sp>
            <p:nvSpPr>
              <p:cNvPr id="75" name="partialAutomationPill"/>
              <p:cNvSpPr/>
              <p:nvPr/>
            </p:nvSpPr>
            <p:spPr>
              <a:xfrm>
                <a:off x="3407092" y="5534025"/>
                <a:ext cx="1276350" cy="342900"/>
              </a:xfrm>
              <a:prstGeom prst="roundRect">
                <a:avLst>
                  <a:gd name="adj" fmla="val 50000"/>
                </a:avLst>
              </a:prstGeom>
              <a:solidFill>
                <a:srgbClr val="F1E6D4"/>
              </a:solidFill>
              <a:ln w="9525">
                <a:solidFill>
                  <a:srgbClr val="B08A3C"/>
                </a:solidFill>
              </a:ln>
            </p:spPr>
          </p:sp>
          <p:sp>
            <p:nvSpPr>
              <p:cNvPr id="76" name="TextBox 76"/>
              <p:cNvSpPr txBox="1"/>
              <p:nvPr/>
            </p:nvSpPr>
            <p:spPr>
              <a:xfrm>
                <a:off x="3733847" y="5647849"/>
                <a:ext cx="622840" cy="198120"/>
              </a:xfrm>
              <a:prstGeom prst="rect">
                <a:avLst/>
              </a:prstGeom>
              <a:noFill/>
              <a:ln>
                <a:noFill/>
              </a:ln>
            </p:spPr>
            <p:txBody>
              <a:bodyPr wrap="none" lIns="0" tIns="0" rIns="0" bIns="0" anchor="t" anchorCtr="0">
                <a:spAutoFit/>
              </a:bodyPr>
              <a:lstStyle/>
              <a:p>
                <a:pPr algn="ctr"/>
                <a:r>
                  <a:rPr lang="zh-CN" sz="975" b="1" dirty="0">
                    <a:solidFill>
                      <a:srgbClr val="1F2328"/>
                    </a:solidFill>
                    <a:latin typeface="Arial"/>
                    <a:ea typeface="Microsoft YaHei"/>
                    <a:cs typeface="Arial"/>
                  </a:rPr>
                  <a:t>部分自动</a:t>
                </a:r>
              </a:p>
            </p:txBody>
          </p:sp>
          <p:sp>
            <p:nvSpPr>
              <p:cNvPr id="77" name="Line 77"/>
              <p:cNvSpPr/>
              <p:nvPr/>
            </p:nvSpPr>
            <p:spPr>
              <a:xfrm>
                <a:off x="4788217" y="5705475"/>
                <a:ext cx="400050" cy="1"/>
              </a:xfrm>
              <a:prstGeom prst="line">
                <a:avLst/>
              </a:prstGeom>
              <a:noFill/>
              <a:ln w="23812">
                <a:solidFill>
                  <a:srgbClr val="A50021"/>
                </a:solidFill>
                <a:tailEnd type="triangle" w="lg" len="lg"/>
              </a:ln>
            </p:spPr>
          </p:sp>
          <p:sp>
            <p:nvSpPr>
              <p:cNvPr id="78" name="fullAutomationPill"/>
              <p:cNvSpPr/>
              <p:nvPr/>
            </p:nvSpPr>
            <p:spPr>
              <a:xfrm>
                <a:off x="5302567" y="5534025"/>
                <a:ext cx="914400" cy="342900"/>
              </a:xfrm>
              <a:prstGeom prst="roundRect">
                <a:avLst>
                  <a:gd name="adj" fmla="val 50000"/>
                </a:avLst>
              </a:prstGeom>
              <a:solidFill>
                <a:srgbClr val="A50021"/>
              </a:solidFill>
              <a:ln>
                <a:noFill/>
              </a:ln>
            </p:spPr>
          </p:sp>
          <p:sp>
            <p:nvSpPr>
              <p:cNvPr id="79" name="TextBox 79"/>
              <p:cNvSpPr txBox="1"/>
              <p:nvPr/>
            </p:nvSpPr>
            <p:spPr>
              <a:xfrm>
                <a:off x="5523106" y="5647849"/>
                <a:ext cx="473321"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全自动</a:t>
                </a:r>
              </a:p>
            </p:txBody>
          </p:sp>
        </p:grpSp>
      </p:grpSp>
      <p:grpSp>
        <p:nvGrpSpPr>
          <p:cNvPr id="85" name="footer"/>
          <p:cNvGrpSpPr/>
          <p:nvPr/>
        </p:nvGrpSpPr>
        <p:grpSpPr>
          <a:xfrm>
            <a:off x="674370" y="6286500"/>
            <a:ext cx="10831830" cy="333985"/>
            <a:chOff x="674370" y="6286500"/>
            <a:chExt cx="10831830" cy="333985"/>
          </a:xfrm>
        </p:grpSpPr>
        <p:sp>
          <p:nvSpPr>
            <p:cNvPr id="82" name="TextBox 82"/>
            <p:cNvSpPr txBox="1"/>
            <p:nvPr/>
          </p:nvSpPr>
          <p:spPr>
            <a:xfrm>
              <a:off x="674370" y="6389370"/>
              <a:ext cx="3157823"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来源：llm_development.pdf；PPT Master 内容重构</a:t>
              </a:r>
            </a:p>
          </p:txBody>
        </p:sp>
        <p:sp>
          <p:nvSpPr>
            <p:cNvPr id="83" name="Line 83"/>
            <p:cNvSpPr/>
            <p:nvPr/>
          </p:nvSpPr>
          <p:spPr>
            <a:xfrm>
              <a:off x="685800" y="6286500"/>
              <a:ext cx="10820400" cy="1"/>
            </a:xfrm>
            <a:prstGeom prst="line">
              <a:avLst/>
            </a:prstGeom>
            <a:noFill/>
            <a:ln w="11430">
              <a:solidFill>
                <a:srgbClr val="E4E7EB"/>
              </a:solidFill>
            </a:ln>
          </p:spPr>
        </p:sp>
        <p:sp>
          <p:nvSpPr>
            <p:cNvPr id="84" name="TextBox 84"/>
            <p:cNvSpPr txBox="1"/>
            <p:nvPr/>
          </p:nvSpPr>
          <p:spPr>
            <a:xfrm>
              <a:off x="5908448" y="6458902"/>
              <a:ext cx="375104" cy="161583"/>
            </a:xfrm>
            <a:prstGeom prst="rect">
              <a:avLst/>
            </a:prstGeom>
            <a:noFill/>
            <a:ln>
              <a:noFill/>
            </a:ln>
          </p:spPr>
          <p:txBody>
            <a:bodyPr wrap="none" lIns="0" tIns="0" rIns="0" bIns="0" anchor="t" anchorCtr="0">
              <a:spAutoFit/>
            </a:bodyPr>
            <a:lstStyle/>
            <a:p>
              <a:pPr algn="ctr"/>
              <a:r>
                <a:rPr lang="en-US" altLang="zh-CN" sz="1050" dirty="0">
                  <a:solidFill>
                    <a:srgbClr val="8A9099"/>
                  </a:solidFill>
                  <a:latin typeface="Arial"/>
                  <a:ea typeface="Microsoft YaHei"/>
                  <a:cs typeface="Arial"/>
                </a:rPr>
                <a:t>08</a:t>
              </a:r>
              <a:r>
                <a:rPr lang="zh-CN" altLang="zh-CN" sz="1050" dirty="0">
                  <a:solidFill>
                    <a:srgbClr val="8A9099"/>
                  </a:solidFill>
                  <a:latin typeface="Arial"/>
                  <a:ea typeface="Microsoft YaHei"/>
                  <a:cs typeface="Arial"/>
                </a:rPr>
                <a:t>/ </a:t>
              </a:r>
              <a:r>
                <a:rPr lang="en-US" altLang="zh-CN" sz="1050" dirty="0">
                  <a:solidFill>
                    <a:srgbClr val="8A9099"/>
                  </a:solidFill>
                  <a:latin typeface="Arial"/>
                  <a:ea typeface="Microsoft YaHei"/>
                  <a:cs typeface="Arial"/>
                </a:rPr>
                <a:t>27</a:t>
              </a:r>
            </a:p>
          </p:txBody>
        </p:sp>
      </p:gr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 21"/>
          <p:cNvPicPr>
            <a:picLocks noChangeAspect="1"/>
          </p:cNvPicPr>
          <p:nvPr/>
        </p:nvPicPr>
        <p:blipFill>
          <a:blip r:embed="rId3"/>
          <a:stretch>
            <a:fillRect/>
          </a:stretch>
        </p:blipFill>
        <p:spPr>
          <a:xfrm>
            <a:off x="9525000" y="419100"/>
            <a:ext cx="2381250" cy="571500"/>
          </a:xfrm>
          <a:prstGeom prst="rect">
            <a:avLst/>
          </a:prstGeom>
        </p:spPr>
      </p:pic>
      <p:sp>
        <p:nvSpPr>
          <p:cNvPr id="22" name="TextBox 22"/>
          <p:cNvSpPr txBox="1"/>
          <p:nvPr/>
        </p:nvSpPr>
        <p:spPr>
          <a:xfrm>
            <a:off x="657225" y="519112"/>
            <a:ext cx="1740861" cy="346249"/>
          </a:xfrm>
          <a:prstGeom prst="rect">
            <a:avLst/>
          </a:prstGeom>
          <a:noFill/>
          <a:ln>
            <a:noFill/>
          </a:ln>
        </p:spPr>
        <p:txBody>
          <a:bodyPr wrap="none" lIns="0" tIns="0" rIns="0" bIns="0" anchor="t" anchorCtr="0">
            <a:spAutoFit/>
          </a:bodyPr>
          <a:lstStyle/>
          <a:p>
            <a:pPr algn="l"/>
            <a:r>
              <a:rPr lang="zh-CN" altLang="en-US" sz="2250" b="1" dirty="0">
                <a:solidFill>
                  <a:srgbClr val="1F2328"/>
                </a:solidFill>
                <a:latin typeface="Arial"/>
                <a:ea typeface="SimHei"/>
                <a:cs typeface="Arial"/>
              </a:rPr>
              <a:t>普通对话模型</a:t>
            </a:r>
            <a:endParaRPr lang="zh-CN" sz="2250" b="1" dirty="0">
              <a:solidFill>
                <a:srgbClr val="1F2328"/>
              </a:solidFill>
              <a:latin typeface="Arial"/>
              <a:ea typeface="SimHei"/>
              <a:cs typeface="Arial"/>
            </a:endParaRPr>
          </a:p>
        </p:txBody>
      </p:sp>
      <p:sp>
        <p:nvSpPr>
          <p:cNvPr id="23" name="Line 23"/>
          <p:cNvSpPr/>
          <p:nvPr/>
        </p:nvSpPr>
        <p:spPr>
          <a:xfrm>
            <a:off x="685800" y="933450"/>
            <a:ext cx="2171700" cy="9525"/>
          </a:xfrm>
          <a:custGeom>
            <a:avLst/>
            <a:gdLst/>
            <a:ahLst/>
            <a:cxnLst/>
            <a:rect l="l" t="t" r="r" b="b"/>
            <a:pathLst>
              <a:path w="2171700" h="9525">
                <a:moveTo>
                  <a:pt x="0" y="0"/>
                </a:moveTo>
                <a:lnTo>
                  <a:pt x="2171700" y="0"/>
                </a:lnTo>
              </a:path>
            </a:pathLst>
          </a:custGeom>
          <a:noFill/>
          <a:ln w="28575">
            <a:solidFill>
              <a:srgbClr val="A50021"/>
            </a:solidFill>
          </a:ln>
        </p:spPr>
      </p:sp>
      <p:sp>
        <p:nvSpPr>
          <p:cNvPr id="25" name="Rectangle 25"/>
          <p:cNvSpPr/>
          <p:nvPr/>
        </p:nvSpPr>
        <p:spPr>
          <a:xfrm>
            <a:off x="609600" y="1181100"/>
            <a:ext cx="6191250" cy="323850"/>
          </a:xfrm>
          <a:prstGeom prst="roundRect">
            <a:avLst>
              <a:gd name="adj" fmla="val 23529"/>
            </a:avLst>
          </a:prstGeom>
          <a:solidFill>
            <a:srgbClr val="F8F9FA"/>
          </a:solidFill>
          <a:ln w="9525">
            <a:solidFill>
              <a:srgbClr val="E8EAED"/>
            </a:solidFill>
          </a:ln>
        </p:spPr>
      </p:sp>
      <p:sp>
        <p:nvSpPr>
          <p:cNvPr id="26" name="TextBox 26"/>
          <p:cNvSpPr txBox="1"/>
          <p:nvPr/>
        </p:nvSpPr>
        <p:spPr>
          <a:xfrm>
            <a:off x="786765" y="1277302"/>
            <a:ext cx="4627245" cy="213360"/>
          </a:xfrm>
          <a:prstGeom prst="rect">
            <a:avLst/>
          </a:prstGeom>
          <a:noFill/>
          <a:ln>
            <a:noFill/>
          </a:ln>
        </p:spPr>
        <p:txBody>
          <a:bodyPr wrap="none" lIns="0" tIns="0" rIns="0" bIns="0" anchor="t" anchorCtr="0">
            <a:spAutoFit/>
          </a:bodyPr>
          <a:lstStyle/>
          <a:p>
            <a:pPr algn="l"/>
            <a:r>
              <a:rPr lang="zh-CN" sz="1050" dirty="0">
                <a:solidFill>
                  <a:srgbClr val="5F6368"/>
                </a:solidFill>
                <a:latin typeface="Arial"/>
                <a:ea typeface="SimHei"/>
                <a:cs typeface="Arial"/>
              </a:rPr>
              <a:t>用户手工输入、模型生成、用户阅读判断，形成一次或多轮对话循环</a:t>
            </a:r>
          </a:p>
        </p:txBody>
      </p:sp>
      <p:sp>
        <p:nvSpPr>
          <p:cNvPr id="28" name="Freeform 28"/>
          <p:cNvSpPr/>
          <p:nvPr/>
        </p:nvSpPr>
        <p:spPr>
          <a:xfrm>
            <a:off x="2747454" y="1802130"/>
            <a:ext cx="8067675" cy="1104900"/>
          </a:xfrm>
          <a:custGeom>
            <a:avLst/>
            <a:gdLst/>
            <a:ahLst/>
            <a:cxnLst/>
            <a:rect l="l" t="t" r="r" b="b"/>
            <a:pathLst>
              <a:path w="8067675" h="1104900">
                <a:moveTo>
                  <a:pt x="8067675" y="1104900"/>
                </a:moveTo>
                <a:lnTo>
                  <a:pt x="8067675" y="0"/>
                </a:lnTo>
                <a:lnTo>
                  <a:pt x="0" y="0"/>
                </a:lnTo>
                <a:lnTo>
                  <a:pt x="0" y="533400"/>
                </a:lnTo>
              </a:path>
            </a:pathLst>
          </a:custGeom>
          <a:noFill/>
          <a:ln w="30480">
            <a:solidFill>
              <a:srgbClr val="A50021"/>
            </a:solidFill>
            <a:tailEnd type="triangle" w="lg" len="lg"/>
          </a:ln>
        </p:spPr>
      </p:sp>
      <p:sp>
        <p:nvSpPr>
          <p:cNvPr id="29" name="Rectangle 29"/>
          <p:cNvSpPr/>
          <p:nvPr/>
        </p:nvSpPr>
        <p:spPr>
          <a:xfrm>
            <a:off x="6917817" y="1717596"/>
            <a:ext cx="361950" cy="228600"/>
          </a:xfrm>
          <a:prstGeom prst="roundRect">
            <a:avLst>
              <a:gd name="adj" fmla="val 33333"/>
            </a:avLst>
          </a:prstGeom>
          <a:solidFill>
            <a:srgbClr val="FDF3F5"/>
          </a:solidFill>
          <a:ln w="9525">
            <a:solidFill>
              <a:srgbClr val="D8A1AB"/>
            </a:solidFill>
          </a:ln>
        </p:spPr>
      </p:sp>
      <p:sp>
        <p:nvSpPr>
          <p:cNvPr id="30" name="TextBox 30"/>
          <p:cNvSpPr txBox="1"/>
          <p:nvPr/>
        </p:nvSpPr>
        <p:spPr>
          <a:xfrm>
            <a:off x="7011650" y="1774270"/>
            <a:ext cx="174284" cy="198120"/>
          </a:xfrm>
          <a:prstGeom prst="rect">
            <a:avLst/>
          </a:prstGeom>
          <a:noFill/>
          <a:ln>
            <a:noFill/>
          </a:ln>
        </p:spPr>
        <p:txBody>
          <a:bodyPr wrap="none" lIns="0" tIns="0" rIns="0" bIns="0" anchor="t" anchorCtr="0">
            <a:spAutoFit/>
          </a:bodyPr>
          <a:lstStyle/>
          <a:p>
            <a:pPr algn="ctr"/>
            <a:r>
              <a:rPr lang="zh-CN" sz="975" b="1" dirty="0">
                <a:solidFill>
                  <a:srgbClr val="7A0018"/>
                </a:solidFill>
                <a:latin typeface="Arial"/>
                <a:ea typeface="SimHei"/>
                <a:cs typeface="Arial"/>
              </a:rPr>
              <a:t>是</a:t>
            </a:r>
          </a:p>
        </p:txBody>
      </p:sp>
      <p:sp>
        <p:nvSpPr>
          <p:cNvPr id="35" name="Rectangle 35"/>
          <p:cNvSpPr/>
          <p:nvPr/>
        </p:nvSpPr>
        <p:spPr>
          <a:xfrm>
            <a:off x="361442" y="3335655"/>
            <a:ext cx="1257300" cy="552450"/>
          </a:xfrm>
          <a:prstGeom prst="roundRect">
            <a:avLst>
              <a:gd name="adj" fmla="val 24138"/>
            </a:avLst>
          </a:prstGeom>
          <a:solidFill>
            <a:srgbClr val="FFFFFF"/>
          </a:solidFill>
          <a:ln w="19050">
            <a:solidFill>
              <a:srgbClr val="A50021"/>
            </a:solidFill>
          </a:ln>
          <a:effectLst>
            <a:outerShdw blurRad="152400" dist="38100" dir="5400000" algn="ctr" rotWithShape="0">
              <a:srgbClr val="000000">
                <a:alpha val="7500"/>
              </a:srgbClr>
            </a:outerShdw>
          </a:effectLst>
        </p:spPr>
      </p:sp>
      <p:sp>
        <p:nvSpPr>
          <p:cNvPr id="36" name="TextBox 36"/>
          <p:cNvSpPr txBox="1"/>
          <p:nvPr/>
        </p:nvSpPr>
        <p:spPr>
          <a:xfrm>
            <a:off x="563372" y="3532822"/>
            <a:ext cx="862393" cy="274320"/>
          </a:xfrm>
          <a:prstGeom prst="rect">
            <a:avLst/>
          </a:prstGeom>
          <a:noFill/>
          <a:ln>
            <a:noFill/>
          </a:ln>
        </p:spPr>
        <p:txBody>
          <a:bodyPr wrap="none" lIns="0" tIns="0" rIns="0" bIns="0" anchor="t" anchorCtr="0">
            <a:spAutoFit/>
          </a:bodyPr>
          <a:lstStyle/>
          <a:p>
            <a:pPr algn="l"/>
            <a:r>
              <a:rPr lang="zh-CN" sz="1350" b="1" dirty="0">
                <a:solidFill>
                  <a:srgbClr val="1F2328"/>
                </a:solidFill>
                <a:latin typeface="Arial"/>
                <a:ea typeface="SimHei"/>
                <a:cs typeface="Arial"/>
              </a:rPr>
              <a:t>对话开始</a:t>
            </a:r>
          </a:p>
        </p:txBody>
      </p:sp>
      <p:grpSp>
        <p:nvGrpSpPr>
          <p:cNvPr id="39" name="Group 39"/>
          <p:cNvGrpSpPr/>
          <p:nvPr/>
        </p:nvGrpSpPr>
        <p:grpSpPr>
          <a:xfrm>
            <a:off x="1298464" y="3491627"/>
            <a:ext cx="192881" cy="192881"/>
            <a:chOff x="1489472" y="3308747"/>
            <a:chExt cx="192881" cy="192881"/>
          </a:xfrm>
        </p:grpSpPr>
        <p:sp>
          <p:nvSpPr>
            <p:cNvPr id="37" name="Freeform 37"/>
            <p:cNvSpPr/>
            <p:nvPr/>
          </p:nvSpPr>
          <p:spPr>
            <a:xfrm>
              <a:off x="1489472" y="3308747"/>
              <a:ext cx="192881" cy="192881"/>
            </a:xfrm>
            <a:custGeom>
              <a:avLst/>
              <a:gdLst/>
              <a:ahLst/>
              <a:cxnLst/>
              <a:rect l="l" t="t" r="r" b="b"/>
              <a:pathLst>
                <a:path w="192881" h="192881">
                  <a:moveTo>
                    <a:pt x="0" y="96441"/>
                  </a:moveTo>
                  <a:cubicBezTo>
                    <a:pt x="0" y="149703"/>
                    <a:pt x="43178" y="192881"/>
                    <a:pt x="96441" y="192881"/>
                  </a:cubicBezTo>
                  <a:cubicBezTo>
                    <a:pt x="149703" y="192881"/>
                    <a:pt x="192881" y="149703"/>
                    <a:pt x="192881" y="96441"/>
                  </a:cubicBezTo>
                  <a:cubicBezTo>
                    <a:pt x="192881" y="43178"/>
                    <a:pt x="149703" y="0"/>
                    <a:pt x="96441" y="0"/>
                  </a:cubicBezTo>
                  <a:cubicBezTo>
                    <a:pt x="43178" y="0"/>
                    <a:pt x="0" y="43178"/>
                    <a:pt x="0" y="96441"/>
                  </a:cubicBezTo>
                </a:path>
              </a:pathLst>
            </a:custGeom>
            <a:noFill/>
            <a:ln w="19050">
              <a:solidFill>
                <a:srgbClr val="2E7D32"/>
              </a:solidFill>
            </a:ln>
          </p:spPr>
        </p:sp>
        <p:sp>
          <p:nvSpPr>
            <p:cNvPr id="38" name="Freeform 38"/>
            <p:cNvSpPr/>
            <p:nvPr/>
          </p:nvSpPr>
          <p:spPr>
            <a:xfrm>
              <a:off x="1553766" y="3383756"/>
              <a:ext cx="64294" cy="42862"/>
            </a:xfrm>
            <a:custGeom>
              <a:avLst/>
              <a:gdLst/>
              <a:ahLst/>
              <a:cxnLst/>
              <a:rect l="l" t="t" r="r" b="b"/>
              <a:pathLst>
                <a:path w="64294" h="42862">
                  <a:moveTo>
                    <a:pt x="0" y="21431"/>
                  </a:moveTo>
                  <a:lnTo>
                    <a:pt x="21431" y="42862"/>
                  </a:lnTo>
                  <a:lnTo>
                    <a:pt x="64294" y="0"/>
                  </a:lnTo>
                </a:path>
              </a:pathLst>
            </a:custGeom>
            <a:noFill/>
            <a:ln w="19050">
              <a:solidFill>
                <a:srgbClr val="2E7D32"/>
              </a:solidFill>
            </a:ln>
          </p:spPr>
        </p:sp>
      </p:grpSp>
      <p:sp>
        <p:nvSpPr>
          <p:cNvPr id="41" name="Rectangle 41"/>
          <p:cNvSpPr/>
          <p:nvPr/>
        </p:nvSpPr>
        <p:spPr>
          <a:xfrm>
            <a:off x="1828292" y="2335530"/>
            <a:ext cx="1809750" cy="2266950"/>
          </a:xfrm>
          <a:prstGeom prst="roundRect">
            <a:avLst>
              <a:gd name="adj" fmla="val 8421"/>
            </a:avLst>
          </a:prstGeom>
          <a:solidFill>
            <a:srgbClr val="FFFFFF"/>
          </a:solidFill>
          <a:ln w="20955">
            <a:solidFill>
              <a:srgbClr val="A50021"/>
            </a:solidFill>
          </a:ln>
          <a:effectLst>
            <a:outerShdw blurRad="152400" dist="38100" dir="5400000" algn="ctr" rotWithShape="0">
              <a:srgbClr val="000000">
                <a:alpha val="7500"/>
              </a:srgbClr>
            </a:outerShdw>
          </a:effectLst>
        </p:spPr>
      </p:sp>
      <p:sp>
        <p:nvSpPr>
          <p:cNvPr id="42" name="TextBox 42"/>
          <p:cNvSpPr txBox="1"/>
          <p:nvPr/>
        </p:nvSpPr>
        <p:spPr>
          <a:xfrm>
            <a:off x="2018792" y="2516505"/>
            <a:ext cx="1648301" cy="304800"/>
          </a:xfrm>
          <a:prstGeom prst="rect">
            <a:avLst/>
          </a:prstGeom>
          <a:noFill/>
          <a:ln>
            <a:noFill/>
          </a:ln>
        </p:spPr>
        <p:txBody>
          <a:bodyPr wrap="none" lIns="0" tIns="0" rIns="0" bIns="0" anchor="t" anchorCtr="0">
            <a:spAutoFit/>
          </a:bodyPr>
          <a:lstStyle/>
          <a:p>
            <a:pPr algn="l"/>
            <a:r>
              <a:rPr lang="zh-CN" sz="1500" b="1" dirty="0">
                <a:solidFill>
                  <a:srgbClr val="1F2328"/>
                </a:solidFill>
                <a:latin typeface="Arial"/>
                <a:ea typeface="SimHei"/>
                <a:cs typeface="Arial"/>
              </a:rPr>
              <a:t>用户在对话框手</a:t>
            </a:r>
          </a:p>
        </p:txBody>
      </p:sp>
      <p:sp>
        <p:nvSpPr>
          <p:cNvPr id="43" name="TextBox 43"/>
          <p:cNvSpPr txBox="1"/>
          <p:nvPr/>
        </p:nvSpPr>
        <p:spPr>
          <a:xfrm>
            <a:off x="2018792" y="2783205"/>
            <a:ext cx="1188244" cy="304800"/>
          </a:xfrm>
          <a:prstGeom prst="rect">
            <a:avLst/>
          </a:prstGeom>
          <a:noFill/>
          <a:ln>
            <a:noFill/>
          </a:ln>
        </p:spPr>
        <p:txBody>
          <a:bodyPr wrap="none" lIns="0" tIns="0" rIns="0" bIns="0" anchor="t" anchorCtr="0">
            <a:spAutoFit/>
          </a:bodyPr>
          <a:lstStyle/>
          <a:p>
            <a:pPr algn="l"/>
            <a:r>
              <a:rPr lang="zh-CN" sz="1500" b="1" dirty="0">
                <a:solidFill>
                  <a:srgbClr val="1F2328"/>
                </a:solidFill>
                <a:latin typeface="Arial"/>
                <a:ea typeface="SimHei"/>
                <a:cs typeface="Arial"/>
              </a:rPr>
              <a:t>工打字输入</a:t>
            </a:r>
          </a:p>
        </p:txBody>
      </p:sp>
      <p:sp>
        <p:nvSpPr>
          <p:cNvPr id="44" name="Rectangle 44"/>
          <p:cNvSpPr/>
          <p:nvPr/>
        </p:nvSpPr>
        <p:spPr>
          <a:xfrm>
            <a:off x="2018792" y="3135630"/>
            <a:ext cx="619125" cy="552450"/>
          </a:xfrm>
          <a:prstGeom prst="roundRect">
            <a:avLst>
              <a:gd name="adj" fmla="val 20690"/>
            </a:avLst>
          </a:prstGeom>
          <a:solidFill>
            <a:srgbClr val="FDF3F5"/>
          </a:solidFill>
          <a:ln w="9525">
            <a:solidFill>
              <a:srgbClr val="D8A1AB"/>
            </a:solidFill>
          </a:ln>
        </p:spPr>
      </p:sp>
      <p:grpSp>
        <p:nvGrpSpPr>
          <p:cNvPr id="53" name="Group 53"/>
          <p:cNvGrpSpPr/>
          <p:nvPr/>
        </p:nvGrpSpPr>
        <p:grpSpPr>
          <a:xfrm>
            <a:off x="2172780" y="3340418"/>
            <a:ext cx="301625" cy="180975"/>
            <a:chOff x="2363788" y="3157538"/>
            <a:chExt cx="301625" cy="180975"/>
          </a:xfrm>
        </p:grpSpPr>
        <p:sp>
          <p:nvSpPr>
            <p:cNvPr id="45" name="Freeform 45"/>
            <p:cNvSpPr/>
            <p:nvPr/>
          </p:nvSpPr>
          <p:spPr>
            <a:xfrm>
              <a:off x="2363788" y="3157538"/>
              <a:ext cx="301625" cy="180975"/>
            </a:xfrm>
            <a:custGeom>
              <a:avLst/>
              <a:gdLst/>
              <a:ahLst/>
              <a:cxnLst/>
              <a:rect l="l" t="t" r="r" b="b"/>
              <a:pathLst>
                <a:path w="301625" h="180975">
                  <a:moveTo>
                    <a:pt x="0" y="30163"/>
                  </a:moveTo>
                  <a:cubicBezTo>
                    <a:pt x="0" y="13504"/>
                    <a:pt x="13504" y="0"/>
                    <a:pt x="30163" y="0"/>
                  </a:cubicBezTo>
                  <a:lnTo>
                    <a:pt x="271463" y="0"/>
                  </a:lnTo>
                  <a:cubicBezTo>
                    <a:pt x="288121" y="0"/>
                    <a:pt x="301625" y="13504"/>
                    <a:pt x="301625" y="30163"/>
                  </a:cubicBezTo>
                  <a:lnTo>
                    <a:pt x="301625" y="150812"/>
                  </a:lnTo>
                  <a:cubicBezTo>
                    <a:pt x="301625" y="167471"/>
                    <a:pt x="288121" y="180975"/>
                    <a:pt x="271463" y="180975"/>
                  </a:cubicBezTo>
                  <a:lnTo>
                    <a:pt x="30163" y="180975"/>
                  </a:lnTo>
                  <a:cubicBezTo>
                    <a:pt x="13504" y="180975"/>
                    <a:pt x="0" y="167471"/>
                    <a:pt x="0" y="150812"/>
                  </a:cubicBezTo>
                  <a:lnTo>
                    <a:pt x="0" y="30163"/>
                  </a:lnTo>
                </a:path>
              </a:pathLst>
            </a:custGeom>
            <a:noFill/>
            <a:ln w="19050">
              <a:solidFill>
                <a:srgbClr val="A50021"/>
              </a:solidFill>
            </a:ln>
          </p:spPr>
        </p:sp>
        <p:sp>
          <p:nvSpPr>
            <p:cNvPr id="46" name="Freeform 46"/>
            <p:cNvSpPr/>
            <p:nvPr/>
          </p:nvSpPr>
          <p:spPr>
            <a:xfrm>
              <a:off x="2424112" y="3217862"/>
              <a:ext cx="9525" cy="9525"/>
            </a:xfrm>
            <a:custGeom>
              <a:avLst/>
              <a:gdLst/>
              <a:ahLst/>
              <a:cxnLst/>
              <a:rect l="l" t="t" r="r" b="b"/>
              <a:pathLst>
                <a:path w="9525" h="9525">
                  <a:moveTo>
                    <a:pt x="0" y="0"/>
                  </a:moveTo>
                  <a:lnTo>
                    <a:pt x="0" y="151"/>
                  </a:lnTo>
                </a:path>
              </a:pathLst>
            </a:custGeom>
            <a:noFill/>
            <a:ln w="19050">
              <a:solidFill>
                <a:srgbClr val="A50021"/>
              </a:solidFill>
            </a:ln>
          </p:spPr>
        </p:sp>
        <p:sp>
          <p:nvSpPr>
            <p:cNvPr id="47" name="Freeform 47"/>
            <p:cNvSpPr/>
            <p:nvPr/>
          </p:nvSpPr>
          <p:spPr>
            <a:xfrm>
              <a:off x="2484438" y="3217862"/>
              <a:ext cx="9525" cy="9525"/>
            </a:xfrm>
            <a:custGeom>
              <a:avLst/>
              <a:gdLst/>
              <a:ahLst/>
              <a:cxnLst/>
              <a:rect l="l" t="t" r="r" b="b"/>
              <a:pathLst>
                <a:path w="9525" h="9525">
                  <a:moveTo>
                    <a:pt x="0" y="0"/>
                  </a:moveTo>
                  <a:lnTo>
                    <a:pt x="0" y="151"/>
                  </a:lnTo>
                </a:path>
              </a:pathLst>
            </a:custGeom>
            <a:noFill/>
            <a:ln w="19050">
              <a:solidFill>
                <a:srgbClr val="A50021"/>
              </a:solidFill>
            </a:ln>
          </p:spPr>
        </p:sp>
        <p:sp>
          <p:nvSpPr>
            <p:cNvPr id="48" name="Freeform 48"/>
            <p:cNvSpPr/>
            <p:nvPr/>
          </p:nvSpPr>
          <p:spPr>
            <a:xfrm>
              <a:off x="2544762" y="3217862"/>
              <a:ext cx="9525" cy="9525"/>
            </a:xfrm>
            <a:custGeom>
              <a:avLst/>
              <a:gdLst/>
              <a:ahLst/>
              <a:cxnLst/>
              <a:rect l="l" t="t" r="r" b="b"/>
              <a:pathLst>
                <a:path w="9525" h="9525">
                  <a:moveTo>
                    <a:pt x="0" y="0"/>
                  </a:moveTo>
                  <a:lnTo>
                    <a:pt x="0" y="151"/>
                  </a:lnTo>
                </a:path>
              </a:pathLst>
            </a:custGeom>
            <a:noFill/>
            <a:ln w="19050">
              <a:solidFill>
                <a:srgbClr val="A50021"/>
              </a:solidFill>
            </a:ln>
          </p:spPr>
        </p:sp>
        <p:sp>
          <p:nvSpPr>
            <p:cNvPr id="49" name="Freeform 49"/>
            <p:cNvSpPr/>
            <p:nvPr/>
          </p:nvSpPr>
          <p:spPr>
            <a:xfrm>
              <a:off x="2605088" y="3217862"/>
              <a:ext cx="9525" cy="9525"/>
            </a:xfrm>
            <a:custGeom>
              <a:avLst/>
              <a:gdLst/>
              <a:ahLst/>
              <a:cxnLst/>
              <a:rect l="l" t="t" r="r" b="b"/>
              <a:pathLst>
                <a:path w="9525" h="9525">
                  <a:moveTo>
                    <a:pt x="0" y="0"/>
                  </a:moveTo>
                  <a:lnTo>
                    <a:pt x="0" y="151"/>
                  </a:lnTo>
                </a:path>
              </a:pathLst>
            </a:custGeom>
            <a:noFill/>
            <a:ln w="19050">
              <a:solidFill>
                <a:srgbClr val="A50021"/>
              </a:solidFill>
            </a:ln>
          </p:spPr>
        </p:sp>
        <p:sp>
          <p:nvSpPr>
            <p:cNvPr id="50" name="Freeform 50"/>
            <p:cNvSpPr/>
            <p:nvPr/>
          </p:nvSpPr>
          <p:spPr>
            <a:xfrm>
              <a:off x="2424112" y="3278188"/>
              <a:ext cx="9525" cy="9525"/>
            </a:xfrm>
            <a:custGeom>
              <a:avLst/>
              <a:gdLst/>
              <a:ahLst/>
              <a:cxnLst/>
              <a:rect l="l" t="t" r="r" b="b"/>
              <a:pathLst>
                <a:path w="9525" h="9525">
                  <a:moveTo>
                    <a:pt x="0" y="0"/>
                  </a:moveTo>
                  <a:lnTo>
                    <a:pt x="0" y="151"/>
                  </a:lnTo>
                </a:path>
              </a:pathLst>
            </a:custGeom>
            <a:noFill/>
            <a:ln w="19050">
              <a:solidFill>
                <a:srgbClr val="A50021"/>
              </a:solidFill>
            </a:ln>
          </p:spPr>
        </p:sp>
        <p:sp>
          <p:nvSpPr>
            <p:cNvPr id="51" name="Freeform 51"/>
            <p:cNvSpPr/>
            <p:nvPr/>
          </p:nvSpPr>
          <p:spPr>
            <a:xfrm>
              <a:off x="2605088" y="3278188"/>
              <a:ext cx="9525" cy="9525"/>
            </a:xfrm>
            <a:custGeom>
              <a:avLst/>
              <a:gdLst/>
              <a:ahLst/>
              <a:cxnLst/>
              <a:rect l="l" t="t" r="r" b="b"/>
              <a:pathLst>
                <a:path w="9525" h="9525">
                  <a:moveTo>
                    <a:pt x="0" y="0"/>
                  </a:moveTo>
                  <a:lnTo>
                    <a:pt x="0" y="151"/>
                  </a:lnTo>
                </a:path>
              </a:pathLst>
            </a:custGeom>
            <a:noFill/>
            <a:ln w="19050">
              <a:solidFill>
                <a:srgbClr val="A50021"/>
              </a:solidFill>
            </a:ln>
          </p:spPr>
        </p:sp>
        <p:sp>
          <p:nvSpPr>
            <p:cNvPr id="52" name="Freeform 52"/>
            <p:cNvSpPr/>
            <p:nvPr/>
          </p:nvSpPr>
          <p:spPr>
            <a:xfrm>
              <a:off x="2484438" y="3278188"/>
              <a:ext cx="60325" cy="9525"/>
            </a:xfrm>
            <a:custGeom>
              <a:avLst/>
              <a:gdLst/>
              <a:ahLst/>
              <a:cxnLst/>
              <a:rect l="l" t="t" r="r" b="b"/>
              <a:pathLst>
                <a:path w="60325" h="9525">
                  <a:moveTo>
                    <a:pt x="0" y="0"/>
                  </a:moveTo>
                  <a:lnTo>
                    <a:pt x="60325" y="151"/>
                  </a:lnTo>
                </a:path>
              </a:pathLst>
            </a:custGeom>
            <a:noFill/>
            <a:ln w="19050">
              <a:solidFill>
                <a:srgbClr val="A50021"/>
              </a:solidFill>
            </a:ln>
          </p:spPr>
        </p:sp>
      </p:grpSp>
      <p:sp>
        <p:nvSpPr>
          <p:cNvPr id="54" name="Rectangle 54"/>
          <p:cNvSpPr/>
          <p:nvPr/>
        </p:nvSpPr>
        <p:spPr>
          <a:xfrm>
            <a:off x="2828417" y="3135630"/>
            <a:ext cx="619125" cy="552450"/>
          </a:xfrm>
          <a:prstGeom prst="roundRect">
            <a:avLst>
              <a:gd name="adj" fmla="val 20690"/>
            </a:avLst>
          </a:prstGeom>
          <a:solidFill>
            <a:srgbClr val="F8F9FA"/>
          </a:solidFill>
          <a:ln w="9525">
            <a:solidFill>
              <a:srgbClr val="E8EAED"/>
            </a:solidFill>
          </a:ln>
        </p:spPr>
      </p:sp>
      <p:grpSp>
        <p:nvGrpSpPr>
          <p:cNvPr id="59" name="Group 59"/>
          <p:cNvGrpSpPr/>
          <p:nvPr/>
        </p:nvGrpSpPr>
        <p:grpSpPr>
          <a:xfrm>
            <a:off x="2980817" y="3304699"/>
            <a:ext cx="211931" cy="166688"/>
            <a:chOff x="3171825" y="3121819"/>
            <a:chExt cx="211931" cy="166688"/>
          </a:xfrm>
        </p:grpSpPr>
        <p:sp>
          <p:nvSpPr>
            <p:cNvPr id="55" name="Freeform 55"/>
            <p:cNvSpPr/>
            <p:nvPr/>
          </p:nvSpPr>
          <p:spPr>
            <a:xfrm>
              <a:off x="3171825" y="3121819"/>
              <a:ext cx="190500" cy="107156"/>
            </a:xfrm>
            <a:custGeom>
              <a:avLst/>
              <a:gdLst/>
              <a:ahLst/>
              <a:cxnLst/>
              <a:rect l="l" t="t" r="r" b="b"/>
              <a:pathLst>
                <a:path w="190500" h="107156">
                  <a:moveTo>
                    <a:pt x="190500" y="47625"/>
                  </a:moveTo>
                  <a:lnTo>
                    <a:pt x="190500" y="23812"/>
                  </a:lnTo>
                  <a:cubicBezTo>
                    <a:pt x="190500" y="10661"/>
                    <a:pt x="179839" y="0"/>
                    <a:pt x="166688" y="0"/>
                  </a:cubicBezTo>
                  <a:lnTo>
                    <a:pt x="23812" y="0"/>
                  </a:lnTo>
                  <a:cubicBezTo>
                    <a:pt x="10661" y="0"/>
                    <a:pt x="0" y="10661"/>
                    <a:pt x="0" y="23812"/>
                  </a:cubicBezTo>
                  <a:lnTo>
                    <a:pt x="0" y="83344"/>
                  </a:lnTo>
                  <a:cubicBezTo>
                    <a:pt x="0" y="96495"/>
                    <a:pt x="10661" y="107156"/>
                    <a:pt x="23812" y="107156"/>
                  </a:cubicBezTo>
                  <a:lnTo>
                    <a:pt x="71438" y="107156"/>
                  </a:lnTo>
                </a:path>
              </a:pathLst>
            </a:custGeom>
            <a:noFill/>
            <a:ln w="19050">
              <a:solidFill>
                <a:srgbClr val="A50021"/>
              </a:solidFill>
            </a:ln>
          </p:spPr>
        </p:sp>
        <p:sp>
          <p:nvSpPr>
            <p:cNvPr id="56" name="Freeform 56"/>
            <p:cNvSpPr/>
            <p:nvPr/>
          </p:nvSpPr>
          <p:spPr>
            <a:xfrm>
              <a:off x="3290888" y="3217069"/>
              <a:ext cx="47625" cy="71438"/>
            </a:xfrm>
            <a:custGeom>
              <a:avLst/>
              <a:gdLst/>
              <a:ahLst/>
              <a:cxnLst/>
              <a:rect l="l" t="t" r="r" b="b"/>
              <a:pathLst>
                <a:path w="47625" h="71438">
                  <a:moveTo>
                    <a:pt x="0" y="71438"/>
                  </a:moveTo>
                  <a:lnTo>
                    <a:pt x="0" y="23812"/>
                  </a:lnTo>
                  <a:cubicBezTo>
                    <a:pt x="0" y="10661"/>
                    <a:pt x="10661" y="0"/>
                    <a:pt x="23812" y="0"/>
                  </a:cubicBezTo>
                  <a:cubicBezTo>
                    <a:pt x="36964" y="0"/>
                    <a:pt x="47625" y="10661"/>
                    <a:pt x="47625" y="23812"/>
                  </a:cubicBezTo>
                  <a:lnTo>
                    <a:pt x="47625" y="71438"/>
                  </a:lnTo>
                </a:path>
              </a:pathLst>
            </a:custGeom>
            <a:noFill/>
            <a:ln w="19050">
              <a:solidFill>
                <a:srgbClr val="A50021"/>
              </a:solidFill>
            </a:ln>
          </p:spPr>
        </p:sp>
        <p:sp>
          <p:nvSpPr>
            <p:cNvPr id="57" name="Freeform 57"/>
            <p:cNvSpPr/>
            <p:nvPr/>
          </p:nvSpPr>
          <p:spPr>
            <a:xfrm>
              <a:off x="3290888" y="3264694"/>
              <a:ext cx="47625" cy="9525"/>
            </a:xfrm>
            <a:custGeom>
              <a:avLst/>
              <a:gdLst/>
              <a:ahLst/>
              <a:cxnLst/>
              <a:rect l="l" t="t" r="r" b="b"/>
              <a:pathLst>
                <a:path w="47625" h="9525">
                  <a:moveTo>
                    <a:pt x="0" y="0"/>
                  </a:moveTo>
                  <a:lnTo>
                    <a:pt x="47625" y="0"/>
                  </a:lnTo>
                </a:path>
              </a:pathLst>
            </a:custGeom>
            <a:noFill/>
            <a:ln w="19050">
              <a:solidFill>
                <a:srgbClr val="A50021"/>
              </a:solidFill>
            </a:ln>
          </p:spPr>
        </p:sp>
        <p:sp>
          <p:nvSpPr>
            <p:cNvPr id="58" name="Freeform 58"/>
            <p:cNvSpPr/>
            <p:nvPr/>
          </p:nvSpPr>
          <p:spPr>
            <a:xfrm>
              <a:off x="3374231" y="3217069"/>
              <a:ext cx="9525" cy="71438"/>
            </a:xfrm>
            <a:custGeom>
              <a:avLst/>
              <a:gdLst/>
              <a:ahLst/>
              <a:cxnLst/>
              <a:rect l="l" t="t" r="r" b="b"/>
              <a:pathLst>
                <a:path w="9525" h="71438">
                  <a:moveTo>
                    <a:pt x="0" y="0"/>
                  </a:moveTo>
                  <a:lnTo>
                    <a:pt x="0" y="71438"/>
                  </a:lnTo>
                </a:path>
              </a:pathLst>
            </a:custGeom>
            <a:noFill/>
            <a:ln w="19050">
              <a:solidFill>
                <a:srgbClr val="A50021"/>
              </a:solidFill>
            </a:ln>
          </p:spPr>
        </p:sp>
      </p:grpSp>
      <p:grpSp>
        <p:nvGrpSpPr>
          <p:cNvPr id="62" name="Group 62"/>
          <p:cNvGrpSpPr/>
          <p:nvPr/>
        </p:nvGrpSpPr>
        <p:grpSpPr>
          <a:xfrm>
            <a:off x="3209417" y="3426142"/>
            <a:ext cx="95250" cy="142875"/>
            <a:chOff x="3400425" y="3243262"/>
            <a:chExt cx="95250" cy="142875"/>
          </a:xfrm>
        </p:grpSpPr>
        <p:sp>
          <p:nvSpPr>
            <p:cNvPr id="60" name="Freeform 60"/>
            <p:cNvSpPr/>
            <p:nvPr/>
          </p:nvSpPr>
          <p:spPr>
            <a:xfrm>
              <a:off x="3400425" y="3243262"/>
              <a:ext cx="95250" cy="142875"/>
            </a:xfrm>
            <a:custGeom>
              <a:avLst/>
              <a:gdLst/>
              <a:ahLst/>
              <a:cxnLst/>
              <a:rect l="l" t="t" r="r" b="b"/>
              <a:pathLst>
                <a:path w="95250" h="142875">
                  <a:moveTo>
                    <a:pt x="0" y="31750"/>
                  </a:moveTo>
                  <a:cubicBezTo>
                    <a:pt x="0" y="14215"/>
                    <a:pt x="14215" y="0"/>
                    <a:pt x="31750" y="0"/>
                  </a:cubicBezTo>
                  <a:lnTo>
                    <a:pt x="63500" y="0"/>
                  </a:lnTo>
                  <a:cubicBezTo>
                    <a:pt x="81035" y="0"/>
                    <a:pt x="95250" y="14215"/>
                    <a:pt x="95250" y="31750"/>
                  </a:cubicBezTo>
                  <a:lnTo>
                    <a:pt x="95250" y="111125"/>
                  </a:lnTo>
                  <a:cubicBezTo>
                    <a:pt x="95250" y="128660"/>
                    <a:pt x="81035" y="142875"/>
                    <a:pt x="63500" y="142875"/>
                  </a:cubicBezTo>
                  <a:lnTo>
                    <a:pt x="31750" y="142875"/>
                  </a:lnTo>
                  <a:cubicBezTo>
                    <a:pt x="14215" y="142875"/>
                    <a:pt x="0" y="128660"/>
                    <a:pt x="0" y="111125"/>
                  </a:cubicBezTo>
                  <a:lnTo>
                    <a:pt x="0" y="31750"/>
                  </a:lnTo>
                </a:path>
              </a:pathLst>
            </a:custGeom>
            <a:noFill/>
            <a:ln w="19050">
              <a:solidFill>
                <a:srgbClr val="5F6368"/>
              </a:solidFill>
            </a:ln>
          </p:spPr>
        </p:sp>
        <p:sp>
          <p:nvSpPr>
            <p:cNvPr id="61" name="Freeform 61"/>
            <p:cNvSpPr/>
            <p:nvPr/>
          </p:nvSpPr>
          <p:spPr>
            <a:xfrm>
              <a:off x="3448050" y="3275012"/>
              <a:ext cx="9525" cy="31750"/>
            </a:xfrm>
            <a:custGeom>
              <a:avLst/>
              <a:gdLst/>
              <a:ahLst/>
              <a:cxnLst/>
              <a:rect l="l" t="t" r="r" b="b"/>
              <a:pathLst>
                <a:path w="9525" h="31750">
                  <a:moveTo>
                    <a:pt x="0" y="0"/>
                  </a:moveTo>
                  <a:lnTo>
                    <a:pt x="0" y="31750"/>
                  </a:lnTo>
                </a:path>
              </a:pathLst>
            </a:custGeom>
            <a:noFill/>
            <a:ln w="19050">
              <a:solidFill>
                <a:srgbClr val="5F6368"/>
              </a:solidFill>
            </a:ln>
          </p:spPr>
        </p:sp>
      </p:grpSp>
      <p:sp>
        <p:nvSpPr>
          <p:cNvPr id="63" name="TextBox 63"/>
          <p:cNvSpPr txBox="1"/>
          <p:nvPr/>
        </p:nvSpPr>
        <p:spPr>
          <a:xfrm>
            <a:off x="2023554" y="3909536"/>
            <a:ext cx="1343025" cy="228600"/>
          </a:xfrm>
          <a:prstGeom prst="rect">
            <a:avLst/>
          </a:prstGeom>
          <a:noFill/>
          <a:ln>
            <a:noFill/>
          </a:ln>
        </p:spPr>
        <p:txBody>
          <a:bodyPr wrap="none" lIns="0" tIns="0" rIns="0" bIns="0" anchor="t" anchorCtr="0">
            <a:spAutoFit/>
          </a:bodyPr>
          <a:lstStyle/>
          <a:p>
            <a:pPr algn="l"/>
            <a:r>
              <a:rPr lang="zh-CN" sz="1125" dirty="0">
                <a:solidFill>
                  <a:srgbClr val="1F2328"/>
                </a:solidFill>
                <a:latin typeface="Arial"/>
                <a:ea typeface="SimHei"/>
                <a:cs typeface="Arial"/>
              </a:rPr>
              <a:t>输入问题或指令，</a:t>
            </a:r>
          </a:p>
        </p:txBody>
      </p:sp>
      <p:sp>
        <p:nvSpPr>
          <p:cNvPr id="64" name="TextBox 64"/>
          <p:cNvSpPr txBox="1"/>
          <p:nvPr/>
        </p:nvSpPr>
        <p:spPr>
          <a:xfrm>
            <a:off x="2023554" y="4119086"/>
            <a:ext cx="1178719" cy="228600"/>
          </a:xfrm>
          <a:prstGeom prst="rect">
            <a:avLst/>
          </a:prstGeom>
          <a:noFill/>
          <a:ln>
            <a:noFill/>
          </a:ln>
        </p:spPr>
        <p:txBody>
          <a:bodyPr wrap="none" lIns="0" tIns="0" rIns="0" bIns="0" anchor="t" anchorCtr="0">
            <a:spAutoFit/>
          </a:bodyPr>
          <a:lstStyle/>
          <a:p>
            <a:pPr algn="l"/>
            <a:r>
              <a:rPr lang="zh-CN" sz="1125" dirty="0">
                <a:solidFill>
                  <a:srgbClr val="1F2328"/>
                </a:solidFill>
                <a:latin typeface="Arial"/>
                <a:ea typeface="SimHei"/>
                <a:cs typeface="Arial"/>
              </a:rPr>
              <a:t>支持纯文本内容</a:t>
            </a:r>
          </a:p>
        </p:txBody>
      </p:sp>
      <p:sp>
        <p:nvSpPr>
          <p:cNvPr id="65" name="TextBox 65"/>
          <p:cNvSpPr txBox="1"/>
          <p:nvPr/>
        </p:nvSpPr>
        <p:spPr>
          <a:xfrm>
            <a:off x="1930210" y="4782979"/>
            <a:ext cx="1669471" cy="198120"/>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SimHei"/>
                <a:cs typeface="Arial"/>
              </a:rPr>
              <a:t>例如：“帮我起一个有创意</a:t>
            </a:r>
          </a:p>
        </p:txBody>
      </p:sp>
      <p:sp>
        <p:nvSpPr>
          <p:cNvPr id="66" name="TextBox 66"/>
          <p:cNvSpPr txBox="1"/>
          <p:nvPr/>
        </p:nvSpPr>
        <p:spPr>
          <a:xfrm>
            <a:off x="1930210" y="4973479"/>
            <a:ext cx="530281" cy="198120"/>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SimHei"/>
                <a:cs typeface="Arial"/>
              </a:rPr>
              <a:t>的标题”</a:t>
            </a:r>
          </a:p>
        </p:txBody>
      </p:sp>
      <p:sp>
        <p:nvSpPr>
          <p:cNvPr id="68" name="Rectangle 68"/>
          <p:cNvSpPr/>
          <p:nvPr/>
        </p:nvSpPr>
        <p:spPr>
          <a:xfrm>
            <a:off x="3952367" y="2335530"/>
            <a:ext cx="1809750" cy="2266950"/>
          </a:xfrm>
          <a:prstGeom prst="roundRect">
            <a:avLst>
              <a:gd name="adj" fmla="val 8421"/>
            </a:avLst>
          </a:prstGeom>
          <a:solidFill>
            <a:srgbClr val="FFFFFF"/>
          </a:solidFill>
          <a:ln w="19050">
            <a:solidFill>
              <a:srgbClr val="1F2328"/>
            </a:solidFill>
          </a:ln>
          <a:effectLst>
            <a:outerShdw blurRad="152400" dist="38100" dir="5400000" algn="ctr" rotWithShape="0">
              <a:srgbClr val="000000">
                <a:alpha val="7500"/>
              </a:srgbClr>
            </a:outerShdw>
          </a:effectLst>
        </p:spPr>
      </p:sp>
      <p:sp>
        <p:nvSpPr>
          <p:cNvPr id="69" name="TextBox 69"/>
          <p:cNvSpPr txBox="1"/>
          <p:nvPr/>
        </p:nvSpPr>
        <p:spPr>
          <a:xfrm>
            <a:off x="4142867" y="2516505"/>
            <a:ext cx="1648301" cy="304800"/>
          </a:xfrm>
          <a:prstGeom prst="rect">
            <a:avLst/>
          </a:prstGeom>
          <a:noFill/>
          <a:ln>
            <a:noFill/>
          </a:ln>
        </p:spPr>
        <p:txBody>
          <a:bodyPr wrap="none" lIns="0" tIns="0" rIns="0" bIns="0" anchor="t" anchorCtr="0">
            <a:spAutoFit/>
          </a:bodyPr>
          <a:lstStyle/>
          <a:p>
            <a:pPr algn="l"/>
            <a:r>
              <a:rPr lang="zh-CN" sz="1500" b="1" dirty="0">
                <a:solidFill>
                  <a:srgbClr val="1F2328"/>
                </a:solidFill>
                <a:latin typeface="Arial"/>
                <a:ea typeface="SimHei"/>
                <a:cs typeface="Arial"/>
              </a:rPr>
              <a:t>等待大模型接收</a:t>
            </a:r>
          </a:p>
        </p:txBody>
      </p:sp>
      <p:sp>
        <p:nvSpPr>
          <p:cNvPr id="70" name="TextBox 70"/>
          <p:cNvSpPr txBox="1"/>
          <p:nvPr/>
        </p:nvSpPr>
        <p:spPr>
          <a:xfrm>
            <a:off x="4142867" y="2783205"/>
            <a:ext cx="728186" cy="304800"/>
          </a:xfrm>
          <a:prstGeom prst="rect">
            <a:avLst/>
          </a:prstGeom>
          <a:noFill/>
          <a:ln>
            <a:noFill/>
          </a:ln>
        </p:spPr>
        <p:txBody>
          <a:bodyPr wrap="none" lIns="0" tIns="0" rIns="0" bIns="0" anchor="t" anchorCtr="0">
            <a:spAutoFit/>
          </a:bodyPr>
          <a:lstStyle/>
          <a:p>
            <a:pPr algn="l"/>
            <a:r>
              <a:rPr lang="zh-CN" sz="1500" b="1" dirty="0">
                <a:solidFill>
                  <a:srgbClr val="1F2328"/>
                </a:solidFill>
                <a:latin typeface="Arial"/>
                <a:ea typeface="SimHei"/>
                <a:cs typeface="Arial"/>
              </a:rPr>
              <a:t>并处理</a:t>
            </a:r>
          </a:p>
        </p:txBody>
      </p:sp>
      <p:sp>
        <p:nvSpPr>
          <p:cNvPr id="71" name="Rectangle 71"/>
          <p:cNvSpPr/>
          <p:nvPr/>
        </p:nvSpPr>
        <p:spPr>
          <a:xfrm>
            <a:off x="4142867" y="3135630"/>
            <a:ext cx="619125" cy="552450"/>
          </a:xfrm>
          <a:prstGeom prst="roundRect">
            <a:avLst>
              <a:gd name="adj" fmla="val 20690"/>
            </a:avLst>
          </a:prstGeom>
          <a:solidFill>
            <a:srgbClr val="F8F9FA"/>
          </a:solidFill>
          <a:ln w="9525">
            <a:solidFill>
              <a:srgbClr val="E8EAED"/>
            </a:solidFill>
          </a:ln>
        </p:spPr>
      </p:sp>
      <p:grpSp>
        <p:nvGrpSpPr>
          <p:cNvPr id="78" name="Group 78"/>
          <p:cNvGrpSpPr/>
          <p:nvPr/>
        </p:nvGrpSpPr>
        <p:grpSpPr>
          <a:xfrm>
            <a:off x="4311936" y="3295174"/>
            <a:ext cx="271462" cy="271462"/>
            <a:chOff x="4502944" y="3112294"/>
            <a:chExt cx="271462" cy="271462"/>
          </a:xfrm>
        </p:grpSpPr>
        <p:sp>
          <p:nvSpPr>
            <p:cNvPr id="72" name="Freeform 72"/>
            <p:cNvSpPr/>
            <p:nvPr/>
          </p:nvSpPr>
          <p:spPr>
            <a:xfrm>
              <a:off x="4638675" y="3263106"/>
              <a:ext cx="105569" cy="120650"/>
            </a:xfrm>
            <a:custGeom>
              <a:avLst/>
              <a:gdLst/>
              <a:ahLst/>
              <a:cxnLst/>
              <a:rect l="l" t="t" r="r" b="b"/>
              <a:pathLst>
                <a:path w="105569" h="120650">
                  <a:moveTo>
                    <a:pt x="52784" y="0"/>
                  </a:moveTo>
                  <a:cubicBezTo>
                    <a:pt x="23632" y="0"/>
                    <a:pt x="0" y="23632"/>
                    <a:pt x="0" y="52784"/>
                  </a:cubicBezTo>
                  <a:lnTo>
                    <a:pt x="0" y="67866"/>
                  </a:lnTo>
                  <a:cubicBezTo>
                    <a:pt x="0" y="97018"/>
                    <a:pt x="23632" y="120650"/>
                    <a:pt x="52784" y="120650"/>
                  </a:cubicBezTo>
                  <a:cubicBezTo>
                    <a:pt x="81936" y="120650"/>
                    <a:pt x="105569" y="97018"/>
                    <a:pt x="105569" y="67866"/>
                  </a:cubicBezTo>
                  <a:lnTo>
                    <a:pt x="105569" y="40719"/>
                  </a:lnTo>
                </a:path>
              </a:pathLst>
            </a:custGeom>
            <a:noFill/>
            <a:ln w="19050">
              <a:solidFill>
                <a:srgbClr val="A50021"/>
              </a:solidFill>
            </a:ln>
          </p:spPr>
        </p:sp>
        <p:sp>
          <p:nvSpPr>
            <p:cNvPr id="73" name="Freeform 73"/>
            <p:cNvSpPr/>
            <p:nvPr/>
          </p:nvSpPr>
          <p:spPr>
            <a:xfrm>
              <a:off x="4533106" y="3263106"/>
              <a:ext cx="105569" cy="120650"/>
            </a:xfrm>
            <a:custGeom>
              <a:avLst/>
              <a:gdLst/>
              <a:ahLst/>
              <a:cxnLst/>
              <a:rect l="l" t="t" r="r" b="b"/>
              <a:pathLst>
                <a:path w="105569" h="120650">
                  <a:moveTo>
                    <a:pt x="52784" y="0"/>
                  </a:moveTo>
                  <a:cubicBezTo>
                    <a:pt x="81936" y="0"/>
                    <a:pt x="105569" y="23632"/>
                    <a:pt x="105569" y="52784"/>
                  </a:cubicBezTo>
                  <a:lnTo>
                    <a:pt x="105569" y="67866"/>
                  </a:lnTo>
                  <a:cubicBezTo>
                    <a:pt x="105569" y="97018"/>
                    <a:pt x="81936" y="120650"/>
                    <a:pt x="52784" y="120650"/>
                  </a:cubicBezTo>
                  <a:cubicBezTo>
                    <a:pt x="23632" y="120650"/>
                    <a:pt x="0" y="97018"/>
                    <a:pt x="0" y="67866"/>
                  </a:cubicBezTo>
                  <a:lnTo>
                    <a:pt x="0" y="40719"/>
                  </a:lnTo>
                </a:path>
              </a:pathLst>
            </a:custGeom>
            <a:noFill/>
            <a:ln w="19050">
              <a:solidFill>
                <a:srgbClr val="A50021"/>
              </a:solidFill>
            </a:ln>
          </p:spPr>
        </p:sp>
        <p:sp>
          <p:nvSpPr>
            <p:cNvPr id="74" name="Freeform 74"/>
            <p:cNvSpPr/>
            <p:nvPr/>
          </p:nvSpPr>
          <p:spPr>
            <a:xfrm>
              <a:off x="4714081" y="3202781"/>
              <a:ext cx="60325" cy="105569"/>
            </a:xfrm>
            <a:custGeom>
              <a:avLst/>
              <a:gdLst/>
              <a:ahLst/>
              <a:cxnLst/>
              <a:rect l="l" t="t" r="r" b="b"/>
              <a:pathLst>
                <a:path w="60325" h="105569">
                  <a:moveTo>
                    <a:pt x="7541" y="105569"/>
                  </a:moveTo>
                  <a:cubicBezTo>
                    <a:pt x="36693" y="105569"/>
                    <a:pt x="60325" y="81936"/>
                    <a:pt x="60325" y="52784"/>
                  </a:cubicBezTo>
                  <a:cubicBezTo>
                    <a:pt x="60325" y="23632"/>
                    <a:pt x="36693" y="0"/>
                    <a:pt x="7541" y="0"/>
                  </a:cubicBezTo>
                  <a:lnTo>
                    <a:pt x="0" y="0"/>
                  </a:lnTo>
                </a:path>
              </a:pathLst>
            </a:custGeom>
            <a:noFill/>
            <a:ln w="19050">
              <a:solidFill>
                <a:srgbClr val="A50021"/>
              </a:solidFill>
            </a:ln>
          </p:spPr>
        </p:sp>
        <p:sp>
          <p:nvSpPr>
            <p:cNvPr id="75" name="Freeform 75"/>
            <p:cNvSpPr/>
            <p:nvPr/>
          </p:nvSpPr>
          <p:spPr>
            <a:xfrm>
              <a:off x="4638675" y="3112294"/>
              <a:ext cx="105569" cy="95012"/>
            </a:xfrm>
            <a:custGeom>
              <a:avLst/>
              <a:gdLst/>
              <a:ahLst/>
              <a:cxnLst/>
              <a:rect l="l" t="t" r="r" b="b"/>
              <a:pathLst>
                <a:path w="105569" h="95012">
                  <a:moveTo>
                    <a:pt x="105569" y="95012"/>
                  </a:moveTo>
                  <a:lnTo>
                    <a:pt x="105569" y="52784"/>
                  </a:lnTo>
                  <a:cubicBezTo>
                    <a:pt x="105569" y="23632"/>
                    <a:pt x="81936" y="0"/>
                    <a:pt x="52784" y="0"/>
                  </a:cubicBezTo>
                  <a:cubicBezTo>
                    <a:pt x="23632" y="0"/>
                    <a:pt x="0" y="23632"/>
                    <a:pt x="0" y="52784"/>
                  </a:cubicBezTo>
                </a:path>
              </a:pathLst>
            </a:custGeom>
            <a:noFill/>
            <a:ln w="19050">
              <a:solidFill>
                <a:srgbClr val="A50021"/>
              </a:solidFill>
            </a:ln>
          </p:spPr>
        </p:sp>
        <p:sp>
          <p:nvSpPr>
            <p:cNvPr id="76" name="Freeform 76"/>
            <p:cNvSpPr/>
            <p:nvPr/>
          </p:nvSpPr>
          <p:spPr>
            <a:xfrm>
              <a:off x="4502944" y="3202781"/>
              <a:ext cx="60325" cy="105569"/>
            </a:xfrm>
            <a:custGeom>
              <a:avLst/>
              <a:gdLst/>
              <a:ahLst/>
              <a:cxnLst/>
              <a:rect l="l" t="t" r="r" b="b"/>
              <a:pathLst>
                <a:path w="60325" h="105569">
                  <a:moveTo>
                    <a:pt x="52784" y="105569"/>
                  </a:moveTo>
                  <a:cubicBezTo>
                    <a:pt x="23632" y="105569"/>
                    <a:pt x="0" y="81936"/>
                    <a:pt x="0" y="52784"/>
                  </a:cubicBezTo>
                  <a:cubicBezTo>
                    <a:pt x="0" y="23632"/>
                    <a:pt x="23632" y="0"/>
                    <a:pt x="52784" y="0"/>
                  </a:cubicBezTo>
                  <a:lnTo>
                    <a:pt x="60325" y="0"/>
                  </a:lnTo>
                </a:path>
              </a:pathLst>
            </a:custGeom>
            <a:noFill/>
            <a:ln w="19050">
              <a:solidFill>
                <a:srgbClr val="A50021"/>
              </a:solidFill>
            </a:ln>
          </p:spPr>
        </p:sp>
        <p:sp>
          <p:nvSpPr>
            <p:cNvPr id="77" name="Freeform 77"/>
            <p:cNvSpPr/>
            <p:nvPr/>
          </p:nvSpPr>
          <p:spPr>
            <a:xfrm>
              <a:off x="4533106" y="3112294"/>
              <a:ext cx="105569" cy="203597"/>
            </a:xfrm>
            <a:custGeom>
              <a:avLst/>
              <a:gdLst/>
              <a:ahLst/>
              <a:cxnLst/>
              <a:rect l="l" t="t" r="r" b="b"/>
              <a:pathLst>
                <a:path w="105569" h="203597">
                  <a:moveTo>
                    <a:pt x="0" y="95012"/>
                  </a:moveTo>
                  <a:lnTo>
                    <a:pt x="0" y="52784"/>
                  </a:lnTo>
                  <a:cubicBezTo>
                    <a:pt x="0" y="23632"/>
                    <a:pt x="23632" y="0"/>
                    <a:pt x="52784" y="0"/>
                  </a:cubicBezTo>
                  <a:cubicBezTo>
                    <a:pt x="81936" y="0"/>
                    <a:pt x="105569" y="23632"/>
                    <a:pt x="105569" y="52784"/>
                  </a:cubicBezTo>
                  <a:lnTo>
                    <a:pt x="105569" y="203597"/>
                  </a:lnTo>
                </a:path>
              </a:pathLst>
            </a:custGeom>
            <a:noFill/>
            <a:ln w="19050">
              <a:solidFill>
                <a:srgbClr val="A50021"/>
              </a:solidFill>
            </a:ln>
          </p:spPr>
        </p:sp>
      </p:grpSp>
      <p:sp>
        <p:nvSpPr>
          <p:cNvPr id="79" name="Rectangle 79"/>
          <p:cNvSpPr/>
          <p:nvPr/>
        </p:nvSpPr>
        <p:spPr>
          <a:xfrm>
            <a:off x="4952492" y="3135630"/>
            <a:ext cx="619125" cy="552450"/>
          </a:xfrm>
          <a:prstGeom prst="roundRect">
            <a:avLst>
              <a:gd name="adj" fmla="val 20690"/>
            </a:avLst>
          </a:prstGeom>
          <a:solidFill>
            <a:srgbClr val="FDF3F5"/>
          </a:solidFill>
          <a:ln w="9525">
            <a:solidFill>
              <a:srgbClr val="D8A1AB"/>
            </a:solidFill>
          </a:ln>
        </p:spPr>
      </p:sp>
      <p:grpSp>
        <p:nvGrpSpPr>
          <p:cNvPr id="84" name="Group 84"/>
          <p:cNvGrpSpPr/>
          <p:nvPr/>
        </p:nvGrpSpPr>
        <p:grpSpPr>
          <a:xfrm>
            <a:off x="5157280" y="3280886"/>
            <a:ext cx="161925" cy="242888"/>
            <a:chOff x="5348288" y="3098006"/>
            <a:chExt cx="161925" cy="242888"/>
          </a:xfrm>
        </p:grpSpPr>
        <p:sp>
          <p:nvSpPr>
            <p:cNvPr id="80" name="Freeform 80"/>
            <p:cNvSpPr/>
            <p:nvPr/>
          </p:nvSpPr>
          <p:spPr>
            <a:xfrm>
              <a:off x="5355034" y="3151981"/>
              <a:ext cx="148431" cy="9525"/>
            </a:xfrm>
            <a:custGeom>
              <a:avLst/>
              <a:gdLst/>
              <a:ahLst/>
              <a:cxnLst/>
              <a:rect l="l" t="t" r="r" b="b"/>
              <a:pathLst>
                <a:path w="148431" h="9525">
                  <a:moveTo>
                    <a:pt x="0" y="0"/>
                  </a:moveTo>
                  <a:lnTo>
                    <a:pt x="148431" y="0"/>
                  </a:lnTo>
                </a:path>
              </a:pathLst>
            </a:custGeom>
            <a:noFill/>
            <a:ln w="19050">
              <a:solidFill>
                <a:srgbClr val="A50021"/>
              </a:solidFill>
            </a:ln>
          </p:spPr>
        </p:sp>
        <p:sp>
          <p:nvSpPr>
            <p:cNvPr id="81" name="Freeform 81"/>
            <p:cNvSpPr/>
            <p:nvPr/>
          </p:nvSpPr>
          <p:spPr>
            <a:xfrm>
              <a:off x="5355034" y="3286919"/>
              <a:ext cx="148431" cy="9525"/>
            </a:xfrm>
            <a:custGeom>
              <a:avLst/>
              <a:gdLst/>
              <a:ahLst/>
              <a:cxnLst/>
              <a:rect l="l" t="t" r="r" b="b"/>
              <a:pathLst>
                <a:path w="148431" h="9525">
                  <a:moveTo>
                    <a:pt x="0" y="0"/>
                  </a:moveTo>
                  <a:lnTo>
                    <a:pt x="148431" y="0"/>
                  </a:lnTo>
                </a:path>
              </a:pathLst>
            </a:custGeom>
            <a:noFill/>
            <a:ln w="19050">
              <a:solidFill>
                <a:srgbClr val="A50021"/>
              </a:solidFill>
            </a:ln>
          </p:spPr>
        </p:sp>
        <p:sp>
          <p:nvSpPr>
            <p:cNvPr id="82" name="Freeform 82"/>
            <p:cNvSpPr/>
            <p:nvPr/>
          </p:nvSpPr>
          <p:spPr>
            <a:xfrm>
              <a:off x="5348288" y="3219450"/>
              <a:ext cx="161925" cy="121444"/>
            </a:xfrm>
            <a:custGeom>
              <a:avLst/>
              <a:gdLst/>
              <a:ahLst/>
              <a:cxnLst/>
              <a:rect l="l" t="t" r="r" b="b"/>
              <a:pathLst>
                <a:path w="161925" h="121444">
                  <a:moveTo>
                    <a:pt x="0" y="107950"/>
                  </a:moveTo>
                  <a:lnTo>
                    <a:pt x="0" y="80962"/>
                  </a:lnTo>
                  <a:cubicBezTo>
                    <a:pt x="0" y="36248"/>
                    <a:pt x="36248" y="0"/>
                    <a:pt x="80962" y="0"/>
                  </a:cubicBezTo>
                  <a:cubicBezTo>
                    <a:pt x="125677" y="0"/>
                    <a:pt x="161925" y="36248"/>
                    <a:pt x="161925" y="80962"/>
                  </a:cubicBezTo>
                  <a:lnTo>
                    <a:pt x="161925" y="107950"/>
                  </a:lnTo>
                  <a:cubicBezTo>
                    <a:pt x="161925" y="115402"/>
                    <a:pt x="155884" y="121444"/>
                    <a:pt x="148431" y="121444"/>
                  </a:cubicBezTo>
                  <a:lnTo>
                    <a:pt x="13494" y="121444"/>
                  </a:lnTo>
                  <a:cubicBezTo>
                    <a:pt x="6041" y="121444"/>
                    <a:pt x="0" y="115402"/>
                    <a:pt x="0" y="107950"/>
                  </a:cubicBezTo>
                </a:path>
              </a:pathLst>
            </a:custGeom>
            <a:noFill/>
            <a:ln w="19050">
              <a:solidFill>
                <a:srgbClr val="A50021"/>
              </a:solidFill>
            </a:ln>
          </p:spPr>
        </p:sp>
        <p:sp>
          <p:nvSpPr>
            <p:cNvPr id="83" name="Freeform 83"/>
            <p:cNvSpPr/>
            <p:nvPr/>
          </p:nvSpPr>
          <p:spPr>
            <a:xfrm>
              <a:off x="5348288" y="3098006"/>
              <a:ext cx="161925" cy="121444"/>
            </a:xfrm>
            <a:custGeom>
              <a:avLst/>
              <a:gdLst/>
              <a:ahLst/>
              <a:cxnLst/>
              <a:rect l="l" t="t" r="r" b="b"/>
              <a:pathLst>
                <a:path w="161925" h="121444">
                  <a:moveTo>
                    <a:pt x="0" y="13494"/>
                  </a:moveTo>
                  <a:lnTo>
                    <a:pt x="0" y="40481"/>
                  </a:lnTo>
                  <a:cubicBezTo>
                    <a:pt x="0" y="85196"/>
                    <a:pt x="36248" y="121444"/>
                    <a:pt x="80962" y="121444"/>
                  </a:cubicBezTo>
                  <a:cubicBezTo>
                    <a:pt x="125677" y="121444"/>
                    <a:pt x="161925" y="85196"/>
                    <a:pt x="161925" y="40481"/>
                  </a:cubicBezTo>
                  <a:lnTo>
                    <a:pt x="161925" y="13494"/>
                  </a:lnTo>
                  <a:cubicBezTo>
                    <a:pt x="161925" y="6041"/>
                    <a:pt x="155884" y="0"/>
                    <a:pt x="148431" y="0"/>
                  </a:cubicBezTo>
                  <a:lnTo>
                    <a:pt x="13494" y="0"/>
                  </a:lnTo>
                  <a:cubicBezTo>
                    <a:pt x="6041" y="0"/>
                    <a:pt x="0" y="6041"/>
                    <a:pt x="0" y="13494"/>
                  </a:cubicBezTo>
                </a:path>
              </a:pathLst>
            </a:custGeom>
            <a:noFill/>
            <a:ln w="19050">
              <a:solidFill>
                <a:srgbClr val="A50021"/>
              </a:solidFill>
            </a:ln>
          </p:spPr>
        </p:sp>
      </p:grpSp>
      <p:grpSp>
        <p:nvGrpSpPr>
          <p:cNvPr id="93" name="Group 93"/>
          <p:cNvGrpSpPr/>
          <p:nvPr/>
        </p:nvGrpSpPr>
        <p:grpSpPr>
          <a:xfrm>
            <a:off x="5337064" y="3415427"/>
            <a:ext cx="135731" cy="135731"/>
            <a:chOff x="5528072" y="3232547"/>
            <a:chExt cx="135731" cy="135731"/>
          </a:xfrm>
        </p:grpSpPr>
        <p:sp>
          <p:nvSpPr>
            <p:cNvPr id="85" name="Freeform 85"/>
            <p:cNvSpPr/>
            <p:nvPr/>
          </p:nvSpPr>
          <p:spPr>
            <a:xfrm>
              <a:off x="5595938" y="3232547"/>
              <a:ext cx="9525" cy="22622"/>
            </a:xfrm>
            <a:custGeom>
              <a:avLst/>
              <a:gdLst/>
              <a:ahLst/>
              <a:cxnLst/>
              <a:rect l="l" t="t" r="r" b="b"/>
              <a:pathLst>
                <a:path w="9525" h="22622">
                  <a:moveTo>
                    <a:pt x="0" y="22622"/>
                  </a:moveTo>
                  <a:lnTo>
                    <a:pt x="0" y="0"/>
                  </a:lnTo>
                </a:path>
              </a:pathLst>
            </a:custGeom>
            <a:noFill/>
            <a:ln w="19050">
              <a:solidFill>
                <a:srgbClr val="5F6368"/>
              </a:solidFill>
            </a:ln>
          </p:spPr>
        </p:sp>
        <p:sp>
          <p:nvSpPr>
            <p:cNvPr id="86" name="Freeform 86"/>
            <p:cNvSpPr/>
            <p:nvPr/>
          </p:nvSpPr>
          <p:spPr>
            <a:xfrm>
              <a:off x="5627985" y="3252152"/>
              <a:ext cx="16212" cy="16212"/>
            </a:xfrm>
            <a:custGeom>
              <a:avLst/>
              <a:gdLst/>
              <a:ahLst/>
              <a:cxnLst/>
              <a:rect l="l" t="t" r="r" b="b"/>
              <a:pathLst>
                <a:path w="16212" h="16212">
                  <a:moveTo>
                    <a:pt x="0" y="16212"/>
                  </a:moveTo>
                  <a:lnTo>
                    <a:pt x="16212" y="0"/>
                  </a:lnTo>
                </a:path>
              </a:pathLst>
            </a:custGeom>
            <a:noFill/>
            <a:ln w="19050">
              <a:solidFill>
                <a:srgbClr val="5F6368"/>
              </a:solidFill>
            </a:ln>
          </p:spPr>
        </p:sp>
        <p:sp>
          <p:nvSpPr>
            <p:cNvPr id="87" name="Freeform 87"/>
            <p:cNvSpPr/>
            <p:nvPr/>
          </p:nvSpPr>
          <p:spPr>
            <a:xfrm>
              <a:off x="5641181" y="3300412"/>
              <a:ext cx="22622" cy="9525"/>
            </a:xfrm>
            <a:custGeom>
              <a:avLst/>
              <a:gdLst/>
              <a:ahLst/>
              <a:cxnLst/>
              <a:rect l="l" t="t" r="r" b="b"/>
              <a:pathLst>
                <a:path w="22622" h="9525">
                  <a:moveTo>
                    <a:pt x="0" y="0"/>
                  </a:moveTo>
                  <a:lnTo>
                    <a:pt x="22622" y="0"/>
                  </a:lnTo>
                </a:path>
              </a:pathLst>
            </a:custGeom>
            <a:noFill/>
            <a:ln w="19050">
              <a:solidFill>
                <a:srgbClr val="5F6368"/>
              </a:solidFill>
            </a:ln>
          </p:spPr>
        </p:sp>
        <p:sp>
          <p:nvSpPr>
            <p:cNvPr id="88" name="Freeform 88"/>
            <p:cNvSpPr/>
            <p:nvPr/>
          </p:nvSpPr>
          <p:spPr>
            <a:xfrm>
              <a:off x="5627985" y="3332460"/>
              <a:ext cx="16212" cy="16212"/>
            </a:xfrm>
            <a:custGeom>
              <a:avLst/>
              <a:gdLst/>
              <a:ahLst/>
              <a:cxnLst/>
              <a:rect l="l" t="t" r="r" b="b"/>
              <a:pathLst>
                <a:path w="16212" h="16212">
                  <a:moveTo>
                    <a:pt x="0" y="0"/>
                  </a:moveTo>
                  <a:lnTo>
                    <a:pt x="16212" y="16212"/>
                  </a:lnTo>
                </a:path>
              </a:pathLst>
            </a:custGeom>
            <a:noFill/>
            <a:ln w="19050">
              <a:solidFill>
                <a:srgbClr val="5F6368"/>
              </a:solidFill>
            </a:ln>
          </p:spPr>
        </p:sp>
        <p:sp>
          <p:nvSpPr>
            <p:cNvPr id="89" name="Freeform 89"/>
            <p:cNvSpPr/>
            <p:nvPr/>
          </p:nvSpPr>
          <p:spPr>
            <a:xfrm>
              <a:off x="5595938" y="3345656"/>
              <a:ext cx="9525" cy="22622"/>
            </a:xfrm>
            <a:custGeom>
              <a:avLst/>
              <a:gdLst/>
              <a:ahLst/>
              <a:cxnLst/>
              <a:rect l="l" t="t" r="r" b="b"/>
              <a:pathLst>
                <a:path w="9525" h="22622">
                  <a:moveTo>
                    <a:pt x="0" y="0"/>
                  </a:moveTo>
                  <a:lnTo>
                    <a:pt x="0" y="22622"/>
                  </a:lnTo>
                </a:path>
              </a:pathLst>
            </a:custGeom>
            <a:noFill/>
            <a:ln w="19050">
              <a:solidFill>
                <a:srgbClr val="5F6368"/>
              </a:solidFill>
            </a:ln>
          </p:spPr>
        </p:sp>
        <p:sp>
          <p:nvSpPr>
            <p:cNvPr id="90" name="Freeform 90"/>
            <p:cNvSpPr/>
            <p:nvPr/>
          </p:nvSpPr>
          <p:spPr>
            <a:xfrm>
              <a:off x="5547677" y="3332460"/>
              <a:ext cx="16212" cy="16212"/>
            </a:xfrm>
            <a:custGeom>
              <a:avLst/>
              <a:gdLst/>
              <a:ahLst/>
              <a:cxnLst/>
              <a:rect l="l" t="t" r="r" b="b"/>
              <a:pathLst>
                <a:path w="16212" h="16212">
                  <a:moveTo>
                    <a:pt x="16212" y="0"/>
                  </a:moveTo>
                  <a:lnTo>
                    <a:pt x="0" y="16212"/>
                  </a:lnTo>
                </a:path>
              </a:pathLst>
            </a:custGeom>
            <a:noFill/>
            <a:ln w="19050">
              <a:solidFill>
                <a:srgbClr val="5F6368"/>
              </a:solidFill>
            </a:ln>
          </p:spPr>
        </p:sp>
        <p:sp>
          <p:nvSpPr>
            <p:cNvPr id="91" name="Freeform 91"/>
            <p:cNvSpPr/>
            <p:nvPr/>
          </p:nvSpPr>
          <p:spPr>
            <a:xfrm>
              <a:off x="5528072" y="3300412"/>
              <a:ext cx="22622" cy="9525"/>
            </a:xfrm>
            <a:custGeom>
              <a:avLst/>
              <a:gdLst/>
              <a:ahLst/>
              <a:cxnLst/>
              <a:rect l="l" t="t" r="r" b="b"/>
              <a:pathLst>
                <a:path w="22622" h="9525">
                  <a:moveTo>
                    <a:pt x="22622" y="0"/>
                  </a:moveTo>
                  <a:lnTo>
                    <a:pt x="0" y="0"/>
                  </a:lnTo>
                </a:path>
              </a:pathLst>
            </a:custGeom>
            <a:noFill/>
            <a:ln w="19050">
              <a:solidFill>
                <a:srgbClr val="5F6368"/>
              </a:solidFill>
            </a:ln>
          </p:spPr>
        </p:sp>
        <p:sp>
          <p:nvSpPr>
            <p:cNvPr id="92" name="Freeform 92"/>
            <p:cNvSpPr/>
            <p:nvPr/>
          </p:nvSpPr>
          <p:spPr>
            <a:xfrm>
              <a:off x="5547677" y="3252152"/>
              <a:ext cx="16212" cy="16212"/>
            </a:xfrm>
            <a:custGeom>
              <a:avLst/>
              <a:gdLst/>
              <a:ahLst/>
              <a:cxnLst/>
              <a:rect l="l" t="t" r="r" b="b"/>
              <a:pathLst>
                <a:path w="16212" h="16212">
                  <a:moveTo>
                    <a:pt x="16212" y="16212"/>
                  </a:moveTo>
                  <a:lnTo>
                    <a:pt x="0" y="0"/>
                  </a:lnTo>
                </a:path>
              </a:pathLst>
            </a:custGeom>
            <a:noFill/>
            <a:ln w="19050">
              <a:solidFill>
                <a:srgbClr val="5F6368"/>
              </a:solidFill>
            </a:ln>
          </p:spPr>
        </p:sp>
      </p:grpSp>
      <p:sp>
        <p:nvSpPr>
          <p:cNvPr id="94" name="TextBox 94"/>
          <p:cNvSpPr txBox="1"/>
          <p:nvPr/>
        </p:nvSpPr>
        <p:spPr>
          <a:xfrm>
            <a:off x="4147630" y="3909536"/>
            <a:ext cx="1482685" cy="228600"/>
          </a:xfrm>
          <a:prstGeom prst="rect">
            <a:avLst/>
          </a:prstGeom>
          <a:noFill/>
          <a:ln>
            <a:noFill/>
          </a:ln>
        </p:spPr>
        <p:txBody>
          <a:bodyPr wrap="none" lIns="0" tIns="0" rIns="0" bIns="0" anchor="t" anchorCtr="0">
            <a:spAutoFit/>
          </a:bodyPr>
          <a:lstStyle/>
          <a:p>
            <a:pPr algn="l"/>
            <a:r>
              <a:rPr lang="zh-CN" sz="1125" dirty="0">
                <a:solidFill>
                  <a:srgbClr val="1F2328"/>
                </a:solidFill>
                <a:latin typeface="Arial"/>
                <a:ea typeface="SimHei"/>
                <a:cs typeface="Arial"/>
              </a:rPr>
              <a:t>LLM模型正在加载并</a:t>
            </a:r>
          </a:p>
        </p:txBody>
      </p:sp>
      <p:sp>
        <p:nvSpPr>
          <p:cNvPr id="95" name="TextBox 95"/>
          <p:cNvSpPr txBox="1"/>
          <p:nvPr/>
        </p:nvSpPr>
        <p:spPr>
          <a:xfrm>
            <a:off x="4147630" y="4119086"/>
            <a:ext cx="956905" cy="228600"/>
          </a:xfrm>
          <a:prstGeom prst="rect">
            <a:avLst/>
          </a:prstGeom>
          <a:noFill/>
          <a:ln>
            <a:noFill/>
          </a:ln>
        </p:spPr>
        <p:txBody>
          <a:bodyPr wrap="none" lIns="0" tIns="0" rIns="0" bIns="0" anchor="t" anchorCtr="0">
            <a:spAutoFit/>
          </a:bodyPr>
          <a:lstStyle/>
          <a:p>
            <a:pPr algn="l"/>
            <a:r>
              <a:rPr lang="zh-CN" sz="1125" dirty="0">
                <a:solidFill>
                  <a:srgbClr val="1F2328"/>
                </a:solidFill>
                <a:latin typeface="Arial"/>
                <a:ea typeface="SimHei"/>
                <a:cs typeface="Arial"/>
              </a:rPr>
              <a:t>生成回答...</a:t>
            </a:r>
          </a:p>
        </p:txBody>
      </p:sp>
      <p:sp>
        <p:nvSpPr>
          <p:cNvPr id="97" name="Rectangle 97"/>
          <p:cNvSpPr/>
          <p:nvPr/>
        </p:nvSpPr>
        <p:spPr>
          <a:xfrm>
            <a:off x="6076442" y="2335530"/>
            <a:ext cx="1809750" cy="2266950"/>
          </a:xfrm>
          <a:prstGeom prst="roundRect">
            <a:avLst>
              <a:gd name="adj" fmla="val 8421"/>
            </a:avLst>
          </a:prstGeom>
          <a:solidFill>
            <a:srgbClr val="FFFFFF"/>
          </a:solidFill>
          <a:ln w="20955">
            <a:solidFill>
              <a:srgbClr val="A50021"/>
            </a:solidFill>
          </a:ln>
          <a:effectLst>
            <a:outerShdw blurRad="152400" dist="38100" dir="5400000" algn="ctr" rotWithShape="0">
              <a:srgbClr val="000000">
                <a:alpha val="7500"/>
              </a:srgbClr>
            </a:outerShdw>
          </a:effectLst>
        </p:spPr>
      </p:sp>
      <p:sp>
        <p:nvSpPr>
          <p:cNvPr id="98" name="TextBox 98"/>
          <p:cNvSpPr txBox="1"/>
          <p:nvPr/>
        </p:nvSpPr>
        <p:spPr>
          <a:xfrm>
            <a:off x="6266942" y="2516505"/>
            <a:ext cx="1648301" cy="304800"/>
          </a:xfrm>
          <a:prstGeom prst="rect">
            <a:avLst/>
          </a:prstGeom>
          <a:noFill/>
          <a:ln>
            <a:noFill/>
          </a:ln>
        </p:spPr>
        <p:txBody>
          <a:bodyPr wrap="none" lIns="0" tIns="0" rIns="0" bIns="0" anchor="t" anchorCtr="0">
            <a:spAutoFit/>
          </a:bodyPr>
          <a:lstStyle/>
          <a:p>
            <a:pPr algn="l"/>
            <a:r>
              <a:rPr lang="zh-CN" sz="1500" b="1" dirty="0">
                <a:solidFill>
                  <a:srgbClr val="1F2328"/>
                </a:solidFill>
                <a:latin typeface="Arial"/>
                <a:ea typeface="SimHei"/>
                <a:cs typeface="Arial"/>
              </a:rPr>
              <a:t>大模型回答完毕</a:t>
            </a:r>
          </a:p>
        </p:txBody>
      </p:sp>
      <p:sp>
        <p:nvSpPr>
          <p:cNvPr id="99" name="TextBox 99"/>
          <p:cNvSpPr txBox="1"/>
          <p:nvPr/>
        </p:nvSpPr>
        <p:spPr>
          <a:xfrm>
            <a:off x="6266942" y="2783205"/>
            <a:ext cx="728186" cy="304800"/>
          </a:xfrm>
          <a:prstGeom prst="rect">
            <a:avLst/>
          </a:prstGeom>
          <a:noFill/>
          <a:ln>
            <a:noFill/>
          </a:ln>
        </p:spPr>
        <p:txBody>
          <a:bodyPr wrap="none" lIns="0" tIns="0" rIns="0" bIns="0" anchor="t" anchorCtr="0">
            <a:spAutoFit/>
          </a:bodyPr>
          <a:lstStyle/>
          <a:p>
            <a:pPr algn="l"/>
            <a:r>
              <a:rPr lang="zh-CN" sz="1500" b="1" dirty="0">
                <a:solidFill>
                  <a:srgbClr val="1F2328"/>
                </a:solidFill>
                <a:latin typeface="Arial"/>
                <a:ea typeface="SimHei"/>
                <a:cs typeface="Arial"/>
              </a:rPr>
              <a:t>后展示</a:t>
            </a:r>
          </a:p>
        </p:txBody>
      </p:sp>
      <p:sp>
        <p:nvSpPr>
          <p:cNvPr id="100" name="Rectangle 100"/>
          <p:cNvSpPr/>
          <p:nvPr/>
        </p:nvSpPr>
        <p:spPr>
          <a:xfrm>
            <a:off x="6266942" y="3135630"/>
            <a:ext cx="476250" cy="552450"/>
          </a:xfrm>
          <a:prstGeom prst="roundRect">
            <a:avLst>
              <a:gd name="adj" fmla="val 24000"/>
            </a:avLst>
          </a:prstGeom>
          <a:solidFill>
            <a:srgbClr val="FDF3F5"/>
          </a:solidFill>
          <a:ln w="9525">
            <a:solidFill>
              <a:srgbClr val="D8A1AB"/>
            </a:solidFill>
          </a:ln>
        </p:spPr>
      </p:sp>
      <p:grpSp>
        <p:nvGrpSpPr>
          <p:cNvPr id="103" name="Group 103"/>
          <p:cNvGrpSpPr/>
          <p:nvPr/>
        </p:nvGrpSpPr>
        <p:grpSpPr>
          <a:xfrm>
            <a:off x="6397911" y="3295174"/>
            <a:ext cx="214312" cy="214313"/>
            <a:chOff x="6588919" y="3112294"/>
            <a:chExt cx="214312" cy="214313"/>
          </a:xfrm>
        </p:grpSpPr>
        <p:sp>
          <p:nvSpPr>
            <p:cNvPr id="101" name="Freeform 101"/>
            <p:cNvSpPr/>
            <p:nvPr/>
          </p:nvSpPr>
          <p:spPr>
            <a:xfrm>
              <a:off x="6672262" y="3112294"/>
              <a:ext cx="130969" cy="130969"/>
            </a:xfrm>
            <a:custGeom>
              <a:avLst/>
              <a:gdLst/>
              <a:ahLst/>
              <a:cxnLst/>
              <a:rect l="l" t="t" r="r" b="b"/>
              <a:pathLst>
                <a:path w="130969" h="130969">
                  <a:moveTo>
                    <a:pt x="130969" y="130969"/>
                  </a:moveTo>
                  <a:lnTo>
                    <a:pt x="95250" y="95250"/>
                  </a:lnTo>
                  <a:lnTo>
                    <a:pt x="11906" y="95250"/>
                  </a:lnTo>
                  <a:cubicBezTo>
                    <a:pt x="5331" y="95250"/>
                    <a:pt x="0" y="89919"/>
                    <a:pt x="0" y="83344"/>
                  </a:cubicBezTo>
                  <a:lnTo>
                    <a:pt x="0" y="11906"/>
                  </a:lnTo>
                  <a:cubicBezTo>
                    <a:pt x="0" y="5331"/>
                    <a:pt x="5331" y="0"/>
                    <a:pt x="11906" y="0"/>
                  </a:cubicBezTo>
                  <a:lnTo>
                    <a:pt x="119062" y="0"/>
                  </a:lnTo>
                  <a:cubicBezTo>
                    <a:pt x="125638" y="0"/>
                    <a:pt x="130969" y="5331"/>
                    <a:pt x="130969" y="11906"/>
                  </a:cubicBezTo>
                  <a:lnTo>
                    <a:pt x="130969" y="130969"/>
                  </a:lnTo>
                </a:path>
              </a:pathLst>
            </a:custGeom>
            <a:noFill/>
            <a:ln w="19050">
              <a:solidFill>
                <a:srgbClr val="A50021"/>
              </a:solidFill>
            </a:ln>
          </p:spPr>
        </p:sp>
        <p:sp>
          <p:nvSpPr>
            <p:cNvPr id="102" name="Freeform 102"/>
            <p:cNvSpPr/>
            <p:nvPr/>
          </p:nvSpPr>
          <p:spPr>
            <a:xfrm>
              <a:off x="6588919" y="3195638"/>
              <a:ext cx="130969" cy="130969"/>
            </a:xfrm>
            <a:custGeom>
              <a:avLst/>
              <a:gdLst/>
              <a:ahLst/>
              <a:cxnLst/>
              <a:rect l="l" t="t" r="r" b="b"/>
              <a:pathLst>
                <a:path w="130969" h="130969">
                  <a:moveTo>
                    <a:pt x="130969" y="59531"/>
                  </a:moveTo>
                  <a:lnTo>
                    <a:pt x="130969" y="83344"/>
                  </a:lnTo>
                  <a:cubicBezTo>
                    <a:pt x="130969" y="89919"/>
                    <a:pt x="125638" y="95250"/>
                    <a:pt x="119062" y="95250"/>
                  </a:cubicBezTo>
                  <a:lnTo>
                    <a:pt x="35719" y="95250"/>
                  </a:lnTo>
                  <a:lnTo>
                    <a:pt x="0" y="130969"/>
                  </a:lnTo>
                  <a:lnTo>
                    <a:pt x="0" y="11906"/>
                  </a:lnTo>
                  <a:cubicBezTo>
                    <a:pt x="0" y="5331"/>
                    <a:pt x="5331" y="0"/>
                    <a:pt x="11906" y="0"/>
                  </a:cubicBezTo>
                  <a:lnTo>
                    <a:pt x="35719" y="0"/>
                  </a:lnTo>
                </a:path>
              </a:pathLst>
            </a:custGeom>
            <a:noFill/>
            <a:ln w="19050">
              <a:solidFill>
                <a:srgbClr val="A50021"/>
              </a:solidFill>
            </a:ln>
          </p:spPr>
        </p:sp>
      </p:grpSp>
      <p:sp>
        <p:nvSpPr>
          <p:cNvPr id="104" name="Freeform 104"/>
          <p:cNvSpPr/>
          <p:nvPr/>
        </p:nvSpPr>
        <p:spPr>
          <a:xfrm>
            <a:off x="6896386" y="3382486"/>
            <a:ext cx="202406" cy="134937"/>
          </a:xfrm>
          <a:custGeom>
            <a:avLst/>
            <a:gdLst/>
            <a:ahLst/>
            <a:cxnLst/>
            <a:rect l="l" t="t" r="r" b="b"/>
            <a:pathLst>
              <a:path w="202406" h="134937">
                <a:moveTo>
                  <a:pt x="0" y="67469"/>
                </a:moveTo>
                <a:lnTo>
                  <a:pt x="67469" y="134937"/>
                </a:lnTo>
                <a:lnTo>
                  <a:pt x="202406" y="0"/>
                </a:lnTo>
              </a:path>
            </a:pathLst>
          </a:custGeom>
          <a:noFill/>
          <a:ln w="19050">
            <a:solidFill>
              <a:srgbClr val="2E7D32"/>
            </a:solidFill>
          </a:ln>
        </p:spPr>
      </p:sp>
      <p:sp>
        <p:nvSpPr>
          <p:cNvPr id="105" name="Rectangle 105"/>
          <p:cNvSpPr/>
          <p:nvPr/>
        </p:nvSpPr>
        <p:spPr>
          <a:xfrm>
            <a:off x="7248017" y="3135630"/>
            <a:ext cx="447675" cy="552450"/>
          </a:xfrm>
          <a:prstGeom prst="roundRect">
            <a:avLst>
              <a:gd name="adj" fmla="val 25532"/>
            </a:avLst>
          </a:prstGeom>
          <a:solidFill>
            <a:srgbClr val="F8F9FA"/>
          </a:solidFill>
          <a:ln w="9525">
            <a:solidFill>
              <a:srgbClr val="E8EAED"/>
            </a:solidFill>
          </a:ln>
        </p:spPr>
      </p:sp>
      <p:grpSp>
        <p:nvGrpSpPr>
          <p:cNvPr id="111" name="Group 111"/>
          <p:cNvGrpSpPr/>
          <p:nvPr/>
        </p:nvGrpSpPr>
        <p:grpSpPr>
          <a:xfrm>
            <a:off x="7395258" y="3286839"/>
            <a:ext cx="172244" cy="221456"/>
            <a:chOff x="7586266" y="3103959"/>
            <a:chExt cx="172244" cy="221456"/>
          </a:xfrm>
        </p:grpSpPr>
        <p:sp>
          <p:nvSpPr>
            <p:cNvPr id="106" name="Freeform 106"/>
            <p:cNvSpPr/>
            <p:nvPr/>
          </p:nvSpPr>
          <p:spPr>
            <a:xfrm>
              <a:off x="7696994" y="3103959"/>
              <a:ext cx="61516" cy="61516"/>
            </a:xfrm>
            <a:custGeom>
              <a:avLst/>
              <a:gdLst/>
              <a:ahLst/>
              <a:cxnLst/>
              <a:rect l="l" t="t" r="r" b="b"/>
              <a:pathLst>
                <a:path w="61516" h="61516">
                  <a:moveTo>
                    <a:pt x="0" y="0"/>
                  </a:moveTo>
                  <a:lnTo>
                    <a:pt x="0" y="49213"/>
                  </a:lnTo>
                  <a:cubicBezTo>
                    <a:pt x="0" y="56007"/>
                    <a:pt x="5508" y="61516"/>
                    <a:pt x="12303" y="61516"/>
                  </a:cubicBezTo>
                  <a:lnTo>
                    <a:pt x="61516" y="61516"/>
                  </a:lnTo>
                </a:path>
              </a:pathLst>
            </a:custGeom>
            <a:noFill/>
            <a:ln w="19050">
              <a:solidFill>
                <a:srgbClr val="A50021"/>
              </a:solidFill>
            </a:ln>
          </p:spPr>
        </p:sp>
        <p:sp>
          <p:nvSpPr>
            <p:cNvPr id="107" name="Freeform 107"/>
            <p:cNvSpPr/>
            <p:nvPr/>
          </p:nvSpPr>
          <p:spPr>
            <a:xfrm>
              <a:off x="7586266" y="3103959"/>
              <a:ext cx="172244" cy="221456"/>
            </a:xfrm>
            <a:custGeom>
              <a:avLst/>
              <a:gdLst/>
              <a:ahLst/>
              <a:cxnLst/>
              <a:rect l="l" t="t" r="r" b="b"/>
              <a:pathLst>
                <a:path w="172244" h="221456">
                  <a:moveTo>
                    <a:pt x="147638" y="221456"/>
                  </a:moveTo>
                  <a:lnTo>
                    <a:pt x="24606" y="221456"/>
                  </a:lnTo>
                  <a:cubicBezTo>
                    <a:pt x="11017" y="221456"/>
                    <a:pt x="0" y="210440"/>
                    <a:pt x="0" y="196850"/>
                  </a:cubicBezTo>
                  <a:lnTo>
                    <a:pt x="0" y="24606"/>
                  </a:lnTo>
                  <a:cubicBezTo>
                    <a:pt x="0" y="11017"/>
                    <a:pt x="11017" y="0"/>
                    <a:pt x="24606" y="0"/>
                  </a:cubicBezTo>
                  <a:lnTo>
                    <a:pt x="110728" y="0"/>
                  </a:lnTo>
                  <a:lnTo>
                    <a:pt x="172244" y="61516"/>
                  </a:lnTo>
                  <a:lnTo>
                    <a:pt x="172244" y="196850"/>
                  </a:lnTo>
                  <a:cubicBezTo>
                    <a:pt x="172244" y="210440"/>
                    <a:pt x="161227" y="221456"/>
                    <a:pt x="147638" y="221456"/>
                  </a:cubicBezTo>
                </a:path>
              </a:pathLst>
            </a:custGeom>
            <a:noFill/>
            <a:ln w="19050">
              <a:solidFill>
                <a:srgbClr val="A50021"/>
              </a:solidFill>
            </a:ln>
          </p:spPr>
        </p:sp>
        <p:sp>
          <p:nvSpPr>
            <p:cNvPr id="108" name="Freeform 108"/>
            <p:cNvSpPr/>
            <p:nvPr/>
          </p:nvSpPr>
          <p:spPr>
            <a:xfrm>
              <a:off x="7635478" y="3177778"/>
              <a:ext cx="12303" cy="9525"/>
            </a:xfrm>
            <a:custGeom>
              <a:avLst/>
              <a:gdLst/>
              <a:ahLst/>
              <a:cxnLst/>
              <a:rect l="l" t="t" r="r" b="b"/>
              <a:pathLst>
                <a:path w="12303" h="9525">
                  <a:moveTo>
                    <a:pt x="0" y="0"/>
                  </a:moveTo>
                  <a:lnTo>
                    <a:pt x="12303" y="0"/>
                  </a:lnTo>
                </a:path>
              </a:pathLst>
            </a:custGeom>
            <a:noFill/>
            <a:ln w="19050">
              <a:solidFill>
                <a:srgbClr val="A50021"/>
              </a:solidFill>
            </a:ln>
          </p:spPr>
        </p:sp>
        <p:sp>
          <p:nvSpPr>
            <p:cNvPr id="109" name="Freeform 109"/>
            <p:cNvSpPr/>
            <p:nvPr/>
          </p:nvSpPr>
          <p:spPr>
            <a:xfrm>
              <a:off x="7635478" y="3226991"/>
              <a:ext cx="73819" cy="9525"/>
            </a:xfrm>
            <a:custGeom>
              <a:avLst/>
              <a:gdLst/>
              <a:ahLst/>
              <a:cxnLst/>
              <a:rect l="l" t="t" r="r" b="b"/>
              <a:pathLst>
                <a:path w="73819" h="9525">
                  <a:moveTo>
                    <a:pt x="0" y="0"/>
                  </a:moveTo>
                  <a:lnTo>
                    <a:pt x="73819" y="0"/>
                  </a:lnTo>
                </a:path>
              </a:pathLst>
            </a:custGeom>
            <a:noFill/>
            <a:ln w="19050">
              <a:solidFill>
                <a:srgbClr val="A50021"/>
              </a:solidFill>
            </a:ln>
          </p:spPr>
        </p:sp>
        <p:sp>
          <p:nvSpPr>
            <p:cNvPr id="110" name="Freeform 110"/>
            <p:cNvSpPr/>
            <p:nvPr/>
          </p:nvSpPr>
          <p:spPr>
            <a:xfrm>
              <a:off x="7635478" y="3276203"/>
              <a:ext cx="73819" cy="9525"/>
            </a:xfrm>
            <a:custGeom>
              <a:avLst/>
              <a:gdLst/>
              <a:ahLst/>
              <a:cxnLst/>
              <a:rect l="l" t="t" r="r" b="b"/>
              <a:pathLst>
                <a:path w="73819" h="9525">
                  <a:moveTo>
                    <a:pt x="0" y="0"/>
                  </a:moveTo>
                  <a:lnTo>
                    <a:pt x="73819" y="0"/>
                  </a:lnTo>
                </a:path>
              </a:pathLst>
            </a:custGeom>
            <a:noFill/>
            <a:ln w="19050">
              <a:solidFill>
                <a:srgbClr val="A50021"/>
              </a:solidFill>
            </a:ln>
          </p:spPr>
        </p:sp>
      </p:grpSp>
      <p:sp>
        <p:nvSpPr>
          <p:cNvPr id="112" name="TextBox 112"/>
          <p:cNvSpPr txBox="1"/>
          <p:nvPr/>
        </p:nvSpPr>
        <p:spPr>
          <a:xfrm>
            <a:off x="6271704" y="3909536"/>
            <a:ext cx="1507331" cy="228600"/>
          </a:xfrm>
          <a:prstGeom prst="rect">
            <a:avLst/>
          </a:prstGeom>
          <a:noFill/>
          <a:ln>
            <a:noFill/>
          </a:ln>
        </p:spPr>
        <p:txBody>
          <a:bodyPr wrap="none" lIns="0" tIns="0" rIns="0" bIns="0" anchor="t" anchorCtr="0">
            <a:spAutoFit/>
          </a:bodyPr>
          <a:lstStyle/>
          <a:p>
            <a:pPr algn="l"/>
            <a:r>
              <a:rPr lang="zh-CN" sz="1125" dirty="0">
                <a:solidFill>
                  <a:srgbClr val="1F2328"/>
                </a:solidFill>
                <a:latin typeface="Arial"/>
                <a:ea typeface="SimHei"/>
                <a:cs typeface="Arial"/>
              </a:rPr>
              <a:t>模型生成完整回答并</a:t>
            </a:r>
          </a:p>
        </p:txBody>
      </p:sp>
      <p:sp>
        <p:nvSpPr>
          <p:cNvPr id="113" name="TextBox 113"/>
          <p:cNvSpPr txBox="1"/>
          <p:nvPr/>
        </p:nvSpPr>
        <p:spPr>
          <a:xfrm>
            <a:off x="6271704" y="4119086"/>
            <a:ext cx="1178719" cy="228600"/>
          </a:xfrm>
          <a:prstGeom prst="rect">
            <a:avLst/>
          </a:prstGeom>
          <a:noFill/>
          <a:ln>
            <a:noFill/>
          </a:ln>
        </p:spPr>
        <p:txBody>
          <a:bodyPr wrap="none" lIns="0" tIns="0" rIns="0" bIns="0" anchor="t" anchorCtr="0">
            <a:spAutoFit/>
          </a:bodyPr>
          <a:lstStyle/>
          <a:p>
            <a:pPr algn="l"/>
            <a:r>
              <a:rPr lang="zh-CN" sz="1125" dirty="0">
                <a:solidFill>
                  <a:srgbClr val="1F2328"/>
                </a:solidFill>
                <a:latin typeface="Arial"/>
                <a:ea typeface="SimHei"/>
                <a:cs typeface="Arial"/>
              </a:rPr>
              <a:t>更新至对话界面</a:t>
            </a:r>
          </a:p>
        </p:txBody>
      </p:sp>
      <p:sp>
        <p:nvSpPr>
          <p:cNvPr id="115" name="Rectangle 115"/>
          <p:cNvSpPr/>
          <p:nvPr/>
        </p:nvSpPr>
        <p:spPr>
          <a:xfrm>
            <a:off x="8200517" y="2335530"/>
            <a:ext cx="1809750" cy="2266950"/>
          </a:xfrm>
          <a:prstGeom prst="roundRect">
            <a:avLst>
              <a:gd name="adj" fmla="val 8421"/>
            </a:avLst>
          </a:prstGeom>
          <a:solidFill>
            <a:srgbClr val="FFFFFF"/>
          </a:solidFill>
          <a:ln w="19050">
            <a:solidFill>
              <a:srgbClr val="1F2328"/>
            </a:solidFill>
          </a:ln>
          <a:effectLst>
            <a:outerShdw blurRad="152400" dist="38100" dir="5400000" algn="ctr" rotWithShape="0">
              <a:srgbClr val="000000">
                <a:alpha val="7500"/>
              </a:srgbClr>
            </a:outerShdw>
          </a:effectLst>
        </p:spPr>
      </p:sp>
      <p:sp>
        <p:nvSpPr>
          <p:cNvPr id="116" name="TextBox 116"/>
          <p:cNvSpPr txBox="1"/>
          <p:nvPr/>
        </p:nvSpPr>
        <p:spPr>
          <a:xfrm>
            <a:off x="8391017" y="2516505"/>
            <a:ext cx="1648301" cy="304800"/>
          </a:xfrm>
          <a:prstGeom prst="rect">
            <a:avLst/>
          </a:prstGeom>
          <a:noFill/>
          <a:ln>
            <a:noFill/>
          </a:ln>
        </p:spPr>
        <p:txBody>
          <a:bodyPr wrap="none" lIns="0" tIns="0" rIns="0" bIns="0" anchor="t" anchorCtr="0">
            <a:spAutoFit/>
          </a:bodyPr>
          <a:lstStyle/>
          <a:p>
            <a:pPr algn="l"/>
            <a:r>
              <a:rPr lang="zh-CN" sz="1500" b="1" dirty="0">
                <a:solidFill>
                  <a:srgbClr val="1F2328"/>
                </a:solidFill>
                <a:latin typeface="Arial"/>
                <a:ea typeface="SimHei"/>
                <a:cs typeface="Arial"/>
              </a:rPr>
              <a:t>用户读取大模型</a:t>
            </a:r>
          </a:p>
        </p:txBody>
      </p:sp>
      <p:sp>
        <p:nvSpPr>
          <p:cNvPr id="117" name="TextBox 117"/>
          <p:cNvSpPr txBox="1"/>
          <p:nvPr/>
        </p:nvSpPr>
        <p:spPr>
          <a:xfrm>
            <a:off x="8391017" y="2783205"/>
            <a:ext cx="958215" cy="304800"/>
          </a:xfrm>
          <a:prstGeom prst="rect">
            <a:avLst/>
          </a:prstGeom>
          <a:noFill/>
          <a:ln>
            <a:noFill/>
          </a:ln>
        </p:spPr>
        <p:txBody>
          <a:bodyPr wrap="none" lIns="0" tIns="0" rIns="0" bIns="0" anchor="t" anchorCtr="0">
            <a:spAutoFit/>
          </a:bodyPr>
          <a:lstStyle/>
          <a:p>
            <a:pPr algn="l"/>
            <a:r>
              <a:rPr lang="zh-CN" sz="1500" b="1" dirty="0">
                <a:solidFill>
                  <a:srgbClr val="1F2328"/>
                </a:solidFill>
                <a:latin typeface="Arial"/>
                <a:ea typeface="SimHei"/>
                <a:cs typeface="Arial"/>
              </a:rPr>
              <a:t>回答内容</a:t>
            </a:r>
          </a:p>
        </p:txBody>
      </p:sp>
      <p:sp>
        <p:nvSpPr>
          <p:cNvPr id="118" name="Rectangle 118"/>
          <p:cNvSpPr/>
          <p:nvPr/>
        </p:nvSpPr>
        <p:spPr>
          <a:xfrm>
            <a:off x="8419592" y="3135630"/>
            <a:ext cx="619125" cy="552450"/>
          </a:xfrm>
          <a:prstGeom prst="roundRect">
            <a:avLst>
              <a:gd name="adj" fmla="val 20690"/>
            </a:avLst>
          </a:prstGeom>
          <a:solidFill>
            <a:srgbClr val="F8F9FA"/>
          </a:solidFill>
          <a:ln w="9525">
            <a:solidFill>
              <a:srgbClr val="E8EAED"/>
            </a:solidFill>
          </a:ln>
        </p:spPr>
      </p:sp>
      <p:grpSp>
        <p:nvGrpSpPr>
          <p:cNvPr id="121" name="Group 121"/>
          <p:cNvGrpSpPr/>
          <p:nvPr/>
        </p:nvGrpSpPr>
        <p:grpSpPr>
          <a:xfrm>
            <a:off x="8588661" y="3340418"/>
            <a:ext cx="271462" cy="180975"/>
            <a:chOff x="8779669" y="3157538"/>
            <a:chExt cx="271462" cy="180975"/>
          </a:xfrm>
        </p:grpSpPr>
        <p:sp>
          <p:nvSpPr>
            <p:cNvPr id="119" name="Freeform 119"/>
            <p:cNvSpPr/>
            <p:nvPr/>
          </p:nvSpPr>
          <p:spPr>
            <a:xfrm>
              <a:off x="8885238" y="3217862"/>
              <a:ext cx="60325" cy="60325"/>
            </a:xfrm>
            <a:custGeom>
              <a:avLst/>
              <a:gdLst/>
              <a:ahLst/>
              <a:cxnLst/>
              <a:rect l="l" t="t" r="r" b="b"/>
              <a:pathLst>
                <a:path w="60325" h="60325">
                  <a:moveTo>
                    <a:pt x="0" y="30163"/>
                  </a:moveTo>
                  <a:cubicBezTo>
                    <a:pt x="0" y="46821"/>
                    <a:pt x="13504" y="60325"/>
                    <a:pt x="30162" y="60325"/>
                  </a:cubicBezTo>
                  <a:cubicBezTo>
                    <a:pt x="46821" y="60325"/>
                    <a:pt x="60325" y="46821"/>
                    <a:pt x="60325" y="30163"/>
                  </a:cubicBezTo>
                  <a:cubicBezTo>
                    <a:pt x="60325" y="13504"/>
                    <a:pt x="46821" y="0"/>
                    <a:pt x="30162" y="0"/>
                  </a:cubicBezTo>
                  <a:cubicBezTo>
                    <a:pt x="13504" y="0"/>
                    <a:pt x="0" y="13504"/>
                    <a:pt x="0" y="30163"/>
                  </a:cubicBezTo>
                </a:path>
              </a:pathLst>
            </a:custGeom>
            <a:noFill/>
            <a:ln w="19050">
              <a:solidFill>
                <a:srgbClr val="A50021"/>
              </a:solidFill>
            </a:ln>
          </p:spPr>
        </p:sp>
        <p:sp>
          <p:nvSpPr>
            <p:cNvPr id="120" name="Freeform 120"/>
            <p:cNvSpPr/>
            <p:nvPr/>
          </p:nvSpPr>
          <p:spPr>
            <a:xfrm>
              <a:off x="8779669" y="3157538"/>
              <a:ext cx="271462" cy="180975"/>
            </a:xfrm>
            <a:custGeom>
              <a:avLst/>
              <a:gdLst/>
              <a:ahLst/>
              <a:cxnLst/>
              <a:rect l="l" t="t" r="r" b="b"/>
              <a:pathLst>
                <a:path w="271462" h="180975">
                  <a:moveTo>
                    <a:pt x="271462" y="90488"/>
                  </a:moveTo>
                  <a:cubicBezTo>
                    <a:pt x="235268" y="150812"/>
                    <a:pt x="190024" y="180975"/>
                    <a:pt x="135731" y="180975"/>
                  </a:cubicBezTo>
                  <a:cubicBezTo>
                    <a:pt x="81439" y="180975"/>
                    <a:pt x="36195" y="150812"/>
                    <a:pt x="0" y="90488"/>
                  </a:cubicBezTo>
                  <a:cubicBezTo>
                    <a:pt x="36195" y="30163"/>
                    <a:pt x="81439" y="0"/>
                    <a:pt x="135731" y="0"/>
                  </a:cubicBezTo>
                  <a:cubicBezTo>
                    <a:pt x="190024" y="0"/>
                    <a:pt x="235268" y="30163"/>
                    <a:pt x="271462" y="90488"/>
                  </a:cubicBezTo>
                </a:path>
              </a:pathLst>
            </a:custGeom>
            <a:noFill/>
            <a:ln w="19050">
              <a:solidFill>
                <a:srgbClr val="A50021"/>
              </a:solidFill>
            </a:ln>
          </p:spPr>
        </p:sp>
      </p:grpSp>
      <p:sp>
        <p:nvSpPr>
          <p:cNvPr id="122" name="Rectangle 122"/>
          <p:cNvSpPr/>
          <p:nvPr/>
        </p:nvSpPr>
        <p:spPr>
          <a:xfrm>
            <a:off x="9229217" y="3135630"/>
            <a:ext cx="590550" cy="552450"/>
          </a:xfrm>
          <a:prstGeom prst="roundRect">
            <a:avLst>
              <a:gd name="adj" fmla="val 20690"/>
            </a:avLst>
          </a:prstGeom>
          <a:solidFill>
            <a:srgbClr val="FDF3F5"/>
          </a:solidFill>
          <a:ln w="9525">
            <a:solidFill>
              <a:srgbClr val="D8A1AB"/>
            </a:solidFill>
          </a:ln>
        </p:spPr>
      </p:sp>
      <p:grpSp>
        <p:nvGrpSpPr>
          <p:cNvPr id="125" name="Group 125"/>
          <p:cNvGrpSpPr/>
          <p:nvPr/>
        </p:nvGrpSpPr>
        <p:grpSpPr>
          <a:xfrm>
            <a:off x="9383998" y="3257074"/>
            <a:ext cx="166688" cy="214312"/>
            <a:chOff x="9575006" y="3074194"/>
            <a:chExt cx="166688" cy="214312"/>
          </a:xfrm>
        </p:grpSpPr>
        <p:sp>
          <p:nvSpPr>
            <p:cNvPr id="123" name="Freeform 123"/>
            <p:cNvSpPr/>
            <p:nvPr/>
          </p:nvSpPr>
          <p:spPr>
            <a:xfrm>
              <a:off x="9682162" y="3074194"/>
              <a:ext cx="59531" cy="59531"/>
            </a:xfrm>
            <a:custGeom>
              <a:avLst/>
              <a:gdLst/>
              <a:ahLst/>
              <a:cxnLst/>
              <a:rect l="l" t="t" r="r" b="b"/>
              <a:pathLst>
                <a:path w="59531" h="59531">
                  <a:moveTo>
                    <a:pt x="0" y="0"/>
                  </a:moveTo>
                  <a:lnTo>
                    <a:pt x="0" y="47625"/>
                  </a:lnTo>
                  <a:cubicBezTo>
                    <a:pt x="0" y="54201"/>
                    <a:pt x="5331" y="59531"/>
                    <a:pt x="11906" y="59531"/>
                  </a:cubicBezTo>
                  <a:lnTo>
                    <a:pt x="59531" y="59531"/>
                  </a:lnTo>
                </a:path>
              </a:pathLst>
            </a:custGeom>
            <a:noFill/>
            <a:ln w="19050">
              <a:solidFill>
                <a:srgbClr val="A50021"/>
              </a:solidFill>
            </a:ln>
          </p:spPr>
        </p:sp>
        <p:sp>
          <p:nvSpPr>
            <p:cNvPr id="124" name="Freeform 124"/>
            <p:cNvSpPr/>
            <p:nvPr/>
          </p:nvSpPr>
          <p:spPr>
            <a:xfrm>
              <a:off x="9575006" y="3074194"/>
              <a:ext cx="166688" cy="214312"/>
            </a:xfrm>
            <a:custGeom>
              <a:avLst/>
              <a:gdLst/>
              <a:ahLst/>
              <a:cxnLst/>
              <a:rect l="l" t="t" r="r" b="b"/>
              <a:pathLst>
                <a:path w="166688" h="214312">
                  <a:moveTo>
                    <a:pt x="142875" y="214312"/>
                  </a:moveTo>
                  <a:lnTo>
                    <a:pt x="23812" y="214312"/>
                  </a:lnTo>
                  <a:cubicBezTo>
                    <a:pt x="10661" y="214312"/>
                    <a:pt x="0" y="203651"/>
                    <a:pt x="0" y="190500"/>
                  </a:cubicBezTo>
                  <a:lnTo>
                    <a:pt x="0" y="23812"/>
                  </a:lnTo>
                  <a:cubicBezTo>
                    <a:pt x="0" y="10661"/>
                    <a:pt x="10661" y="0"/>
                    <a:pt x="23812" y="0"/>
                  </a:cubicBezTo>
                  <a:lnTo>
                    <a:pt x="107156" y="0"/>
                  </a:lnTo>
                  <a:lnTo>
                    <a:pt x="166688" y="59531"/>
                  </a:lnTo>
                  <a:lnTo>
                    <a:pt x="166688" y="190500"/>
                  </a:lnTo>
                  <a:cubicBezTo>
                    <a:pt x="166688" y="203651"/>
                    <a:pt x="156026" y="214312"/>
                    <a:pt x="142875" y="214312"/>
                  </a:cubicBezTo>
                </a:path>
              </a:pathLst>
            </a:custGeom>
            <a:noFill/>
            <a:ln w="19050">
              <a:solidFill>
                <a:srgbClr val="A50021"/>
              </a:solidFill>
            </a:ln>
          </p:spPr>
        </p:sp>
      </p:grpSp>
      <p:grpSp>
        <p:nvGrpSpPr>
          <p:cNvPr id="129" name="Group 129"/>
          <p:cNvGrpSpPr/>
          <p:nvPr/>
        </p:nvGrpSpPr>
        <p:grpSpPr>
          <a:xfrm>
            <a:off x="9634030" y="3434080"/>
            <a:ext cx="47624" cy="127000"/>
            <a:chOff x="9825038" y="3251200"/>
            <a:chExt cx="47624" cy="127000"/>
          </a:xfrm>
        </p:grpSpPr>
        <p:sp>
          <p:nvSpPr>
            <p:cNvPr id="126" name="Freeform 126"/>
            <p:cNvSpPr/>
            <p:nvPr/>
          </p:nvSpPr>
          <p:spPr>
            <a:xfrm>
              <a:off x="9832975" y="3314700"/>
              <a:ext cx="31750" cy="9525"/>
            </a:xfrm>
            <a:custGeom>
              <a:avLst/>
              <a:gdLst/>
              <a:ahLst/>
              <a:cxnLst/>
              <a:rect l="l" t="t" r="r" b="b"/>
              <a:pathLst>
                <a:path w="31750" h="9525">
                  <a:moveTo>
                    <a:pt x="0" y="0"/>
                  </a:moveTo>
                  <a:lnTo>
                    <a:pt x="31750" y="0"/>
                  </a:lnTo>
                </a:path>
              </a:pathLst>
            </a:custGeom>
            <a:noFill/>
            <a:ln w="19050">
              <a:solidFill>
                <a:srgbClr val="5F6368"/>
              </a:solidFill>
            </a:ln>
          </p:spPr>
        </p:sp>
        <p:sp>
          <p:nvSpPr>
            <p:cNvPr id="127" name="Freeform 127"/>
            <p:cNvSpPr/>
            <p:nvPr/>
          </p:nvSpPr>
          <p:spPr>
            <a:xfrm>
              <a:off x="9825038" y="3251200"/>
              <a:ext cx="23812" cy="127000"/>
            </a:xfrm>
            <a:custGeom>
              <a:avLst/>
              <a:gdLst/>
              <a:ahLst/>
              <a:cxnLst/>
              <a:rect l="l" t="t" r="r" b="b"/>
              <a:pathLst>
                <a:path w="23812" h="127000">
                  <a:moveTo>
                    <a:pt x="0" y="0"/>
                  </a:moveTo>
                  <a:cubicBezTo>
                    <a:pt x="13151" y="0"/>
                    <a:pt x="23812" y="10661"/>
                    <a:pt x="23812" y="23812"/>
                  </a:cubicBezTo>
                  <a:lnTo>
                    <a:pt x="23812" y="103188"/>
                  </a:lnTo>
                  <a:cubicBezTo>
                    <a:pt x="23812" y="116339"/>
                    <a:pt x="13151" y="127000"/>
                    <a:pt x="0" y="127000"/>
                  </a:cubicBezTo>
                </a:path>
              </a:pathLst>
            </a:custGeom>
            <a:noFill/>
            <a:ln w="19050">
              <a:solidFill>
                <a:srgbClr val="5F6368"/>
              </a:solidFill>
            </a:ln>
          </p:spPr>
        </p:sp>
        <p:sp>
          <p:nvSpPr>
            <p:cNvPr id="128" name="Freeform 128"/>
            <p:cNvSpPr/>
            <p:nvPr/>
          </p:nvSpPr>
          <p:spPr>
            <a:xfrm>
              <a:off x="9848850" y="3251200"/>
              <a:ext cx="23812" cy="127000"/>
            </a:xfrm>
            <a:custGeom>
              <a:avLst/>
              <a:gdLst/>
              <a:ahLst/>
              <a:cxnLst/>
              <a:rect l="l" t="t" r="r" b="b"/>
              <a:pathLst>
                <a:path w="23812" h="127000">
                  <a:moveTo>
                    <a:pt x="23812" y="0"/>
                  </a:moveTo>
                  <a:cubicBezTo>
                    <a:pt x="10661" y="0"/>
                    <a:pt x="0" y="10661"/>
                    <a:pt x="0" y="23812"/>
                  </a:cubicBezTo>
                  <a:lnTo>
                    <a:pt x="0" y="103188"/>
                  </a:lnTo>
                  <a:cubicBezTo>
                    <a:pt x="0" y="116339"/>
                    <a:pt x="10661" y="127000"/>
                    <a:pt x="23812" y="127000"/>
                  </a:cubicBezTo>
                </a:path>
              </a:pathLst>
            </a:custGeom>
            <a:noFill/>
            <a:ln w="19050">
              <a:solidFill>
                <a:srgbClr val="5F6368"/>
              </a:solidFill>
            </a:ln>
          </p:spPr>
        </p:sp>
      </p:grpSp>
      <p:sp>
        <p:nvSpPr>
          <p:cNvPr id="130" name="TextBox 130"/>
          <p:cNvSpPr txBox="1"/>
          <p:nvPr/>
        </p:nvSpPr>
        <p:spPr>
          <a:xfrm>
            <a:off x="8395780" y="3909536"/>
            <a:ext cx="1507331" cy="228600"/>
          </a:xfrm>
          <a:prstGeom prst="rect">
            <a:avLst/>
          </a:prstGeom>
          <a:noFill/>
          <a:ln>
            <a:noFill/>
          </a:ln>
        </p:spPr>
        <p:txBody>
          <a:bodyPr wrap="none" lIns="0" tIns="0" rIns="0" bIns="0" anchor="t" anchorCtr="0">
            <a:spAutoFit/>
          </a:bodyPr>
          <a:lstStyle/>
          <a:p>
            <a:pPr algn="l"/>
            <a:r>
              <a:rPr lang="zh-CN" sz="1125" dirty="0">
                <a:solidFill>
                  <a:srgbClr val="1F2328"/>
                </a:solidFill>
                <a:latin typeface="Arial"/>
                <a:ea typeface="SimHei"/>
                <a:cs typeface="Arial"/>
              </a:rPr>
              <a:t>用户查阅和分析模型</a:t>
            </a:r>
          </a:p>
        </p:txBody>
      </p:sp>
      <p:sp>
        <p:nvSpPr>
          <p:cNvPr id="131" name="TextBox 131"/>
          <p:cNvSpPr txBox="1"/>
          <p:nvPr/>
        </p:nvSpPr>
        <p:spPr>
          <a:xfrm>
            <a:off x="8395780" y="4119086"/>
            <a:ext cx="850106" cy="228600"/>
          </a:xfrm>
          <a:prstGeom prst="rect">
            <a:avLst/>
          </a:prstGeom>
          <a:noFill/>
          <a:ln>
            <a:noFill/>
          </a:ln>
        </p:spPr>
        <p:txBody>
          <a:bodyPr wrap="none" lIns="0" tIns="0" rIns="0" bIns="0" anchor="t" anchorCtr="0">
            <a:spAutoFit/>
          </a:bodyPr>
          <a:lstStyle/>
          <a:p>
            <a:pPr algn="l"/>
            <a:r>
              <a:rPr lang="zh-CN" sz="1125" dirty="0">
                <a:solidFill>
                  <a:srgbClr val="1F2328"/>
                </a:solidFill>
                <a:latin typeface="Arial"/>
                <a:ea typeface="SimHei"/>
                <a:cs typeface="Arial"/>
              </a:rPr>
              <a:t>提供的回复</a:t>
            </a:r>
          </a:p>
        </p:txBody>
      </p:sp>
      <p:sp>
        <p:nvSpPr>
          <p:cNvPr id="133" name="Freeform 133"/>
          <p:cNvSpPr/>
          <p:nvPr/>
        </p:nvSpPr>
        <p:spPr>
          <a:xfrm>
            <a:off x="10057892" y="2907030"/>
            <a:ext cx="1485900" cy="1143000"/>
          </a:xfrm>
          <a:custGeom>
            <a:avLst/>
            <a:gdLst/>
            <a:ahLst/>
            <a:cxnLst/>
            <a:rect l="l" t="t" r="r" b="b"/>
            <a:pathLst>
              <a:path w="1485900" h="1143000">
                <a:moveTo>
                  <a:pt x="742950" y="0"/>
                </a:moveTo>
                <a:lnTo>
                  <a:pt x="1485900" y="571500"/>
                </a:lnTo>
                <a:lnTo>
                  <a:pt x="742950" y="1143000"/>
                </a:lnTo>
                <a:lnTo>
                  <a:pt x="0" y="571500"/>
                </a:lnTo>
                <a:close/>
              </a:path>
            </a:pathLst>
          </a:custGeom>
          <a:solidFill>
            <a:srgbClr val="FFFFFF"/>
          </a:solidFill>
          <a:ln w="19050">
            <a:solidFill>
              <a:srgbClr val="E8EAED"/>
            </a:solidFill>
          </a:ln>
          <a:effectLst>
            <a:outerShdw blurRad="152400" dist="38100" dir="5400000" algn="ctr" rotWithShape="0">
              <a:srgbClr val="000000">
                <a:alpha val="7500"/>
              </a:srgbClr>
            </a:outerShdw>
          </a:effectLst>
        </p:spPr>
      </p:sp>
      <p:sp>
        <p:nvSpPr>
          <p:cNvPr id="134" name="TextBox 134"/>
          <p:cNvSpPr txBox="1"/>
          <p:nvPr/>
        </p:nvSpPr>
        <p:spPr>
          <a:xfrm>
            <a:off x="10162619" y="3256598"/>
            <a:ext cx="1276445" cy="274320"/>
          </a:xfrm>
          <a:prstGeom prst="rect">
            <a:avLst/>
          </a:prstGeom>
          <a:noFill/>
          <a:ln>
            <a:noFill/>
          </a:ln>
        </p:spPr>
        <p:txBody>
          <a:bodyPr wrap="none" lIns="0" tIns="0" rIns="0" bIns="0" anchor="t" anchorCtr="0">
            <a:spAutoFit/>
          </a:bodyPr>
          <a:lstStyle/>
          <a:p>
            <a:pPr algn="ctr"/>
            <a:r>
              <a:rPr lang="zh-CN" sz="1350" b="1" dirty="0">
                <a:solidFill>
                  <a:srgbClr val="1F2328"/>
                </a:solidFill>
                <a:latin typeface="Arial"/>
                <a:ea typeface="SimHei"/>
                <a:cs typeface="Arial"/>
              </a:rPr>
              <a:t>是否再次手工</a:t>
            </a:r>
          </a:p>
        </p:txBody>
      </p:sp>
      <p:sp>
        <p:nvSpPr>
          <p:cNvPr id="135" name="TextBox 135"/>
          <p:cNvSpPr txBox="1"/>
          <p:nvPr/>
        </p:nvSpPr>
        <p:spPr>
          <a:xfrm>
            <a:off x="10266132" y="3504248"/>
            <a:ext cx="1069419" cy="274320"/>
          </a:xfrm>
          <a:prstGeom prst="rect">
            <a:avLst/>
          </a:prstGeom>
          <a:noFill/>
          <a:ln>
            <a:noFill/>
          </a:ln>
        </p:spPr>
        <p:txBody>
          <a:bodyPr wrap="none" lIns="0" tIns="0" rIns="0" bIns="0" anchor="t" anchorCtr="0">
            <a:spAutoFit/>
          </a:bodyPr>
          <a:lstStyle/>
          <a:p>
            <a:pPr algn="ctr"/>
            <a:r>
              <a:rPr lang="zh-CN" sz="1350" b="1" dirty="0">
                <a:solidFill>
                  <a:srgbClr val="1F2328"/>
                </a:solidFill>
                <a:latin typeface="Arial"/>
                <a:ea typeface="SimHei"/>
                <a:cs typeface="Arial"/>
              </a:rPr>
              <a:t>打字输入？</a:t>
            </a:r>
          </a:p>
        </p:txBody>
      </p:sp>
      <p:sp>
        <p:nvSpPr>
          <p:cNvPr id="137" name="Rectangle 137"/>
          <p:cNvSpPr/>
          <p:nvPr/>
        </p:nvSpPr>
        <p:spPr>
          <a:xfrm>
            <a:off x="10095992" y="5307330"/>
            <a:ext cx="1409700" cy="552450"/>
          </a:xfrm>
          <a:prstGeom prst="roundRect">
            <a:avLst>
              <a:gd name="adj" fmla="val 24138"/>
            </a:avLst>
          </a:prstGeom>
          <a:solidFill>
            <a:srgbClr val="FFFFFF"/>
          </a:solidFill>
          <a:ln w="19050">
            <a:solidFill>
              <a:srgbClr val="A50021"/>
            </a:solidFill>
          </a:ln>
          <a:effectLst>
            <a:outerShdw blurRad="152400" dist="38100" dir="5400000" algn="ctr" rotWithShape="0">
              <a:srgbClr val="000000">
                <a:alpha val="7500"/>
              </a:srgbClr>
            </a:outerShdw>
          </a:effectLst>
        </p:spPr>
      </p:sp>
      <p:sp>
        <p:nvSpPr>
          <p:cNvPr id="138" name="TextBox 138"/>
          <p:cNvSpPr txBox="1"/>
          <p:nvPr/>
        </p:nvSpPr>
        <p:spPr>
          <a:xfrm>
            <a:off x="10326497" y="5504498"/>
            <a:ext cx="862393" cy="274320"/>
          </a:xfrm>
          <a:prstGeom prst="rect">
            <a:avLst/>
          </a:prstGeom>
          <a:noFill/>
          <a:ln>
            <a:noFill/>
          </a:ln>
        </p:spPr>
        <p:txBody>
          <a:bodyPr wrap="none" lIns="0" tIns="0" rIns="0" bIns="0" anchor="t" anchorCtr="0">
            <a:spAutoFit/>
          </a:bodyPr>
          <a:lstStyle/>
          <a:p>
            <a:pPr algn="l"/>
            <a:r>
              <a:rPr lang="zh-CN" sz="1350" b="1" dirty="0">
                <a:solidFill>
                  <a:srgbClr val="1F2328"/>
                </a:solidFill>
                <a:latin typeface="Arial"/>
                <a:ea typeface="SimHei"/>
                <a:cs typeface="Arial"/>
              </a:rPr>
              <a:t>对话结束</a:t>
            </a:r>
          </a:p>
        </p:txBody>
      </p:sp>
      <p:grpSp>
        <p:nvGrpSpPr>
          <p:cNvPr id="142" name="Group 142"/>
          <p:cNvGrpSpPr/>
          <p:nvPr/>
        </p:nvGrpSpPr>
        <p:grpSpPr>
          <a:xfrm>
            <a:off x="11180254" y="5454968"/>
            <a:ext cx="155576" cy="200025"/>
            <a:chOff x="11371262" y="5272088"/>
            <a:chExt cx="155576" cy="200025"/>
          </a:xfrm>
        </p:grpSpPr>
        <p:sp>
          <p:nvSpPr>
            <p:cNvPr id="139" name="Freeform 139"/>
            <p:cNvSpPr/>
            <p:nvPr/>
          </p:nvSpPr>
          <p:spPr>
            <a:xfrm>
              <a:off x="11471275" y="5272088"/>
              <a:ext cx="55563" cy="55563"/>
            </a:xfrm>
            <a:custGeom>
              <a:avLst/>
              <a:gdLst/>
              <a:ahLst/>
              <a:cxnLst/>
              <a:rect l="l" t="t" r="r" b="b"/>
              <a:pathLst>
                <a:path w="55563" h="55563">
                  <a:moveTo>
                    <a:pt x="0" y="0"/>
                  </a:moveTo>
                  <a:lnTo>
                    <a:pt x="0" y="44450"/>
                  </a:lnTo>
                  <a:cubicBezTo>
                    <a:pt x="0" y="50587"/>
                    <a:pt x="4975" y="55563"/>
                    <a:pt x="11113" y="55563"/>
                  </a:cubicBezTo>
                  <a:lnTo>
                    <a:pt x="55563" y="55563"/>
                  </a:lnTo>
                </a:path>
              </a:pathLst>
            </a:custGeom>
            <a:noFill/>
            <a:ln w="19050">
              <a:solidFill>
                <a:srgbClr val="A50021"/>
              </a:solidFill>
            </a:ln>
          </p:spPr>
        </p:sp>
        <p:sp>
          <p:nvSpPr>
            <p:cNvPr id="140" name="Freeform 140"/>
            <p:cNvSpPr/>
            <p:nvPr/>
          </p:nvSpPr>
          <p:spPr>
            <a:xfrm>
              <a:off x="11371262" y="5272088"/>
              <a:ext cx="155575" cy="200025"/>
            </a:xfrm>
            <a:custGeom>
              <a:avLst/>
              <a:gdLst/>
              <a:ahLst/>
              <a:cxnLst/>
              <a:rect l="l" t="t" r="r" b="b"/>
              <a:pathLst>
                <a:path w="155575" h="200025">
                  <a:moveTo>
                    <a:pt x="133350" y="200025"/>
                  </a:moveTo>
                  <a:lnTo>
                    <a:pt x="22225" y="200025"/>
                  </a:lnTo>
                  <a:cubicBezTo>
                    <a:pt x="9950" y="200025"/>
                    <a:pt x="0" y="190075"/>
                    <a:pt x="0" y="177800"/>
                  </a:cubicBezTo>
                  <a:lnTo>
                    <a:pt x="0" y="22225"/>
                  </a:lnTo>
                  <a:cubicBezTo>
                    <a:pt x="0" y="9950"/>
                    <a:pt x="9950" y="0"/>
                    <a:pt x="22225" y="0"/>
                  </a:cubicBezTo>
                  <a:lnTo>
                    <a:pt x="100012" y="0"/>
                  </a:lnTo>
                  <a:lnTo>
                    <a:pt x="155575" y="55563"/>
                  </a:lnTo>
                  <a:lnTo>
                    <a:pt x="155575" y="177800"/>
                  </a:lnTo>
                  <a:cubicBezTo>
                    <a:pt x="155575" y="190075"/>
                    <a:pt x="145625" y="200025"/>
                    <a:pt x="133350" y="200025"/>
                  </a:cubicBezTo>
                </a:path>
              </a:pathLst>
            </a:custGeom>
            <a:noFill/>
            <a:ln w="19050">
              <a:solidFill>
                <a:srgbClr val="A50021"/>
              </a:solidFill>
            </a:ln>
          </p:spPr>
        </p:sp>
        <p:sp>
          <p:nvSpPr>
            <p:cNvPr id="141" name="Freeform 141"/>
            <p:cNvSpPr/>
            <p:nvPr/>
          </p:nvSpPr>
          <p:spPr>
            <a:xfrm>
              <a:off x="11426825" y="5360988"/>
              <a:ext cx="44450" cy="66675"/>
            </a:xfrm>
            <a:custGeom>
              <a:avLst/>
              <a:gdLst/>
              <a:ahLst/>
              <a:cxnLst/>
              <a:rect l="l" t="t" r="r" b="b"/>
              <a:pathLst>
                <a:path w="44450" h="66675">
                  <a:moveTo>
                    <a:pt x="22225" y="0"/>
                  </a:moveTo>
                  <a:lnTo>
                    <a:pt x="0" y="33338"/>
                  </a:lnTo>
                  <a:lnTo>
                    <a:pt x="44450" y="33338"/>
                  </a:lnTo>
                  <a:lnTo>
                    <a:pt x="22225" y="66675"/>
                  </a:lnTo>
                </a:path>
              </a:pathLst>
            </a:custGeom>
            <a:noFill/>
            <a:ln w="19050">
              <a:solidFill>
                <a:srgbClr val="A50021"/>
              </a:solidFill>
            </a:ln>
          </p:spPr>
        </p:sp>
      </p:grpSp>
      <p:sp>
        <p:nvSpPr>
          <p:cNvPr id="144" name="Freeform 144"/>
          <p:cNvSpPr/>
          <p:nvPr/>
        </p:nvSpPr>
        <p:spPr>
          <a:xfrm>
            <a:off x="1618742" y="3611880"/>
            <a:ext cx="209550" cy="9525"/>
          </a:xfrm>
          <a:custGeom>
            <a:avLst/>
            <a:gdLst/>
            <a:ahLst/>
            <a:cxnLst/>
            <a:rect l="l" t="t" r="r" b="b"/>
            <a:pathLst>
              <a:path w="209550" h="9525">
                <a:moveTo>
                  <a:pt x="0" y="0"/>
                </a:moveTo>
                <a:lnTo>
                  <a:pt x="209550" y="0"/>
                </a:lnTo>
              </a:path>
            </a:pathLst>
          </a:custGeom>
          <a:noFill/>
          <a:ln w="28575">
            <a:solidFill>
              <a:srgbClr val="A50021"/>
            </a:solidFill>
            <a:tailEnd type="triangle" w="lg" len="lg"/>
          </a:ln>
        </p:spPr>
      </p:sp>
      <p:sp>
        <p:nvSpPr>
          <p:cNvPr id="145" name="Freeform 145"/>
          <p:cNvSpPr/>
          <p:nvPr/>
        </p:nvSpPr>
        <p:spPr>
          <a:xfrm>
            <a:off x="3638042" y="3478530"/>
            <a:ext cx="314325" cy="9525"/>
          </a:xfrm>
          <a:custGeom>
            <a:avLst/>
            <a:gdLst/>
            <a:ahLst/>
            <a:cxnLst/>
            <a:rect l="l" t="t" r="r" b="b"/>
            <a:pathLst>
              <a:path w="314325" h="9525">
                <a:moveTo>
                  <a:pt x="0" y="0"/>
                </a:moveTo>
                <a:lnTo>
                  <a:pt x="314325" y="0"/>
                </a:lnTo>
              </a:path>
            </a:pathLst>
          </a:custGeom>
          <a:noFill/>
          <a:ln w="28575">
            <a:solidFill>
              <a:srgbClr val="A50021"/>
            </a:solidFill>
            <a:tailEnd type="triangle" w="lg" len="lg"/>
          </a:ln>
        </p:spPr>
      </p:sp>
      <p:sp>
        <p:nvSpPr>
          <p:cNvPr id="146" name="Freeform 146"/>
          <p:cNvSpPr/>
          <p:nvPr/>
        </p:nvSpPr>
        <p:spPr>
          <a:xfrm>
            <a:off x="5762117" y="3478530"/>
            <a:ext cx="314325" cy="9525"/>
          </a:xfrm>
          <a:custGeom>
            <a:avLst/>
            <a:gdLst/>
            <a:ahLst/>
            <a:cxnLst/>
            <a:rect l="l" t="t" r="r" b="b"/>
            <a:pathLst>
              <a:path w="314325" h="9525">
                <a:moveTo>
                  <a:pt x="0" y="0"/>
                </a:moveTo>
                <a:lnTo>
                  <a:pt x="314325" y="0"/>
                </a:lnTo>
              </a:path>
            </a:pathLst>
          </a:custGeom>
          <a:noFill/>
          <a:ln w="28575">
            <a:solidFill>
              <a:srgbClr val="A50021"/>
            </a:solidFill>
            <a:tailEnd type="triangle" w="lg" len="lg"/>
          </a:ln>
        </p:spPr>
      </p:sp>
      <p:sp>
        <p:nvSpPr>
          <p:cNvPr id="147" name="Freeform 147"/>
          <p:cNvSpPr/>
          <p:nvPr/>
        </p:nvSpPr>
        <p:spPr>
          <a:xfrm>
            <a:off x="7886192" y="3478530"/>
            <a:ext cx="314325" cy="9525"/>
          </a:xfrm>
          <a:custGeom>
            <a:avLst/>
            <a:gdLst/>
            <a:ahLst/>
            <a:cxnLst/>
            <a:rect l="l" t="t" r="r" b="b"/>
            <a:pathLst>
              <a:path w="314325" h="9525">
                <a:moveTo>
                  <a:pt x="0" y="0"/>
                </a:moveTo>
                <a:lnTo>
                  <a:pt x="314325" y="0"/>
                </a:lnTo>
              </a:path>
            </a:pathLst>
          </a:custGeom>
          <a:noFill/>
          <a:ln w="28575">
            <a:solidFill>
              <a:srgbClr val="A50021"/>
            </a:solidFill>
            <a:tailEnd type="triangle" w="lg" len="lg"/>
          </a:ln>
        </p:spPr>
      </p:sp>
      <p:sp>
        <p:nvSpPr>
          <p:cNvPr id="148" name="Freeform 148"/>
          <p:cNvSpPr/>
          <p:nvPr/>
        </p:nvSpPr>
        <p:spPr>
          <a:xfrm>
            <a:off x="10010267" y="3478530"/>
            <a:ext cx="47625" cy="9525"/>
          </a:xfrm>
          <a:custGeom>
            <a:avLst/>
            <a:gdLst/>
            <a:ahLst/>
            <a:cxnLst/>
            <a:rect l="l" t="t" r="r" b="b"/>
            <a:pathLst>
              <a:path w="47625" h="9525">
                <a:moveTo>
                  <a:pt x="0" y="0"/>
                </a:moveTo>
                <a:lnTo>
                  <a:pt x="47625" y="0"/>
                </a:lnTo>
              </a:path>
            </a:pathLst>
          </a:custGeom>
          <a:noFill/>
          <a:ln w="28575">
            <a:solidFill>
              <a:srgbClr val="A50021"/>
            </a:solidFill>
            <a:tailEnd type="triangle" w="lg" len="lg"/>
          </a:ln>
        </p:spPr>
      </p:sp>
      <p:sp>
        <p:nvSpPr>
          <p:cNvPr id="149" name="Freeform 149"/>
          <p:cNvSpPr/>
          <p:nvPr/>
        </p:nvSpPr>
        <p:spPr>
          <a:xfrm>
            <a:off x="10800842" y="4050030"/>
            <a:ext cx="9525" cy="1257300"/>
          </a:xfrm>
          <a:custGeom>
            <a:avLst/>
            <a:gdLst/>
            <a:ahLst/>
            <a:cxnLst/>
            <a:rect l="l" t="t" r="r" b="b"/>
            <a:pathLst>
              <a:path w="9525" h="1257300">
                <a:moveTo>
                  <a:pt x="0" y="0"/>
                </a:moveTo>
                <a:lnTo>
                  <a:pt x="0" y="1257300"/>
                </a:lnTo>
              </a:path>
            </a:pathLst>
          </a:custGeom>
          <a:noFill/>
          <a:ln w="28575">
            <a:solidFill>
              <a:srgbClr val="A50021"/>
            </a:solidFill>
            <a:tailEnd type="triangle" w="lg" len="lg"/>
          </a:ln>
        </p:spPr>
      </p:sp>
      <p:grpSp>
        <p:nvGrpSpPr>
          <p:cNvPr id="3" name="组合 2">
            <a:extLst>
              <a:ext uri="{FF2B5EF4-FFF2-40B4-BE49-F238E27FC236}">
                <a16:creationId xmlns:a16="http://schemas.microsoft.com/office/drawing/2014/main" id="{905EB630-1D5C-4EFB-8C15-2A72B07431E5}"/>
              </a:ext>
            </a:extLst>
          </p:cNvPr>
          <p:cNvGrpSpPr/>
          <p:nvPr/>
        </p:nvGrpSpPr>
        <p:grpSpPr>
          <a:xfrm>
            <a:off x="10628884" y="4519136"/>
            <a:ext cx="361950" cy="254794"/>
            <a:chOff x="11068050" y="4324350"/>
            <a:chExt cx="361950" cy="254794"/>
          </a:xfrm>
        </p:grpSpPr>
        <p:sp>
          <p:nvSpPr>
            <p:cNvPr id="150" name="Rectangle 150"/>
            <p:cNvSpPr/>
            <p:nvPr/>
          </p:nvSpPr>
          <p:spPr>
            <a:xfrm>
              <a:off x="11068050" y="4324350"/>
              <a:ext cx="361950" cy="228600"/>
            </a:xfrm>
            <a:prstGeom prst="roundRect">
              <a:avLst>
                <a:gd name="adj" fmla="val 33333"/>
              </a:avLst>
            </a:prstGeom>
            <a:solidFill>
              <a:srgbClr val="FDF3F5"/>
            </a:solidFill>
            <a:ln w="9525">
              <a:solidFill>
                <a:srgbClr val="D8A1AB"/>
              </a:solidFill>
            </a:ln>
          </p:spPr>
        </p:sp>
        <p:sp>
          <p:nvSpPr>
            <p:cNvPr id="151" name="TextBox 151"/>
            <p:cNvSpPr txBox="1"/>
            <p:nvPr/>
          </p:nvSpPr>
          <p:spPr>
            <a:xfrm>
              <a:off x="11161883" y="4381024"/>
              <a:ext cx="174284" cy="198120"/>
            </a:xfrm>
            <a:prstGeom prst="rect">
              <a:avLst/>
            </a:prstGeom>
            <a:noFill/>
            <a:ln>
              <a:noFill/>
            </a:ln>
          </p:spPr>
          <p:txBody>
            <a:bodyPr wrap="none" lIns="0" tIns="0" rIns="0" bIns="0" anchor="t" anchorCtr="0">
              <a:spAutoFit/>
            </a:bodyPr>
            <a:lstStyle/>
            <a:p>
              <a:pPr algn="ctr"/>
              <a:r>
                <a:rPr lang="zh-CN" sz="975" b="1" dirty="0">
                  <a:solidFill>
                    <a:srgbClr val="7A0018"/>
                  </a:solidFill>
                  <a:latin typeface="Arial"/>
                  <a:ea typeface="SimHei"/>
                  <a:cs typeface="Arial"/>
                </a:rPr>
                <a:t>否</a:t>
              </a:r>
            </a:p>
          </p:txBody>
        </p:sp>
      </p:grpSp>
      <p:sp>
        <p:nvSpPr>
          <p:cNvPr id="153" name="Line 153"/>
          <p:cNvSpPr/>
          <p:nvPr/>
        </p:nvSpPr>
        <p:spPr>
          <a:xfrm>
            <a:off x="685800" y="6286500"/>
            <a:ext cx="10820400" cy="9525"/>
          </a:xfrm>
          <a:custGeom>
            <a:avLst/>
            <a:gdLst/>
            <a:ahLst/>
            <a:cxnLst/>
            <a:rect l="l" t="t" r="r" b="b"/>
            <a:pathLst>
              <a:path w="10820400" h="9525">
                <a:moveTo>
                  <a:pt x="0" y="0"/>
                </a:moveTo>
                <a:lnTo>
                  <a:pt x="10820400" y="0"/>
                </a:lnTo>
              </a:path>
            </a:pathLst>
          </a:custGeom>
          <a:noFill/>
          <a:ln w="11430">
            <a:solidFill>
              <a:srgbClr val="E4E7EB"/>
            </a:solidFill>
          </a:ln>
        </p:spPr>
      </p:sp>
      <p:sp>
        <p:nvSpPr>
          <p:cNvPr id="154" name="TextBox 154"/>
          <p:cNvSpPr txBox="1"/>
          <p:nvPr/>
        </p:nvSpPr>
        <p:spPr>
          <a:xfrm>
            <a:off x="5864138" y="6458902"/>
            <a:ext cx="463725"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Arial"/>
                <a:ea typeface="SimHei"/>
                <a:cs typeface="Arial"/>
              </a:rPr>
              <a:t>01 / 01</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3"/>
          <p:cNvPicPr>
            <a:picLocks noChangeAspect="1"/>
          </p:cNvPicPr>
          <p:nvPr/>
        </p:nvPicPr>
        <p:blipFill>
          <a:blip r:embed="rId3"/>
          <a:stretch>
            <a:fillRect/>
          </a:stretch>
        </p:blipFill>
        <p:spPr>
          <a:xfrm>
            <a:off x="9705234" y="419100"/>
            <a:ext cx="2020783" cy="571500"/>
          </a:xfrm>
          <a:prstGeom prst="rect">
            <a:avLst/>
          </a:prstGeom>
        </p:spPr>
      </p:pic>
      <p:sp>
        <p:nvSpPr>
          <p:cNvPr id="4" name="TextBox 4"/>
          <p:cNvSpPr txBox="1"/>
          <p:nvPr/>
        </p:nvSpPr>
        <p:spPr>
          <a:xfrm>
            <a:off x="657225" y="519112"/>
            <a:ext cx="2475037" cy="369332"/>
          </a:xfrm>
          <a:prstGeom prst="rect">
            <a:avLst/>
          </a:prstGeom>
          <a:noFill/>
          <a:ln>
            <a:noFill/>
          </a:ln>
        </p:spPr>
        <p:txBody>
          <a:bodyPr wrap="none" lIns="0" tIns="0" rIns="0" bIns="0" anchor="t" anchorCtr="0">
            <a:spAutoFit/>
          </a:bodyPr>
          <a:lstStyle/>
          <a:p>
            <a:pPr algn="l"/>
            <a:r>
              <a:rPr lang="zh-CN" altLang="zh-CN" sz="2400" b="1" dirty="0">
                <a:solidFill>
                  <a:srgbClr val="1F2328"/>
                </a:solidFill>
                <a:latin typeface="Arial"/>
                <a:ea typeface="SimHei"/>
                <a:cs typeface="Arial"/>
              </a:rPr>
              <a:t>大模型加挂知识库</a:t>
            </a:r>
          </a:p>
        </p:txBody>
      </p:sp>
      <p:sp>
        <p:nvSpPr>
          <p:cNvPr id="5" name="Line 5"/>
          <p:cNvSpPr/>
          <p:nvPr/>
        </p:nvSpPr>
        <p:spPr>
          <a:xfrm>
            <a:off x="685800" y="933450"/>
            <a:ext cx="2171700" cy="9525"/>
          </a:xfrm>
          <a:custGeom>
            <a:avLst/>
            <a:gdLst/>
            <a:ahLst/>
            <a:cxnLst/>
            <a:rect l="l" t="t" r="r" b="b"/>
            <a:pathLst>
              <a:path w="2171700" h="9525">
                <a:moveTo>
                  <a:pt x="0" y="0"/>
                </a:moveTo>
                <a:lnTo>
                  <a:pt x="2171700" y="0"/>
                </a:lnTo>
              </a:path>
            </a:pathLst>
          </a:custGeom>
          <a:noFill/>
          <a:ln w="28575">
            <a:solidFill>
              <a:srgbClr val="A50021"/>
            </a:solidFill>
          </a:ln>
        </p:spPr>
      </p:sp>
      <p:sp>
        <p:nvSpPr>
          <p:cNvPr id="7" name="Freeform 7"/>
          <p:cNvSpPr/>
          <p:nvPr/>
        </p:nvSpPr>
        <p:spPr>
          <a:xfrm>
            <a:off x="983075" y="1881188"/>
            <a:ext cx="8610600" cy="857250"/>
          </a:xfrm>
          <a:custGeom>
            <a:avLst/>
            <a:gdLst/>
            <a:ahLst/>
            <a:cxnLst/>
            <a:rect l="l" t="t" r="r" b="b"/>
            <a:pathLst>
              <a:path w="8610600" h="857250">
                <a:moveTo>
                  <a:pt x="8610600" y="857250"/>
                </a:moveTo>
                <a:lnTo>
                  <a:pt x="8610600" y="0"/>
                </a:lnTo>
                <a:lnTo>
                  <a:pt x="0" y="0"/>
                </a:lnTo>
                <a:lnTo>
                  <a:pt x="0" y="838200"/>
                </a:lnTo>
              </a:path>
            </a:pathLst>
          </a:custGeom>
          <a:noFill/>
          <a:ln w="28575">
            <a:solidFill>
              <a:srgbClr val="A50021"/>
            </a:solidFill>
            <a:tailEnd type="triangle" w="lg" len="lg"/>
          </a:ln>
        </p:spPr>
      </p:sp>
      <p:sp>
        <p:nvSpPr>
          <p:cNvPr id="8" name="TextBox 8"/>
          <p:cNvSpPr txBox="1"/>
          <p:nvPr/>
        </p:nvSpPr>
        <p:spPr>
          <a:xfrm>
            <a:off x="2925294" y="1653540"/>
            <a:ext cx="2764012" cy="213360"/>
          </a:xfrm>
          <a:prstGeom prst="rect">
            <a:avLst/>
          </a:prstGeom>
          <a:noFill/>
          <a:ln>
            <a:noFill/>
          </a:ln>
        </p:spPr>
        <p:txBody>
          <a:bodyPr wrap="none" lIns="0" tIns="0" rIns="0" bIns="0" anchor="t" anchorCtr="0">
            <a:spAutoFit/>
          </a:bodyPr>
          <a:lstStyle/>
          <a:p>
            <a:pPr algn="ctr"/>
            <a:r>
              <a:rPr lang="zh-CN" sz="1050" b="1" dirty="0">
                <a:solidFill>
                  <a:srgbClr val="A50021"/>
                </a:solidFill>
                <a:latin typeface="Arial"/>
                <a:ea typeface="SimHei"/>
                <a:cs typeface="Arial"/>
              </a:rPr>
              <a:t>再次打字输入（触发新的向量库查询）</a:t>
            </a:r>
          </a:p>
        </p:txBody>
      </p:sp>
      <p:sp>
        <p:nvSpPr>
          <p:cNvPr id="12" name="Line 12"/>
          <p:cNvSpPr/>
          <p:nvPr/>
        </p:nvSpPr>
        <p:spPr>
          <a:xfrm>
            <a:off x="2068925" y="3786188"/>
            <a:ext cx="323850" cy="1"/>
          </a:xfrm>
          <a:prstGeom prst="line">
            <a:avLst/>
          </a:prstGeom>
          <a:noFill/>
          <a:ln w="47625">
            <a:solidFill>
              <a:srgbClr val="A50021"/>
            </a:solidFill>
            <a:tailEnd type="triangle" w="lg" len="lg"/>
          </a:ln>
        </p:spPr>
      </p:sp>
      <p:sp>
        <p:nvSpPr>
          <p:cNvPr id="13" name="Line 13"/>
          <p:cNvSpPr/>
          <p:nvPr/>
        </p:nvSpPr>
        <p:spPr>
          <a:xfrm>
            <a:off x="5193125" y="3786188"/>
            <a:ext cx="323850" cy="1"/>
          </a:xfrm>
          <a:prstGeom prst="line">
            <a:avLst/>
          </a:prstGeom>
          <a:noFill/>
          <a:ln w="47625">
            <a:solidFill>
              <a:srgbClr val="A50021"/>
            </a:solidFill>
            <a:tailEnd type="triangle" w="lg" len="lg"/>
          </a:ln>
        </p:spPr>
      </p:sp>
      <p:sp>
        <p:nvSpPr>
          <p:cNvPr id="14" name="Line 14"/>
          <p:cNvSpPr/>
          <p:nvPr/>
        </p:nvSpPr>
        <p:spPr>
          <a:xfrm>
            <a:off x="8412575" y="3786188"/>
            <a:ext cx="323850" cy="1"/>
          </a:xfrm>
          <a:prstGeom prst="line">
            <a:avLst/>
          </a:prstGeom>
          <a:noFill/>
          <a:ln w="47625">
            <a:solidFill>
              <a:srgbClr val="A50021"/>
            </a:solidFill>
            <a:tailEnd type="triangle" w="lg" len="lg"/>
          </a:ln>
        </p:spPr>
      </p:sp>
      <p:sp>
        <p:nvSpPr>
          <p:cNvPr id="15" name="Line 15"/>
          <p:cNvSpPr/>
          <p:nvPr/>
        </p:nvSpPr>
        <p:spPr>
          <a:xfrm>
            <a:off x="10355675" y="3786188"/>
            <a:ext cx="476250" cy="1"/>
          </a:xfrm>
          <a:prstGeom prst="line">
            <a:avLst/>
          </a:prstGeom>
          <a:noFill/>
          <a:ln w="28575">
            <a:solidFill>
              <a:srgbClr val="9AA0A6"/>
            </a:solidFill>
            <a:custDash>
              <a:ds d="266666" sp="200000"/>
            </a:custDash>
            <a:tailEnd type="triangle" w="lg" len="lg"/>
          </a:ln>
        </p:spPr>
      </p:sp>
      <p:sp>
        <p:nvSpPr>
          <p:cNvPr id="17" name="Rectangle 17"/>
          <p:cNvSpPr/>
          <p:nvPr/>
        </p:nvSpPr>
        <p:spPr>
          <a:xfrm>
            <a:off x="544925" y="2738438"/>
            <a:ext cx="1524000" cy="2095500"/>
          </a:xfrm>
          <a:prstGeom prst="roundRect">
            <a:avLst>
              <a:gd name="adj" fmla="val 7500"/>
            </a:avLst>
          </a:prstGeom>
          <a:solidFill>
            <a:srgbClr val="FFFFFF"/>
          </a:solidFill>
          <a:ln w="14288">
            <a:solidFill>
              <a:srgbClr val="E4E7EB"/>
            </a:solidFill>
          </a:ln>
          <a:effectLst>
            <a:outerShdw blurRad="152400" dist="38100" dir="5400000" algn="ctr" rotWithShape="0">
              <a:srgbClr val="000000">
                <a:alpha val="7500"/>
              </a:srgbClr>
            </a:outerShdw>
          </a:effectLst>
        </p:spPr>
      </p:sp>
      <p:sp>
        <p:nvSpPr>
          <p:cNvPr id="18" name="TextBox 18"/>
          <p:cNvSpPr txBox="1"/>
          <p:nvPr/>
        </p:nvSpPr>
        <p:spPr>
          <a:xfrm>
            <a:off x="606397" y="2886552"/>
            <a:ext cx="1401056" cy="259080"/>
          </a:xfrm>
          <a:prstGeom prst="rect">
            <a:avLst/>
          </a:prstGeom>
          <a:noFill/>
          <a:ln>
            <a:noFill/>
          </a:ln>
        </p:spPr>
        <p:txBody>
          <a:bodyPr wrap="none" lIns="0" tIns="0" rIns="0" bIns="0" anchor="t" anchorCtr="0">
            <a:spAutoFit/>
          </a:bodyPr>
          <a:lstStyle/>
          <a:p>
            <a:pPr algn="ctr"/>
            <a:r>
              <a:rPr lang="zh-CN" sz="1275" b="1" dirty="0">
                <a:solidFill>
                  <a:srgbClr val="1F2328"/>
                </a:solidFill>
                <a:latin typeface="Arial"/>
                <a:ea typeface="SimHei"/>
                <a:cs typeface="Arial"/>
              </a:rPr>
              <a:t>用户多模态输入</a:t>
            </a:r>
          </a:p>
        </p:txBody>
      </p:sp>
      <p:sp>
        <p:nvSpPr>
          <p:cNvPr id="19" name="Line 19"/>
          <p:cNvSpPr/>
          <p:nvPr/>
        </p:nvSpPr>
        <p:spPr>
          <a:xfrm>
            <a:off x="783050" y="3195638"/>
            <a:ext cx="1047750" cy="9525"/>
          </a:xfrm>
          <a:custGeom>
            <a:avLst/>
            <a:gdLst/>
            <a:ahLst/>
            <a:cxnLst/>
            <a:rect l="l" t="t" r="r" b="b"/>
            <a:pathLst>
              <a:path w="1047750" h="9525">
                <a:moveTo>
                  <a:pt x="0" y="0"/>
                </a:moveTo>
                <a:lnTo>
                  <a:pt x="1047750" y="0"/>
                </a:lnTo>
              </a:path>
            </a:pathLst>
          </a:custGeom>
          <a:noFill/>
          <a:ln w="19050">
            <a:solidFill>
              <a:srgbClr val="A50021"/>
            </a:solidFill>
          </a:ln>
        </p:spPr>
      </p:sp>
      <p:grpSp>
        <p:nvGrpSpPr>
          <p:cNvPr id="145" name="组合 144">
            <a:extLst>
              <a:ext uri="{FF2B5EF4-FFF2-40B4-BE49-F238E27FC236}">
                <a16:creationId xmlns:a16="http://schemas.microsoft.com/office/drawing/2014/main" id="{7D4F160F-00A6-47A9-8BDB-13C1A899530E}"/>
              </a:ext>
            </a:extLst>
          </p:cNvPr>
          <p:cNvGrpSpPr/>
          <p:nvPr/>
        </p:nvGrpSpPr>
        <p:grpSpPr>
          <a:xfrm>
            <a:off x="687800" y="3443288"/>
            <a:ext cx="1238250" cy="247650"/>
            <a:chOff x="666750" y="2971800"/>
            <a:chExt cx="1238250" cy="247650"/>
          </a:xfrm>
        </p:grpSpPr>
        <p:grpSp>
          <p:nvGrpSpPr>
            <p:cNvPr id="143" name="组合 142">
              <a:extLst>
                <a:ext uri="{FF2B5EF4-FFF2-40B4-BE49-F238E27FC236}">
                  <a16:creationId xmlns:a16="http://schemas.microsoft.com/office/drawing/2014/main" id="{9BA0B74E-10F9-4C37-876A-5250D0150DA0}"/>
                </a:ext>
              </a:extLst>
            </p:cNvPr>
            <p:cNvGrpSpPr/>
            <p:nvPr/>
          </p:nvGrpSpPr>
          <p:grpSpPr>
            <a:xfrm>
              <a:off x="666750" y="3018234"/>
              <a:ext cx="247650" cy="154781"/>
              <a:chOff x="666750" y="3018234"/>
              <a:chExt cx="247650" cy="154781"/>
            </a:xfrm>
          </p:grpSpPr>
          <p:sp>
            <p:nvSpPr>
              <p:cNvPr id="20" name="Freeform 20"/>
              <p:cNvSpPr/>
              <p:nvPr/>
            </p:nvSpPr>
            <p:spPr>
              <a:xfrm>
                <a:off x="666750" y="3018234"/>
                <a:ext cx="46434" cy="30956"/>
              </a:xfrm>
              <a:custGeom>
                <a:avLst/>
                <a:gdLst/>
                <a:ahLst/>
                <a:cxnLst/>
                <a:rect l="l" t="t" r="r" b="b"/>
                <a:pathLst>
                  <a:path w="46434" h="30956">
                    <a:moveTo>
                      <a:pt x="0" y="0"/>
                    </a:moveTo>
                    <a:lnTo>
                      <a:pt x="46434" y="0"/>
                    </a:lnTo>
                    <a:lnTo>
                      <a:pt x="46434" y="30956"/>
                    </a:lnTo>
                    <a:lnTo>
                      <a:pt x="0" y="30956"/>
                    </a:lnTo>
                    <a:lnTo>
                      <a:pt x="0" y="0"/>
                    </a:lnTo>
                    <a:close/>
                  </a:path>
                </a:pathLst>
              </a:custGeom>
              <a:solidFill>
                <a:srgbClr val="1F2328"/>
              </a:solidFill>
              <a:ln>
                <a:noFill/>
              </a:ln>
            </p:spPr>
          </p:sp>
          <p:sp>
            <p:nvSpPr>
              <p:cNvPr id="21" name="Freeform 21"/>
              <p:cNvSpPr/>
              <p:nvPr/>
            </p:nvSpPr>
            <p:spPr>
              <a:xfrm>
                <a:off x="666750" y="3142059"/>
                <a:ext cx="46434" cy="30956"/>
              </a:xfrm>
              <a:custGeom>
                <a:avLst/>
                <a:gdLst/>
                <a:ahLst/>
                <a:cxnLst/>
                <a:rect l="l" t="t" r="r" b="b"/>
                <a:pathLst>
                  <a:path w="46434" h="30956">
                    <a:moveTo>
                      <a:pt x="0" y="0"/>
                    </a:moveTo>
                    <a:lnTo>
                      <a:pt x="46434" y="0"/>
                    </a:lnTo>
                    <a:lnTo>
                      <a:pt x="46434" y="30956"/>
                    </a:lnTo>
                    <a:lnTo>
                      <a:pt x="0" y="30956"/>
                    </a:lnTo>
                    <a:lnTo>
                      <a:pt x="0" y="0"/>
                    </a:lnTo>
                    <a:close/>
                  </a:path>
                </a:pathLst>
              </a:custGeom>
              <a:solidFill>
                <a:srgbClr val="1F2328"/>
              </a:solidFill>
              <a:ln>
                <a:noFill/>
              </a:ln>
            </p:spPr>
          </p:sp>
          <p:sp>
            <p:nvSpPr>
              <p:cNvPr id="22" name="Freeform 22"/>
              <p:cNvSpPr/>
              <p:nvPr/>
            </p:nvSpPr>
            <p:spPr>
              <a:xfrm>
                <a:off x="744141" y="3142059"/>
                <a:ext cx="92869" cy="30956"/>
              </a:xfrm>
              <a:custGeom>
                <a:avLst/>
                <a:gdLst/>
                <a:ahLst/>
                <a:cxnLst/>
                <a:rect l="l" t="t" r="r" b="b"/>
                <a:pathLst>
                  <a:path w="92869" h="30956">
                    <a:moveTo>
                      <a:pt x="0" y="0"/>
                    </a:moveTo>
                    <a:lnTo>
                      <a:pt x="92869" y="0"/>
                    </a:lnTo>
                    <a:lnTo>
                      <a:pt x="92869" y="30956"/>
                    </a:lnTo>
                    <a:lnTo>
                      <a:pt x="0" y="30956"/>
                    </a:lnTo>
                    <a:lnTo>
                      <a:pt x="0" y="0"/>
                    </a:lnTo>
                    <a:close/>
                  </a:path>
                </a:pathLst>
              </a:custGeom>
              <a:solidFill>
                <a:srgbClr val="1F2328"/>
              </a:solidFill>
              <a:ln>
                <a:noFill/>
              </a:ln>
            </p:spPr>
          </p:sp>
          <p:sp>
            <p:nvSpPr>
              <p:cNvPr id="23" name="Freeform 23"/>
              <p:cNvSpPr/>
              <p:nvPr/>
            </p:nvSpPr>
            <p:spPr>
              <a:xfrm>
                <a:off x="867966" y="3142059"/>
                <a:ext cx="46434" cy="30956"/>
              </a:xfrm>
              <a:custGeom>
                <a:avLst/>
                <a:gdLst/>
                <a:ahLst/>
                <a:cxnLst/>
                <a:rect l="l" t="t" r="r" b="b"/>
                <a:pathLst>
                  <a:path w="46434" h="30956">
                    <a:moveTo>
                      <a:pt x="46434" y="0"/>
                    </a:moveTo>
                    <a:lnTo>
                      <a:pt x="0" y="0"/>
                    </a:lnTo>
                    <a:lnTo>
                      <a:pt x="0" y="30956"/>
                    </a:lnTo>
                    <a:lnTo>
                      <a:pt x="46434" y="30956"/>
                    </a:lnTo>
                    <a:lnTo>
                      <a:pt x="46434" y="0"/>
                    </a:lnTo>
                    <a:close/>
                  </a:path>
                </a:pathLst>
              </a:custGeom>
              <a:solidFill>
                <a:srgbClr val="1F2328"/>
              </a:solidFill>
              <a:ln>
                <a:noFill/>
              </a:ln>
            </p:spPr>
          </p:sp>
          <p:sp>
            <p:nvSpPr>
              <p:cNvPr id="24" name="Freeform 24"/>
              <p:cNvSpPr/>
              <p:nvPr/>
            </p:nvSpPr>
            <p:spPr>
              <a:xfrm>
                <a:off x="744141" y="3018234"/>
                <a:ext cx="30956" cy="30956"/>
              </a:xfrm>
              <a:custGeom>
                <a:avLst/>
                <a:gdLst/>
                <a:ahLst/>
                <a:cxnLst/>
                <a:rect l="l" t="t" r="r" b="b"/>
                <a:pathLst>
                  <a:path w="30956" h="30956">
                    <a:moveTo>
                      <a:pt x="30956" y="0"/>
                    </a:moveTo>
                    <a:lnTo>
                      <a:pt x="0" y="0"/>
                    </a:lnTo>
                    <a:lnTo>
                      <a:pt x="0" y="30956"/>
                    </a:lnTo>
                    <a:lnTo>
                      <a:pt x="30956" y="30956"/>
                    </a:lnTo>
                    <a:lnTo>
                      <a:pt x="30956" y="0"/>
                    </a:lnTo>
                    <a:close/>
                  </a:path>
                </a:pathLst>
              </a:custGeom>
              <a:solidFill>
                <a:srgbClr val="1F2328"/>
              </a:solidFill>
              <a:ln>
                <a:noFill/>
              </a:ln>
            </p:spPr>
          </p:sp>
          <p:sp>
            <p:nvSpPr>
              <p:cNvPr id="25" name="Freeform 25"/>
              <p:cNvSpPr/>
              <p:nvPr/>
            </p:nvSpPr>
            <p:spPr>
              <a:xfrm>
                <a:off x="806053" y="3018234"/>
                <a:ext cx="30956" cy="30956"/>
              </a:xfrm>
              <a:custGeom>
                <a:avLst/>
                <a:gdLst/>
                <a:ahLst/>
                <a:cxnLst/>
                <a:rect l="l" t="t" r="r" b="b"/>
                <a:pathLst>
                  <a:path w="30956" h="30956">
                    <a:moveTo>
                      <a:pt x="0" y="0"/>
                    </a:moveTo>
                    <a:lnTo>
                      <a:pt x="30956" y="0"/>
                    </a:lnTo>
                    <a:lnTo>
                      <a:pt x="30956" y="30956"/>
                    </a:lnTo>
                    <a:lnTo>
                      <a:pt x="0" y="30956"/>
                    </a:lnTo>
                    <a:lnTo>
                      <a:pt x="0" y="0"/>
                    </a:lnTo>
                    <a:close/>
                  </a:path>
                </a:pathLst>
              </a:custGeom>
              <a:solidFill>
                <a:srgbClr val="1F2328"/>
              </a:solidFill>
              <a:ln>
                <a:noFill/>
              </a:ln>
            </p:spPr>
          </p:sp>
          <p:sp>
            <p:nvSpPr>
              <p:cNvPr id="26" name="Freeform 26"/>
              <p:cNvSpPr/>
              <p:nvPr/>
            </p:nvSpPr>
            <p:spPr>
              <a:xfrm>
                <a:off x="867966" y="3018234"/>
                <a:ext cx="46434" cy="30956"/>
              </a:xfrm>
              <a:custGeom>
                <a:avLst/>
                <a:gdLst/>
                <a:ahLst/>
                <a:cxnLst/>
                <a:rect l="l" t="t" r="r" b="b"/>
                <a:pathLst>
                  <a:path w="46434" h="30956">
                    <a:moveTo>
                      <a:pt x="46434" y="0"/>
                    </a:moveTo>
                    <a:lnTo>
                      <a:pt x="0" y="0"/>
                    </a:lnTo>
                    <a:lnTo>
                      <a:pt x="0" y="30956"/>
                    </a:lnTo>
                    <a:lnTo>
                      <a:pt x="46434" y="30956"/>
                    </a:lnTo>
                    <a:lnTo>
                      <a:pt x="46434" y="0"/>
                    </a:lnTo>
                    <a:close/>
                  </a:path>
                </a:pathLst>
              </a:custGeom>
              <a:solidFill>
                <a:srgbClr val="1F2328"/>
              </a:solidFill>
              <a:ln>
                <a:noFill/>
              </a:ln>
            </p:spPr>
          </p:sp>
          <p:sp>
            <p:nvSpPr>
              <p:cNvPr id="27" name="Freeform 27"/>
              <p:cNvSpPr/>
              <p:nvPr/>
            </p:nvSpPr>
            <p:spPr>
              <a:xfrm>
                <a:off x="666750" y="3080147"/>
                <a:ext cx="46434" cy="30956"/>
              </a:xfrm>
              <a:custGeom>
                <a:avLst/>
                <a:gdLst/>
                <a:ahLst/>
                <a:cxnLst/>
                <a:rect l="l" t="t" r="r" b="b"/>
                <a:pathLst>
                  <a:path w="46434" h="30956">
                    <a:moveTo>
                      <a:pt x="0" y="0"/>
                    </a:moveTo>
                    <a:lnTo>
                      <a:pt x="46434" y="0"/>
                    </a:lnTo>
                    <a:lnTo>
                      <a:pt x="46434" y="30956"/>
                    </a:lnTo>
                    <a:lnTo>
                      <a:pt x="0" y="30956"/>
                    </a:lnTo>
                    <a:lnTo>
                      <a:pt x="0" y="0"/>
                    </a:lnTo>
                    <a:close/>
                  </a:path>
                </a:pathLst>
              </a:custGeom>
              <a:solidFill>
                <a:srgbClr val="1F2328"/>
              </a:solidFill>
              <a:ln>
                <a:noFill/>
              </a:ln>
            </p:spPr>
          </p:sp>
          <p:sp>
            <p:nvSpPr>
              <p:cNvPr id="28" name="Freeform 28"/>
              <p:cNvSpPr/>
              <p:nvPr/>
            </p:nvSpPr>
            <p:spPr>
              <a:xfrm>
                <a:off x="744141" y="3080147"/>
                <a:ext cx="30956" cy="30956"/>
              </a:xfrm>
              <a:custGeom>
                <a:avLst/>
                <a:gdLst/>
                <a:ahLst/>
                <a:cxnLst/>
                <a:rect l="l" t="t" r="r" b="b"/>
                <a:pathLst>
                  <a:path w="30956" h="30956">
                    <a:moveTo>
                      <a:pt x="30956" y="0"/>
                    </a:moveTo>
                    <a:lnTo>
                      <a:pt x="0" y="0"/>
                    </a:lnTo>
                    <a:lnTo>
                      <a:pt x="0" y="30956"/>
                    </a:lnTo>
                    <a:lnTo>
                      <a:pt x="30956" y="30956"/>
                    </a:lnTo>
                    <a:lnTo>
                      <a:pt x="30956" y="0"/>
                    </a:lnTo>
                    <a:close/>
                  </a:path>
                </a:pathLst>
              </a:custGeom>
              <a:solidFill>
                <a:srgbClr val="1F2328"/>
              </a:solidFill>
              <a:ln>
                <a:noFill/>
              </a:ln>
            </p:spPr>
          </p:sp>
          <p:sp>
            <p:nvSpPr>
              <p:cNvPr id="29" name="Freeform 29"/>
              <p:cNvSpPr/>
              <p:nvPr/>
            </p:nvSpPr>
            <p:spPr>
              <a:xfrm>
                <a:off x="806053" y="3080147"/>
                <a:ext cx="30956" cy="30956"/>
              </a:xfrm>
              <a:custGeom>
                <a:avLst/>
                <a:gdLst/>
                <a:ahLst/>
                <a:cxnLst/>
                <a:rect l="l" t="t" r="r" b="b"/>
                <a:pathLst>
                  <a:path w="30956" h="30956">
                    <a:moveTo>
                      <a:pt x="0" y="0"/>
                    </a:moveTo>
                    <a:lnTo>
                      <a:pt x="30956" y="0"/>
                    </a:lnTo>
                    <a:lnTo>
                      <a:pt x="30956" y="30956"/>
                    </a:lnTo>
                    <a:lnTo>
                      <a:pt x="0" y="30956"/>
                    </a:lnTo>
                    <a:lnTo>
                      <a:pt x="0" y="0"/>
                    </a:lnTo>
                    <a:close/>
                  </a:path>
                </a:pathLst>
              </a:custGeom>
              <a:solidFill>
                <a:srgbClr val="1F2328"/>
              </a:solidFill>
              <a:ln>
                <a:noFill/>
              </a:ln>
            </p:spPr>
          </p:sp>
          <p:sp>
            <p:nvSpPr>
              <p:cNvPr id="30" name="Freeform 30"/>
              <p:cNvSpPr/>
              <p:nvPr/>
            </p:nvSpPr>
            <p:spPr>
              <a:xfrm>
                <a:off x="867966" y="3080147"/>
                <a:ext cx="46434" cy="30956"/>
              </a:xfrm>
              <a:custGeom>
                <a:avLst/>
                <a:gdLst/>
                <a:ahLst/>
                <a:cxnLst/>
                <a:rect l="l" t="t" r="r" b="b"/>
                <a:pathLst>
                  <a:path w="46434" h="30956">
                    <a:moveTo>
                      <a:pt x="46434" y="0"/>
                    </a:moveTo>
                    <a:lnTo>
                      <a:pt x="0" y="0"/>
                    </a:lnTo>
                    <a:lnTo>
                      <a:pt x="0" y="30956"/>
                    </a:lnTo>
                    <a:lnTo>
                      <a:pt x="46434" y="30956"/>
                    </a:lnTo>
                    <a:lnTo>
                      <a:pt x="46434" y="0"/>
                    </a:lnTo>
                    <a:close/>
                  </a:path>
                </a:pathLst>
              </a:custGeom>
              <a:solidFill>
                <a:srgbClr val="1F2328"/>
              </a:solidFill>
              <a:ln>
                <a:noFill/>
              </a:ln>
            </p:spPr>
          </p:sp>
        </p:grpSp>
        <p:sp>
          <p:nvSpPr>
            <p:cNvPr id="32" name="Freeform 32"/>
            <p:cNvSpPr/>
            <p:nvPr/>
          </p:nvSpPr>
          <p:spPr>
            <a:xfrm>
              <a:off x="1007269" y="2987278"/>
              <a:ext cx="247650" cy="201216"/>
            </a:xfrm>
            <a:custGeom>
              <a:avLst/>
              <a:gdLst/>
              <a:ahLst/>
              <a:cxnLst/>
              <a:rect l="l" t="t" r="r" b="b"/>
              <a:pathLst>
                <a:path w="247650" h="201216">
                  <a:moveTo>
                    <a:pt x="46434" y="30956"/>
                  </a:moveTo>
                  <a:lnTo>
                    <a:pt x="0" y="30956"/>
                  </a:lnTo>
                  <a:lnTo>
                    <a:pt x="0" y="201216"/>
                  </a:lnTo>
                  <a:lnTo>
                    <a:pt x="247650" y="201216"/>
                  </a:lnTo>
                  <a:lnTo>
                    <a:pt x="247650" y="30956"/>
                  </a:lnTo>
                  <a:lnTo>
                    <a:pt x="201216" y="30956"/>
                  </a:lnTo>
                  <a:lnTo>
                    <a:pt x="170259" y="0"/>
                  </a:lnTo>
                  <a:lnTo>
                    <a:pt x="77391" y="0"/>
                  </a:lnTo>
                  <a:lnTo>
                    <a:pt x="46434" y="30956"/>
                  </a:lnTo>
                  <a:close/>
                  <a:moveTo>
                    <a:pt x="123825" y="154781"/>
                  </a:moveTo>
                  <a:cubicBezTo>
                    <a:pt x="149470" y="154781"/>
                    <a:pt x="170259" y="133992"/>
                    <a:pt x="170259" y="108347"/>
                  </a:cubicBezTo>
                  <a:cubicBezTo>
                    <a:pt x="170259" y="82702"/>
                    <a:pt x="149470" y="61912"/>
                    <a:pt x="123825" y="61912"/>
                  </a:cubicBezTo>
                  <a:cubicBezTo>
                    <a:pt x="98180" y="61912"/>
                    <a:pt x="77391" y="82702"/>
                    <a:pt x="77391" y="108347"/>
                  </a:cubicBezTo>
                  <a:cubicBezTo>
                    <a:pt x="77391" y="133992"/>
                    <a:pt x="98180" y="154781"/>
                    <a:pt x="123825" y="154781"/>
                  </a:cubicBezTo>
                  <a:close/>
                </a:path>
              </a:pathLst>
            </a:custGeom>
            <a:solidFill>
              <a:srgbClr val="1F2328"/>
            </a:solidFill>
            <a:ln>
              <a:noFill/>
            </a:ln>
          </p:spPr>
        </p:sp>
        <p:grpSp>
          <p:nvGrpSpPr>
            <p:cNvPr id="144" name="组合 143">
              <a:extLst>
                <a:ext uri="{FF2B5EF4-FFF2-40B4-BE49-F238E27FC236}">
                  <a16:creationId xmlns:a16="http://schemas.microsoft.com/office/drawing/2014/main" id="{B5232F4D-B041-417D-8311-DBAE06136240}"/>
                </a:ext>
              </a:extLst>
            </p:cNvPr>
            <p:cNvGrpSpPr/>
            <p:nvPr/>
          </p:nvGrpSpPr>
          <p:grpSpPr>
            <a:xfrm>
              <a:off x="1347788" y="2971800"/>
              <a:ext cx="216694" cy="247650"/>
              <a:chOff x="1368028" y="2971800"/>
              <a:chExt cx="216694" cy="247650"/>
            </a:xfrm>
          </p:grpSpPr>
          <p:sp>
            <p:nvSpPr>
              <p:cNvPr id="34" name="Freeform 34"/>
              <p:cNvSpPr/>
              <p:nvPr/>
            </p:nvSpPr>
            <p:spPr>
              <a:xfrm>
                <a:off x="1429941" y="2971800"/>
                <a:ext cx="92869" cy="154781"/>
              </a:xfrm>
              <a:custGeom>
                <a:avLst/>
                <a:gdLst/>
                <a:ahLst/>
                <a:cxnLst/>
                <a:rect l="l" t="t" r="r" b="b"/>
                <a:pathLst>
                  <a:path w="92869" h="154781">
                    <a:moveTo>
                      <a:pt x="0" y="46434"/>
                    </a:moveTo>
                    <a:cubicBezTo>
                      <a:pt x="0" y="20789"/>
                      <a:pt x="20789" y="0"/>
                      <a:pt x="46434" y="0"/>
                    </a:cubicBezTo>
                    <a:cubicBezTo>
                      <a:pt x="72079" y="0"/>
                      <a:pt x="92869" y="20789"/>
                      <a:pt x="92869" y="46434"/>
                    </a:cubicBezTo>
                    <a:lnTo>
                      <a:pt x="92869" y="108347"/>
                    </a:lnTo>
                    <a:cubicBezTo>
                      <a:pt x="92869" y="133992"/>
                      <a:pt x="72079" y="154781"/>
                      <a:pt x="46434" y="154781"/>
                    </a:cubicBezTo>
                    <a:cubicBezTo>
                      <a:pt x="20789" y="154781"/>
                      <a:pt x="0" y="133992"/>
                      <a:pt x="0" y="108347"/>
                    </a:cubicBezTo>
                    <a:lnTo>
                      <a:pt x="0" y="46434"/>
                    </a:lnTo>
                    <a:close/>
                  </a:path>
                </a:pathLst>
              </a:custGeom>
              <a:solidFill>
                <a:srgbClr val="1F2328"/>
              </a:solidFill>
              <a:ln>
                <a:noFill/>
              </a:ln>
            </p:spPr>
          </p:sp>
          <p:sp>
            <p:nvSpPr>
              <p:cNvPr id="35" name="Freeform 35"/>
              <p:cNvSpPr/>
              <p:nvPr/>
            </p:nvSpPr>
            <p:spPr>
              <a:xfrm>
                <a:off x="1368028" y="3064669"/>
                <a:ext cx="216694" cy="154781"/>
              </a:xfrm>
              <a:custGeom>
                <a:avLst/>
                <a:gdLst/>
                <a:ahLst/>
                <a:cxnLst/>
                <a:rect l="l" t="t" r="r" b="b"/>
                <a:pathLst>
                  <a:path w="216694" h="154781">
                    <a:moveTo>
                      <a:pt x="123825" y="122728"/>
                    </a:moveTo>
                    <a:lnTo>
                      <a:pt x="123825" y="154781"/>
                    </a:lnTo>
                    <a:lnTo>
                      <a:pt x="92869" y="154781"/>
                    </a:lnTo>
                    <a:lnTo>
                      <a:pt x="92869" y="122728"/>
                    </a:lnTo>
                    <a:cubicBezTo>
                      <a:pt x="40362" y="115218"/>
                      <a:pt x="0" y="70062"/>
                      <a:pt x="0" y="15478"/>
                    </a:cubicBezTo>
                    <a:lnTo>
                      <a:pt x="0" y="0"/>
                    </a:lnTo>
                    <a:lnTo>
                      <a:pt x="30956" y="0"/>
                    </a:lnTo>
                    <a:lnTo>
                      <a:pt x="30956" y="15478"/>
                    </a:lnTo>
                    <a:cubicBezTo>
                      <a:pt x="30956" y="58220"/>
                      <a:pt x="65605" y="92869"/>
                      <a:pt x="108347" y="92869"/>
                    </a:cubicBezTo>
                    <a:cubicBezTo>
                      <a:pt x="151088" y="92869"/>
                      <a:pt x="185738" y="58220"/>
                      <a:pt x="185738" y="15478"/>
                    </a:cubicBezTo>
                    <a:lnTo>
                      <a:pt x="185738" y="0"/>
                    </a:lnTo>
                    <a:lnTo>
                      <a:pt x="216694" y="0"/>
                    </a:lnTo>
                    <a:lnTo>
                      <a:pt x="216694" y="15478"/>
                    </a:lnTo>
                    <a:cubicBezTo>
                      <a:pt x="216694" y="70062"/>
                      <a:pt x="176331" y="115218"/>
                      <a:pt x="123825" y="122728"/>
                    </a:cubicBezTo>
                    <a:close/>
                  </a:path>
                </a:pathLst>
              </a:custGeom>
              <a:solidFill>
                <a:srgbClr val="1F2328"/>
              </a:solidFill>
              <a:ln>
                <a:noFill/>
              </a:ln>
            </p:spPr>
          </p:sp>
        </p:grpSp>
        <p:sp>
          <p:nvSpPr>
            <p:cNvPr id="38" name="Freeform 38"/>
            <p:cNvSpPr/>
            <p:nvPr/>
          </p:nvSpPr>
          <p:spPr>
            <a:xfrm>
              <a:off x="1657350" y="3002756"/>
              <a:ext cx="247650" cy="185738"/>
            </a:xfrm>
            <a:custGeom>
              <a:avLst/>
              <a:gdLst/>
              <a:ahLst/>
              <a:cxnLst/>
              <a:rect l="l" t="t" r="r" b="b"/>
              <a:pathLst>
                <a:path w="247650" h="185738">
                  <a:moveTo>
                    <a:pt x="247650" y="0"/>
                  </a:moveTo>
                  <a:lnTo>
                    <a:pt x="0" y="0"/>
                  </a:lnTo>
                  <a:lnTo>
                    <a:pt x="0" y="185738"/>
                  </a:lnTo>
                  <a:lnTo>
                    <a:pt x="247650" y="185738"/>
                  </a:lnTo>
                  <a:lnTo>
                    <a:pt x="247650" y="0"/>
                  </a:lnTo>
                  <a:close/>
                  <a:moveTo>
                    <a:pt x="100608" y="46434"/>
                  </a:moveTo>
                  <a:lnTo>
                    <a:pt x="100608" y="139303"/>
                  </a:lnTo>
                  <a:lnTo>
                    <a:pt x="116086" y="139303"/>
                  </a:lnTo>
                  <a:lnTo>
                    <a:pt x="170259" y="92869"/>
                  </a:lnTo>
                  <a:lnTo>
                    <a:pt x="116086" y="46434"/>
                  </a:lnTo>
                  <a:lnTo>
                    <a:pt x="100608" y="46434"/>
                  </a:lnTo>
                  <a:close/>
                </a:path>
              </a:pathLst>
            </a:custGeom>
            <a:solidFill>
              <a:srgbClr val="1F2328"/>
            </a:solidFill>
            <a:ln>
              <a:noFill/>
            </a:ln>
          </p:spPr>
        </p:sp>
      </p:grpSp>
      <p:grpSp>
        <p:nvGrpSpPr>
          <p:cNvPr id="146" name="组合 145">
            <a:extLst>
              <a:ext uri="{FF2B5EF4-FFF2-40B4-BE49-F238E27FC236}">
                <a16:creationId xmlns:a16="http://schemas.microsoft.com/office/drawing/2014/main" id="{1E4C450F-2EAE-4946-9D4A-DAFE91D5EB56}"/>
              </a:ext>
            </a:extLst>
          </p:cNvPr>
          <p:cNvGrpSpPr/>
          <p:nvPr/>
        </p:nvGrpSpPr>
        <p:grpSpPr>
          <a:xfrm>
            <a:off x="687800" y="3969544"/>
            <a:ext cx="1591151" cy="617220"/>
            <a:chOff x="730568" y="3476149"/>
            <a:chExt cx="1591151" cy="617220"/>
          </a:xfrm>
        </p:grpSpPr>
        <p:sp>
          <p:nvSpPr>
            <p:cNvPr id="40" name="TextBox 40"/>
            <p:cNvSpPr txBox="1"/>
            <p:nvPr/>
          </p:nvSpPr>
          <p:spPr>
            <a:xfrm>
              <a:off x="730568" y="3476149"/>
              <a:ext cx="1448752"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通过对话框打字或上传</a:t>
              </a:r>
            </a:p>
          </p:txBody>
        </p:sp>
        <p:sp>
          <p:nvSpPr>
            <p:cNvPr id="41" name="TextBox 41"/>
            <p:cNvSpPr txBox="1"/>
            <p:nvPr/>
          </p:nvSpPr>
          <p:spPr>
            <a:xfrm>
              <a:off x="730568" y="3685699"/>
              <a:ext cx="1591151"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多模态数据（文本消息、</a:t>
              </a:r>
            </a:p>
          </p:txBody>
        </p:sp>
        <p:sp>
          <p:nvSpPr>
            <p:cNvPr id="42" name="TextBox 42"/>
            <p:cNvSpPr txBox="1"/>
            <p:nvPr/>
          </p:nvSpPr>
          <p:spPr>
            <a:xfrm>
              <a:off x="730568" y="3895249"/>
              <a:ext cx="1448752"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图片、视频、语音）。</a:t>
              </a:r>
            </a:p>
          </p:txBody>
        </p:sp>
      </p:grpSp>
      <p:sp>
        <p:nvSpPr>
          <p:cNvPr id="44" name="Rectangle 44"/>
          <p:cNvSpPr/>
          <p:nvPr/>
        </p:nvSpPr>
        <p:spPr>
          <a:xfrm>
            <a:off x="2392775" y="2414588"/>
            <a:ext cx="2800350" cy="2743200"/>
          </a:xfrm>
          <a:prstGeom prst="roundRect">
            <a:avLst>
              <a:gd name="adj" fmla="val 4167"/>
            </a:avLst>
          </a:prstGeom>
          <a:solidFill>
            <a:srgbClr val="FFFFFF"/>
          </a:solidFill>
          <a:ln w="14288">
            <a:solidFill>
              <a:srgbClr val="E4E7EB"/>
            </a:solidFill>
          </a:ln>
          <a:effectLst>
            <a:outerShdw blurRad="152400" dist="38100" dir="5400000" algn="ctr" rotWithShape="0">
              <a:srgbClr val="000000">
                <a:alpha val="7500"/>
              </a:srgbClr>
            </a:outerShdw>
          </a:effectLst>
        </p:spPr>
      </p:sp>
      <p:sp>
        <p:nvSpPr>
          <p:cNvPr id="45" name="Freeform 45"/>
          <p:cNvSpPr/>
          <p:nvPr/>
        </p:nvSpPr>
        <p:spPr>
          <a:xfrm>
            <a:off x="2623756" y="2734628"/>
            <a:ext cx="242888" cy="93107"/>
          </a:xfrm>
          <a:custGeom>
            <a:avLst/>
            <a:gdLst/>
            <a:ahLst/>
            <a:cxnLst/>
            <a:rect l="l" t="t" r="r" b="b"/>
            <a:pathLst>
              <a:path w="242888" h="93107">
                <a:moveTo>
                  <a:pt x="225422" y="10326"/>
                </a:moveTo>
                <a:cubicBezTo>
                  <a:pt x="231116" y="7479"/>
                  <a:pt x="237064" y="4044"/>
                  <a:pt x="242888" y="0"/>
                </a:cubicBezTo>
                <a:lnTo>
                  <a:pt x="242888" y="32385"/>
                </a:lnTo>
                <a:cubicBezTo>
                  <a:pt x="242888" y="65920"/>
                  <a:pt x="188515" y="93107"/>
                  <a:pt x="121444" y="93107"/>
                </a:cubicBezTo>
                <a:cubicBezTo>
                  <a:pt x="54372" y="93107"/>
                  <a:pt x="0" y="65920"/>
                  <a:pt x="0" y="32385"/>
                </a:cubicBezTo>
                <a:lnTo>
                  <a:pt x="0" y="0"/>
                </a:lnTo>
                <a:cubicBezTo>
                  <a:pt x="5824" y="4044"/>
                  <a:pt x="11772" y="7479"/>
                  <a:pt x="17466" y="10326"/>
                </a:cubicBezTo>
                <a:cubicBezTo>
                  <a:pt x="46168" y="24677"/>
                  <a:pt x="82986" y="32385"/>
                  <a:pt x="121444" y="32385"/>
                </a:cubicBezTo>
                <a:cubicBezTo>
                  <a:pt x="159901" y="32385"/>
                  <a:pt x="196719" y="24677"/>
                  <a:pt x="225422" y="10326"/>
                </a:cubicBezTo>
                <a:close/>
              </a:path>
            </a:pathLst>
          </a:custGeom>
          <a:solidFill>
            <a:srgbClr val="1F2328"/>
          </a:solidFill>
          <a:ln>
            <a:noFill/>
          </a:ln>
        </p:spPr>
      </p:sp>
      <p:sp>
        <p:nvSpPr>
          <p:cNvPr id="46" name="Freeform 46"/>
          <p:cNvSpPr/>
          <p:nvPr/>
        </p:nvSpPr>
        <p:spPr>
          <a:xfrm>
            <a:off x="2623756" y="2835831"/>
            <a:ext cx="242888" cy="93107"/>
          </a:xfrm>
          <a:custGeom>
            <a:avLst/>
            <a:gdLst/>
            <a:ahLst/>
            <a:cxnLst/>
            <a:rect l="l" t="t" r="r" b="b"/>
            <a:pathLst>
              <a:path w="242888" h="93107">
                <a:moveTo>
                  <a:pt x="0" y="0"/>
                </a:moveTo>
                <a:lnTo>
                  <a:pt x="0" y="32385"/>
                </a:lnTo>
                <a:cubicBezTo>
                  <a:pt x="0" y="65922"/>
                  <a:pt x="54372" y="93107"/>
                  <a:pt x="121444" y="93107"/>
                </a:cubicBezTo>
                <a:cubicBezTo>
                  <a:pt x="188515" y="93107"/>
                  <a:pt x="242888" y="65922"/>
                  <a:pt x="242888" y="32385"/>
                </a:cubicBezTo>
                <a:lnTo>
                  <a:pt x="242888" y="0"/>
                </a:lnTo>
                <a:cubicBezTo>
                  <a:pt x="237064" y="4044"/>
                  <a:pt x="231116" y="7479"/>
                  <a:pt x="225422" y="10327"/>
                </a:cubicBezTo>
                <a:cubicBezTo>
                  <a:pt x="196719" y="24677"/>
                  <a:pt x="159901" y="32385"/>
                  <a:pt x="121444" y="32385"/>
                </a:cubicBezTo>
                <a:cubicBezTo>
                  <a:pt x="82986" y="32385"/>
                  <a:pt x="46168" y="24677"/>
                  <a:pt x="17466" y="10327"/>
                </a:cubicBezTo>
                <a:cubicBezTo>
                  <a:pt x="11772" y="7479"/>
                  <a:pt x="5824" y="4044"/>
                  <a:pt x="0" y="0"/>
                </a:cubicBezTo>
                <a:close/>
              </a:path>
            </a:pathLst>
          </a:custGeom>
          <a:solidFill>
            <a:srgbClr val="1F2328"/>
          </a:solidFill>
          <a:ln>
            <a:noFill/>
          </a:ln>
        </p:spPr>
      </p:sp>
      <p:sp>
        <p:nvSpPr>
          <p:cNvPr id="47" name="Freeform 47"/>
          <p:cNvSpPr/>
          <p:nvPr/>
        </p:nvSpPr>
        <p:spPr>
          <a:xfrm>
            <a:off x="2623756" y="2605088"/>
            <a:ext cx="242888" cy="121444"/>
          </a:xfrm>
          <a:custGeom>
            <a:avLst/>
            <a:gdLst/>
            <a:ahLst/>
            <a:cxnLst/>
            <a:rect l="l" t="t" r="r" b="b"/>
            <a:pathLst>
              <a:path w="242888" h="121444">
                <a:moveTo>
                  <a:pt x="121444" y="0"/>
                </a:moveTo>
                <a:cubicBezTo>
                  <a:pt x="188515" y="0"/>
                  <a:pt x="242888" y="27186"/>
                  <a:pt x="242888" y="60722"/>
                </a:cubicBezTo>
                <a:cubicBezTo>
                  <a:pt x="242888" y="94258"/>
                  <a:pt x="188515" y="121444"/>
                  <a:pt x="121444" y="121444"/>
                </a:cubicBezTo>
                <a:cubicBezTo>
                  <a:pt x="54372" y="121444"/>
                  <a:pt x="0" y="94258"/>
                  <a:pt x="0" y="60722"/>
                </a:cubicBezTo>
                <a:cubicBezTo>
                  <a:pt x="0" y="27186"/>
                  <a:pt x="54372" y="0"/>
                  <a:pt x="121444" y="0"/>
                </a:cubicBezTo>
                <a:close/>
              </a:path>
            </a:pathLst>
          </a:custGeom>
          <a:solidFill>
            <a:srgbClr val="1F2328"/>
          </a:solidFill>
          <a:ln>
            <a:noFill/>
          </a:ln>
        </p:spPr>
      </p:sp>
      <p:sp>
        <p:nvSpPr>
          <p:cNvPr id="51" name="TextBox 51"/>
          <p:cNvSpPr txBox="1"/>
          <p:nvPr/>
        </p:nvSpPr>
        <p:spPr>
          <a:xfrm>
            <a:off x="3005233" y="2543652"/>
            <a:ext cx="1401056" cy="259080"/>
          </a:xfrm>
          <a:prstGeom prst="rect">
            <a:avLst/>
          </a:prstGeom>
          <a:noFill/>
          <a:ln>
            <a:noFill/>
          </a:ln>
        </p:spPr>
        <p:txBody>
          <a:bodyPr wrap="none" lIns="0" tIns="0" rIns="0" bIns="0" anchor="t" anchorCtr="0">
            <a:spAutoFit/>
          </a:bodyPr>
          <a:lstStyle/>
          <a:p>
            <a:pPr algn="l"/>
            <a:r>
              <a:rPr lang="zh-CN" sz="1275" b="1" dirty="0">
                <a:solidFill>
                  <a:srgbClr val="1F2328"/>
                </a:solidFill>
                <a:latin typeface="Arial"/>
                <a:ea typeface="SimHei"/>
                <a:cs typeface="Arial"/>
              </a:rPr>
              <a:t>触发向量增强检</a:t>
            </a:r>
          </a:p>
        </p:txBody>
      </p:sp>
      <p:sp>
        <p:nvSpPr>
          <p:cNvPr id="52" name="TextBox 52"/>
          <p:cNvSpPr txBox="1"/>
          <p:nvPr/>
        </p:nvSpPr>
        <p:spPr>
          <a:xfrm>
            <a:off x="3005233" y="2753202"/>
            <a:ext cx="941574" cy="259080"/>
          </a:xfrm>
          <a:prstGeom prst="rect">
            <a:avLst/>
          </a:prstGeom>
          <a:noFill/>
          <a:ln>
            <a:noFill/>
          </a:ln>
        </p:spPr>
        <p:txBody>
          <a:bodyPr wrap="none" lIns="0" tIns="0" rIns="0" bIns="0" anchor="t" anchorCtr="0">
            <a:spAutoFit/>
          </a:bodyPr>
          <a:lstStyle/>
          <a:p>
            <a:pPr algn="l"/>
            <a:r>
              <a:rPr lang="zh-CN" sz="1275" b="1" dirty="0">
                <a:solidFill>
                  <a:srgbClr val="1F2328"/>
                </a:solidFill>
                <a:latin typeface="Arial"/>
                <a:ea typeface="SimHei"/>
                <a:cs typeface="Arial"/>
              </a:rPr>
              <a:t>索（RAG）</a:t>
            </a:r>
          </a:p>
        </p:txBody>
      </p:sp>
      <p:sp>
        <p:nvSpPr>
          <p:cNvPr id="53" name="Freeform 53"/>
          <p:cNvSpPr/>
          <p:nvPr/>
        </p:nvSpPr>
        <p:spPr>
          <a:xfrm>
            <a:off x="4697825" y="2624138"/>
            <a:ext cx="304800" cy="304800"/>
          </a:xfrm>
          <a:custGeom>
            <a:avLst/>
            <a:gdLst/>
            <a:ahLst/>
            <a:cxnLst/>
            <a:rect l="l" t="t" r="r" b="b"/>
            <a:pathLst>
              <a:path w="304800" h="304800">
                <a:moveTo>
                  <a:pt x="155624" y="38145"/>
                </a:moveTo>
                <a:cubicBezTo>
                  <a:pt x="154553" y="38115"/>
                  <a:pt x="153478" y="38100"/>
                  <a:pt x="152400" y="38100"/>
                </a:cubicBezTo>
                <a:cubicBezTo>
                  <a:pt x="89274" y="38100"/>
                  <a:pt x="38100" y="89274"/>
                  <a:pt x="38100" y="152400"/>
                </a:cubicBezTo>
                <a:cubicBezTo>
                  <a:pt x="38100" y="215526"/>
                  <a:pt x="89274" y="266700"/>
                  <a:pt x="152400" y="266700"/>
                </a:cubicBezTo>
                <a:cubicBezTo>
                  <a:pt x="215526" y="266700"/>
                  <a:pt x="266700" y="215526"/>
                  <a:pt x="266700" y="152400"/>
                </a:cubicBezTo>
                <a:cubicBezTo>
                  <a:pt x="266700" y="151322"/>
                  <a:pt x="266685" y="150247"/>
                  <a:pt x="266656" y="149176"/>
                </a:cubicBezTo>
                <a:lnTo>
                  <a:pt x="300308" y="115523"/>
                </a:lnTo>
                <a:cubicBezTo>
                  <a:pt x="303242" y="127332"/>
                  <a:pt x="304800" y="139684"/>
                  <a:pt x="304800" y="152400"/>
                </a:cubicBezTo>
                <a:cubicBezTo>
                  <a:pt x="304800" y="236569"/>
                  <a:pt x="236569" y="304800"/>
                  <a:pt x="152400" y="304800"/>
                </a:cubicBezTo>
                <a:cubicBezTo>
                  <a:pt x="68232" y="304800"/>
                  <a:pt x="0" y="236569"/>
                  <a:pt x="0" y="152400"/>
                </a:cubicBezTo>
                <a:cubicBezTo>
                  <a:pt x="0" y="68232"/>
                  <a:pt x="68232" y="0"/>
                  <a:pt x="152400" y="0"/>
                </a:cubicBezTo>
                <a:cubicBezTo>
                  <a:pt x="165116" y="0"/>
                  <a:pt x="177468" y="1557"/>
                  <a:pt x="189277" y="4492"/>
                </a:cubicBezTo>
                <a:lnTo>
                  <a:pt x="155624" y="38145"/>
                </a:lnTo>
                <a:close/>
              </a:path>
            </a:pathLst>
          </a:custGeom>
          <a:solidFill>
            <a:srgbClr val="A50021"/>
          </a:solidFill>
          <a:ln>
            <a:noFill/>
          </a:ln>
        </p:spPr>
      </p:sp>
      <p:sp>
        <p:nvSpPr>
          <p:cNvPr id="54" name="Freeform 54"/>
          <p:cNvSpPr/>
          <p:nvPr/>
        </p:nvSpPr>
        <p:spPr>
          <a:xfrm>
            <a:off x="4774025" y="2702738"/>
            <a:ext cx="150000" cy="150000"/>
          </a:xfrm>
          <a:custGeom>
            <a:avLst/>
            <a:gdLst/>
            <a:ahLst/>
            <a:cxnLst/>
            <a:rect l="l" t="t" r="r" b="b"/>
            <a:pathLst>
              <a:path w="150000" h="150000">
                <a:moveTo>
                  <a:pt x="0" y="73799"/>
                </a:moveTo>
                <a:cubicBezTo>
                  <a:pt x="0" y="38293"/>
                  <a:pt x="24284" y="8459"/>
                  <a:pt x="57150" y="0"/>
                </a:cubicBezTo>
                <a:lnTo>
                  <a:pt x="57150" y="40796"/>
                </a:lnTo>
                <a:cubicBezTo>
                  <a:pt x="45762" y="47384"/>
                  <a:pt x="38100" y="59697"/>
                  <a:pt x="38100" y="73799"/>
                </a:cubicBezTo>
                <a:cubicBezTo>
                  <a:pt x="38100" y="94841"/>
                  <a:pt x="55158" y="111899"/>
                  <a:pt x="76200" y="111899"/>
                </a:cubicBezTo>
                <a:cubicBezTo>
                  <a:pt x="90302" y="111899"/>
                  <a:pt x="102615" y="104237"/>
                  <a:pt x="109203" y="92849"/>
                </a:cubicBezTo>
                <a:lnTo>
                  <a:pt x="150000" y="92849"/>
                </a:lnTo>
                <a:cubicBezTo>
                  <a:pt x="141540" y="125715"/>
                  <a:pt x="111706" y="150000"/>
                  <a:pt x="76200" y="150000"/>
                </a:cubicBezTo>
                <a:cubicBezTo>
                  <a:pt x="34116" y="150000"/>
                  <a:pt x="0" y="115883"/>
                  <a:pt x="0" y="73799"/>
                </a:cubicBezTo>
                <a:close/>
              </a:path>
            </a:pathLst>
          </a:custGeom>
          <a:solidFill>
            <a:srgbClr val="A50021"/>
          </a:solidFill>
          <a:ln>
            <a:noFill/>
          </a:ln>
        </p:spPr>
      </p:sp>
      <p:sp>
        <p:nvSpPr>
          <p:cNvPr id="55" name="Freeform 55"/>
          <p:cNvSpPr/>
          <p:nvPr/>
        </p:nvSpPr>
        <p:spPr>
          <a:xfrm>
            <a:off x="4846280" y="2624138"/>
            <a:ext cx="156345" cy="156345"/>
          </a:xfrm>
          <a:custGeom>
            <a:avLst/>
            <a:gdLst/>
            <a:ahLst/>
            <a:cxnLst/>
            <a:rect l="l" t="t" r="r" b="b"/>
            <a:pathLst>
              <a:path w="156345" h="156345">
                <a:moveTo>
                  <a:pt x="118245" y="38100"/>
                </a:moveTo>
                <a:lnTo>
                  <a:pt x="99195" y="0"/>
                </a:lnTo>
                <a:lnTo>
                  <a:pt x="42045" y="57150"/>
                </a:lnTo>
                <a:lnTo>
                  <a:pt x="42045" y="87359"/>
                </a:lnTo>
                <a:lnTo>
                  <a:pt x="0" y="129405"/>
                </a:lnTo>
                <a:lnTo>
                  <a:pt x="26941" y="156345"/>
                </a:lnTo>
                <a:lnTo>
                  <a:pt x="68986" y="114300"/>
                </a:lnTo>
                <a:lnTo>
                  <a:pt x="99195" y="114300"/>
                </a:lnTo>
                <a:lnTo>
                  <a:pt x="156345" y="57150"/>
                </a:lnTo>
                <a:lnTo>
                  <a:pt x="118245" y="38100"/>
                </a:lnTo>
                <a:close/>
              </a:path>
            </a:pathLst>
          </a:custGeom>
          <a:solidFill>
            <a:srgbClr val="A50021"/>
          </a:solidFill>
          <a:ln>
            <a:noFill/>
          </a:ln>
        </p:spPr>
      </p:sp>
      <p:sp>
        <p:nvSpPr>
          <p:cNvPr id="57" name="Line 57"/>
          <p:cNvSpPr/>
          <p:nvPr/>
        </p:nvSpPr>
        <p:spPr>
          <a:xfrm>
            <a:off x="2602325" y="3119438"/>
            <a:ext cx="2381250" cy="9525"/>
          </a:xfrm>
          <a:custGeom>
            <a:avLst/>
            <a:gdLst/>
            <a:ahLst/>
            <a:cxnLst/>
            <a:rect l="l" t="t" r="r" b="b"/>
            <a:pathLst>
              <a:path w="2381250" h="9525">
                <a:moveTo>
                  <a:pt x="0" y="0"/>
                </a:moveTo>
                <a:lnTo>
                  <a:pt x="2381250" y="0"/>
                </a:lnTo>
              </a:path>
            </a:pathLst>
          </a:custGeom>
          <a:noFill/>
          <a:ln w="19050">
            <a:solidFill>
              <a:srgbClr val="A50021"/>
            </a:solidFill>
          </a:ln>
        </p:spPr>
      </p:sp>
      <p:sp>
        <p:nvSpPr>
          <p:cNvPr id="58" name="Rectangle 58"/>
          <p:cNvSpPr/>
          <p:nvPr/>
        </p:nvSpPr>
        <p:spPr>
          <a:xfrm>
            <a:off x="2602325" y="3367088"/>
            <a:ext cx="1066800" cy="914400"/>
          </a:xfrm>
          <a:prstGeom prst="roundRect">
            <a:avLst>
              <a:gd name="adj" fmla="val 8333"/>
            </a:avLst>
          </a:prstGeom>
          <a:solidFill>
            <a:srgbClr val="F8F9FA"/>
          </a:solidFill>
          <a:ln w="11430">
            <a:solidFill>
              <a:srgbClr val="E4E7EB"/>
            </a:solidFill>
          </a:ln>
        </p:spPr>
      </p:sp>
      <p:sp>
        <p:nvSpPr>
          <p:cNvPr id="59" name="TextBox 59"/>
          <p:cNvSpPr txBox="1"/>
          <p:nvPr/>
        </p:nvSpPr>
        <p:spPr>
          <a:xfrm>
            <a:off x="2600027" y="3490437"/>
            <a:ext cx="1071396" cy="198120"/>
          </a:xfrm>
          <a:prstGeom prst="rect">
            <a:avLst/>
          </a:prstGeom>
          <a:noFill/>
          <a:ln>
            <a:noFill/>
          </a:ln>
        </p:spPr>
        <p:txBody>
          <a:bodyPr wrap="none" lIns="0" tIns="0" rIns="0" bIns="0" anchor="t" anchorCtr="0">
            <a:spAutoFit/>
          </a:bodyPr>
          <a:lstStyle/>
          <a:p>
            <a:pPr algn="ctr"/>
            <a:r>
              <a:rPr lang="zh-CN" sz="975" b="1" dirty="0">
                <a:solidFill>
                  <a:srgbClr val="1F2328"/>
                </a:solidFill>
                <a:latin typeface="Arial"/>
                <a:ea typeface="SimHei"/>
                <a:cs typeface="Arial"/>
              </a:rPr>
              <a:t>模态数据预处理</a:t>
            </a:r>
          </a:p>
        </p:txBody>
      </p:sp>
      <p:sp>
        <p:nvSpPr>
          <p:cNvPr id="60" name="TextBox 60"/>
          <p:cNvSpPr txBox="1"/>
          <p:nvPr/>
        </p:nvSpPr>
        <p:spPr>
          <a:xfrm>
            <a:off x="2375749" y="3661887"/>
            <a:ext cx="1519952" cy="198120"/>
          </a:xfrm>
          <a:prstGeom prst="rect">
            <a:avLst/>
          </a:prstGeom>
          <a:noFill/>
          <a:ln>
            <a:noFill/>
          </a:ln>
        </p:spPr>
        <p:txBody>
          <a:bodyPr wrap="none" lIns="0" tIns="0" rIns="0" bIns="0" anchor="t" anchorCtr="0">
            <a:spAutoFit/>
          </a:bodyPr>
          <a:lstStyle/>
          <a:p>
            <a:pPr algn="ctr"/>
            <a:r>
              <a:rPr lang="zh-CN" sz="975" b="1" dirty="0">
                <a:solidFill>
                  <a:srgbClr val="1F2328"/>
                </a:solidFill>
                <a:latin typeface="Arial"/>
                <a:ea typeface="SimHei"/>
                <a:cs typeface="Arial"/>
              </a:rPr>
              <a:t>（多模态数据向量化）</a:t>
            </a:r>
          </a:p>
        </p:txBody>
      </p:sp>
      <p:sp>
        <p:nvSpPr>
          <p:cNvPr id="61" name="Freeform 61"/>
          <p:cNvSpPr/>
          <p:nvPr/>
        </p:nvSpPr>
        <p:spPr>
          <a:xfrm>
            <a:off x="2823781" y="3900488"/>
            <a:ext cx="185738" cy="247650"/>
          </a:xfrm>
          <a:custGeom>
            <a:avLst/>
            <a:gdLst/>
            <a:ahLst/>
            <a:cxnLst/>
            <a:rect l="l" t="t" r="r" b="b"/>
            <a:pathLst>
              <a:path w="185738" h="247650">
                <a:moveTo>
                  <a:pt x="77391" y="0"/>
                </a:moveTo>
                <a:lnTo>
                  <a:pt x="0" y="0"/>
                </a:lnTo>
                <a:lnTo>
                  <a:pt x="0" y="247650"/>
                </a:lnTo>
                <a:lnTo>
                  <a:pt x="185738" y="247650"/>
                </a:lnTo>
                <a:lnTo>
                  <a:pt x="185738" y="108347"/>
                </a:lnTo>
                <a:lnTo>
                  <a:pt x="77391" y="108347"/>
                </a:lnTo>
                <a:lnTo>
                  <a:pt x="77391" y="0"/>
                </a:lnTo>
                <a:close/>
              </a:path>
            </a:pathLst>
          </a:custGeom>
          <a:solidFill>
            <a:srgbClr val="1F2328"/>
          </a:solidFill>
          <a:ln>
            <a:noFill/>
          </a:ln>
        </p:spPr>
      </p:sp>
      <p:sp>
        <p:nvSpPr>
          <p:cNvPr id="62" name="Freeform 62"/>
          <p:cNvSpPr/>
          <p:nvPr/>
        </p:nvSpPr>
        <p:spPr>
          <a:xfrm>
            <a:off x="2932128" y="3900488"/>
            <a:ext cx="77391" cy="77391"/>
          </a:xfrm>
          <a:custGeom>
            <a:avLst/>
            <a:gdLst/>
            <a:ahLst/>
            <a:cxnLst/>
            <a:rect l="l" t="t" r="r" b="b"/>
            <a:pathLst>
              <a:path w="77391" h="77391">
                <a:moveTo>
                  <a:pt x="0" y="0"/>
                </a:moveTo>
                <a:lnTo>
                  <a:pt x="0" y="77391"/>
                </a:lnTo>
                <a:lnTo>
                  <a:pt x="77391" y="77391"/>
                </a:lnTo>
                <a:lnTo>
                  <a:pt x="0" y="0"/>
                </a:lnTo>
                <a:close/>
              </a:path>
            </a:pathLst>
          </a:custGeom>
          <a:solidFill>
            <a:srgbClr val="1F2328"/>
          </a:solidFill>
          <a:ln>
            <a:noFill/>
          </a:ln>
        </p:spPr>
      </p:sp>
      <p:sp>
        <p:nvSpPr>
          <p:cNvPr id="64" name="Line 64"/>
          <p:cNvSpPr/>
          <p:nvPr/>
        </p:nvSpPr>
        <p:spPr>
          <a:xfrm>
            <a:off x="3078575" y="4024313"/>
            <a:ext cx="171450" cy="1"/>
          </a:xfrm>
          <a:prstGeom prst="line">
            <a:avLst/>
          </a:prstGeom>
          <a:noFill/>
          <a:ln w="19050">
            <a:solidFill>
              <a:srgbClr val="9AA0A6"/>
            </a:solidFill>
            <a:tailEnd type="triangle" w="lg" len="lg"/>
          </a:ln>
        </p:spPr>
      </p:sp>
      <p:sp>
        <p:nvSpPr>
          <p:cNvPr id="65" name="Polyline 65"/>
          <p:cNvSpPr/>
          <p:nvPr/>
        </p:nvSpPr>
        <p:spPr>
          <a:xfrm>
            <a:off x="3326225" y="3843338"/>
            <a:ext cx="266700" cy="285750"/>
          </a:xfrm>
          <a:custGeom>
            <a:avLst/>
            <a:gdLst/>
            <a:ahLst/>
            <a:cxnLst/>
            <a:rect l="l" t="t" r="r" b="b"/>
            <a:pathLst>
              <a:path w="266700" h="285750">
                <a:moveTo>
                  <a:pt x="0" y="285750"/>
                </a:moveTo>
                <a:lnTo>
                  <a:pt x="0" y="95250"/>
                </a:lnTo>
                <a:lnTo>
                  <a:pt x="133350" y="190500"/>
                </a:lnTo>
                <a:lnTo>
                  <a:pt x="266700" y="0"/>
                </a:lnTo>
              </a:path>
            </a:pathLst>
          </a:custGeom>
          <a:noFill/>
          <a:ln w="21908">
            <a:solidFill>
              <a:srgbClr val="A50021"/>
            </a:solidFill>
            <a:round/>
          </a:ln>
        </p:spPr>
      </p:sp>
      <p:sp>
        <p:nvSpPr>
          <p:cNvPr id="66" name="Ellipse 66"/>
          <p:cNvSpPr/>
          <p:nvPr/>
        </p:nvSpPr>
        <p:spPr>
          <a:xfrm>
            <a:off x="3288125" y="4090988"/>
            <a:ext cx="76200" cy="76200"/>
          </a:xfrm>
          <a:prstGeom prst="ellipse">
            <a:avLst/>
          </a:prstGeom>
          <a:solidFill>
            <a:srgbClr val="1F2328"/>
          </a:solidFill>
          <a:ln>
            <a:noFill/>
          </a:ln>
        </p:spPr>
      </p:sp>
      <p:sp>
        <p:nvSpPr>
          <p:cNvPr id="67" name="Ellipse 67"/>
          <p:cNvSpPr/>
          <p:nvPr/>
        </p:nvSpPr>
        <p:spPr>
          <a:xfrm>
            <a:off x="3421475" y="3995738"/>
            <a:ext cx="76200" cy="76200"/>
          </a:xfrm>
          <a:prstGeom prst="ellipse">
            <a:avLst/>
          </a:prstGeom>
          <a:solidFill>
            <a:srgbClr val="A50021"/>
          </a:solidFill>
          <a:ln>
            <a:noFill/>
          </a:ln>
        </p:spPr>
      </p:sp>
      <p:sp>
        <p:nvSpPr>
          <p:cNvPr id="68" name="Ellipse 68"/>
          <p:cNvSpPr/>
          <p:nvPr/>
        </p:nvSpPr>
        <p:spPr>
          <a:xfrm>
            <a:off x="3554825" y="3805238"/>
            <a:ext cx="76200" cy="76200"/>
          </a:xfrm>
          <a:prstGeom prst="ellipse">
            <a:avLst/>
          </a:prstGeom>
          <a:solidFill>
            <a:srgbClr val="1F2328"/>
          </a:solidFill>
          <a:ln>
            <a:noFill/>
          </a:ln>
        </p:spPr>
      </p:sp>
      <p:sp>
        <p:nvSpPr>
          <p:cNvPr id="69" name="Line 69"/>
          <p:cNvSpPr/>
          <p:nvPr/>
        </p:nvSpPr>
        <p:spPr>
          <a:xfrm>
            <a:off x="3726275" y="3824288"/>
            <a:ext cx="285750" cy="1"/>
          </a:xfrm>
          <a:prstGeom prst="line">
            <a:avLst/>
          </a:prstGeom>
          <a:noFill/>
          <a:ln w="28575">
            <a:solidFill>
              <a:srgbClr val="9AA0A6"/>
            </a:solidFill>
            <a:tailEnd type="triangle" w="lg" len="lg"/>
          </a:ln>
        </p:spPr>
      </p:sp>
      <p:sp>
        <p:nvSpPr>
          <p:cNvPr id="70" name="Rectangle 70"/>
          <p:cNvSpPr/>
          <p:nvPr/>
        </p:nvSpPr>
        <p:spPr>
          <a:xfrm>
            <a:off x="4069175" y="3367088"/>
            <a:ext cx="914400" cy="914400"/>
          </a:xfrm>
          <a:prstGeom prst="roundRect">
            <a:avLst>
              <a:gd name="adj" fmla="val 8333"/>
            </a:avLst>
          </a:prstGeom>
          <a:solidFill>
            <a:srgbClr val="F8F9FA"/>
          </a:solidFill>
          <a:ln w="11430">
            <a:solidFill>
              <a:srgbClr val="E4E7EB"/>
            </a:solidFill>
          </a:ln>
        </p:spPr>
      </p:sp>
      <p:sp>
        <p:nvSpPr>
          <p:cNvPr id="71" name="TextBox 71"/>
          <p:cNvSpPr txBox="1"/>
          <p:nvPr/>
        </p:nvSpPr>
        <p:spPr>
          <a:xfrm>
            <a:off x="4065436" y="3490437"/>
            <a:ext cx="921877" cy="198120"/>
          </a:xfrm>
          <a:prstGeom prst="rect">
            <a:avLst/>
          </a:prstGeom>
          <a:noFill/>
          <a:ln>
            <a:noFill/>
          </a:ln>
        </p:spPr>
        <p:txBody>
          <a:bodyPr wrap="none" lIns="0" tIns="0" rIns="0" bIns="0" anchor="t" anchorCtr="0">
            <a:spAutoFit/>
          </a:bodyPr>
          <a:lstStyle/>
          <a:p>
            <a:pPr algn="ctr"/>
            <a:r>
              <a:rPr lang="zh-CN" sz="975" b="1" dirty="0">
                <a:solidFill>
                  <a:srgbClr val="1F2328"/>
                </a:solidFill>
                <a:latin typeface="Arial"/>
                <a:ea typeface="SimHei"/>
                <a:cs typeface="Arial"/>
              </a:rPr>
              <a:t>向量知识库近</a:t>
            </a:r>
          </a:p>
        </p:txBody>
      </p:sp>
      <p:sp>
        <p:nvSpPr>
          <p:cNvPr id="72" name="TextBox 72"/>
          <p:cNvSpPr txBox="1"/>
          <p:nvPr/>
        </p:nvSpPr>
        <p:spPr>
          <a:xfrm>
            <a:off x="4289714" y="3661887"/>
            <a:ext cx="473321" cy="198120"/>
          </a:xfrm>
          <a:prstGeom prst="rect">
            <a:avLst/>
          </a:prstGeom>
          <a:noFill/>
          <a:ln>
            <a:noFill/>
          </a:ln>
        </p:spPr>
        <p:txBody>
          <a:bodyPr wrap="none" lIns="0" tIns="0" rIns="0" bIns="0" anchor="t" anchorCtr="0">
            <a:spAutoFit/>
          </a:bodyPr>
          <a:lstStyle/>
          <a:p>
            <a:pPr algn="ctr"/>
            <a:r>
              <a:rPr lang="zh-CN" sz="975" b="1" dirty="0">
                <a:solidFill>
                  <a:srgbClr val="1F2328"/>
                </a:solidFill>
                <a:latin typeface="Arial"/>
                <a:ea typeface="SimHei"/>
                <a:cs typeface="Arial"/>
              </a:rPr>
              <a:t>似查询</a:t>
            </a:r>
          </a:p>
        </p:txBody>
      </p:sp>
      <p:sp>
        <p:nvSpPr>
          <p:cNvPr id="73" name="Freeform 73"/>
          <p:cNvSpPr/>
          <p:nvPr/>
        </p:nvSpPr>
        <p:spPr>
          <a:xfrm>
            <a:off x="4276344" y="3976688"/>
            <a:ext cx="214312" cy="82153"/>
          </a:xfrm>
          <a:custGeom>
            <a:avLst/>
            <a:gdLst/>
            <a:ahLst/>
            <a:cxnLst/>
            <a:rect l="l" t="t" r="r" b="b"/>
            <a:pathLst>
              <a:path w="214312" h="82153">
                <a:moveTo>
                  <a:pt x="198902" y="9111"/>
                </a:moveTo>
                <a:cubicBezTo>
                  <a:pt x="203925" y="6599"/>
                  <a:pt x="209174" y="3568"/>
                  <a:pt x="214312" y="0"/>
                </a:cubicBezTo>
                <a:lnTo>
                  <a:pt x="214312" y="28575"/>
                </a:lnTo>
                <a:cubicBezTo>
                  <a:pt x="214312" y="58165"/>
                  <a:pt x="166337" y="82153"/>
                  <a:pt x="107156" y="82153"/>
                </a:cubicBezTo>
                <a:cubicBezTo>
                  <a:pt x="47975" y="82153"/>
                  <a:pt x="0" y="58165"/>
                  <a:pt x="0" y="28575"/>
                </a:cubicBezTo>
                <a:lnTo>
                  <a:pt x="0" y="0"/>
                </a:lnTo>
                <a:cubicBezTo>
                  <a:pt x="5138" y="3568"/>
                  <a:pt x="10387" y="6599"/>
                  <a:pt x="15411" y="9111"/>
                </a:cubicBezTo>
                <a:cubicBezTo>
                  <a:pt x="40737" y="21774"/>
                  <a:pt x="73223" y="28575"/>
                  <a:pt x="107156" y="28575"/>
                </a:cubicBezTo>
                <a:cubicBezTo>
                  <a:pt x="141089" y="28575"/>
                  <a:pt x="173575" y="21774"/>
                  <a:pt x="198902" y="9111"/>
                </a:cubicBezTo>
                <a:close/>
              </a:path>
            </a:pathLst>
          </a:custGeom>
          <a:solidFill>
            <a:srgbClr val="1F2328"/>
          </a:solidFill>
          <a:ln>
            <a:noFill/>
          </a:ln>
        </p:spPr>
      </p:sp>
      <p:sp>
        <p:nvSpPr>
          <p:cNvPr id="74" name="Freeform 74"/>
          <p:cNvSpPr/>
          <p:nvPr/>
        </p:nvSpPr>
        <p:spPr>
          <a:xfrm>
            <a:off x="4276344" y="4065985"/>
            <a:ext cx="214312" cy="82153"/>
          </a:xfrm>
          <a:custGeom>
            <a:avLst/>
            <a:gdLst/>
            <a:ahLst/>
            <a:cxnLst/>
            <a:rect l="l" t="t" r="r" b="b"/>
            <a:pathLst>
              <a:path w="214312" h="82153">
                <a:moveTo>
                  <a:pt x="0" y="0"/>
                </a:moveTo>
                <a:lnTo>
                  <a:pt x="0" y="28575"/>
                </a:lnTo>
                <a:cubicBezTo>
                  <a:pt x="0" y="58166"/>
                  <a:pt x="47975" y="82153"/>
                  <a:pt x="107156" y="82153"/>
                </a:cubicBezTo>
                <a:cubicBezTo>
                  <a:pt x="166337" y="82153"/>
                  <a:pt x="214312" y="58166"/>
                  <a:pt x="214312" y="28575"/>
                </a:cubicBezTo>
                <a:lnTo>
                  <a:pt x="214312" y="0"/>
                </a:lnTo>
                <a:cubicBezTo>
                  <a:pt x="209174" y="3568"/>
                  <a:pt x="203925" y="6599"/>
                  <a:pt x="198902" y="9112"/>
                </a:cubicBezTo>
                <a:cubicBezTo>
                  <a:pt x="173575" y="21774"/>
                  <a:pt x="141089" y="28575"/>
                  <a:pt x="107156" y="28575"/>
                </a:cubicBezTo>
                <a:cubicBezTo>
                  <a:pt x="73223" y="28575"/>
                  <a:pt x="40737" y="21774"/>
                  <a:pt x="15411" y="9112"/>
                </a:cubicBezTo>
                <a:cubicBezTo>
                  <a:pt x="10387" y="6599"/>
                  <a:pt x="5138" y="3568"/>
                  <a:pt x="0" y="0"/>
                </a:cubicBezTo>
                <a:close/>
              </a:path>
            </a:pathLst>
          </a:custGeom>
          <a:solidFill>
            <a:srgbClr val="1F2328"/>
          </a:solidFill>
          <a:ln>
            <a:noFill/>
          </a:ln>
        </p:spPr>
      </p:sp>
      <p:sp>
        <p:nvSpPr>
          <p:cNvPr id="75" name="Freeform 75"/>
          <p:cNvSpPr/>
          <p:nvPr/>
        </p:nvSpPr>
        <p:spPr>
          <a:xfrm>
            <a:off x="4276344" y="3862388"/>
            <a:ext cx="214312" cy="107156"/>
          </a:xfrm>
          <a:custGeom>
            <a:avLst/>
            <a:gdLst/>
            <a:ahLst/>
            <a:cxnLst/>
            <a:rect l="l" t="t" r="r" b="b"/>
            <a:pathLst>
              <a:path w="214312" h="107156">
                <a:moveTo>
                  <a:pt x="107156" y="0"/>
                </a:moveTo>
                <a:cubicBezTo>
                  <a:pt x="166337" y="0"/>
                  <a:pt x="214312" y="23988"/>
                  <a:pt x="214312" y="53578"/>
                </a:cubicBezTo>
                <a:cubicBezTo>
                  <a:pt x="214312" y="83168"/>
                  <a:pt x="166337" y="107156"/>
                  <a:pt x="107156" y="107156"/>
                </a:cubicBezTo>
                <a:cubicBezTo>
                  <a:pt x="47975" y="107156"/>
                  <a:pt x="0" y="83168"/>
                  <a:pt x="0" y="53578"/>
                </a:cubicBezTo>
                <a:cubicBezTo>
                  <a:pt x="0" y="23988"/>
                  <a:pt x="47975" y="0"/>
                  <a:pt x="107156" y="0"/>
                </a:cubicBezTo>
                <a:close/>
              </a:path>
            </a:pathLst>
          </a:custGeom>
          <a:solidFill>
            <a:srgbClr val="1F2328"/>
          </a:solidFill>
          <a:ln>
            <a:noFill/>
          </a:ln>
        </p:spPr>
      </p:sp>
      <p:sp>
        <p:nvSpPr>
          <p:cNvPr id="77" name="Freeform 77"/>
          <p:cNvSpPr/>
          <p:nvPr/>
        </p:nvSpPr>
        <p:spPr>
          <a:xfrm>
            <a:off x="4507325" y="3881438"/>
            <a:ext cx="247650" cy="247650"/>
          </a:xfrm>
          <a:custGeom>
            <a:avLst/>
            <a:gdLst/>
            <a:ahLst/>
            <a:cxnLst/>
            <a:rect l="l" t="t" r="r" b="b"/>
            <a:pathLst>
              <a:path w="247650" h="247650">
                <a:moveTo>
                  <a:pt x="126444" y="30992"/>
                </a:moveTo>
                <a:cubicBezTo>
                  <a:pt x="125574" y="30968"/>
                  <a:pt x="124701" y="30956"/>
                  <a:pt x="123825" y="30956"/>
                </a:cubicBezTo>
                <a:cubicBezTo>
                  <a:pt x="72535" y="30956"/>
                  <a:pt x="30956" y="72535"/>
                  <a:pt x="30956" y="123825"/>
                </a:cubicBezTo>
                <a:cubicBezTo>
                  <a:pt x="30956" y="175115"/>
                  <a:pt x="72535" y="216694"/>
                  <a:pt x="123825" y="216694"/>
                </a:cubicBezTo>
                <a:cubicBezTo>
                  <a:pt x="175115" y="216694"/>
                  <a:pt x="216694" y="175115"/>
                  <a:pt x="216694" y="123825"/>
                </a:cubicBezTo>
                <a:cubicBezTo>
                  <a:pt x="216694" y="122949"/>
                  <a:pt x="216681" y="122076"/>
                  <a:pt x="216658" y="121206"/>
                </a:cubicBezTo>
                <a:lnTo>
                  <a:pt x="244000" y="93863"/>
                </a:lnTo>
                <a:cubicBezTo>
                  <a:pt x="246384" y="103457"/>
                  <a:pt x="247650" y="113493"/>
                  <a:pt x="247650" y="123825"/>
                </a:cubicBezTo>
                <a:cubicBezTo>
                  <a:pt x="247650" y="192212"/>
                  <a:pt x="192212" y="247650"/>
                  <a:pt x="123825" y="247650"/>
                </a:cubicBezTo>
                <a:cubicBezTo>
                  <a:pt x="55438" y="247650"/>
                  <a:pt x="0" y="192212"/>
                  <a:pt x="0" y="123825"/>
                </a:cubicBezTo>
                <a:cubicBezTo>
                  <a:pt x="0" y="55438"/>
                  <a:pt x="55438" y="0"/>
                  <a:pt x="123825" y="0"/>
                </a:cubicBezTo>
                <a:cubicBezTo>
                  <a:pt x="134157" y="0"/>
                  <a:pt x="144193" y="1265"/>
                  <a:pt x="153787" y="3650"/>
                </a:cubicBezTo>
                <a:lnTo>
                  <a:pt x="126444" y="30992"/>
                </a:lnTo>
                <a:close/>
              </a:path>
            </a:pathLst>
          </a:custGeom>
          <a:solidFill>
            <a:srgbClr val="A50021"/>
          </a:solidFill>
          <a:ln>
            <a:noFill/>
          </a:ln>
        </p:spPr>
      </p:sp>
      <p:sp>
        <p:nvSpPr>
          <p:cNvPr id="78" name="Freeform 78"/>
          <p:cNvSpPr/>
          <p:nvPr/>
        </p:nvSpPr>
        <p:spPr>
          <a:xfrm>
            <a:off x="4569237" y="3945300"/>
            <a:ext cx="121875" cy="121875"/>
          </a:xfrm>
          <a:custGeom>
            <a:avLst/>
            <a:gdLst/>
            <a:ahLst/>
            <a:cxnLst/>
            <a:rect l="l" t="t" r="r" b="b"/>
            <a:pathLst>
              <a:path w="121875" h="121875">
                <a:moveTo>
                  <a:pt x="0" y="59962"/>
                </a:moveTo>
                <a:cubicBezTo>
                  <a:pt x="0" y="31113"/>
                  <a:pt x="19731" y="6873"/>
                  <a:pt x="46434" y="0"/>
                </a:cubicBezTo>
                <a:lnTo>
                  <a:pt x="46434" y="33147"/>
                </a:lnTo>
                <a:cubicBezTo>
                  <a:pt x="37182" y="38500"/>
                  <a:pt x="30956" y="48504"/>
                  <a:pt x="30956" y="59962"/>
                </a:cubicBezTo>
                <a:cubicBezTo>
                  <a:pt x="30956" y="77059"/>
                  <a:pt x="44816" y="90918"/>
                  <a:pt x="61912" y="90918"/>
                </a:cubicBezTo>
                <a:cubicBezTo>
                  <a:pt x="73371" y="90918"/>
                  <a:pt x="83375" y="84693"/>
                  <a:pt x="88727" y="75440"/>
                </a:cubicBezTo>
                <a:lnTo>
                  <a:pt x="121875" y="75440"/>
                </a:lnTo>
                <a:cubicBezTo>
                  <a:pt x="115001" y="102144"/>
                  <a:pt x="90761" y="121875"/>
                  <a:pt x="61912" y="121875"/>
                </a:cubicBezTo>
                <a:cubicBezTo>
                  <a:pt x="27719" y="121875"/>
                  <a:pt x="0" y="94155"/>
                  <a:pt x="0" y="59962"/>
                </a:cubicBezTo>
                <a:close/>
              </a:path>
            </a:pathLst>
          </a:custGeom>
          <a:solidFill>
            <a:srgbClr val="A50021"/>
          </a:solidFill>
          <a:ln>
            <a:noFill/>
          </a:ln>
        </p:spPr>
      </p:sp>
      <p:sp>
        <p:nvSpPr>
          <p:cNvPr id="79" name="Freeform 79"/>
          <p:cNvSpPr/>
          <p:nvPr/>
        </p:nvSpPr>
        <p:spPr>
          <a:xfrm>
            <a:off x="4627944" y="3881438"/>
            <a:ext cx="127031" cy="127031"/>
          </a:xfrm>
          <a:custGeom>
            <a:avLst/>
            <a:gdLst/>
            <a:ahLst/>
            <a:cxnLst/>
            <a:rect l="l" t="t" r="r" b="b"/>
            <a:pathLst>
              <a:path w="127031" h="127031">
                <a:moveTo>
                  <a:pt x="96074" y="30956"/>
                </a:moveTo>
                <a:lnTo>
                  <a:pt x="80596" y="0"/>
                </a:lnTo>
                <a:lnTo>
                  <a:pt x="34162" y="46434"/>
                </a:lnTo>
                <a:lnTo>
                  <a:pt x="34162" y="70979"/>
                </a:lnTo>
                <a:lnTo>
                  <a:pt x="0" y="105141"/>
                </a:lnTo>
                <a:lnTo>
                  <a:pt x="21889" y="127031"/>
                </a:lnTo>
                <a:lnTo>
                  <a:pt x="56051" y="92869"/>
                </a:lnTo>
                <a:lnTo>
                  <a:pt x="80596" y="92869"/>
                </a:lnTo>
                <a:lnTo>
                  <a:pt x="127031" y="46434"/>
                </a:lnTo>
                <a:lnTo>
                  <a:pt x="96074" y="30956"/>
                </a:lnTo>
                <a:close/>
              </a:path>
            </a:pathLst>
          </a:custGeom>
          <a:solidFill>
            <a:srgbClr val="A50021"/>
          </a:solidFill>
          <a:ln>
            <a:noFill/>
          </a:ln>
        </p:spPr>
      </p:sp>
      <p:sp>
        <p:nvSpPr>
          <p:cNvPr id="81" name="TextBox 81"/>
          <p:cNvSpPr txBox="1"/>
          <p:nvPr/>
        </p:nvSpPr>
        <p:spPr>
          <a:xfrm>
            <a:off x="2590895" y="4489133"/>
            <a:ext cx="238887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将用户多模态输入转化为通用向量表示，</a:t>
            </a:r>
          </a:p>
        </p:txBody>
      </p:sp>
      <p:sp>
        <p:nvSpPr>
          <p:cNvPr id="82" name="TextBox 82"/>
          <p:cNvSpPr txBox="1"/>
          <p:nvPr/>
        </p:nvSpPr>
        <p:spPr>
          <a:xfrm>
            <a:off x="2590895" y="4660583"/>
            <a:ext cx="238887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在知识库中执行近似查询，检索相关非结</a:t>
            </a:r>
          </a:p>
        </p:txBody>
      </p:sp>
      <p:sp>
        <p:nvSpPr>
          <p:cNvPr id="83" name="TextBox 83"/>
          <p:cNvSpPr txBox="1"/>
          <p:nvPr/>
        </p:nvSpPr>
        <p:spPr>
          <a:xfrm>
            <a:off x="2590895" y="4832033"/>
            <a:ext cx="107442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构化文档或片段。</a:t>
            </a:r>
          </a:p>
        </p:txBody>
      </p:sp>
      <p:sp>
        <p:nvSpPr>
          <p:cNvPr id="85" name="Freeform 85"/>
          <p:cNvSpPr/>
          <p:nvPr/>
        </p:nvSpPr>
        <p:spPr>
          <a:xfrm>
            <a:off x="4526375" y="5060632"/>
            <a:ext cx="1562100" cy="382905"/>
          </a:xfrm>
          <a:custGeom>
            <a:avLst/>
            <a:gdLst/>
            <a:ahLst/>
            <a:cxnLst/>
            <a:rect l="l" t="t" r="r" b="b"/>
            <a:pathLst>
              <a:path w="1562100" h="1162050">
                <a:moveTo>
                  <a:pt x="0" y="0"/>
                </a:moveTo>
                <a:lnTo>
                  <a:pt x="0" y="1162050"/>
                </a:lnTo>
                <a:lnTo>
                  <a:pt x="1562100" y="1162050"/>
                </a:lnTo>
                <a:lnTo>
                  <a:pt x="1562100" y="314325"/>
                </a:lnTo>
              </a:path>
            </a:pathLst>
          </a:custGeom>
          <a:noFill/>
          <a:ln w="28575">
            <a:solidFill>
              <a:srgbClr val="A50021"/>
            </a:solidFill>
            <a:round/>
            <a:tailEnd type="triangle" w="lg" len="lg"/>
          </a:ln>
        </p:spPr>
      </p:sp>
      <p:grpSp>
        <p:nvGrpSpPr>
          <p:cNvPr id="2" name="组合 1">
            <a:extLst>
              <a:ext uri="{FF2B5EF4-FFF2-40B4-BE49-F238E27FC236}">
                <a16:creationId xmlns:a16="http://schemas.microsoft.com/office/drawing/2014/main" id="{EA06F731-AA84-4A92-8EF6-0447BEA20D86}"/>
              </a:ext>
            </a:extLst>
          </p:cNvPr>
          <p:cNvGrpSpPr/>
          <p:nvPr/>
        </p:nvGrpSpPr>
        <p:grpSpPr>
          <a:xfrm>
            <a:off x="4641987" y="5347574"/>
            <a:ext cx="1330876" cy="221456"/>
            <a:chOff x="4757598" y="5347574"/>
            <a:chExt cx="1330876" cy="221456"/>
          </a:xfrm>
        </p:grpSpPr>
        <p:sp>
          <p:nvSpPr>
            <p:cNvPr id="86" name="Rectangle 86"/>
            <p:cNvSpPr/>
            <p:nvPr/>
          </p:nvSpPr>
          <p:spPr>
            <a:xfrm>
              <a:off x="4786308" y="5347574"/>
              <a:ext cx="1273456" cy="221456"/>
            </a:xfrm>
            <a:prstGeom prst="roundRect">
              <a:avLst>
                <a:gd name="adj" fmla="val 50000"/>
              </a:avLst>
            </a:prstGeom>
            <a:solidFill>
              <a:srgbClr val="F4D9DE"/>
            </a:solidFill>
            <a:ln w="9525">
              <a:solidFill>
                <a:srgbClr val="A50021"/>
              </a:solidFill>
            </a:ln>
          </p:spPr>
        </p:sp>
        <p:sp>
          <p:nvSpPr>
            <p:cNvPr id="87" name="TextBox 87"/>
            <p:cNvSpPr txBox="1"/>
            <p:nvPr/>
          </p:nvSpPr>
          <p:spPr>
            <a:xfrm>
              <a:off x="4757598" y="5376625"/>
              <a:ext cx="1330876" cy="182880"/>
            </a:xfrm>
            <a:prstGeom prst="rect">
              <a:avLst/>
            </a:prstGeom>
            <a:noFill/>
            <a:ln>
              <a:noFill/>
            </a:ln>
          </p:spPr>
          <p:txBody>
            <a:bodyPr wrap="none" lIns="0" tIns="0" rIns="0" bIns="0" anchor="t" anchorCtr="0">
              <a:spAutoFit/>
            </a:bodyPr>
            <a:lstStyle/>
            <a:p>
              <a:pPr algn="ctr"/>
              <a:r>
                <a:rPr lang="zh-CN" sz="900" b="1" dirty="0">
                  <a:solidFill>
                    <a:srgbClr val="A50021"/>
                  </a:solidFill>
                  <a:latin typeface="Arial"/>
                  <a:ea typeface="SimHei"/>
                  <a:cs typeface="Arial"/>
                </a:rPr>
                <a:t>返回相关内容整合输入</a:t>
              </a:r>
            </a:p>
          </p:txBody>
        </p:sp>
      </p:grpSp>
      <p:sp>
        <p:nvSpPr>
          <p:cNvPr id="89" name="Rectangle 89"/>
          <p:cNvSpPr/>
          <p:nvPr/>
        </p:nvSpPr>
        <p:spPr>
          <a:xfrm>
            <a:off x="5516975" y="2414588"/>
            <a:ext cx="2895600" cy="2743200"/>
          </a:xfrm>
          <a:prstGeom prst="roundRect">
            <a:avLst>
              <a:gd name="adj" fmla="val 4167"/>
            </a:avLst>
          </a:prstGeom>
          <a:solidFill>
            <a:srgbClr val="FFFFFF"/>
          </a:solidFill>
          <a:ln w="14288">
            <a:solidFill>
              <a:srgbClr val="E4E7EB"/>
            </a:solidFill>
          </a:ln>
          <a:effectLst>
            <a:outerShdw blurRad="152400" dist="38100" dir="5400000" algn="ctr" rotWithShape="0">
              <a:srgbClr val="000000">
                <a:alpha val="7500"/>
              </a:srgbClr>
            </a:outerShdw>
          </a:effectLst>
        </p:spPr>
      </p:sp>
      <p:sp>
        <p:nvSpPr>
          <p:cNvPr id="90" name="Ellipse 90"/>
          <p:cNvSpPr/>
          <p:nvPr/>
        </p:nvSpPr>
        <p:spPr>
          <a:xfrm>
            <a:off x="7622000" y="2538413"/>
            <a:ext cx="304800" cy="304800"/>
          </a:xfrm>
          <a:prstGeom prst="ellipse">
            <a:avLst/>
          </a:prstGeom>
          <a:noFill/>
          <a:ln w="19050">
            <a:solidFill>
              <a:srgbClr val="1F2328"/>
            </a:solidFill>
          </a:ln>
        </p:spPr>
      </p:sp>
      <p:sp>
        <p:nvSpPr>
          <p:cNvPr id="91" name="Ellipse 91"/>
          <p:cNvSpPr/>
          <p:nvPr/>
        </p:nvSpPr>
        <p:spPr>
          <a:xfrm>
            <a:off x="7831550" y="2614613"/>
            <a:ext cx="228600" cy="228600"/>
          </a:xfrm>
          <a:prstGeom prst="ellipse">
            <a:avLst/>
          </a:prstGeom>
          <a:noFill/>
          <a:ln w="19050">
            <a:solidFill>
              <a:srgbClr val="1F2328"/>
            </a:solidFill>
          </a:ln>
        </p:spPr>
      </p:sp>
      <p:sp>
        <p:nvSpPr>
          <p:cNvPr id="92" name="Ellipse 92"/>
          <p:cNvSpPr/>
          <p:nvPr/>
        </p:nvSpPr>
        <p:spPr>
          <a:xfrm>
            <a:off x="7517225" y="2643188"/>
            <a:ext cx="209550" cy="209550"/>
          </a:xfrm>
          <a:prstGeom prst="ellipse">
            <a:avLst/>
          </a:prstGeom>
          <a:noFill/>
          <a:ln w="19050">
            <a:solidFill>
              <a:srgbClr val="1F2328"/>
            </a:solidFill>
          </a:ln>
        </p:spPr>
      </p:sp>
      <p:sp>
        <p:nvSpPr>
          <p:cNvPr id="93" name="TextBox 93"/>
          <p:cNvSpPr txBox="1"/>
          <p:nvPr/>
        </p:nvSpPr>
        <p:spPr>
          <a:xfrm>
            <a:off x="7707997" y="2652237"/>
            <a:ext cx="151856" cy="198120"/>
          </a:xfrm>
          <a:prstGeom prst="rect">
            <a:avLst/>
          </a:prstGeom>
          <a:noFill/>
          <a:ln>
            <a:noFill/>
          </a:ln>
        </p:spPr>
        <p:txBody>
          <a:bodyPr wrap="none" lIns="0" tIns="0" rIns="0" bIns="0" anchor="t" anchorCtr="0">
            <a:spAutoFit/>
          </a:bodyPr>
          <a:lstStyle/>
          <a:p>
            <a:pPr algn="ctr"/>
            <a:r>
              <a:rPr lang="zh-CN" sz="975" b="1" dirty="0">
                <a:solidFill>
                  <a:srgbClr val="A50021"/>
                </a:solidFill>
                <a:latin typeface="Arial"/>
                <a:ea typeface="SimHei"/>
                <a:cs typeface="Arial"/>
              </a:rPr>
              <a:t>AI</a:t>
            </a:r>
          </a:p>
        </p:txBody>
      </p:sp>
      <p:sp>
        <p:nvSpPr>
          <p:cNvPr id="94" name="Freeform 94"/>
          <p:cNvSpPr/>
          <p:nvPr/>
        </p:nvSpPr>
        <p:spPr>
          <a:xfrm>
            <a:off x="8172069" y="2688432"/>
            <a:ext cx="80962" cy="80962"/>
          </a:xfrm>
          <a:custGeom>
            <a:avLst/>
            <a:gdLst/>
            <a:ahLst/>
            <a:cxnLst/>
            <a:rect l="l" t="t" r="r" b="b"/>
            <a:pathLst>
              <a:path w="80962" h="80962">
                <a:moveTo>
                  <a:pt x="0" y="80962"/>
                </a:moveTo>
                <a:lnTo>
                  <a:pt x="0" y="0"/>
                </a:lnTo>
                <a:lnTo>
                  <a:pt x="80962" y="0"/>
                </a:lnTo>
                <a:lnTo>
                  <a:pt x="80962" y="80962"/>
                </a:lnTo>
                <a:lnTo>
                  <a:pt x="0" y="80962"/>
                </a:lnTo>
                <a:close/>
              </a:path>
            </a:pathLst>
          </a:custGeom>
          <a:solidFill>
            <a:srgbClr val="1F2328"/>
          </a:solidFill>
          <a:ln>
            <a:noFill/>
          </a:ln>
        </p:spPr>
      </p:sp>
      <p:sp>
        <p:nvSpPr>
          <p:cNvPr id="95" name="Freeform 95"/>
          <p:cNvSpPr/>
          <p:nvPr/>
        </p:nvSpPr>
        <p:spPr>
          <a:xfrm>
            <a:off x="8050625" y="2566988"/>
            <a:ext cx="323850" cy="323850"/>
          </a:xfrm>
          <a:custGeom>
            <a:avLst/>
            <a:gdLst/>
            <a:ahLst/>
            <a:cxnLst/>
            <a:rect l="l" t="t" r="r" b="b"/>
            <a:pathLst>
              <a:path w="323850" h="323850">
                <a:moveTo>
                  <a:pt x="60722" y="40481"/>
                </a:moveTo>
                <a:lnTo>
                  <a:pt x="60722" y="0"/>
                </a:lnTo>
                <a:lnTo>
                  <a:pt x="101203" y="0"/>
                </a:lnTo>
                <a:lnTo>
                  <a:pt x="101203" y="40481"/>
                </a:lnTo>
                <a:lnTo>
                  <a:pt x="141684" y="40481"/>
                </a:lnTo>
                <a:lnTo>
                  <a:pt x="141684" y="0"/>
                </a:lnTo>
                <a:lnTo>
                  <a:pt x="182166" y="0"/>
                </a:lnTo>
                <a:lnTo>
                  <a:pt x="182166" y="40481"/>
                </a:lnTo>
                <a:lnTo>
                  <a:pt x="222647" y="40481"/>
                </a:lnTo>
                <a:lnTo>
                  <a:pt x="222647" y="0"/>
                </a:lnTo>
                <a:lnTo>
                  <a:pt x="263128" y="0"/>
                </a:lnTo>
                <a:lnTo>
                  <a:pt x="263128" y="40481"/>
                </a:lnTo>
                <a:lnTo>
                  <a:pt x="283369" y="40481"/>
                </a:lnTo>
                <a:lnTo>
                  <a:pt x="283369" y="60722"/>
                </a:lnTo>
                <a:lnTo>
                  <a:pt x="323850" y="60722"/>
                </a:lnTo>
                <a:lnTo>
                  <a:pt x="323850" y="101203"/>
                </a:lnTo>
                <a:lnTo>
                  <a:pt x="283369" y="101203"/>
                </a:lnTo>
                <a:lnTo>
                  <a:pt x="283369" y="141684"/>
                </a:lnTo>
                <a:lnTo>
                  <a:pt x="323850" y="141684"/>
                </a:lnTo>
                <a:lnTo>
                  <a:pt x="323850" y="182166"/>
                </a:lnTo>
                <a:lnTo>
                  <a:pt x="283369" y="182166"/>
                </a:lnTo>
                <a:lnTo>
                  <a:pt x="283369" y="222647"/>
                </a:lnTo>
                <a:lnTo>
                  <a:pt x="323850" y="222647"/>
                </a:lnTo>
                <a:lnTo>
                  <a:pt x="323850" y="263128"/>
                </a:lnTo>
                <a:lnTo>
                  <a:pt x="283369" y="263128"/>
                </a:lnTo>
                <a:lnTo>
                  <a:pt x="283369" y="283369"/>
                </a:lnTo>
                <a:lnTo>
                  <a:pt x="263128" y="283369"/>
                </a:lnTo>
                <a:lnTo>
                  <a:pt x="263128" y="323850"/>
                </a:lnTo>
                <a:lnTo>
                  <a:pt x="222647" y="323850"/>
                </a:lnTo>
                <a:lnTo>
                  <a:pt x="222647" y="283369"/>
                </a:lnTo>
                <a:lnTo>
                  <a:pt x="182166" y="283369"/>
                </a:lnTo>
                <a:lnTo>
                  <a:pt x="182166" y="323850"/>
                </a:lnTo>
                <a:lnTo>
                  <a:pt x="141684" y="323850"/>
                </a:lnTo>
                <a:lnTo>
                  <a:pt x="141684" y="283369"/>
                </a:lnTo>
                <a:lnTo>
                  <a:pt x="101203" y="283369"/>
                </a:lnTo>
                <a:lnTo>
                  <a:pt x="101203" y="323850"/>
                </a:lnTo>
                <a:lnTo>
                  <a:pt x="60722" y="323850"/>
                </a:lnTo>
                <a:lnTo>
                  <a:pt x="60722" y="283369"/>
                </a:lnTo>
                <a:lnTo>
                  <a:pt x="40481" y="283369"/>
                </a:lnTo>
                <a:lnTo>
                  <a:pt x="40481" y="263128"/>
                </a:lnTo>
                <a:lnTo>
                  <a:pt x="0" y="263128"/>
                </a:lnTo>
                <a:lnTo>
                  <a:pt x="0" y="222647"/>
                </a:lnTo>
                <a:lnTo>
                  <a:pt x="40481" y="222647"/>
                </a:lnTo>
                <a:lnTo>
                  <a:pt x="40481" y="182166"/>
                </a:lnTo>
                <a:lnTo>
                  <a:pt x="0" y="182166"/>
                </a:lnTo>
                <a:lnTo>
                  <a:pt x="0" y="141684"/>
                </a:lnTo>
                <a:lnTo>
                  <a:pt x="40481" y="141684"/>
                </a:lnTo>
                <a:lnTo>
                  <a:pt x="40481" y="101203"/>
                </a:lnTo>
                <a:lnTo>
                  <a:pt x="0" y="101203"/>
                </a:lnTo>
                <a:lnTo>
                  <a:pt x="0" y="60722"/>
                </a:lnTo>
                <a:lnTo>
                  <a:pt x="40481" y="60722"/>
                </a:lnTo>
                <a:lnTo>
                  <a:pt x="40481" y="40481"/>
                </a:lnTo>
                <a:lnTo>
                  <a:pt x="60722" y="40481"/>
                </a:lnTo>
                <a:close/>
                <a:moveTo>
                  <a:pt x="80962" y="80962"/>
                </a:moveTo>
                <a:lnTo>
                  <a:pt x="80962" y="242888"/>
                </a:lnTo>
                <a:lnTo>
                  <a:pt x="242888" y="242888"/>
                </a:lnTo>
                <a:lnTo>
                  <a:pt x="242888" y="80962"/>
                </a:lnTo>
                <a:lnTo>
                  <a:pt x="80962" y="80962"/>
                </a:lnTo>
                <a:close/>
              </a:path>
            </a:pathLst>
          </a:custGeom>
          <a:solidFill>
            <a:srgbClr val="1F2328"/>
          </a:solidFill>
          <a:ln>
            <a:noFill/>
          </a:ln>
        </p:spPr>
      </p:sp>
      <p:sp>
        <p:nvSpPr>
          <p:cNvPr id="97" name="Rectangle 97"/>
          <p:cNvSpPr/>
          <p:nvPr/>
        </p:nvSpPr>
        <p:spPr>
          <a:xfrm>
            <a:off x="8164925" y="2681288"/>
            <a:ext cx="95250" cy="95250"/>
          </a:xfrm>
          <a:prstGeom prst="rect">
            <a:avLst/>
          </a:prstGeom>
          <a:solidFill>
            <a:srgbClr val="A50021"/>
          </a:solidFill>
          <a:ln>
            <a:noFill/>
          </a:ln>
        </p:spPr>
      </p:sp>
      <p:sp>
        <p:nvSpPr>
          <p:cNvPr id="98" name="TextBox 98"/>
          <p:cNvSpPr txBox="1"/>
          <p:nvPr/>
        </p:nvSpPr>
        <p:spPr>
          <a:xfrm>
            <a:off x="5710333" y="2543652"/>
            <a:ext cx="1401056" cy="259080"/>
          </a:xfrm>
          <a:prstGeom prst="rect">
            <a:avLst/>
          </a:prstGeom>
          <a:noFill/>
          <a:ln>
            <a:noFill/>
          </a:ln>
        </p:spPr>
        <p:txBody>
          <a:bodyPr wrap="none" lIns="0" tIns="0" rIns="0" bIns="0" anchor="t" anchorCtr="0">
            <a:spAutoFit/>
          </a:bodyPr>
          <a:lstStyle/>
          <a:p>
            <a:pPr algn="l"/>
            <a:r>
              <a:rPr lang="zh-CN" sz="1275" b="1" dirty="0">
                <a:solidFill>
                  <a:srgbClr val="1F2328"/>
                </a:solidFill>
                <a:latin typeface="Arial"/>
                <a:ea typeface="SimHei"/>
                <a:cs typeface="Arial"/>
              </a:rPr>
              <a:t>构建增强型输入</a:t>
            </a:r>
          </a:p>
        </p:txBody>
      </p:sp>
      <p:sp>
        <p:nvSpPr>
          <p:cNvPr id="99" name="TextBox 99"/>
          <p:cNvSpPr txBox="1"/>
          <p:nvPr/>
        </p:nvSpPr>
        <p:spPr>
          <a:xfrm>
            <a:off x="5710333" y="2753202"/>
            <a:ext cx="1401056" cy="259080"/>
          </a:xfrm>
          <a:prstGeom prst="rect">
            <a:avLst/>
          </a:prstGeom>
          <a:noFill/>
          <a:ln>
            <a:noFill/>
          </a:ln>
        </p:spPr>
        <p:txBody>
          <a:bodyPr wrap="none" lIns="0" tIns="0" rIns="0" bIns="0" anchor="t" anchorCtr="0">
            <a:spAutoFit/>
          </a:bodyPr>
          <a:lstStyle/>
          <a:p>
            <a:pPr algn="l"/>
            <a:r>
              <a:rPr lang="zh-CN" sz="1275" b="1" dirty="0">
                <a:solidFill>
                  <a:srgbClr val="1F2328"/>
                </a:solidFill>
                <a:latin typeface="Arial"/>
                <a:ea typeface="SimHei"/>
                <a:cs typeface="Arial"/>
              </a:rPr>
              <a:t>&amp; LLM 推理卡片</a:t>
            </a:r>
          </a:p>
        </p:txBody>
      </p:sp>
      <p:sp>
        <p:nvSpPr>
          <p:cNvPr id="100" name="Line 100"/>
          <p:cNvSpPr/>
          <p:nvPr/>
        </p:nvSpPr>
        <p:spPr>
          <a:xfrm>
            <a:off x="5726525" y="3119438"/>
            <a:ext cx="2476500" cy="9525"/>
          </a:xfrm>
          <a:custGeom>
            <a:avLst/>
            <a:gdLst/>
            <a:ahLst/>
            <a:cxnLst/>
            <a:rect l="l" t="t" r="r" b="b"/>
            <a:pathLst>
              <a:path w="2476500" h="9525">
                <a:moveTo>
                  <a:pt x="0" y="0"/>
                </a:moveTo>
                <a:lnTo>
                  <a:pt x="2476500" y="0"/>
                </a:lnTo>
              </a:path>
            </a:pathLst>
          </a:custGeom>
          <a:noFill/>
          <a:ln w="19050">
            <a:solidFill>
              <a:srgbClr val="A50021"/>
            </a:solidFill>
          </a:ln>
        </p:spPr>
      </p:sp>
      <p:sp>
        <p:nvSpPr>
          <p:cNvPr id="101" name="Rectangle 101"/>
          <p:cNvSpPr/>
          <p:nvPr/>
        </p:nvSpPr>
        <p:spPr>
          <a:xfrm>
            <a:off x="5783675" y="3367088"/>
            <a:ext cx="1162050" cy="1219200"/>
          </a:xfrm>
          <a:prstGeom prst="roundRect">
            <a:avLst>
              <a:gd name="adj" fmla="val 6557"/>
            </a:avLst>
          </a:prstGeom>
          <a:solidFill>
            <a:srgbClr val="F8F9FA"/>
          </a:solidFill>
          <a:ln w="11430">
            <a:solidFill>
              <a:srgbClr val="E4E7EB"/>
            </a:solidFill>
          </a:ln>
        </p:spPr>
      </p:sp>
      <p:sp>
        <p:nvSpPr>
          <p:cNvPr id="102" name="TextBox 102"/>
          <p:cNvSpPr txBox="1"/>
          <p:nvPr/>
        </p:nvSpPr>
        <p:spPr>
          <a:xfrm>
            <a:off x="5948815" y="3482340"/>
            <a:ext cx="831771" cy="213360"/>
          </a:xfrm>
          <a:prstGeom prst="rect">
            <a:avLst/>
          </a:prstGeom>
          <a:noFill/>
          <a:ln>
            <a:noFill/>
          </a:ln>
        </p:spPr>
        <p:txBody>
          <a:bodyPr wrap="none" lIns="0" tIns="0" rIns="0" bIns="0" anchor="t" anchorCtr="0">
            <a:spAutoFit/>
          </a:bodyPr>
          <a:lstStyle/>
          <a:p>
            <a:pPr algn="ctr"/>
            <a:r>
              <a:rPr lang="zh-CN" sz="1050" b="1" dirty="0">
                <a:solidFill>
                  <a:srgbClr val="1F2328"/>
                </a:solidFill>
                <a:latin typeface="Arial"/>
                <a:ea typeface="SimHei"/>
                <a:cs typeface="Arial"/>
              </a:rPr>
              <a:t>整合提示词</a:t>
            </a:r>
          </a:p>
        </p:txBody>
      </p:sp>
      <p:grpSp>
        <p:nvGrpSpPr>
          <p:cNvPr id="150" name="组合 149">
            <a:extLst>
              <a:ext uri="{FF2B5EF4-FFF2-40B4-BE49-F238E27FC236}">
                <a16:creationId xmlns:a16="http://schemas.microsoft.com/office/drawing/2014/main" id="{5A4F5B65-232F-4587-B3AE-BB3F503C30C7}"/>
              </a:ext>
            </a:extLst>
          </p:cNvPr>
          <p:cNvGrpSpPr/>
          <p:nvPr/>
        </p:nvGrpSpPr>
        <p:grpSpPr>
          <a:xfrm>
            <a:off x="6007513" y="3714751"/>
            <a:ext cx="714375" cy="266700"/>
            <a:chOff x="5938838" y="3333750"/>
            <a:chExt cx="714375" cy="266700"/>
          </a:xfrm>
        </p:grpSpPr>
        <p:grpSp>
          <p:nvGrpSpPr>
            <p:cNvPr id="148" name="组合 147">
              <a:extLst>
                <a:ext uri="{FF2B5EF4-FFF2-40B4-BE49-F238E27FC236}">
                  <a16:creationId xmlns:a16="http://schemas.microsoft.com/office/drawing/2014/main" id="{C04B61E9-090B-4100-B5A9-B156BF60FE9A}"/>
                </a:ext>
              </a:extLst>
            </p:cNvPr>
            <p:cNvGrpSpPr/>
            <p:nvPr/>
          </p:nvGrpSpPr>
          <p:grpSpPr>
            <a:xfrm>
              <a:off x="5938838" y="3350419"/>
              <a:ext cx="200025" cy="233362"/>
              <a:chOff x="5938838" y="3350419"/>
              <a:chExt cx="200025" cy="233362"/>
            </a:xfrm>
          </p:grpSpPr>
          <p:sp>
            <p:nvSpPr>
              <p:cNvPr id="103" name="Freeform 103"/>
              <p:cNvSpPr/>
              <p:nvPr/>
            </p:nvSpPr>
            <p:spPr>
              <a:xfrm>
                <a:off x="5988844" y="3350419"/>
                <a:ext cx="100012" cy="100012"/>
              </a:xfrm>
              <a:custGeom>
                <a:avLst/>
                <a:gdLst/>
                <a:ahLst/>
                <a:cxnLst/>
                <a:rect l="l" t="t" r="r" b="b"/>
                <a:pathLst>
                  <a:path w="100012" h="100012">
                    <a:moveTo>
                      <a:pt x="50006" y="100012"/>
                    </a:moveTo>
                    <a:cubicBezTo>
                      <a:pt x="77624" y="100012"/>
                      <a:pt x="100012" y="77624"/>
                      <a:pt x="100012" y="50006"/>
                    </a:cubicBezTo>
                    <a:cubicBezTo>
                      <a:pt x="100012" y="22389"/>
                      <a:pt x="77624" y="0"/>
                      <a:pt x="50006" y="0"/>
                    </a:cubicBezTo>
                    <a:cubicBezTo>
                      <a:pt x="22389" y="0"/>
                      <a:pt x="0" y="22389"/>
                      <a:pt x="0" y="50006"/>
                    </a:cubicBezTo>
                    <a:cubicBezTo>
                      <a:pt x="0" y="77624"/>
                      <a:pt x="22389" y="100012"/>
                      <a:pt x="50006" y="100012"/>
                    </a:cubicBezTo>
                    <a:close/>
                  </a:path>
                </a:pathLst>
              </a:custGeom>
              <a:solidFill>
                <a:srgbClr val="1F2328"/>
              </a:solidFill>
              <a:ln>
                <a:noFill/>
              </a:ln>
            </p:spPr>
          </p:sp>
          <p:sp>
            <p:nvSpPr>
              <p:cNvPr id="104" name="Freeform 104"/>
              <p:cNvSpPr/>
              <p:nvPr/>
            </p:nvSpPr>
            <p:spPr>
              <a:xfrm>
                <a:off x="5938838" y="3483769"/>
                <a:ext cx="200025" cy="100012"/>
              </a:xfrm>
              <a:custGeom>
                <a:avLst/>
                <a:gdLst/>
                <a:ahLst/>
                <a:cxnLst/>
                <a:rect l="l" t="t" r="r" b="b"/>
                <a:pathLst>
                  <a:path w="200025" h="100012">
                    <a:moveTo>
                      <a:pt x="200025" y="50006"/>
                    </a:moveTo>
                    <a:cubicBezTo>
                      <a:pt x="200025" y="22388"/>
                      <a:pt x="177637" y="0"/>
                      <a:pt x="150019" y="0"/>
                    </a:cubicBezTo>
                    <a:lnTo>
                      <a:pt x="50006" y="0"/>
                    </a:lnTo>
                    <a:cubicBezTo>
                      <a:pt x="22389" y="0"/>
                      <a:pt x="0" y="22388"/>
                      <a:pt x="0" y="50006"/>
                    </a:cubicBezTo>
                    <a:lnTo>
                      <a:pt x="0" y="100012"/>
                    </a:lnTo>
                    <a:lnTo>
                      <a:pt x="200025" y="100012"/>
                    </a:lnTo>
                    <a:lnTo>
                      <a:pt x="200025" y="50006"/>
                    </a:lnTo>
                    <a:close/>
                  </a:path>
                </a:pathLst>
              </a:custGeom>
              <a:solidFill>
                <a:srgbClr val="1F2328"/>
              </a:solidFill>
              <a:ln>
                <a:noFill/>
              </a:ln>
            </p:spPr>
          </p:sp>
        </p:grpSp>
        <p:sp>
          <p:nvSpPr>
            <p:cNvPr id="106" name="Freeform 106"/>
            <p:cNvSpPr/>
            <p:nvPr/>
          </p:nvSpPr>
          <p:spPr>
            <a:xfrm>
              <a:off x="6219825" y="3400425"/>
              <a:ext cx="133350" cy="133350"/>
            </a:xfrm>
            <a:custGeom>
              <a:avLst/>
              <a:gdLst/>
              <a:ahLst/>
              <a:cxnLst/>
              <a:rect l="l" t="t" r="r" b="b"/>
              <a:pathLst>
                <a:path w="133350" h="133350">
                  <a:moveTo>
                    <a:pt x="85725" y="0"/>
                  </a:moveTo>
                  <a:lnTo>
                    <a:pt x="47625" y="0"/>
                  </a:lnTo>
                  <a:lnTo>
                    <a:pt x="47625" y="47625"/>
                  </a:lnTo>
                  <a:lnTo>
                    <a:pt x="0" y="47625"/>
                  </a:lnTo>
                  <a:lnTo>
                    <a:pt x="0" y="85725"/>
                  </a:lnTo>
                  <a:lnTo>
                    <a:pt x="47625" y="85725"/>
                  </a:lnTo>
                  <a:lnTo>
                    <a:pt x="47625" y="133350"/>
                  </a:lnTo>
                  <a:lnTo>
                    <a:pt x="85725" y="133350"/>
                  </a:lnTo>
                  <a:lnTo>
                    <a:pt x="85725" y="85725"/>
                  </a:lnTo>
                  <a:lnTo>
                    <a:pt x="133350" y="85725"/>
                  </a:lnTo>
                  <a:lnTo>
                    <a:pt x="133350" y="47625"/>
                  </a:lnTo>
                  <a:lnTo>
                    <a:pt x="85725" y="47625"/>
                  </a:lnTo>
                  <a:lnTo>
                    <a:pt x="85725" y="0"/>
                  </a:lnTo>
                  <a:close/>
                </a:path>
              </a:pathLst>
            </a:custGeom>
            <a:solidFill>
              <a:srgbClr val="A50021"/>
            </a:solidFill>
            <a:ln>
              <a:noFill/>
            </a:ln>
          </p:spPr>
        </p:sp>
        <p:grpSp>
          <p:nvGrpSpPr>
            <p:cNvPr id="149" name="组合 148">
              <a:extLst>
                <a:ext uri="{FF2B5EF4-FFF2-40B4-BE49-F238E27FC236}">
                  <a16:creationId xmlns:a16="http://schemas.microsoft.com/office/drawing/2014/main" id="{85B9F8B3-E580-4633-881D-7D7C0EDF7492}"/>
                </a:ext>
              </a:extLst>
            </p:cNvPr>
            <p:cNvGrpSpPr/>
            <p:nvPr/>
          </p:nvGrpSpPr>
          <p:grpSpPr>
            <a:xfrm>
              <a:off x="6453188" y="3333750"/>
              <a:ext cx="200025" cy="266700"/>
              <a:chOff x="6453188" y="3333750"/>
              <a:chExt cx="200025" cy="266700"/>
            </a:xfrm>
          </p:grpSpPr>
          <p:sp>
            <p:nvSpPr>
              <p:cNvPr id="107" name="Freeform 107"/>
              <p:cNvSpPr/>
              <p:nvPr/>
            </p:nvSpPr>
            <p:spPr>
              <a:xfrm>
                <a:off x="6453188" y="3333750"/>
                <a:ext cx="200025" cy="266700"/>
              </a:xfrm>
              <a:custGeom>
                <a:avLst/>
                <a:gdLst/>
                <a:ahLst/>
                <a:cxnLst/>
                <a:rect l="l" t="t" r="r" b="b"/>
                <a:pathLst>
                  <a:path w="200025" h="266700">
                    <a:moveTo>
                      <a:pt x="83344" y="0"/>
                    </a:moveTo>
                    <a:lnTo>
                      <a:pt x="0" y="0"/>
                    </a:lnTo>
                    <a:lnTo>
                      <a:pt x="0" y="266700"/>
                    </a:lnTo>
                    <a:lnTo>
                      <a:pt x="200025" y="266700"/>
                    </a:lnTo>
                    <a:lnTo>
                      <a:pt x="200025" y="116681"/>
                    </a:lnTo>
                    <a:lnTo>
                      <a:pt x="83344" y="116681"/>
                    </a:lnTo>
                    <a:lnTo>
                      <a:pt x="83344" y="0"/>
                    </a:lnTo>
                    <a:close/>
                  </a:path>
                </a:pathLst>
              </a:custGeom>
              <a:solidFill>
                <a:srgbClr val="1F2328"/>
              </a:solidFill>
              <a:ln>
                <a:noFill/>
              </a:ln>
            </p:spPr>
          </p:sp>
          <p:sp>
            <p:nvSpPr>
              <p:cNvPr id="108" name="Freeform 108"/>
              <p:cNvSpPr/>
              <p:nvPr/>
            </p:nvSpPr>
            <p:spPr>
              <a:xfrm>
                <a:off x="6569869" y="3333750"/>
                <a:ext cx="83344" cy="83344"/>
              </a:xfrm>
              <a:custGeom>
                <a:avLst/>
                <a:gdLst/>
                <a:ahLst/>
                <a:cxnLst/>
                <a:rect l="l" t="t" r="r" b="b"/>
                <a:pathLst>
                  <a:path w="83344" h="83344">
                    <a:moveTo>
                      <a:pt x="0" y="0"/>
                    </a:moveTo>
                    <a:lnTo>
                      <a:pt x="0" y="83344"/>
                    </a:lnTo>
                    <a:lnTo>
                      <a:pt x="83344" y="83344"/>
                    </a:lnTo>
                    <a:lnTo>
                      <a:pt x="0" y="0"/>
                    </a:lnTo>
                    <a:close/>
                  </a:path>
                </a:pathLst>
              </a:custGeom>
              <a:solidFill>
                <a:srgbClr val="1F2328"/>
              </a:solidFill>
              <a:ln>
                <a:noFill/>
              </a:ln>
            </p:spPr>
          </p:sp>
          <p:sp>
            <p:nvSpPr>
              <p:cNvPr id="110" name="Line 110"/>
              <p:cNvSpPr/>
              <p:nvPr/>
            </p:nvSpPr>
            <p:spPr>
              <a:xfrm>
                <a:off x="6496050" y="3448050"/>
                <a:ext cx="133350" cy="9525"/>
              </a:xfrm>
              <a:custGeom>
                <a:avLst/>
                <a:gdLst/>
                <a:ahLst/>
                <a:cxnLst/>
                <a:rect l="l" t="t" r="r" b="b"/>
                <a:pathLst>
                  <a:path w="133350" h="9525">
                    <a:moveTo>
                      <a:pt x="0" y="0"/>
                    </a:moveTo>
                    <a:lnTo>
                      <a:pt x="133350" y="0"/>
                    </a:lnTo>
                  </a:path>
                </a:pathLst>
              </a:custGeom>
              <a:noFill/>
              <a:ln w="19050">
                <a:solidFill>
                  <a:srgbClr val="A50021"/>
                </a:solidFill>
              </a:ln>
            </p:spPr>
          </p:sp>
          <p:sp>
            <p:nvSpPr>
              <p:cNvPr id="111" name="Line 111"/>
              <p:cNvSpPr/>
              <p:nvPr/>
            </p:nvSpPr>
            <p:spPr>
              <a:xfrm>
                <a:off x="6496050" y="3524250"/>
                <a:ext cx="133350" cy="9525"/>
              </a:xfrm>
              <a:custGeom>
                <a:avLst/>
                <a:gdLst/>
                <a:ahLst/>
                <a:cxnLst/>
                <a:rect l="l" t="t" r="r" b="b"/>
                <a:pathLst>
                  <a:path w="133350" h="9525">
                    <a:moveTo>
                      <a:pt x="0" y="0"/>
                    </a:moveTo>
                    <a:lnTo>
                      <a:pt x="133350" y="0"/>
                    </a:lnTo>
                  </a:path>
                </a:pathLst>
              </a:custGeom>
              <a:noFill/>
              <a:ln w="19050">
                <a:solidFill>
                  <a:srgbClr val="A50021"/>
                </a:solidFill>
              </a:ln>
            </p:spPr>
          </p:sp>
        </p:grpSp>
      </p:grpSp>
      <p:grpSp>
        <p:nvGrpSpPr>
          <p:cNvPr id="151" name="组合 150">
            <a:extLst>
              <a:ext uri="{FF2B5EF4-FFF2-40B4-BE49-F238E27FC236}">
                <a16:creationId xmlns:a16="http://schemas.microsoft.com/office/drawing/2014/main" id="{32F78D4C-1562-4F9A-9F46-997BCDBAB875}"/>
              </a:ext>
            </a:extLst>
          </p:cNvPr>
          <p:cNvGrpSpPr/>
          <p:nvPr/>
        </p:nvGrpSpPr>
        <p:grpSpPr>
          <a:xfrm>
            <a:off x="5990011" y="4038362"/>
            <a:ext cx="811530" cy="525780"/>
            <a:chOff x="5890260" y="3712845"/>
            <a:chExt cx="811530" cy="525780"/>
          </a:xfrm>
        </p:grpSpPr>
        <p:sp>
          <p:nvSpPr>
            <p:cNvPr id="112" name="TextBox 112"/>
            <p:cNvSpPr txBox="1"/>
            <p:nvPr/>
          </p:nvSpPr>
          <p:spPr>
            <a:xfrm>
              <a:off x="5946124" y="3712845"/>
              <a:ext cx="699802" cy="182880"/>
            </a:xfrm>
            <a:prstGeom prst="rect">
              <a:avLst/>
            </a:prstGeom>
            <a:noFill/>
            <a:ln>
              <a:noFill/>
            </a:ln>
          </p:spPr>
          <p:txBody>
            <a:bodyPr wrap="none" lIns="0" tIns="0" rIns="0" bIns="0" anchor="t" anchorCtr="0">
              <a:spAutoFit/>
            </a:bodyPr>
            <a:lstStyle/>
            <a:p>
              <a:pPr algn="ctr"/>
              <a:r>
                <a:rPr lang="zh-CN" sz="900" dirty="0">
                  <a:solidFill>
                    <a:srgbClr val="5F6368"/>
                  </a:solidFill>
                  <a:latin typeface="Arial"/>
                  <a:ea typeface="SimHei"/>
                  <a:cs typeface="Arial"/>
                </a:rPr>
                <a:t>用户 + 文档</a:t>
              </a:r>
            </a:p>
          </p:txBody>
        </p:sp>
        <p:sp>
          <p:nvSpPr>
            <p:cNvPr id="113" name="TextBox 113"/>
            <p:cNvSpPr txBox="1"/>
            <p:nvPr/>
          </p:nvSpPr>
          <p:spPr>
            <a:xfrm>
              <a:off x="5890260" y="3884295"/>
              <a:ext cx="811530" cy="182880"/>
            </a:xfrm>
            <a:prstGeom prst="rect">
              <a:avLst/>
            </a:prstGeom>
            <a:noFill/>
            <a:ln>
              <a:noFill/>
            </a:ln>
          </p:spPr>
          <p:txBody>
            <a:bodyPr wrap="none" lIns="0" tIns="0" rIns="0" bIns="0" anchor="t" anchorCtr="0">
              <a:spAutoFit/>
            </a:bodyPr>
            <a:lstStyle/>
            <a:p>
              <a:pPr algn="ctr"/>
              <a:r>
                <a:rPr lang="zh-CN" sz="900" dirty="0">
                  <a:solidFill>
                    <a:srgbClr val="5F6368"/>
                  </a:solidFill>
                  <a:latin typeface="Arial"/>
                  <a:ea typeface="SimHei"/>
                  <a:cs typeface="Arial"/>
                </a:rPr>
                <a:t>增强型提示词</a:t>
              </a:r>
            </a:p>
          </p:txBody>
        </p:sp>
        <p:sp>
          <p:nvSpPr>
            <p:cNvPr id="114" name="TextBox 114"/>
            <p:cNvSpPr txBox="1"/>
            <p:nvPr/>
          </p:nvSpPr>
          <p:spPr>
            <a:xfrm>
              <a:off x="5900118" y="4055745"/>
              <a:ext cx="791813" cy="182880"/>
            </a:xfrm>
            <a:prstGeom prst="rect">
              <a:avLst/>
            </a:prstGeom>
            <a:noFill/>
            <a:ln>
              <a:noFill/>
            </a:ln>
          </p:spPr>
          <p:txBody>
            <a:bodyPr wrap="none" lIns="0" tIns="0" rIns="0" bIns="0" anchor="t" anchorCtr="0">
              <a:spAutoFit/>
            </a:bodyPr>
            <a:lstStyle/>
            <a:p>
              <a:pPr algn="ctr"/>
              <a:r>
                <a:rPr lang="zh-CN" sz="900" dirty="0">
                  <a:solidFill>
                    <a:srgbClr val="5F6368"/>
                  </a:solidFill>
                  <a:latin typeface="Arial"/>
                  <a:ea typeface="SimHei"/>
                  <a:cs typeface="Arial"/>
                </a:rPr>
                <a:t>（Context）</a:t>
              </a:r>
            </a:p>
          </p:txBody>
        </p:sp>
      </p:grpSp>
      <p:sp>
        <p:nvSpPr>
          <p:cNvPr id="115" name="Rectangle 115"/>
          <p:cNvSpPr/>
          <p:nvPr/>
        </p:nvSpPr>
        <p:spPr>
          <a:xfrm>
            <a:off x="7174325" y="3367088"/>
            <a:ext cx="1009650" cy="1219200"/>
          </a:xfrm>
          <a:prstGeom prst="roundRect">
            <a:avLst>
              <a:gd name="adj" fmla="val 7547"/>
            </a:avLst>
          </a:prstGeom>
          <a:solidFill>
            <a:srgbClr val="F8F9FA"/>
          </a:solidFill>
          <a:ln w="11430">
            <a:solidFill>
              <a:srgbClr val="E4E7EB"/>
            </a:solidFill>
          </a:ln>
        </p:spPr>
      </p:sp>
      <p:sp>
        <p:nvSpPr>
          <p:cNvPr id="116" name="Ellipse 116"/>
          <p:cNvSpPr/>
          <p:nvPr/>
        </p:nvSpPr>
        <p:spPr>
          <a:xfrm>
            <a:off x="7507700" y="3671888"/>
            <a:ext cx="342900" cy="342900"/>
          </a:xfrm>
          <a:prstGeom prst="ellipse">
            <a:avLst/>
          </a:prstGeom>
          <a:noFill/>
          <a:ln w="19050">
            <a:solidFill>
              <a:srgbClr val="1F2328"/>
            </a:solidFill>
          </a:ln>
        </p:spPr>
      </p:sp>
      <p:sp>
        <p:nvSpPr>
          <p:cNvPr id="117" name="Ellipse 117"/>
          <p:cNvSpPr/>
          <p:nvPr/>
        </p:nvSpPr>
        <p:spPr>
          <a:xfrm>
            <a:off x="7755350" y="3776663"/>
            <a:ext cx="247650" cy="247650"/>
          </a:xfrm>
          <a:prstGeom prst="ellipse">
            <a:avLst/>
          </a:prstGeom>
          <a:noFill/>
          <a:ln w="19050">
            <a:solidFill>
              <a:srgbClr val="1F2328"/>
            </a:solidFill>
          </a:ln>
        </p:spPr>
      </p:sp>
      <p:sp>
        <p:nvSpPr>
          <p:cNvPr id="118" name="Ellipse 118"/>
          <p:cNvSpPr/>
          <p:nvPr/>
        </p:nvSpPr>
        <p:spPr>
          <a:xfrm>
            <a:off x="7355300" y="3776663"/>
            <a:ext cx="247650" cy="247650"/>
          </a:xfrm>
          <a:prstGeom prst="ellipse">
            <a:avLst/>
          </a:prstGeom>
          <a:noFill/>
          <a:ln w="19050">
            <a:solidFill>
              <a:srgbClr val="1F2328"/>
            </a:solidFill>
          </a:ln>
        </p:spPr>
      </p:sp>
      <p:sp>
        <p:nvSpPr>
          <p:cNvPr id="119" name="TextBox 119"/>
          <p:cNvSpPr txBox="1"/>
          <p:nvPr/>
        </p:nvSpPr>
        <p:spPr>
          <a:xfrm>
            <a:off x="7516871" y="3796666"/>
            <a:ext cx="324557" cy="213360"/>
          </a:xfrm>
          <a:prstGeom prst="rect">
            <a:avLst/>
          </a:prstGeom>
          <a:noFill/>
          <a:ln>
            <a:noFill/>
          </a:ln>
        </p:spPr>
        <p:txBody>
          <a:bodyPr wrap="none" lIns="0" tIns="0" rIns="0" bIns="0" anchor="t" anchorCtr="0">
            <a:spAutoFit/>
          </a:bodyPr>
          <a:lstStyle/>
          <a:p>
            <a:pPr algn="ctr"/>
            <a:r>
              <a:rPr lang="zh-CN" sz="1050" b="1" dirty="0">
                <a:solidFill>
                  <a:srgbClr val="A50021"/>
                </a:solidFill>
                <a:latin typeface="Arial"/>
                <a:ea typeface="SimHei"/>
                <a:cs typeface="Arial"/>
              </a:rPr>
              <a:t>LLM</a:t>
            </a:r>
          </a:p>
        </p:txBody>
      </p:sp>
      <p:sp>
        <p:nvSpPr>
          <p:cNvPr id="120" name="TextBox 120"/>
          <p:cNvSpPr txBox="1"/>
          <p:nvPr/>
        </p:nvSpPr>
        <p:spPr>
          <a:xfrm>
            <a:off x="7263265" y="4225290"/>
            <a:ext cx="831771" cy="213360"/>
          </a:xfrm>
          <a:prstGeom prst="rect">
            <a:avLst/>
          </a:prstGeom>
          <a:noFill/>
          <a:ln>
            <a:noFill/>
          </a:ln>
        </p:spPr>
        <p:txBody>
          <a:bodyPr wrap="none" lIns="0" tIns="0" rIns="0" bIns="0" anchor="t" anchorCtr="0">
            <a:spAutoFit/>
          </a:bodyPr>
          <a:lstStyle/>
          <a:p>
            <a:pPr algn="ctr"/>
            <a:r>
              <a:rPr lang="zh-CN" sz="1050" b="1" dirty="0">
                <a:solidFill>
                  <a:srgbClr val="1F2328"/>
                </a:solidFill>
                <a:latin typeface="Arial"/>
                <a:ea typeface="SimHei"/>
                <a:cs typeface="Arial"/>
              </a:rPr>
              <a:t>大模型推理</a:t>
            </a:r>
          </a:p>
        </p:txBody>
      </p:sp>
      <p:grpSp>
        <p:nvGrpSpPr>
          <p:cNvPr id="152" name="组合 151">
            <a:extLst>
              <a:ext uri="{FF2B5EF4-FFF2-40B4-BE49-F238E27FC236}">
                <a16:creationId xmlns:a16="http://schemas.microsoft.com/office/drawing/2014/main" id="{CD50B844-7944-4D7B-A760-A74778C447CF}"/>
              </a:ext>
            </a:extLst>
          </p:cNvPr>
          <p:cNvGrpSpPr/>
          <p:nvPr/>
        </p:nvGrpSpPr>
        <p:grpSpPr>
          <a:xfrm>
            <a:off x="6038255" y="4629864"/>
            <a:ext cx="2316575" cy="525780"/>
            <a:chOff x="5684520" y="4284345"/>
            <a:chExt cx="2316575" cy="525780"/>
          </a:xfrm>
        </p:grpSpPr>
        <p:sp>
          <p:nvSpPr>
            <p:cNvPr id="121" name="TextBox 121"/>
            <p:cNvSpPr txBox="1"/>
            <p:nvPr/>
          </p:nvSpPr>
          <p:spPr>
            <a:xfrm>
              <a:off x="5684520" y="4284345"/>
              <a:ext cx="2257425"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自动将检索到的相关文档和用户原始输</a:t>
              </a:r>
            </a:p>
          </p:txBody>
        </p:sp>
        <p:sp>
          <p:nvSpPr>
            <p:cNvPr id="122" name="TextBox 122"/>
            <p:cNvSpPr txBox="1"/>
            <p:nvPr/>
          </p:nvSpPr>
          <p:spPr>
            <a:xfrm>
              <a:off x="5684520" y="4455795"/>
              <a:ext cx="2316575"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入整合，提交给大模型，等待 LLM 模型</a:t>
              </a:r>
            </a:p>
          </p:txBody>
        </p:sp>
        <p:sp>
          <p:nvSpPr>
            <p:cNvPr id="123" name="TextBox 123"/>
            <p:cNvSpPr txBox="1"/>
            <p:nvPr/>
          </p:nvSpPr>
          <p:spPr>
            <a:xfrm>
              <a:off x="5684520" y="4627245"/>
              <a:ext cx="107442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的推理输出完毕。</a:t>
              </a:r>
            </a:p>
          </p:txBody>
        </p:sp>
      </p:grpSp>
      <p:sp>
        <p:nvSpPr>
          <p:cNvPr id="125" name="Rectangle 125"/>
          <p:cNvSpPr/>
          <p:nvPr/>
        </p:nvSpPr>
        <p:spPr>
          <a:xfrm>
            <a:off x="8736425" y="2738438"/>
            <a:ext cx="1619250" cy="2095500"/>
          </a:xfrm>
          <a:prstGeom prst="roundRect">
            <a:avLst>
              <a:gd name="adj" fmla="val 7059"/>
            </a:avLst>
          </a:prstGeom>
          <a:solidFill>
            <a:srgbClr val="FFFFFF"/>
          </a:solidFill>
          <a:ln w="14288">
            <a:solidFill>
              <a:srgbClr val="E4E7EB"/>
            </a:solidFill>
          </a:ln>
          <a:effectLst>
            <a:outerShdw blurRad="152400" dist="38100" dir="5400000" algn="ctr" rotWithShape="0">
              <a:srgbClr val="000000">
                <a:alpha val="7500"/>
              </a:srgbClr>
            </a:outerShdw>
          </a:effectLst>
        </p:spPr>
      </p:sp>
      <p:sp>
        <p:nvSpPr>
          <p:cNvPr id="126" name="TextBox 126"/>
          <p:cNvSpPr txBox="1"/>
          <p:nvPr/>
        </p:nvSpPr>
        <p:spPr>
          <a:xfrm>
            <a:off x="8943284" y="2886552"/>
            <a:ext cx="1205532" cy="259080"/>
          </a:xfrm>
          <a:prstGeom prst="rect">
            <a:avLst/>
          </a:prstGeom>
          <a:noFill/>
          <a:ln>
            <a:noFill/>
          </a:ln>
        </p:spPr>
        <p:txBody>
          <a:bodyPr wrap="none" lIns="0" tIns="0" rIns="0" bIns="0" anchor="t" anchorCtr="0">
            <a:spAutoFit/>
          </a:bodyPr>
          <a:lstStyle/>
          <a:p>
            <a:pPr algn="ctr"/>
            <a:r>
              <a:rPr lang="zh-CN" sz="1275" b="1" dirty="0">
                <a:solidFill>
                  <a:srgbClr val="1F2328"/>
                </a:solidFill>
                <a:latin typeface="Arial"/>
                <a:ea typeface="SimHei"/>
                <a:cs typeface="Arial"/>
              </a:rPr>
              <a:t>生成对话结果</a:t>
            </a:r>
          </a:p>
        </p:txBody>
      </p:sp>
      <p:sp>
        <p:nvSpPr>
          <p:cNvPr id="127" name="Line 127"/>
          <p:cNvSpPr/>
          <p:nvPr/>
        </p:nvSpPr>
        <p:spPr>
          <a:xfrm>
            <a:off x="8984075" y="3195638"/>
            <a:ext cx="1123950" cy="9525"/>
          </a:xfrm>
          <a:custGeom>
            <a:avLst/>
            <a:gdLst/>
            <a:ahLst/>
            <a:cxnLst/>
            <a:rect l="l" t="t" r="r" b="b"/>
            <a:pathLst>
              <a:path w="1123950" h="9525">
                <a:moveTo>
                  <a:pt x="0" y="0"/>
                </a:moveTo>
                <a:lnTo>
                  <a:pt x="1123950" y="0"/>
                </a:lnTo>
              </a:path>
            </a:pathLst>
          </a:custGeom>
          <a:noFill/>
          <a:ln w="19050">
            <a:solidFill>
              <a:srgbClr val="A50021"/>
            </a:solidFill>
          </a:ln>
        </p:spPr>
      </p:sp>
      <p:sp>
        <p:nvSpPr>
          <p:cNvPr id="128" name="Freeform 128"/>
          <p:cNvSpPr/>
          <p:nvPr/>
        </p:nvSpPr>
        <p:spPr>
          <a:xfrm>
            <a:off x="9222200" y="3500438"/>
            <a:ext cx="647700" cy="607219"/>
          </a:xfrm>
          <a:custGeom>
            <a:avLst/>
            <a:gdLst/>
            <a:ahLst/>
            <a:cxnLst/>
            <a:rect l="l" t="t" r="r" b="b"/>
            <a:pathLst>
              <a:path w="647700" h="607219">
                <a:moveTo>
                  <a:pt x="364331" y="0"/>
                </a:moveTo>
                <a:lnTo>
                  <a:pt x="364331" y="80962"/>
                </a:lnTo>
                <a:lnTo>
                  <a:pt x="526256" y="80962"/>
                </a:lnTo>
                <a:lnTo>
                  <a:pt x="647700" y="344091"/>
                </a:lnTo>
                <a:lnTo>
                  <a:pt x="526256" y="607219"/>
                </a:lnTo>
                <a:lnTo>
                  <a:pt x="121444" y="607219"/>
                </a:lnTo>
                <a:lnTo>
                  <a:pt x="0" y="344091"/>
                </a:lnTo>
                <a:lnTo>
                  <a:pt x="121444" y="80962"/>
                </a:lnTo>
                <a:lnTo>
                  <a:pt x="283369" y="80962"/>
                </a:lnTo>
                <a:lnTo>
                  <a:pt x="283369" y="0"/>
                </a:lnTo>
                <a:lnTo>
                  <a:pt x="364331" y="0"/>
                </a:lnTo>
                <a:close/>
                <a:moveTo>
                  <a:pt x="186130" y="475185"/>
                </a:moveTo>
                <a:lnTo>
                  <a:pt x="323850" y="496373"/>
                </a:lnTo>
                <a:lnTo>
                  <a:pt x="461571" y="475185"/>
                </a:lnTo>
                <a:lnTo>
                  <a:pt x="449257" y="395163"/>
                </a:lnTo>
                <a:lnTo>
                  <a:pt x="323850" y="414455"/>
                </a:lnTo>
                <a:lnTo>
                  <a:pt x="198442" y="395163"/>
                </a:lnTo>
                <a:lnTo>
                  <a:pt x="186130" y="475185"/>
                </a:lnTo>
                <a:close/>
                <a:moveTo>
                  <a:pt x="283369" y="273248"/>
                </a:moveTo>
                <a:cubicBezTo>
                  <a:pt x="283369" y="301195"/>
                  <a:pt x="260714" y="323850"/>
                  <a:pt x="232767" y="323850"/>
                </a:cubicBezTo>
                <a:cubicBezTo>
                  <a:pt x="204821" y="323850"/>
                  <a:pt x="182166" y="301195"/>
                  <a:pt x="182166" y="273248"/>
                </a:cubicBezTo>
                <a:cubicBezTo>
                  <a:pt x="182166" y="245302"/>
                  <a:pt x="204821" y="222647"/>
                  <a:pt x="232767" y="222647"/>
                </a:cubicBezTo>
                <a:cubicBezTo>
                  <a:pt x="260714" y="222647"/>
                  <a:pt x="283369" y="245302"/>
                  <a:pt x="283369" y="273248"/>
                </a:cubicBezTo>
                <a:close/>
                <a:moveTo>
                  <a:pt x="414933" y="323850"/>
                </a:moveTo>
                <a:cubicBezTo>
                  <a:pt x="442881" y="323850"/>
                  <a:pt x="465534" y="301195"/>
                  <a:pt x="465534" y="273248"/>
                </a:cubicBezTo>
                <a:cubicBezTo>
                  <a:pt x="465534" y="245302"/>
                  <a:pt x="442881" y="222647"/>
                  <a:pt x="414933" y="222647"/>
                </a:cubicBezTo>
                <a:cubicBezTo>
                  <a:pt x="386986" y="222647"/>
                  <a:pt x="364331" y="245302"/>
                  <a:pt x="364331" y="273248"/>
                </a:cubicBezTo>
                <a:cubicBezTo>
                  <a:pt x="364331" y="301195"/>
                  <a:pt x="386986" y="323850"/>
                  <a:pt x="414933" y="323850"/>
                </a:cubicBezTo>
                <a:close/>
              </a:path>
            </a:pathLst>
          </a:custGeom>
          <a:solidFill>
            <a:srgbClr val="1F2328"/>
          </a:solidFill>
          <a:ln>
            <a:noFill/>
          </a:ln>
        </p:spPr>
      </p:sp>
      <p:sp>
        <p:nvSpPr>
          <p:cNvPr id="129" name="Ellipse 129"/>
          <p:cNvSpPr/>
          <p:nvPr/>
        </p:nvSpPr>
        <p:spPr>
          <a:xfrm>
            <a:off x="9498425" y="3395663"/>
            <a:ext cx="95250" cy="95250"/>
          </a:xfrm>
          <a:prstGeom prst="ellipse">
            <a:avLst/>
          </a:prstGeom>
          <a:solidFill>
            <a:srgbClr val="A50021"/>
          </a:solidFill>
          <a:ln>
            <a:noFill/>
          </a:ln>
        </p:spPr>
      </p:sp>
      <p:sp>
        <p:nvSpPr>
          <p:cNvPr id="130" name="Ellipse 130"/>
          <p:cNvSpPr/>
          <p:nvPr/>
        </p:nvSpPr>
        <p:spPr>
          <a:xfrm>
            <a:off x="9098375" y="3738563"/>
            <a:ext cx="95250" cy="95250"/>
          </a:xfrm>
          <a:prstGeom prst="ellipse">
            <a:avLst/>
          </a:prstGeom>
          <a:solidFill>
            <a:srgbClr val="A50021"/>
          </a:solidFill>
          <a:ln>
            <a:noFill/>
          </a:ln>
        </p:spPr>
      </p:sp>
      <p:sp>
        <p:nvSpPr>
          <p:cNvPr id="131" name="Ellipse 131"/>
          <p:cNvSpPr/>
          <p:nvPr/>
        </p:nvSpPr>
        <p:spPr>
          <a:xfrm>
            <a:off x="9898475" y="3738563"/>
            <a:ext cx="95250" cy="95250"/>
          </a:xfrm>
          <a:prstGeom prst="ellipse">
            <a:avLst/>
          </a:prstGeom>
          <a:solidFill>
            <a:srgbClr val="A50021"/>
          </a:solidFill>
          <a:ln>
            <a:noFill/>
          </a:ln>
        </p:spPr>
      </p:sp>
      <p:sp>
        <p:nvSpPr>
          <p:cNvPr id="132" name="TextBox 132"/>
          <p:cNvSpPr txBox="1"/>
          <p:nvPr/>
        </p:nvSpPr>
        <p:spPr>
          <a:xfrm>
            <a:off x="8985242" y="4175284"/>
            <a:ext cx="1370433"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读取 LLM 的最终推理</a:t>
            </a:r>
          </a:p>
        </p:txBody>
      </p:sp>
      <p:sp>
        <p:nvSpPr>
          <p:cNvPr id="133" name="TextBox 133"/>
          <p:cNvSpPr txBox="1"/>
          <p:nvPr/>
        </p:nvSpPr>
        <p:spPr>
          <a:xfrm>
            <a:off x="8985242" y="4384834"/>
            <a:ext cx="1448752"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输出，并将回答显示给</a:t>
            </a:r>
          </a:p>
        </p:txBody>
      </p:sp>
      <p:sp>
        <p:nvSpPr>
          <p:cNvPr id="134" name="TextBox 134"/>
          <p:cNvSpPr txBox="1"/>
          <p:nvPr/>
        </p:nvSpPr>
        <p:spPr>
          <a:xfrm>
            <a:off x="8985242" y="4594384"/>
            <a:ext cx="1021556"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用户对话界面。</a:t>
            </a:r>
          </a:p>
        </p:txBody>
      </p:sp>
      <p:sp>
        <p:nvSpPr>
          <p:cNvPr id="136" name="Ellipse 136"/>
          <p:cNvSpPr/>
          <p:nvPr/>
        </p:nvSpPr>
        <p:spPr>
          <a:xfrm>
            <a:off x="10908125" y="3519488"/>
            <a:ext cx="533400" cy="533400"/>
          </a:xfrm>
          <a:prstGeom prst="ellipse">
            <a:avLst/>
          </a:prstGeom>
          <a:solidFill>
            <a:srgbClr val="A50021"/>
          </a:solidFill>
          <a:ln>
            <a:noFill/>
          </a:ln>
        </p:spPr>
      </p:sp>
      <p:sp>
        <p:nvSpPr>
          <p:cNvPr id="137" name="Freeform 137"/>
          <p:cNvSpPr/>
          <p:nvPr/>
        </p:nvSpPr>
        <p:spPr>
          <a:xfrm>
            <a:off x="11051000" y="3693319"/>
            <a:ext cx="247650" cy="185738"/>
          </a:xfrm>
          <a:custGeom>
            <a:avLst/>
            <a:gdLst/>
            <a:ahLst/>
            <a:cxnLst/>
            <a:rect l="l" t="t" r="r" b="b"/>
            <a:pathLst>
              <a:path w="247650" h="185738">
                <a:moveTo>
                  <a:pt x="123825" y="61912"/>
                </a:moveTo>
                <a:lnTo>
                  <a:pt x="123825" y="0"/>
                </a:lnTo>
                <a:lnTo>
                  <a:pt x="154781" y="0"/>
                </a:lnTo>
                <a:lnTo>
                  <a:pt x="247650" y="92869"/>
                </a:lnTo>
                <a:lnTo>
                  <a:pt x="154781" y="185738"/>
                </a:lnTo>
                <a:lnTo>
                  <a:pt x="123825" y="185738"/>
                </a:lnTo>
                <a:lnTo>
                  <a:pt x="123825" y="123825"/>
                </a:lnTo>
                <a:lnTo>
                  <a:pt x="0" y="123825"/>
                </a:lnTo>
                <a:lnTo>
                  <a:pt x="0" y="61912"/>
                </a:lnTo>
                <a:lnTo>
                  <a:pt x="123825" y="61912"/>
                </a:lnTo>
                <a:close/>
              </a:path>
            </a:pathLst>
          </a:custGeom>
          <a:solidFill>
            <a:srgbClr val="FFFFFF"/>
          </a:solidFill>
          <a:ln>
            <a:noFill/>
          </a:ln>
        </p:spPr>
      </p:sp>
      <p:sp>
        <p:nvSpPr>
          <p:cNvPr id="138" name="TextBox 138"/>
          <p:cNvSpPr txBox="1"/>
          <p:nvPr/>
        </p:nvSpPr>
        <p:spPr>
          <a:xfrm>
            <a:off x="10839450" y="4149090"/>
            <a:ext cx="670750" cy="213360"/>
          </a:xfrm>
          <a:prstGeom prst="rect">
            <a:avLst/>
          </a:prstGeom>
          <a:noFill/>
          <a:ln>
            <a:noFill/>
          </a:ln>
        </p:spPr>
        <p:txBody>
          <a:bodyPr wrap="none" lIns="0" tIns="0" rIns="0" bIns="0" anchor="t" anchorCtr="0">
            <a:spAutoFit/>
          </a:bodyPr>
          <a:lstStyle/>
          <a:p>
            <a:pPr algn="ctr"/>
            <a:r>
              <a:rPr lang="zh-CN" sz="1050" b="1" dirty="0">
                <a:solidFill>
                  <a:srgbClr val="1F2328"/>
                </a:solidFill>
                <a:latin typeface="Arial"/>
                <a:ea typeface="SimHei"/>
                <a:cs typeface="Arial"/>
              </a:rPr>
              <a:t>结束对话</a:t>
            </a:r>
          </a:p>
        </p:txBody>
      </p:sp>
      <p:sp>
        <p:nvSpPr>
          <p:cNvPr id="140" name="Line 140"/>
          <p:cNvSpPr/>
          <p:nvPr/>
        </p:nvSpPr>
        <p:spPr>
          <a:xfrm>
            <a:off x="685800" y="6286500"/>
            <a:ext cx="10820400" cy="9525"/>
          </a:xfrm>
          <a:custGeom>
            <a:avLst/>
            <a:gdLst/>
            <a:ahLst/>
            <a:cxnLst/>
            <a:rect l="l" t="t" r="r" b="b"/>
            <a:pathLst>
              <a:path w="10820400" h="9525">
                <a:moveTo>
                  <a:pt x="0" y="0"/>
                </a:moveTo>
                <a:lnTo>
                  <a:pt x="10820400" y="0"/>
                </a:lnTo>
              </a:path>
            </a:pathLst>
          </a:custGeom>
          <a:noFill/>
          <a:ln w="11430">
            <a:solidFill>
              <a:srgbClr val="E4E7EB"/>
            </a:solidFill>
          </a:ln>
        </p:spPr>
      </p:sp>
      <p:sp>
        <p:nvSpPr>
          <p:cNvPr id="141" name="TextBox 141"/>
          <p:cNvSpPr txBox="1"/>
          <p:nvPr/>
        </p:nvSpPr>
        <p:spPr>
          <a:xfrm>
            <a:off x="5948482" y="6458902"/>
            <a:ext cx="295037"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Arial"/>
                <a:ea typeface="SimHei"/>
                <a:cs typeface="Arial"/>
              </a:rPr>
              <a:t>1 / 1</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3"/>
          <p:cNvPicPr>
            <a:picLocks noChangeAspect="1"/>
          </p:cNvPicPr>
          <p:nvPr/>
        </p:nvPicPr>
        <p:blipFill>
          <a:blip r:embed="rId3"/>
          <a:stretch>
            <a:fillRect/>
          </a:stretch>
        </p:blipFill>
        <p:spPr>
          <a:xfrm>
            <a:off x="9525000" y="419100"/>
            <a:ext cx="2381250" cy="571500"/>
          </a:xfrm>
          <a:prstGeom prst="rect">
            <a:avLst/>
          </a:prstGeom>
        </p:spPr>
      </p:pic>
      <p:sp>
        <p:nvSpPr>
          <p:cNvPr id="4" name="TextBox 4"/>
          <p:cNvSpPr txBox="1"/>
          <p:nvPr/>
        </p:nvSpPr>
        <p:spPr>
          <a:xfrm>
            <a:off x="657225" y="519112"/>
            <a:ext cx="870431" cy="346249"/>
          </a:xfrm>
          <a:prstGeom prst="rect">
            <a:avLst/>
          </a:prstGeom>
          <a:noFill/>
          <a:ln>
            <a:noFill/>
          </a:ln>
        </p:spPr>
        <p:txBody>
          <a:bodyPr wrap="none" lIns="0" tIns="0" rIns="0" bIns="0" anchor="t" anchorCtr="0">
            <a:spAutoFit/>
          </a:bodyPr>
          <a:lstStyle/>
          <a:p>
            <a:pPr algn="l"/>
            <a:r>
              <a:rPr lang="zh-CN" sz="2250" b="1" dirty="0">
                <a:solidFill>
                  <a:srgbClr val="1F2328"/>
                </a:solidFill>
                <a:latin typeface="Arial"/>
                <a:ea typeface="SimHei"/>
                <a:cs typeface="Arial"/>
              </a:rPr>
              <a:t>智能体</a:t>
            </a:r>
          </a:p>
        </p:txBody>
      </p:sp>
      <p:sp>
        <p:nvSpPr>
          <p:cNvPr id="5" name="Line 5"/>
          <p:cNvSpPr/>
          <p:nvPr/>
        </p:nvSpPr>
        <p:spPr>
          <a:xfrm>
            <a:off x="685800" y="933450"/>
            <a:ext cx="2171700" cy="9525"/>
          </a:xfrm>
          <a:custGeom>
            <a:avLst/>
            <a:gdLst/>
            <a:ahLst/>
            <a:cxnLst/>
            <a:rect l="l" t="t" r="r" b="b"/>
            <a:pathLst>
              <a:path w="2171700" h="9525">
                <a:moveTo>
                  <a:pt x="0" y="0"/>
                </a:moveTo>
                <a:lnTo>
                  <a:pt x="2171700" y="0"/>
                </a:lnTo>
              </a:path>
            </a:pathLst>
          </a:custGeom>
          <a:noFill/>
          <a:ln w="28575">
            <a:solidFill>
              <a:srgbClr val="A50021"/>
            </a:solidFill>
          </a:ln>
        </p:spPr>
      </p:sp>
      <p:sp>
        <p:nvSpPr>
          <p:cNvPr id="7" name="Rectangle 7"/>
          <p:cNvSpPr/>
          <p:nvPr/>
        </p:nvSpPr>
        <p:spPr>
          <a:xfrm>
            <a:off x="381000" y="1066800"/>
            <a:ext cx="11430000" cy="5124450"/>
          </a:xfrm>
          <a:prstGeom prst="roundRect">
            <a:avLst>
              <a:gd name="adj" fmla="val 1859"/>
            </a:avLst>
          </a:prstGeom>
          <a:solidFill>
            <a:srgbClr val="FFFFFF"/>
          </a:solidFill>
          <a:ln w="14288">
            <a:solidFill>
              <a:srgbClr val="E8EAED"/>
            </a:solidFill>
          </a:ln>
        </p:spPr>
      </p:sp>
      <p:sp>
        <p:nvSpPr>
          <p:cNvPr id="8" name="TextBox 8"/>
          <p:cNvSpPr txBox="1"/>
          <p:nvPr/>
        </p:nvSpPr>
        <p:spPr>
          <a:xfrm>
            <a:off x="597218" y="1180624"/>
            <a:ext cx="4903586" cy="150041"/>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围绕 LLM、上下文、向量知识库与工具系统形成循环执行，直到核心决策点判定完成。</a:t>
            </a:r>
          </a:p>
        </p:txBody>
      </p:sp>
      <p:sp>
        <p:nvSpPr>
          <p:cNvPr id="10" name="Rectangle 10"/>
          <p:cNvSpPr/>
          <p:nvPr/>
        </p:nvSpPr>
        <p:spPr>
          <a:xfrm>
            <a:off x="2743200" y="1466850"/>
            <a:ext cx="4648200" cy="2952750"/>
          </a:xfrm>
          <a:prstGeom prst="roundRect">
            <a:avLst>
              <a:gd name="adj" fmla="val 5806"/>
            </a:avLst>
          </a:prstGeom>
          <a:solidFill>
            <a:srgbClr val="F8F9FA"/>
          </a:solidFill>
          <a:ln w="11430">
            <a:solidFill>
              <a:srgbClr val="E8EAED"/>
            </a:solidFill>
          </a:ln>
        </p:spPr>
      </p:sp>
      <p:sp>
        <p:nvSpPr>
          <p:cNvPr id="11" name="TextBox 11"/>
          <p:cNvSpPr txBox="1"/>
          <p:nvPr/>
        </p:nvSpPr>
        <p:spPr>
          <a:xfrm>
            <a:off x="2950845" y="1574482"/>
            <a:ext cx="1813131" cy="335280"/>
          </a:xfrm>
          <a:prstGeom prst="rect">
            <a:avLst/>
          </a:prstGeom>
          <a:noFill/>
          <a:ln>
            <a:noFill/>
          </a:ln>
        </p:spPr>
        <p:txBody>
          <a:bodyPr wrap="none" lIns="0" tIns="0" rIns="0" bIns="0" anchor="t" anchorCtr="0">
            <a:spAutoFit/>
          </a:bodyPr>
          <a:lstStyle/>
          <a:p>
            <a:pPr algn="l"/>
            <a:r>
              <a:rPr lang="zh-CN" sz="1650" b="1" dirty="0">
                <a:solidFill>
                  <a:srgbClr val="7A0018"/>
                </a:solidFill>
                <a:latin typeface="Arial"/>
                <a:ea typeface="SimHei"/>
                <a:cs typeface="Arial"/>
              </a:rPr>
              <a:t>智能体运作核心</a:t>
            </a:r>
          </a:p>
        </p:txBody>
      </p:sp>
      <p:sp>
        <p:nvSpPr>
          <p:cNvPr id="12" name="TextBox 12"/>
          <p:cNvSpPr txBox="1"/>
          <p:nvPr/>
        </p:nvSpPr>
        <p:spPr>
          <a:xfrm>
            <a:off x="2959418" y="1847374"/>
            <a:ext cx="3349776"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任务管理、上下文维护、循环决策与 ReAct 状态更新</a:t>
            </a:r>
          </a:p>
        </p:txBody>
      </p:sp>
      <p:sp>
        <p:nvSpPr>
          <p:cNvPr id="14" name="Rectangle 14"/>
          <p:cNvSpPr/>
          <p:nvPr/>
        </p:nvSpPr>
        <p:spPr>
          <a:xfrm>
            <a:off x="609600" y="2533650"/>
            <a:ext cx="1676400" cy="1009650"/>
          </a:xfrm>
          <a:prstGeom prst="roundRect">
            <a:avLst>
              <a:gd name="adj" fmla="val 13208"/>
            </a:avLst>
          </a:prstGeom>
          <a:solidFill>
            <a:srgbClr val="FFFFFF"/>
          </a:solidFill>
          <a:ln w="11430">
            <a:solidFill>
              <a:srgbClr val="E8EAED"/>
            </a:solidFill>
          </a:ln>
          <a:effectLst>
            <a:outerShdw blurRad="95250" dist="38100" dir="5400000" algn="ctr" rotWithShape="0">
              <a:srgbClr val="000000">
                <a:alpha val="7500"/>
              </a:srgbClr>
            </a:outerShdw>
          </a:effectLst>
        </p:spPr>
      </p:sp>
      <p:grpSp>
        <p:nvGrpSpPr>
          <p:cNvPr id="144" name="组合 143">
            <a:extLst>
              <a:ext uri="{FF2B5EF4-FFF2-40B4-BE49-F238E27FC236}">
                <a16:creationId xmlns:a16="http://schemas.microsoft.com/office/drawing/2014/main" id="{9A4BFE93-8D54-4A80-B238-E1876764F17A}"/>
              </a:ext>
            </a:extLst>
          </p:cNvPr>
          <p:cNvGrpSpPr/>
          <p:nvPr/>
        </p:nvGrpSpPr>
        <p:grpSpPr>
          <a:xfrm>
            <a:off x="1103698" y="2685653"/>
            <a:ext cx="847916" cy="743347"/>
            <a:chOff x="897731" y="2806700"/>
            <a:chExt cx="847916" cy="743347"/>
          </a:xfrm>
        </p:grpSpPr>
        <p:sp>
          <p:nvSpPr>
            <p:cNvPr id="15" name="Freeform 15"/>
            <p:cNvSpPr/>
            <p:nvPr/>
          </p:nvSpPr>
          <p:spPr>
            <a:xfrm>
              <a:off x="897731" y="2806700"/>
              <a:ext cx="242888" cy="229394"/>
            </a:xfrm>
            <a:custGeom>
              <a:avLst/>
              <a:gdLst/>
              <a:ahLst/>
              <a:cxnLst/>
              <a:rect l="l" t="t" r="r" b="b"/>
              <a:pathLst>
                <a:path w="242888" h="229394">
                  <a:moveTo>
                    <a:pt x="134938" y="188912"/>
                  </a:moveTo>
                  <a:lnTo>
                    <a:pt x="67469" y="229394"/>
                  </a:lnTo>
                  <a:lnTo>
                    <a:pt x="67469" y="188912"/>
                  </a:lnTo>
                  <a:lnTo>
                    <a:pt x="40481" y="188912"/>
                  </a:lnTo>
                  <a:cubicBezTo>
                    <a:pt x="18124" y="188912"/>
                    <a:pt x="0" y="170788"/>
                    <a:pt x="0" y="148431"/>
                  </a:cubicBezTo>
                  <a:lnTo>
                    <a:pt x="0" y="40481"/>
                  </a:lnTo>
                  <a:cubicBezTo>
                    <a:pt x="0" y="18124"/>
                    <a:pt x="18124" y="0"/>
                    <a:pt x="40481" y="0"/>
                  </a:cubicBezTo>
                  <a:lnTo>
                    <a:pt x="202406" y="0"/>
                  </a:lnTo>
                  <a:cubicBezTo>
                    <a:pt x="224763" y="0"/>
                    <a:pt x="242888" y="18124"/>
                    <a:pt x="242888" y="40481"/>
                  </a:cubicBezTo>
                  <a:lnTo>
                    <a:pt x="242888" y="101203"/>
                  </a:lnTo>
                </a:path>
              </a:pathLst>
            </a:custGeom>
            <a:noFill/>
            <a:ln w="19050">
              <a:solidFill>
                <a:srgbClr val="A50021"/>
              </a:solidFill>
            </a:ln>
          </p:spPr>
        </p:sp>
        <p:sp>
          <p:nvSpPr>
            <p:cNvPr id="16" name="Freeform 16"/>
            <p:cNvSpPr/>
            <p:nvPr/>
          </p:nvSpPr>
          <p:spPr>
            <a:xfrm>
              <a:off x="1086644" y="2955131"/>
              <a:ext cx="53975" cy="53975"/>
            </a:xfrm>
            <a:custGeom>
              <a:avLst/>
              <a:gdLst/>
              <a:ahLst/>
              <a:cxnLst/>
              <a:rect l="l" t="t" r="r" b="b"/>
              <a:pathLst>
                <a:path w="53975" h="53975">
                  <a:moveTo>
                    <a:pt x="0" y="26987"/>
                  </a:moveTo>
                  <a:cubicBezTo>
                    <a:pt x="0" y="41892"/>
                    <a:pt x="12083" y="53975"/>
                    <a:pt x="26987" y="53975"/>
                  </a:cubicBezTo>
                  <a:cubicBezTo>
                    <a:pt x="41892" y="53975"/>
                    <a:pt x="53975" y="41892"/>
                    <a:pt x="53975" y="26987"/>
                  </a:cubicBezTo>
                  <a:cubicBezTo>
                    <a:pt x="53975" y="12083"/>
                    <a:pt x="41892" y="0"/>
                    <a:pt x="26987" y="0"/>
                  </a:cubicBezTo>
                  <a:cubicBezTo>
                    <a:pt x="12083" y="0"/>
                    <a:pt x="0" y="12083"/>
                    <a:pt x="0" y="26987"/>
                  </a:cubicBezTo>
                </a:path>
              </a:pathLst>
            </a:custGeom>
            <a:noFill/>
            <a:ln w="19050">
              <a:solidFill>
                <a:srgbClr val="A50021"/>
              </a:solidFill>
            </a:ln>
          </p:spPr>
        </p:sp>
        <p:sp>
          <p:nvSpPr>
            <p:cNvPr id="17" name="Freeform 17"/>
            <p:cNvSpPr/>
            <p:nvPr/>
          </p:nvSpPr>
          <p:spPr>
            <a:xfrm>
              <a:off x="1073150" y="3022600"/>
              <a:ext cx="80962" cy="26988"/>
            </a:xfrm>
            <a:custGeom>
              <a:avLst/>
              <a:gdLst/>
              <a:ahLst/>
              <a:cxnLst/>
              <a:rect l="l" t="t" r="r" b="b"/>
              <a:pathLst>
                <a:path w="80962" h="26988">
                  <a:moveTo>
                    <a:pt x="80962" y="26988"/>
                  </a:moveTo>
                  <a:cubicBezTo>
                    <a:pt x="80962" y="12083"/>
                    <a:pt x="68880" y="0"/>
                    <a:pt x="53975" y="0"/>
                  </a:cubicBezTo>
                  <a:lnTo>
                    <a:pt x="26987" y="0"/>
                  </a:lnTo>
                  <a:cubicBezTo>
                    <a:pt x="12083" y="0"/>
                    <a:pt x="0" y="12083"/>
                    <a:pt x="0" y="26988"/>
                  </a:cubicBezTo>
                </a:path>
              </a:pathLst>
            </a:custGeom>
            <a:noFill/>
            <a:ln w="19050">
              <a:solidFill>
                <a:srgbClr val="A50021"/>
              </a:solidFill>
            </a:ln>
          </p:spPr>
        </p:sp>
        <p:sp>
          <p:nvSpPr>
            <p:cNvPr id="19" name="TextBox 19"/>
            <p:cNvSpPr txBox="1"/>
            <p:nvPr/>
          </p:nvSpPr>
          <p:spPr>
            <a:xfrm>
              <a:off x="1297305" y="2807018"/>
              <a:ext cx="448342" cy="274320"/>
            </a:xfrm>
            <a:prstGeom prst="rect">
              <a:avLst/>
            </a:prstGeom>
            <a:noFill/>
            <a:ln>
              <a:noFill/>
            </a:ln>
          </p:spPr>
          <p:txBody>
            <a:bodyPr wrap="none" lIns="0" tIns="0" rIns="0" bIns="0" anchor="t" anchorCtr="0">
              <a:spAutoFit/>
            </a:bodyPr>
            <a:lstStyle/>
            <a:p>
              <a:pPr algn="l"/>
              <a:r>
                <a:rPr lang="zh-CN" sz="1350" b="1" dirty="0">
                  <a:solidFill>
                    <a:srgbClr val="1F2328"/>
                  </a:solidFill>
                  <a:latin typeface="Arial"/>
                  <a:ea typeface="SimHei"/>
                  <a:cs typeface="Arial"/>
                </a:rPr>
                <a:t>用户</a:t>
              </a:r>
            </a:p>
          </p:txBody>
        </p:sp>
        <p:sp>
          <p:nvSpPr>
            <p:cNvPr id="20" name="TextBox 20"/>
            <p:cNvSpPr txBox="1"/>
            <p:nvPr/>
          </p:nvSpPr>
          <p:spPr>
            <a:xfrm>
              <a:off x="960120" y="3108960"/>
              <a:ext cx="731520" cy="243840"/>
            </a:xfrm>
            <a:prstGeom prst="rect">
              <a:avLst/>
            </a:prstGeom>
            <a:noFill/>
            <a:ln>
              <a:noFill/>
            </a:ln>
          </p:spPr>
          <p:txBody>
            <a:bodyPr wrap="none" lIns="0" tIns="0" rIns="0" bIns="0" anchor="t" anchorCtr="0">
              <a:spAutoFit/>
            </a:bodyPr>
            <a:lstStyle/>
            <a:p>
              <a:pPr algn="l"/>
              <a:r>
                <a:rPr lang="zh-CN" sz="1200" dirty="0">
                  <a:solidFill>
                    <a:srgbClr val="1F2328"/>
                  </a:solidFill>
                  <a:latin typeface="Arial"/>
                  <a:ea typeface="SimHei"/>
                  <a:cs typeface="Arial"/>
                </a:rPr>
                <a:t>提出指令</a:t>
              </a:r>
            </a:p>
          </p:txBody>
        </p:sp>
        <p:sp>
          <p:nvSpPr>
            <p:cNvPr id="21" name="TextBox 21"/>
            <p:cNvSpPr txBox="1"/>
            <p:nvPr/>
          </p:nvSpPr>
          <p:spPr>
            <a:xfrm>
              <a:off x="1035368" y="3306207"/>
              <a:ext cx="556260" cy="243840"/>
            </a:xfrm>
            <a:prstGeom prst="rect">
              <a:avLst/>
            </a:prstGeom>
            <a:noFill/>
            <a:ln>
              <a:noFill/>
            </a:ln>
          </p:spPr>
          <p:txBody>
            <a:bodyPr wrap="none" lIns="0" tIns="0" rIns="0" bIns="0" anchor="t" anchorCtr="0">
              <a:spAutoFit/>
            </a:bodyPr>
            <a:lstStyle/>
            <a:p>
              <a:pPr algn="l"/>
              <a:r>
                <a:rPr lang="zh-CN" sz="1200" dirty="0">
                  <a:solidFill>
                    <a:srgbClr val="1F2328"/>
                  </a:solidFill>
                  <a:latin typeface="Arial"/>
                  <a:ea typeface="SimHei"/>
                  <a:cs typeface="Arial"/>
                </a:rPr>
                <a:t>或任务</a:t>
              </a:r>
            </a:p>
          </p:txBody>
        </p:sp>
      </p:grpSp>
      <p:sp>
        <p:nvSpPr>
          <p:cNvPr id="23" name="Rectangle 23"/>
          <p:cNvSpPr/>
          <p:nvPr/>
        </p:nvSpPr>
        <p:spPr>
          <a:xfrm>
            <a:off x="3048000" y="2133600"/>
            <a:ext cx="1657350" cy="685800"/>
          </a:xfrm>
          <a:prstGeom prst="roundRect">
            <a:avLst>
              <a:gd name="adj" fmla="val 16667"/>
            </a:avLst>
          </a:prstGeom>
          <a:solidFill>
            <a:srgbClr val="FFFFFF"/>
          </a:solidFill>
          <a:ln w="10478">
            <a:solidFill>
              <a:srgbClr val="E8EAED"/>
            </a:solidFill>
          </a:ln>
          <a:effectLst>
            <a:outerShdw blurRad="95250" dist="38100" dir="5400000" algn="ctr" rotWithShape="0">
              <a:srgbClr val="000000">
                <a:alpha val="7500"/>
              </a:srgbClr>
            </a:outerShdw>
          </a:effectLst>
        </p:spPr>
      </p:sp>
      <p:grpSp>
        <p:nvGrpSpPr>
          <p:cNvPr id="30" name="Group 30"/>
          <p:cNvGrpSpPr/>
          <p:nvPr/>
        </p:nvGrpSpPr>
        <p:grpSpPr>
          <a:xfrm>
            <a:off x="3305175" y="2359819"/>
            <a:ext cx="202407" cy="226147"/>
            <a:chOff x="3305175" y="2359819"/>
            <a:chExt cx="202407" cy="226147"/>
          </a:xfrm>
        </p:grpSpPr>
        <p:sp>
          <p:nvSpPr>
            <p:cNvPr id="24" name="Freeform 24"/>
            <p:cNvSpPr/>
            <p:nvPr/>
          </p:nvSpPr>
          <p:spPr>
            <a:xfrm>
              <a:off x="3412322" y="2359819"/>
              <a:ext cx="59541" cy="59541"/>
            </a:xfrm>
            <a:custGeom>
              <a:avLst/>
              <a:gdLst/>
              <a:ahLst/>
              <a:cxnLst/>
              <a:rect l="l" t="t" r="r" b="b"/>
              <a:pathLst>
                <a:path w="59541" h="59541">
                  <a:moveTo>
                    <a:pt x="10" y="0"/>
                  </a:moveTo>
                  <a:lnTo>
                    <a:pt x="10" y="47625"/>
                  </a:lnTo>
                  <a:cubicBezTo>
                    <a:pt x="0" y="50786"/>
                    <a:pt x="1251" y="53820"/>
                    <a:pt x="3486" y="56055"/>
                  </a:cubicBezTo>
                  <a:cubicBezTo>
                    <a:pt x="5721" y="58289"/>
                    <a:pt x="8755" y="59541"/>
                    <a:pt x="11916" y="59531"/>
                  </a:cubicBezTo>
                  <a:lnTo>
                    <a:pt x="59541" y="59531"/>
                  </a:lnTo>
                </a:path>
              </a:pathLst>
            </a:custGeom>
            <a:noFill/>
            <a:ln w="19050">
              <a:solidFill>
                <a:srgbClr val="A50021"/>
              </a:solidFill>
            </a:ln>
          </p:spPr>
        </p:sp>
        <p:sp>
          <p:nvSpPr>
            <p:cNvPr id="25" name="Freeform 25"/>
            <p:cNvSpPr/>
            <p:nvPr/>
          </p:nvSpPr>
          <p:spPr>
            <a:xfrm>
              <a:off x="3305175" y="2359819"/>
              <a:ext cx="166688" cy="214312"/>
            </a:xfrm>
            <a:custGeom>
              <a:avLst/>
              <a:gdLst/>
              <a:ahLst/>
              <a:cxnLst/>
              <a:rect l="l" t="t" r="r" b="b"/>
              <a:pathLst>
                <a:path w="166688" h="214312">
                  <a:moveTo>
                    <a:pt x="83344" y="214312"/>
                  </a:moveTo>
                  <a:lnTo>
                    <a:pt x="23812" y="214312"/>
                  </a:lnTo>
                  <a:cubicBezTo>
                    <a:pt x="10661" y="214312"/>
                    <a:pt x="0" y="203651"/>
                    <a:pt x="0" y="190500"/>
                  </a:cubicBezTo>
                  <a:lnTo>
                    <a:pt x="0" y="23812"/>
                  </a:lnTo>
                  <a:cubicBezTo>
                    <a:pt x="0" y="10661"/>
                    <a:pt x="10661" y="0"/>
                    <a:pt x="23812" y="0"/>
                  </a:cubicBezTo>
                  <a:lnTo>
                    <a:pt x="107156" y="0"/>
                  </a:lnTo>
                  <a:lnTo>
                    <a:pt x="166688" y="59531"/>
                  </a:lnTo>
                  <a:lnTo>
                    <a:pt x="166688" y="101203"/>
                  </a:lnTo>
                </a:path>
              </a:pathLst>
            </a:custGeom>
            <a:noFill/>
            <a:ln w="19050">
              <a:solidFill>
                <a:srgbClr val="A50021"/>
              </a:solidFill>
            </a:ln>
          </p:spPr>
        </p:sp>
        <p:sp>
          <p:nvSpPr>
            <p:cNvPr id="26" name="Freeform 26"/>
            <p:cNvSpPr/>
            <p:nvPr/>
          </p:nvSpPr>
          <p:spPr>
            <a:xfrm>
              <a:off x="3352800" y="2431256"/>
              <a:ext cx="11906" cy="9525"/>
            </a:xfrm>
            <a:custGeom>
              <a:avLst/>
              <a:gdLst/>
              <a:ahLst/>
              <a:cxnLst/>
              <a:rect l="l" t="t" r="r" b="b"/>
              <a:pathLst>
                <a:path w="11906" h="9525">
                  <a:moveTo>
                    <a:pt x="0" y="0"/>
                  </a:moveTo>
                  <a:lnTo>
                    <a:pt x="11906" y="0"/>
                  </a:lnTo>
                </a:path>
              </a:pathLst>
            </a:custGeom>
            <a:noFill/>
            <a:ln w="19050">
              <a:solidFill>
                <a:srgbClr val="A50021"/>
              </a:solidFill>
            </a:ln>
          </p:spPr>
        </p:sp>
        <p:sp>
          <p:nvSpPr>
            <p:cNvPr id="27" name="Freeform 27"/>
            <p:cNvSpPr/>
            <p:nvPr/>
          </p:nvSpPr>
          <p:spPr>
            <a:xfrm>
              <a:off x="3352800" y="2478810"/>
              <a:ext cx="35719" cy="9525"/>
            </a:xfrm>
            <a:custGeom>
              <a:avLst/>
              <a:gdLst/>
              <a:ahLst/>
              <a:cxnLst/>
              <a:rect l="l" t="t" r="r" b="b"/>
              <a:pathLst>
                <a:path w="35719" h="9525">
                  <a:moveTo>
                    <a:pt x="0" y="0"/>
                  </a:moveTo>
                  <a:lnTo>
                    <a:pt x="35719" y="0"/>
                  </a:lnTo>
                </a:path>
              </a:pathLst>
            </a:custGeom>
            <a:noFill/>
            <a:ln w="19050">
              <a:solidFill>
                <a:srgbClr val="A50021"/>
              </a:solidFill>
            </a:ln>
          </p:spPr>
        </p:sp>
        <p:sp>
          <p:nvSpPr>
            <p:cNvPr id="28" name="Freeform 28"/>
            <p:cNvSpPr/>
            <p:nvPr/>
          </p:nvSpPr>
          <p:spPr>
            <a:xfrm>
              <a:off x="3352800" y="2526471"/>
              <a:ext cx="23812" cy="9525"/>
            </a:xfrm>
            <a:custGeom>
              <a:avLst/>
              <a:gdLst/>
              <a:ahLst/>
              <a:cxnLst/>
              <a:rect l="l" t="t" r="r" b="b"/>
              <a:pathLst>
                <a:path w="23812" h="9525">
                  <a:moveTo>
                    <a:pt x="0" y="0"/>
                  </a:moveTo>
                  <a:lnTo>
                    <a:pt x="23812" y="0"/>
                  </a:lnTo>
                </a:path>
              </a:pathLst>
            </a:custGeom>
            <a:noFill/>
            <a:ln w="19050">
              <a:solidFill>
                <a:srgbClr val="A50021"/>
              </a:solidFill>
            </a:ln>
          </p:spPr>
        </p:sp>
        <p:sp>
          <p:nvSpPr>
            <p:cNvPr id="29" name="Freeform 29"/>
            <p:cNvSpPr/>
            <p:nvPr/>
          </p:nvSpPr>
          <p:spPr>
            <a:xfrm>
              <a:off x="3424238" y="2496669"/>
              <a:ext cx="83344" cy="89297"/>
            </a:xfrm>
            <a:custGeom>
              <a:avLst/>
              <a:gdLst/>
              <a:ahLst/>
              <a:cxnLst/>
              <a:rect l="l" t="t" r="r" b="b"/>
              <a:pathLst>
                <a:path w="83344" h="89297">
                  <a:moveTo>
                    <a:pt x="83344" y="17859"/>
                  </a:moveTo>
                  <a:cubicBezTo>
                    <a:pt x="83344" y="65484"/>
                    <a:pt x="53578" y="89297"/>
                    <a:pt x="41672" y="89297"/>
                  </a:cubicBezTo>
                  <a:cubicBezTo>
                    <a:pt x="29766" y="89297"/>
                    <a:pt x="0" y="65484"/>
                    <a:pt x="0" y="17859"/>
                  </a:cubicBezTo>
                  <a:cubicBezTo>
                    <a:pt x="11906" y="17859"/>
                    <a:pt x="29766" y="11906"/>
                    <a:pt x="41672" y="0"/>
                  </a:cubicBezTo>
                  <a:cubicBezTo>
                    <a:pt x="53578" y="11906"/>
                    <a:pt x="71438" y="17859"/>
                    <a:pt x="83344" y="17859"/>
                  </a:cubicBezTo>
                </a:path>
              </a:pathLst>
            </a:custGeom>
            <a:noFill/>
            <a:ln w="19050">
              <a:solidFill>
                <a:srgbClr val="A50021"/>
              </a:solidFill>
            </a:ln>
          </p:spPr>
        </p:sp>
      </p:grpSp>
      <p:grpSp>
        <p:nvGrpSpPr>
          <p:cNvPr id="145" name="组合 144">
            <a:extLst>
              <a:ext uri="{FF2B5EF4-FFF2-40B4-BE49-F238E27FC236}">
                <a16:creationId xmlns:a16="http://schemas.microsoft.com/office/drawing/2014/main" id="{809A6E51-B651-4CD0-A91D-1BF0B6A40A97}"/>
              </a:ext>
            </a:extLst>
          </p:cNvPr>
          <p:cNvGrpSpPr/>
          <p:nvPr/>
        </p:nvGrpSpPr>
        <p:grpSpPr>
          <a:xfrm>
            <a:off x="3569176" y="2259807"/>
            <a:ext cx="1210627" cy="413861"/>
            <a:chOff x="3641408" y="2376964"/>
            <a:chExt cx="1210627" cy="413861"/>
          </a:xfrm>
        </p:grpSpPr>
        <p:sp>
          <p:nvSpPr>
            <p:cNvPr id="31" name="TextBox 31"/>
            <p:cNvSpPr txBox="1"/>
            <p:nvPr/>
          </p:nvSpPr>
          <p:spPr>
            <a:xfrm>
              <a:off x="3641408" y="2376964"/>
              <a:ext cx="1010007" cy="259080"/>
            </a:xfrm>
            <a:prstGeom prst="rect">
              <a:avLst/>
            </a:prstGeom>
            <a:noFill/>
            <a:ln>
              <a:noFill/>
            </a:ln>
          </p:spPr>
          <p:txBody>
            <a:bodyPr wrap="none" lIns="0" tIns="0" rIns="0" bIns="0" anchor="t" anchorCtr="0">
              <a:spAutoFit/>
            </a:bodyPr>
            <a:lstStyle/>
            <a:p>
              <a:pPr algn="l"/>
              <a:r>
                <a:rPr lang="zh-CN" sz="1275" b="1" dirty="0">
                  <a:solidFill>
                    <a:srgbClr val="1F2328"/>
                  </a:solidFill>
                  <a:latin typeface="Arial"/>
                  <a:ea typeface="SimHei"/>
                  <a:cs typeface="Arial"/>
                </a:rPr>
                <a:t>任务管理器</a:t>
              </a:r>
            </a:p>
          </p:txBody>
        </p:sp>
        <p:sp>
          <p:nvSpPr>
            <p:cNvPr id="32" name="TextBox 32"/>
            <p:cNvSpPr txBox="1"/>
            <p:nvPr/>
          </p:nvSpPr>
          <p:spPr>
            <a:xfrm>
              <a:off x="3646170" y="2607945"/>
              <a:ext cx="1205865"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目标识别与流程控制</a:t>
              </a:r>
            </a:p>
          </p:txBody>
        </p:sp>
      </p:grpSp>
      <p:sp>
        <p:nvSpPr>
          <p:cNvPr id="34" name="Rectangle 34"/>
          <p:cNvSpPr/>
          <p:nvPr/>
        </p:nvSpPr>
        <p:spPr>
          <a:xfrm>
            <a:off x="3048000" y="3314700"/>
            <a:ext cx="1657350" cy="685800"/>
          </a:xfrm>
          <a:prstGeom prst="roundRect">
            <a:avLst>
              <a:gd name="adj" fmla="val 16667"/>
            </a:avLst>
          </a:prstGeom>
          <a:solidFill>
            <a:srgbClr val="FFFFFF"/>
          </a:solidFill>
          <a:ln w="10478">
            <a:solidFill>
              <a:srgbClr val="E8EAED"/>
            </a:solidFill>
          </a:ln>
          <a:effectLst>
            <a:outerShdw blurRad="95250" dist="38100" dir="5400000" algn="ctr" rotWithShape="0">
              <a:srgbClr val="000000">
                <a:alpha val="7500"/>
              </a:srgbClr>
            </a:outerShdw>
          </a:effectLst>
        </p:spPr>
      </p:sp>
      <p:grpSp>
        <p:nvGrpSpPr>
          <p:cNvPr id="37" name="Group 37"/>
          <p:cNvGrpSpPr/>
          <p:nvPr/>
        </p:nvGrpSpPr>
        <p:grpSpPr>
          <a:xfrm>
            <a:off x="3305167" y="3552825"/>
            <a:ext cx="190508" cy="190500"/>
            <a:chOff x="3305167" y="3552825"/>
            <a:chExt cx="190508" cy="190500"/>
          </a:xfrm>
        </p:grpSpPr>
        <p:sp>
          <p:nvSpPr>
            <p:cNvPr id="35" name="Freeform 35"/>
            <p:cNvSpPr/>
            <p:nvPr/>
          </p:nvSpPr>
          <p:spPr>
            <a:xfrm>
              <a:off x="3352800" y="3600450"/>
              <a:ext cx="142875" cy="142875"/>
            </a:xfrm>
            <a:custGeom>
              <a:avLst/>
              <a:gdLst/>
              <a:ahLst/>
              <a:cxnLst/>
              <a:rect l="l" t="t" r="r" b="b"/>
              <a:pathLst>
                <a:path w="142875" h="142875">
                  <a:moveTo>
                    <a:pt x="130969" y="3191"/>
                  </a:moveTo>
                  <a:cubicBezTo>
                    <a:pt x="138336" y="7444"/>
                    <a:pt x="142875" y="15305"/>
                    <a:pt x="142875" y="23812"/>
                  </a:cubicBezTo>
                  <a:lnTo>
                    <a:pt x="142875" y="119062"/>
                  </a:lnTo>
                  <a:cubicBezTo>
                    <a:pt x="142875" y="132214"/>
                    <a:pt x="132214" y="142875"/>
                    <a:pt x="119062" y="142875"/>
                  </a:cubicBezTo>
                  <a:lnTo>
                    <a:pt x="23812" y="142875"/>
                  </a:lnTo>
                  <a:cubicBezTo>
                    <a:pt x="10661" y="142875"/>
                    <a:pt x="0" y="132214"/>
                    <a:pt x="0" y="119062"/>
                  </a:cubicBezTo>
                  <a:lnTo>
                    <a:pt x="0" y="23812"/>
                  </a:lnTo>
                  <a:cubicBezTo>
                    <a:pt x="0" y="10661"/>
                    <a:pt x="10661" y="0"/>
                    <a:pt x="23812" y="0"/>
                  </a:cubicBezTo>
                  <a:lnTo>
                    <a:pt x="59531" y="0"/>
                  </a:lnTo>
                </a:path>
              </a:pathLst>
            </a:custGeom>
            <a:noFill/>
            <a:ln w="19050">
              <a:solidFill>
                <a:srgbClr val="A50021"/>
              </a:solidFill>
            </a:ln>
          </p:spPr>
        </p:sp>
        <p:sp>
          <p:nvSpPr>
            <p:cNvPr id="36" name="Freeform 36"/>
            <p:cNvSpPr/>
            <p:nvPr/>
          </p:nvSpPr>
          <p:spPr>
            <a:xfrm>
              <a:off x="3305167" y="3552825"/>
              <a:ext cx="142883" cy="142875"/>
            </a:xfrm>
            <a:custGeom>
              <a:avLst/>
              <a:gdLst/>
              <a:ahLst/>
              <a:cxnLst/>
              <a:rect l="l" t="t" r="r" b="b"/>
              <a:pathLst>
                <a:path w="142883" h="142875">
                  <a:moveTo>
                    <a:pt x="11915" y="139708"/>
                  </a:moveTo>
                  <a:cubicBezTo>
                    <a:pt x="4540" y="135450"/>
                    <a:pt x="0" y="127578"/>
                    <a:pt x="8" y="119062"/>
                  </a:cubicBezTo>
                  <a:lnTo>
                    <a:pt x="8" y="23812"/>
                  </a:lnTo>
                  <a:cubicBezTo>
                    <a:pt x="8" y="10661"/>
                    <a:pt x="10670" y="0"/>
                    <a:pt x="23821" y="0"/>
                  </a:cubicBezTo>
                  <a:lnTo>
                    <a:pt x="119071" y="0"/>
                  </a:lnTo>
                  <a:cubicBezTo>
                    <a:pt x="132222" y="0"/>
                    <a:pt x="142883" y="10661"/>
                    <a:pt x="142883" y="23812"/>
                  </a:cubicBezTo>
                  <a:lnTo>
                    <a:pt x="142883" y="119062"/>
                  </a:lnTo>
                  <a:cubicBezTo>
                    <a:pt x="142883" y="132214"/>
                    <a:pt x="132222" y="142875"/>
                    <a:pt x="119071" y="142875"/>
                  </a:cubicBezTo>
                  <a:lnTo>
                    <a:pt x="83352" y="142875"/>
                  </a:lnTo>
                </a:path>
              </a:pathLst>
            </a:custGeom>
            <a:noFill/>
            <a:ln w="19050">
              <a:solidFill>
                <a:srgbClr val="A50021"/>
              </a:solidFill>
            </a:ln>
          </p:spPr>
        </p:sp>
      </p:grpSp>
      <p:grpSp>
        <p:nvGrpSpPr>
          <p:cNvPr id="146" name="组合 145">
            <a:extLst>
              <a:ext uri="{FF2B5EF4-FFF2-40B4-BE49-F238E27FC236}">
                <a16:creationId xmlns:a16="http://schemas.microsoft.com/office/drawing/2014/main" id="{2814A8F7-EFB7-42F1-A9AE-0B90784563DB}"/>
              </a:ext>
            </a:extLst>
          </p:cNvPr>
          <p:cNvGrpSpPr/>
          <p:nvPr/>
        </p:nvGrpSpPr>
        <p:grpSpPr>
          <a:xfrm>
            <a:off x="3534728" y="3448050"/>
            <a:ext cx="1342072" cy="413861"/>
            <a:chOff x="3641408" y="3558064"/>
            <a:chExt cx="1342072" cy="413861"/>
          </a:xfrm>
        </p:grpSpPr>
        <p:sp>
          <p:nvSpPr>
            <p:cNvPr id="38" name="TextBox 38"/>
            <p:cNvSpPr txBox="1"/>
            <p:nvPr/>
          </p:nvSpPr>
          <p:spPr>
            <a:xfrm>
              <a:off x="3641408" y="3558064"/>
              <a:ext cx="1205532" cy="259080"/>
            </a:xfrm>
            <a:prstGeom prst="rect">
              <a:avLst/>
            </a:prstGeom>
            <a:noFill/>
            <a:ln>
              <a:noFill/>
            </a:ln>
          </p:spPr>
          <p:txBody>
            <a:bodyPr wrap="none" lIns="0" tIns="0" rIns="0" bIns="0" anchor="t" anchorCtr="0">
              <a:spAutoFit/>
            </a:bodyPr>
            <a:lstStyle/>
            <a:p>
              <a:pPr algn="l"/>
              <a:r>
                <a:rPr lang="zh-CN" sz="1275" b="1" dirty="0">
                  <a:solidFill>
                    <a:srgbClr val="1F2328"/>
                  </a:solidFill>
                  <a:latin typeface="Arial"/>
                  <a:ea typeface="SimHei"/>
                  <a:cs typeface="Arial"/>
                </a:rPr>
                <a:t>上下文管理器</a:t>
              </a:r>
            </a:p>
          </p:txBody>
        </p:sp>
        <p:sp>
          <p:nvSpPr>
            <p:cNvPr id="39" name="TextBox 39"/>
            <p:cNvSpPr txBox="1"/>
            <p:nvPr/>
          </p:nvSpPr>
          <p:spPr>
            <a:xfrm>
              <a:off x="3646170" y="3789045"/>
              <a:ext cx="133731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历史、状态与观察结果</a:t>
              </a:r>
            </a:p>
          </p:txBody>
        </p:sp>
      </p:grpSp>
      <p:sp>
        <p:nvSpPr>
          <p:cNvPr id="41" name="Rectangle 41"/>
          <p:cNvSpPr/>
          <p:nvPr/>
        </p:nvSpPr>
        <p:spPr>
          <a:xfrm>
            <a:off x="5505450" y="3067050"/>
            <a:ext cx="1428750" cy="819150"/>
          </a:xfrm>
          <a:prstGeom prst="roundRect">
            <a:avLst>
              <a:gd name="adj" fmla="val 18605"/>
            </a:avLst>
          </a:prstGeom>
          <a:solidFill>
            <a:srgbClr val="F8E9ED"/>
          </a:solidFill>
          <a:ln w="13335">
            <a:solidFill>
              <a:srgbClr val="A50021"/>
            </a:solidFill>
          </a:ln>
        </p:spPr>
      </p:sp>
      <p:sp>
        <p:nvSpPr>
          <p:cNvPr id="42" name="TextBox 42"/>
          <p:cNvSpPr txBox="1"/>
          <p:nvPr/>
        </p:nvSpPr>
        <p:spPr>
          <a:xfrm>
            <a:off x="5788628" y="3226118"/>
            <a:ext cx="862393" cy="274320"/>
          </a:xfrm>
          <a:prstGeom prst="rect">
            <a:avLst/>
          </a:prstGeom>
          <a:noFill/>
          <a:ln>
            <a:noFill/>
          </a:ln>
        </p:spPr>
        <p:txBody>
          <a:bodyPr wrap="none" lIns="0" tIns="0" rIns="0" bIns="0" anchor="t" anchorCtr="0">
            <a:spAutoFit/>
          </a:bodyPr>
          <a:lstStyle/>
          <a:p>
            <a:pPr algn="ctr"/>
            <a:r>
              <a:rPr lang="zh-CN" sz="1350" b="1" dirty="0">
                <a:solidFill>
                  <a:srgbClr val="7A0018"/>
                </a:solidFill>
                <a:latin typeface="Arial"/>
                <a:ea typeface="SimHei"/>
                <a:cs typeface="Arial"/>
              </a:rPr>
              <a:t>核心循环</a:t>
            </a:r>
          </a:p>
        </p:txBody>
      </p:sp>
      <p:sp>
        <p:nvSpPr>
          <p:cNvPr id="43" name="TextBox 43"/>
          <p:cNvSpPr txBox="1"/>
          <p:nvPr/>
        </p:nvSpPr>
        <p:spPr>
          <a:xfrm>
            <a:off x="5892141" y="3454718"/>
            <a:ext cx="655368" cy="274320"/>
          </a:xfrm>
          <a:prstGeom prst="rect">
            <a:avLst/>
          </a:prstGeom>
          <a:noFill/>
          <a:ln>
            <a:noFill/>
          </a:ln>
        </p:spPr>
        <p:txBody>
          <a:bodyPr wrap="none" lIns="0" tIns="0" rIns="0" bIns="0" anchor="t" anchorCtr="0">
            <a:spAutoFit/>
          </a:bodyPr>
          <a:lstStyle/>
          <a:p>
            <a:pPr algn="ctr"/>
            <a:r>
              <a:rPr lang="zh-CN" sz="1350" b="1" dirty="0">
                <a:solidFill>
                  <a:srgbClr val="7A0018"/>
                </a:solidFill>
                <a:latin typeface="Arial"/>
                <a:ea typeface="SimHei"/>
                <a:cs typeface="Arial"/>
              </a:rPr>
              <a:t>决策点</a:t>
            </a:r>
          </a:p>
        </p:txBody>
      </p:sp>
      <p:sp>
        <p:nvSpPr>
          <p:cNvPr id="44" name="TextBox 44"/>
          <p:cNvSpPr txBox="1"/>
          <p:nvPr/>
        </p:nvSpPr>
        <p:spPr>
          <a:xfrm>
            <a:off x="5873576" y="3684270"/>
            <a:ext cx="692497" cy="138499"/>
          </a:xfrm>
          <a:prstGeom prst="rect">
            <a:avLst/>
          </a:prstGeom>
          <a:noFill/>
          <a:ln>
            <a:noFill/>
          </a:ln>
        </p:spPr>
        <p:txBody>
          <a:bodyPr wrap="none" lIns="0" tIns="0" rIns="0" bIns="0" anchor="t" anchorCtr="0">
            <a:spAutoFit/>
          </a:bodyPr>
          <a:lstStyle/>
          <a:p>
            <a:pPr algn="ctr"/>
            <a:r>
              <a:rPr lang="zh-CN" sz="900" dirty="0">
                <a:solidFill>
                  <a:srgbClr val="5F6368"/>
                </a:solidFill>
                <a:latin typeface="Arial"/>
                <a:ea typeface="SimHei"/>
                <a:cs typeface="Arial"/>
              </a:rPr>
              <a:t>完成？继续？</a:t>
            </a:r>
          </a:p>
        </p:txBody>
      </p:sp>
      <p:grpSp>
        <p:nvGrpSpPr>
          <p:cNvPr id="147" name="组合 146">
            <a:extLst>
              <a:ext uri="{FF2B5EF4-FFF2-40B4-BE49-F238E27FC236}">
                <a16:creationId xmlns:a16="http://schemas.microsoft.com/office/drawing/2014/main" id="{835DD62A-344F-4FFB-87CB-A70903058A86}"/>
              </a:ext>
            </a:extLst>
          </p:cNvPr>
          <p:cNvGrpSpPr/>
          <p:nvPr/>
        </p:nvGrpSpPr>
        <p:grpSpPr>
          <a:xfrm>
            <a:off x="4699430" y="2788761"/>
            <a:ext cx="692497" cy="492194"/>
            <a:chOff x="6359352" y="2225675"/>
            <a:chExt cx="692497" cy="492194"/>
          </a:xfrm>
        </p:grpSpPr>
        <p:grpSp>
          <p:nvGrpSpPr>
            <p:cNvPr id="49" name="Group 49"/>
            <p:cNvGrpSpPr/>
            <p:nvPr/>
          </p:nvGrpSpPr>
          <p:grpSpPr>
            <a:xfrm>
              <a:off x="6578600" y="2225675"/>
              <a:ext cx="269875" cy="269875"/>
              <a:chOff x="6578600" y="2225675"/>
              <a:chExt cx="269875" cy="269875"/>
            </a:xfrm>
          </p:grpSpPr>
          <p:sp>
            <p:nvSpPr>
              <p:cNvPr id="47" name="Freeform 47"/>
              <p:cNvSpPr/>
              <p:nvPr/>
            </p:nvSpPr>
            <p:spPr>
              <a:xfrm>
                <a:off x="6578600" y="2225675"/>
                <a:ext cx="269875" cy="269875"/>
              </a:xfrm>
              <a:custGeom>
                <a:avLst/>
                <a:gdLst/>
                <a:ahLst/>
                <a:cxnLst/>
                <a:rect l="l" t="t" r="r" b="b"/>
                <a:pathLst>
                  <a:path w="269875" h="269875">
                    <a:moveTo>
                      <a:pt x="127000" y="269875"/>
                    </a:moveTo>
                    <a:lnTo>
                      <a:pt x="127000" y="63500"/>
                    </a:lnTo>
                    <a:cubicBezTo>
                      <a:pt x="127000" y="28430"/>
                      <a:pt x="98570" y="0"/>
                      <a:pt x="63500" y="0"/>
                    </a:cubicBezTo>
                    <a:cubicBezTo>
                      <a:pt x="28430" y="0"/>
                      <a:pt x="0" y="28430"/>
                      <a:pt x="0" y="63500"/>
                    </a:cubicBezTo>
                    <a:cubicBezTo>
                      <a:pt x="0" y="98570"/>
                      <a:pt x="28430" y="127000"/>
                      <a:pt x="63500" y="127000"/>
                    </a:cubicBezTo>
                    <a:lnTo>
                      <a:pt x="269875" y="127000"/>
                    </a:lnTo>
                  </a:path>
                </a:pathLst>
              </a:custGeom>
              <a:noFill/>
              <a:ln w="19050">
                <a:solidFill>
                  <a:srgbClr val="A50021"/>
                </a:solidFill>
              </a:ln>
            </p:spPr>
          </p:sp>
          <p:sp>
            <p:nvSpPr>
              <p:cNvPr id="48" name="Freeform 48"/>
              <p:cNvSpPr/>
              <p:nvPr/>
            </p:nvSpPr>
            <p:spPr>
              <a:xfrm>
                <a:off x="6784975" y="2289175"/>
                <a:ext cx="63500" cy="127000"/>
              </a:xfrm>
              <a:custGeom>
                <a:avLst/>
                <a:gdLst/>
                <a:ahLst/>
                <a:cxnLst/>
                <a:rect l="l" t="t" r="r" b="b"/>
                <a:pathLst>
                  <a:path w="63500" h="127000">
                    <a:moveTo>
                      <a:pt x="0" y="127000"/>
                    </a:moveTo>
                    <a:lnTo>
                      <a:pt x="63500" y="63500"/>
                    </a:lnTo>
                    <a:lnTo>
                      <a:pt x="0" y="0"/>
                    </a:lnTo>
                  </a:path>
                </a:pathLst>
              </a:custGeom>
              <a:noFill/>
              <a:ln w="19050">
                <a:solidFill>
                  <a:srgbClr val="A50021"/>
                </a:solidFill>
              </a:ln>
            </p:spPr>
          </p:sp>
        </p:grpSp>
        <p:sp>
          <p:nvSpPr>
            <p:cNvPr id="50" name="TextBox 50"/>
            <p:cNvSpPr txBox="1"/>
            <p:nvPr/>
          </p:nvSpPr>
          <p:spPr>
            <a:xfrm>
              <a:off x="6359352" y="2579370"/>
              <a:ext cx="692497" cy="138499"/>
            </a:xfrm>
            <a:prstGeom prst="rect">
              <a:avLst/>
            </a:prstGeom>
            <a:noFill/>
            <a:ln>
              <a:noFill/>
            </a:ln>
          </p:spPr>
          <p:txBody>
            <a:bodyPr wrap="none" lIns="0" tIns="0" rIns="0" bIns="0" anchor="t" anchorCtr="0">
              <a:spAutoFit/>
            </a:bodyPr>
            <a:lstStyle/>
            <a:p>
              <a:pPr algn="ctr"/>
              <a:r>
                <a:rPr lang="zh-CN" altLang="en-US" sz="900" b="1" dirty="0">
                  <a:solidFill>
                    <a:srgbClr val="7A0018"/>
                  </a:solidFill>
                  <a:latin typeface="Arial"/>
                  <a:ea typeface="SimHei"/>
                  <a:cs typeface="Arial"/>
                </a:rPr>
                <a:t>重复动作循环</a:t>
              </a:r>
              <a:endParaRPr lang="zh-CN" sz="900" b="1" dirty="0">
                <a:solidFill>
                  <a:srgbClr val="7A0018"/>
                </a:solidFill>
                <a:latin typeface="Arial"/>
                <a:ea typeface="SimHei"/>
                <a:cs typeface="Arial"/>
              </a:endParaRPr>
            </a:p>
          </p:txBody>
        </p:sp>
      </p:grpSp>
      <p:sp>
        <p:nvSpPr>
          <p:cNvPr id="52" name="Rectangle 52"/>
          <p:cNvSpPr/>
          <p:nvPr/>
        </p:nvSpPr>
        <p:spPr>
          <a:xfrm>
            <a:off x="2743200" y="4762500"/>
            <a:ext cx="4648200" cy="1066800"/>
          </a:xfrm>
          <a:prstGeom prst="roundRect">
            <a:avLst>
              <a:gd name="adj" fmla="val 14286"/>
            </a:avLst>
          </a:prstGeom>
          <a:solidFill>
            <a:srgbClr val="FFFFFF"/>
          </a:solidFill>
          <a:ln w="11430">
            <a:solidFill>
              <a:srgbClr val="E8EAED"/>
            </a:solidFill>
          </a:ln>
          <a:effectLst>
            <a:outerShdw blurRad="95250" dist="38100" dir="5400000" algn="ctr" rotWithShape="0">
              <a:srgbClr val="000000">
                <a:alpha val="7500"/>
              </a:srgbClr>
            </a:outerShdw>
          </a:effectLst>
        </p:spPr>
      </p:sp>
      <p:grpSp>
        <p:nvGrpSpPr>
          <p:cNvPr id="151" name="组合 150">
            <a:extLst>
              <a:ext uri="{FF2B5EF4-FFF2-40B4-BE49-F238E27FC236}">
                <a16:creationId xmlns:a16="http://schemas.microsoft.com/office/drawing/2014/main" id="{FBFA7506-78B3-46CD-B9EC-3DF7F997494C}"/>
              </a:ext>
            </a:extLst>
          </p:cNvPr>
          <p:cNvGrpSpPr/>
          <p:nvPr/>
        </p:nvGrpSpPr>
        <p:grpSpPr>
          <a:xfrm>
            <a:off x="3164205" y="4908709"/>
            <a:ext cx="3810000" cy="774382"/>
            <a:chOff x="3048000" y="5035868"/>
            <a:chExt cx="3810000" cy="774382"/>
          </a:xfrm>
        </p:grpSpPr>
        <p:grpSp>
          <p:nvGrpSpPr>
            <p:cNvPr id="56" name="Group 56"/>
            <p:cNvGrpSpPr/>
            <p:nvPr/>
          </p:nvGrpSpPr>
          <p:grpSpPr>
            <a:xfrm>
              <a:off x="3101975" y="5069681"/>
              <a:ext cx="215900" cy="242888"/>
              <a:chOff x="3101975" y="5069681"/>
              <a:chExt cx="215900" cy="242888"/>
            </a:xfrm>
          </p:grpSpPr>
          <p:sp>
            <p:nvSpPr>
              <p:cNvPr id="53" name="Freeform 53"/>
              <p:cNvSpPr/>
              <p:nvPr/>
            </p:nvSpPr>
            <p:spPr>
              <a:xfrm>
                <a:off x="3101975" y="5069681"/>
                <a:ext cx="215900" cy="80962"/>
              </a:xfrm>
              <a:custGeom>
                <a:avLst/>
                <a:gdLst/>
                <a:ahLst/>
                <a:cxnLst/>
                <a:rect l="l" t="t" r="r" b="b"/>
                <a:pathLst>
                  <a:path w="215900" h="80962">
                    <a:moveTo>
                      <a:pt x="0" y="40481"/>
                    </a:moveTo>
                    <a:cubicBezTo>
                      <a:pt x="0" y="62838"/>
                      <a:pt x="48331" y="80962"/>
                      <a:pt x="107950" y="80962"/>
                    </a:cubicBezTo>
                    <a:cubicBezTo>
                      <a:pt x="167569" y="80962"/>
                      <a:pt x="215900" y="62838"/>
                      <a:pt x="215900" y="40481"/>
                    </a:cubicBezTo>
                    <a:cubicBezTo>
                      <a:pt x="215900" y="18124"/>
                      <a:pt x="167569" y="0"/>
                      <a:pt x="107950" y="0"/>
                    </a:cubicBezTo>
                    <a:cubicBezTo>
                      <a:pt x="48331" y="0"/>
                      <a:pt x="0" y="18124"/>
                      <a:pt x="0" y="40481"/>
                    </a:cubicBezTo>
                  </a:path>
                </a:pathLst>
              </a:custGeom>
              <a:noFill/>
              <a:ln w="19050">
                <a:solidFill>
                  <a:srgbClr val="A50021"/>
                </a:solidFill>
              </a:ln>
            </p:spPr>
          </p:sp>
          <p:sp>
            <p:nvSpPr>
              <p:cNvPr id="54" name="Freeform 54"/>
              <p:cNvSpPr/>
              <p:nvPr/>
            </p:nvSpPr>
            <p:spPr>
              <a:xfrm>
                <a:off x="3101975" y="5110162"/>
                <a:ext cx="215900" cy="121444"/>
              </a:xfrm>
              <a:custGeom>
                <a:avLst/>
                <a:gdLst/>
                <a:ahLst/>
                <a:cxnLst/>
                <a:rect l="l" t="t" r="r" b="b"/>
                <a:pathLst>
                  <a:path w="215900" h="121444">
                    <a:moveTo>
                      <a:pt x="0" y="0"/>
                    </a:moveTo>
                    <a:lnTo>
                      <a:pt x="0" y="80962"/>
                    </a:lnTo>
                    <a:cubicBezTo>
                      <a:pt x="0" y="103320"/>
                      <a:pt x="48331" y="121444"/>
                      <a:pt x="107950" y="121444"/>
                    </a:cubicBezTo>
                    <a:cubicBezTo>
                      <a:pt x="167569" y="121444"/>
                      <a:pt x="215900" y="103320"/>
                      <a:pt x="215900" y="80962"/>
                    </a:cubicBezTo>
                    <a:lnTo>
                      <a:pt x="215900" y="0"/>
                    </a:lnTo>
                  </a:path>
                </a:pathLst>
              </a:custGeom>
              <a:noFill/>
              <a:ln w="19050">
                <a:solidFill>
                  <a:srgbClr val="A50021"/>
                </a:solidFill>
              </a:ln>
            </p:spPr>
          </p:sp>
          <p:sp>
            <p:nvSpPr>
              <p:cNvPr id="55" name="Freeform 55"/>
              <p:cNvSpPr/>
              <p:nvPr/>
            </p:nvSpPr>
            <p:spPr>
              <a:xfrm>
                <a:off x="3101975" y="5191125"/>
                <a:ext cx="215900" cy="121444"/>
              </a:xfrm>
              <a:custGeom>
                <a:avLst/>
                <a:gdLst/>
                <a:ahLst/>
                <a:cxnLst/>
                <a:rect l="l" t="t" r="r" b="b"/>
                <a:pathLst>
                  <a:path w="215900" h="121444">
                    <a:moveTo>
                      <a:pt x="0" y="0"/>
                    </a:moveTo>
                    <a:lnTo>
                      <a:pt x="0" y="80962"/>
                    </a:lnTo>
                    <a:cubicBezTo>
                      <a:pt x="0" y="103320"/>
                      <a:pt x="48331" y="121444"/>
                      <a:pt x="107950" y="121444"/>
                    </a:cubicBezTo>
                    <a:cubicBezTo>
                      <a:pt x="167569" y="121444"/>
                      <a:pt x="215900" y="103320"/>
                      <a:pt x="215900" y="80962"/>
                    </a:cubicBezTo>
                    <a:lnTo>
                      <a:pt x="215900" y="0"/>
                    </a:lnTo>
                  </a:path>
                </a:pathLst>
              </a:custGeom>
              <a:noFill/>
              <a:ln w="19050">
                <a:solidFill>
                  <a:srgbClr val="A50021"/>
                </a:solidFill>
              </a:ln>
            </p:spPr>
          </p:sp>
        </p:grpSp>
        <p:sp>
          <p:nvSpPr>
            <p:cNvPr id="57" name="TextBox 57"/>
            <p:cNvSpPr txBox="1"/>
            <p:nvPr/>
          </p:nvSpPr>
          <p:spPr>
            <a:xfrm>
              <a:off x="3507105" y="5035868"/>
              <a:ext cx="1069419" cy="274320"/>
            </a:xfrm>
            <a:prstGeom prst="rect">
              <a:avLst/>
            </a:prstGeom>
            <a:noFill/>
            <a:ln>
              <a:noFill/>
            </a:ln>
          </p:spPr>
          <p:txBody>
            <a:bodyPr wrap="none" lIns="0" tIns="0" rIns="0" bIns="0" anchor="t" anchorCtr="0">
              <a:spAutoFit/>
            </a:bodyPr>
            <a:lstStyle/>
            <a:p>
              <a:pPr algn="l"/>
              <a:r>
                <a:rPr lang="zh-CN" sz="1350" b="1" dirty="0">
                  <a:solidFill>
                    <a:srgbClr val="1F2328"/>
                  </a:solidFill>
                  <a:latin typeface="Arial"/>
                  <a:ea typeface="SimHei"/>
                  <a:cs typeface="Arial"/>
                </a:rPr>
                <a:t>向量知识库</a:t>
              </a:r>
            </a:p>
          </p:txBody>
        </p:sp>
        <p:sp>
          <p:nvSpPr>
            <p:cNvPr id="58" name="TextBox 58"/>
            <p:cNvSpPr txBox="1"/>
            <p:nvPr/>
          </p:nvSpPr>
          <p:spPr>
            <a:xfrm>
              <a:off x="3511868" y="5285899"/>
              <a:ext cx="1306354"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状态维持与知识检索</a:t>
              </a:r>
            </a:p>
          </p:txBody>
        </p:sp>
        <p:sp>
          <p:nvSpPr>
            <p:cNvPr id="59" name="Rectangle 59"/>
            <p:cNvSpPr/>
            <p:nvPr/>
          </p:nvSpPr>
          <p:spPr>
            <a:xfrm>
              <a:off x="3048000" y="5562600"/>
              <a:ext cx="1143000" cy="228600"/>
            </a:xfrm>
            <a:prstGeom prst="roundRect">
              <a:avLst>
                <a:gd name="adj" fmla="val 33333"/>
              </a:avLst>
            </a:prstGeom>
            <a:solidFill>
              <a:srgbClr val="FDF3F5"/>
            </a:solidFill>
            <a:ln w="9525">
              <a:solidFill>
                <a:srgbClr val="D8A1AB"/>
              </a:solidFill>
            </a:ln>
          </p:spPr>
        </p:sp>
        <p:sp>
          <p:nvSpPr>
            <p:cNvPr id="60" name="Rectangle 60"/>
            <p:cNvSpPr/>
            <p:nvPr/>
          </p:nvSpPr>
          <p:spPr>
            <a:xfrm>
              <a:off x="4381500" y="5562600"/>
              <a:ext cx="1143000" cy="228600"/>
            </a:xfrm>
            <a:prstGeom prst="roundRect">
              <a:avLst>
                <a:gd name="adj" fmla="val 33333"/>
              </a:avLst>
            </a:prstGeom>
            <a:solidFill>
              <a:srgbClr val="FDF3F5"/>
            </a:solidFill>
            <a:ln w="9525">
              <a:solidFill>
                <a:srgbClr val="D8A1AB"/>
              </a:solidFill>
            </a:ln>
          </p:spPr>
        </p:sp>
        <p:sp>
          <p:nvSpPr>
            <p:cNvPr id="61" name="Rectangle 61"/>
            <p:cNvSpPr/>
            <p:nvPr/>
          </p:nvSpPr>
          <p:spPr>
            <a:xfrm>
              <a:off x="5715000" y="5562600"/>
              <a:ext cx="1143000" cy="228600"/>
            </a:xfrm>
            <a:prstGeom prst="roundRect">
              <a:avLst>
                <a:gd name="adj" fmla="val 33333"/>
              </a:avLst>
            </a:prstGeom>
            <a:solidFill>
              <a:srgbClr val="FDF3F5"/>
            </a:solidFill>
            <a:ln w="9525">
              <a:solidFill>
                <a:srgbClr val="D8A1AB"/>
              </a:solidFill>
            </a:ln>
          </p:spPr>
        </p:sp>
        <p:sp>
          <p:nvSpPr>
            <p:cNvPr id="62" name="TextBox 62"/>
            <p:cNvSpPr txBox="1"/>
            <p:nvPr/>
          </p:nvSpPr>
          <p:spPr>
            <a:xfrm>
              <a:off x="3213735" y="5627370"/>
              <a:ext cx="811530" cy="182880"/>
            </a:xfrm>
            <a:prstGeom prst="rect">
              <a:avLst/>
            </a:prstGeom>
            <a:noFill/>
            <a:ln>
              <a:noFill/>
            </a:ln>
          </p:spPr>
          <p:txBody>
            <a:bodyPr wrap="none" lIns="0" tIns="0" rIns="0" bIns="0" anchor="t" anchorCtr="0">
              <a:spAutoFit/>
            </a:bodyPr>
            <a:lstStyle/>
            <a:p>
              <a:pPr algn="ctr"/>
              <a:r>
                <a:rPr lang="zh-CN" sz="900" dirty="0">
                  <a:solidFill>
                    <a:srgbClr val="7A0018"/>
                  </a:solidFill>
                  <a:latin typeface="Arial"/>
                  <a:ea typeface="SimHei"/>
                  <a:cs typeface="Arial"/>
                </a:rPr>
                <a:t>存储用户画像</a:t>
              </a:r>
            </a:p>
          </p:txBody>
        </p:sp>
        <p:sp>
          <p:nvSpPr>
            <p:cNvPr id="63" name="TextBox 63"/>
            <p:cNvSpPr txBox="1"/>
            <p:nvPr/>
          </p:nvSpPr>
          <p:spPr>
            <a:xfrm>
              <a:off x="4547235" y="5627370"/>
              <a:ext cx="811530" cy="182880"/>
            </a:xfrm>
            <a:prstGeom prst="rect">
              <a:avLst/>
            </a:prstGeom>
            <a:noFill/>
            <a:ln>
              <a:noFill/>
            </a:ln>
          </p:spPr>
          <p:txBody>
            <a:bodyPr wrap="none" lIns="0" tIns="0" rIns="0" bIns="0" anchor="t" anchorCtr="0">
              <a:spAutoFit/>
            </a:bodyPr>
            <a:lstStyle/>
            <a:p>
              <a:pPr algn="ctr"/>
              <a:r>
                <a:rPr lang="zh-CN" sz="900" dirty="0">
                  <a:solidFill>
                    <a:srgbClr val="7A0018"/>
                  </a:solidFill>
                  <a:latin typeface="Arial"/>
                  <a:ea typeface="SimHei"/>
                  <a:cs typeface="Arial"/>
                </a:rPr>
                <a:t>历史交互轨迹</a:t>
              </a:r>
            </a:p>
          </p:txBody>
        </p:sp>
        <p:sp>
          <p:nvSpPr>
            <p:cNvPr id="64" name="TextBox 64"/>
            <p:cNvSpPr txBox="1"/>
            <p:nvPr/>
          </p:nvSpPr>
          <p:spPr>
            <a:xfrm>
              <a:off x="6012180" y="5627370"/>
              <a:ext cx="548640" cy="182880"/>
            </a:xfrm>
            <a:prstGeom prst="rect">
              <a:avLst/>
            </a:prstGeom>
            <a:noFill/>
            <a:ln>
              <a:noFill/>
            </a:ln>
          </p:spPr>
          <p:txBody>
            <a:bodyPr wrap="none" lIns="0" tIns="0" rIns="0" bIns="0" anchor="t" anchorCtr="0">
              <a:spAutoFit/>
            </a:bodyPr>
            <a:lstStyle/>
            <a:p>
              <a:pPr algn="ctr"/>
              <a:r>
                <a:rPr lang="zh-CN" sz="900" dirty="0">
                  <a:solidFill>
                    <a:srgbClr val="7A0018"/>
                  </a:solidFill>
                  <a:latin typeface="Arial"/>
                  <a:ea typeface="SimHei"/>
                  <a:cs typeface="Arial"/>
                </a:rPr>
                <a:t>推理轨迹</a:t>
              </a:r>
            </a:p>
          </p:txBody>
        </p:sp>
      </p:grpSp>
      <p:sp>
        <p:nvSpPr>
          <p:cNvPr id="66" name="Rectangle 66"/>
          <p:cNvSpPr/>
          <p:nvPr/>
        </p:nvSpPr>
        <p:spPr>
          <a:xfrm>
            <a:off x="7791450" y="1562100"/>
            <a:ext cx="3676650" cy="1600200"/>
          </a:xfrm>
          <a:prstGeom prst="roundRect">
            <a:avLst>
              <a:gd name="adj" fmla="val 9524"/>
            </a:avLst>
          </a:prstGeom>
          <a:solidFill>
            <a:srgbClr val="FFFFFF"/>
          </a:solidFill>
          <a:ln w="14288">
            <a:solidFill>
              <a:srgbClr val="A50021"/>
            </a:solidFill>
          </a:ln>
          <a:effectLst>
            <a:outerShdw blurRad="95250" dist="38100" dir="5400000" algn="ctr" rotWithShape="0">
              <a:srgbClr val="000000">
                <a:alpha val="7500"/>
              </a:srgbClr>
            </a:outerShdw>
          </a:effectLst>
        </p:spPr>
      </p:sp>
      <p:grpSp>
        <p:nvGrpSpPr>
          <p:cNvPr id="71" name="Group 71"/>
          <p:cNvGrpSpPr/>
          <p:nvPr/>
        </p:nvGrpSpPr>
        <p:grpSpPr>
          <a:xfrm>
            <a:off x="8150225" y="1835150"/>
            <a:ext cx="170763" cy="250825"/>
            <a:chOff x="8150225" y="1835150"/>
            <a:chExt cx="170763" cy="250825"/>
          </a:xfrm>
        </p:grpSpPr>
        <p:sp>
          <p:nvSpPr>
            <p:cNvPr id="67" name="Freeform 67"/>
            <p:cNvSpPr/>
            <p:nvPr/>
          </p:nvSpPr>
          <p:spPr>
            <a:xfrm>
              <a:off x="8166100" y="1873250"/>
              <a:ext cx="101600" cy="101600"/>
            </a:xfrm>
            <a:custGeom>
              <a:avLst/>
              <a:gdLst/>
              <a:ahLst/>
              <a:cxnLst/>
              <a:rect l="l" t="t" r="r" b="b"/>
              <a:pathLst>
                <a:path w="101600" h="101600">
                  <a:moveTo>
                    <a:pt x="0" y="50800"/>
                  </a:moveTo>
                  <a:cubicBezTo>
                    <a:pt x="0" y="78856"/>
                    <a:pt x="22744" y="101600"/>
                    <a:pt x="50800" y="101600"/>
                  </a:cubicBezTo>
                  <a:cubicBezTo>
                    <a:pt x="78856" y="101600"/>
                    <a:pt x="101600" y="78856"/>
                    <a:pt x="101600" y="50800"/>
                  </a:cubicBezTo>
                  <a:cubicBezTo>
                    <a:pt x="101600" y="22744"/>
                    <a:pt x="78856" y="0"/>
                    <a:pt x="50800" y="0"/>
                  </a:cubicBezTo>
                  <a:cubicBezTo>
                    <a:pt x="22744" y="0"/>
                    <a:pt x="0" y="22744"/>
                    <a:pt x="0" y="50800"/>
                  </a:cubicBezTo>
                </a:path>
              </a:pathLst>
            </a:custGeom>
            <a:noFill/>
            <a:ln w="19050">
              <a:solidFill>
                <a:srgbClr val="A50021"/>
              </a:solidFill>
            </a:ln>
          </p:spPr>
        </p:sp>
        <p:sp>
          <p:nvSpPr>
            <p:cNvPr id="68" name="Freeform 68"/>
            <p:cNvSpPr/>
            <p:nvPr/>
          </p:nvSpPr>
          <p:spPr>
            <a:xfrm>
              <a:off x="8150225" y="1835150"/>
              <a:ext cx="170763" cy="197099"/>
            </a:xfrm>
            <a:custGeom>
              <a:avLst/>
              <a:gdLst/>
              <a:ahLst/>
              <a:cxnLst/>
              <a:rect l="l" t="t" r="r" b="b"/>
              <a:pathLst>
                <a:path w="170763" h="197099">
                  <a:moveTo>
                    <a:pt x="0" y="165100"/>
                  </a:moveTo>
                  <a:cubicBezTo>
                    <a:pt x="29234" y="190493"/>
                    <a:pt x="70344" y="197099"/>
                    <a:pt x="106062" y="182144"/>
                  </a:cubicBezTo>
                  <a:cubicBezTo>
                    <a:pt x="141781" y="167189"/>
                    <a:pt x="165920" y="133264"/>
                    <a:pt x="168342" y="94617"/>
                  </a:cubicBezTo>
                  <a:cubicBezTo>
                    <a:pt x="170763" y="55970"/>
                    <a:pt x="151047" y="19296"/>
                    <a:pt x="117475" y="0"/>
                  </a:cubicBezTo>
                </a:path>
              </a:pathLst>
            </a:custGeom>
            <a:noFill/>
            <a:ln w="19050">
              <a:solidFill>
                <a:srgbClr val="A50021"/>
              </a:solidFill>
            </a:ln>
          </p:spPr>
        </p:sp>
        <p:sp>
          <p:nvSpPr>
            <p:cNvPr id="69" name="Freeform 69"/>
            <p:cNvSpPr/>
            <p:nvPr/>
          </p:nvSpPr>
          <p:spPr>
            <a:xfrm>
              <a:off x="8216900" y="2025650"/>
              <a:ext cx="9525" cy="50800"/>
            </a:xfrm>
            <a:custGeom>
              <a:avLst/>
              <a:gdLst/>
              <a:ahLst/>
              <a:cxnLst/>
              <a:rect l="l" t="t" r="r" b="b"/>
              <a:pathLst>
                <a:path w="9525" h="50800">
                  <a:moveTo>
                    <a:pt x="0" y="0"/>
                  </a:moveTo>
                  <a:lnTo>
                    <a:pt x="0" y="50800"/>
                  </a:lnTo>
                </a:path>
              </a:pathLst>
            </a:custGeom>
            <a:noFill/>
            <a:ln w="19050">
              <a:solidFill>
                <a:srgbClr val="A50021"/>
              </a:solidFill>
            </a:ln>
          </p:spPr>
        </p:sp>
        <p:sp>
          <p:nvSpPr>
            <p:cNvPr id="70" name="Freeform 70"/>
            <p:cNvSpPr/>
            <p:nvPr/>
          </p:nvSpPr>
          <p:spPr>
            <a:xfrm>
              <a:off x="8166100" y="2076450"/>
              <a:ext cx="101600" cy="9525"/>
            </a:xfrm>
            <a:custGeom>
              <a:avLst/>
              <a:gdLst/>
              <a:ahLst/>
              <a:cxnLst/>
              <a:rect l="l" t="t" r="r" b="b"/>
              <a:pathLst>
                <a:path w="101600" h="9525">
                  <a:moveTo>
                    <a:pt x="0" y="0"/>
                  </a:moveTo>
                  <a:lnTo>
                    <a:pt x="101600" y="0"/>
                  </a:lnTo>
                </a:path>
              </a:pathLst>
            </a:custGeom>
            <a:noFill/>
            <a:ln w="19050">
              <a:solidFill>
                <a:srgbClr val="A50021"/>
              </a:solidFill>
            </a:ln>
          </p:spPr>
        </p:sp>
      </p:grpSp>
      <p:sp>
        <p:nvSpPr>
          <p:cNvPr id="72" name="TextBox 72"/>
          <p:cNvSpPr txBox="1"/>
          <p:nvPr/>
        </p:nvSpPr>
        <p:spPr>
          <a:xfrm>
            <a:off x="8495348" y="1839754"/>
            <a:ext cx="2419077" cy="320040"/>
          </a:xfrm>
          <a:prstGeom prst="rect">
            <a:avLst/>
          </a:prstGeom>
          <a:noFill/>
          <a:ln>
            <a:noFill/>
          </a:ln>
        </p:spPr>
        <p:txBody>
          <a:bodyPr wrap="none" lIns="0" tIns="0" rIns="0" bIns="0" anchor="t" anchorCtr="0">
            <a:spAutoFit/>
          </a:bodyPr>
          <a:lstStyle/>
          <a:p>
            <a:pPr algn="l"/>
            <a:r>
              <a:rPr lang="zh-CN" sz="1575" b="1" dirty="0">
                <a:solidFill>
                  <a:srgbClr val="1F2328"/>
                </a:solidFill>
                <a:latin typeface="Arial"/>
                <a:ea typeface="SimHei"/>
                <a:cs typeface="Arial"/>
              </a:rPr>
              <a:t>大型语言模型（LLM）</a:t>
            </a:r>
          </a:p>
        </p:txBody>
      </p:sp>
      <p:sp>
        <p:nvSpPr>
          <p:cNvPr id="73" name="Rectangle 73"/>
          <p:cNvSpPr/>
          <p:nvPr/>
        </p:nvSpPr>
        <p:spPr>
          <a:xfrm>
            <a:off x="8077200" y="2266950"/>
            <a:ext cx="1428750" cy="590550"/>
          </a:xfrm>
          <a:prstGeom prst="roundRect">
            <a:avLst>
              <a:gd name="adj" fmla="val 19355"/>
            </a:avLst>
          </a:prstGeom>
          <a:solidFill>
            <a:srgbClr val="FDF3F5"/>
          </a:solidFill>
          <a:ln w="9525">
            <a:solidFill>
              <a:srgbClr val="D8A1AB"/>
            </a:solidFill>
          </a:ln>
        </p:spPr>
      </p:sp>
      <p:grpSp>
        <p:nvGrpSpPr>
          <p:cNvPr id="80" name="Group 80"/>
          <p:cNvGrpSpPr/>
          <p:nvPr/>
        </p:nvGrpSpPr>
        <p:grpSpPr>
          <a:xfrm>
            <a:off x="8281988" y="2452688"/>
            <a:ext cx="200024" cy="200024"/>
            <a:chOff x="8281988" y="2452688"/>
            <a:chExt cx="200024" cy="200024"/>
          </a:xfrm>
        </p:grpSpPr>
        <p:sp>
          <p:nvSpPr>
            <p:cNvPr id="74" name="Freeform 74"/>
            <p:cNvSpPr/>
            <p:nvPr/>
          </p:nvSpPr>
          <p:spPr>
            <a:xfrm>
              <a:off x="8382000" y="2563812"/>
              <a:ext cx="77787" cy="88900"/>
            </a:xfrm>
            <a:custGeom>
              <a:avLst/>
              <a:gdLst/>
              <a:ahLst/>
              <a:cxnLst/>
              <a:rect l="l" t="t" r="r" b="b"/>
              <a:pathLst>
                <a:path w="77787" h="88900">
                  <a:moveTo>
                    <a:pt x="38894" y="0"/>
                  </a:moveTo>
                  <a:cubicBezTo>
                    <a:pt x="17413" y="0"/>
                    <a:pt x="0" y="17413"/>
                    <a:pt x="0" y="38894"/>
                  </a:cubicBezTo>
                  <a:lnTo>
                    <a:pt x="0" y="50006"/>
                  </a:lnTo>
                  <a:cubicBezTo>
                    <a:pt x="0" y="71487"/>
                    <a:pt x="17413" y="88900"/>
                    <a:pt x="38894" y="88900"/>
                  </a:cubicBezTo>
                  <a:cubicBezTo>
                    <a:pt x="60374" y="88900"/>
                    <a:pt x="77787" y="71487"/>
                    <a:pt x="77787" y="50006"/>
                  </a:cubicBezTo>
                  <a:lnTo>
                    <a:pt x="77787" y="30004"/>
                  </a:lnTo>
                </a:path>
              </a:pathLst>
            </a:custGeom>
            <a:noFill/>
            <a:ln w="19050">
              <a:solidFill>
                <a:srgbClr val="A50021"/>
              </a:solidFill>
            </a:ln>
          </p:spPr>
        </p:sp>
        <p:sp>
          <p:nvSpPr>
            <p:cNvPr id="75" name="Freeform 75"/>
            <p:cNvSpPr/>
            <p:nvPr/>
          </p:nvSpPr>
          <p:spPr>
            <a:xfrm>
              <a:off x="8304212" y="2563812"/>
              <a:ext cx="77787" cy="88900"/>
            </a:xfrm>
            <a:custGeom>
              <a:avLst/>
              <a:gdLst/>
              <a:ahLst/>
              <a:cxnLst/>
              <a:rect l="l" t="t" r="r" b="b"/>
              <a:pathLst>
                <a:path w="77787" h="88900">
                  <a:moveTo>
                    <a:pt x="38894" y="0"/>
                  </a:moveTo>
                  <a:cubicBezTo>
                    <a:pt x="60374" y="0"/>
                    <a:pt x="77787" y="17413"/>
                    <a:pt x="77787" y="38894"/>
                  </a:cubicBezTo>
                  <a:lnTo>
                    <a:pt x="77787" y="50006"/>
                  </a:lnTo>
                  <a:cubicBezTo>
                    <a:pt x="77787" y="71487"/>
                    <a:pt x="60374" y="88900"/>
                    <a:pt x="38894" y="88900"/>
                  </a:cubicBezTo>
                  <a:cubicBezTo>
                    <a:pt x="17413" y="88900"/>
                    <a:pt x="0" y="71487"/>
                    <a:pt x="0" y="50006"/>
                  </a:cubicBezTo>
                  <a:lnTo>
                    <a:pt x="0" y="30004"/>
                  </a:lnTo>
                </a:path>
              </a:pathLst>
            </a:custGeom>
            <a:noFill/>
            <a:ln w="19050">
              <a:solidFill>
                <a:srgbClr val="A50021"/>
              </a:solidFill>
            </a:ln>
          </p:spPr>
        </p:sp>
        <p:sp>
          <p:nvSpPr>
            <p:cNvPr id="76" name="Freeform 76"/>
            <p:cNvSpPr/>
            <p:nvPr/>
          </p:nvSpPr>
          <p:spPr>
            <a:xfrm>
              <a:off x="8437562" y="2519362"/>
              <a:ext cx="44450" cy="77788"/>
            </a:xfrm>
            <a:custGeom>
              <a:avLst/>
              <a:gdLst/>
              <a:ahLst/>
              <a:cxnLst/>
              <a:rect l="l" t="t" r="r" b="b"/>
              <a:pathLst>
                <a:path w="44450" h="77788">
                  <a:moveTo>
                    <a:pt x="5556" y="77788"/>
                  </a:moveTo>
                  <a:cubicBezTo>
                    <a:pt x="27037" y="77788"/>
                    <a:pt x="44450" y="60374"/>
                    <a:pt x="44450" y="38894"/>
                  </a:cubicBezTo>
                  <a:cubicBezTo>
                    <a:pt x="44450" y="17413"/>
                    <a:pt x="27037" y="0"/>
                    <a:pt x="5556" y="0"/>
                  </a:cubicBezTo>
                  <a:lnTo>
                    <a:pt x="0" y="0"/>
                  </a:lnTo>
                </a:path>
              </a:pathLst>
            </a:custGeom>
            <a:noFill/>
            <a:ln w="19050">
              <a:solidFill>
                <a:srgbClr val="A50021"/>
              </a:solidFill>
            </a:ln>
          </p:spPr>
        </p:sp>
        <p:sp>
          <p:nvSpPr>
            <p:cNvPr id="77" name="Freeform 77"/>
            <p:cNvSpPr/>
            <p:nvPr/>
          </p:nvSpPr>
          <p:spPr>
            <a:xfrm>
              <a:off x="8382000" y="2452688"/>
              <a:ext cx="77787" cy="70009"/>
            </a:xfrm>
            <a:custGeom>
              <a:avLst/>
              <a:gdLst/>
              <a:ahLst/>
              <a:cxnLst/>
              <a:rect l="l" t="t" r="r" b="b"/>
              <a:pathLst>
                <a:path w="77787" h="70009">
                  <a:moveTo>
                    <a:pt x="77787" y="70009"/>
                  </a:moveTo>
                  <a:lnTo>
                    <a:pt x="77787" y="38894"/>
                  </a:lnTo>
                  <a:cubicBezTo>
                    <a:pt x="77787" y="17413"/>
                    <a:pt x="60374" y="0"/>
                    <a:pt x="38894" y="0"/>
                  </a:cubicBezTo>
                  <a:cubicBezTo>
                    <a:pt x="17413" y="0"/>
                    <a:pt x="0" y="17413"/>
                    <a:pt x="0" y="38894"/>
                  </a:cubicBezTo>
                </a:path>
              </a:pathLst>
            </a:custGeom>
            <a:noFill/>
            <a:ln w="19050">
              <a:solidFill>
                <a:srgbClr val="A50021"/>
              </a:solidFill>
            </a:ln>
          </p:spPr>
        </p:sp>
        <p:sp>
          <p:nvSpPr>
            <p:cNvPr id="78" name="Freeform 78"/>
            <p:cNvSpPr/>
            <p:nvPr/>
          </p:nvSpPr>
          <p:spPr>
            <a:xfrm>
              <a:off x="8281988" y="2519362"/>
              <a:ext cx="44450" cy="77788"/>
            </a:xfrm>
            <a:custGeom>
              <a:avLst/>
              <a:gdLst/>
              <a:ahLst/>
              <a:cxnLst/>
              <a:rect l="l" t="t" r="r" b="b"/>
              <a:pathLst>
                <a:path w="44450" h="77788">
                  <a:moveTo>
                    <a:pt x="38894" y="77788"/>
                  </a:moveTo>
                  <a:cubicBezTo>
                    <a:pt x="17413" y="77788"/>
                    <a:pt x="0" y="60374"/>
                    <a:pt x="0" y="38894"/>
                  </a:cubicBezTo>
                  <a:cubicBezTo>
                    <a:pt x="0" y="17413"/>
                    <a:pt x="17413" y="0"/>
                    <a:pt x="38894" y="0"/>
                  </a:cubicBezTo>
                  <a:lnTo>
                    <a:pt x="44450" y="0"/>
                  </a:lnTo>
                </a:path>
              </a:pathLst>
            </a:custGeom>
            <a:noFill/>
            <a:ln w="19050">
              <a:solidFill>
                <a:srgbClr val="A50021"/>
              </a:solidFill>
            </a:ln>
          </p:spPr>
        </p:sp>
        <p:sp>
          <p:nvSpPr>
            <p:cNvPr id="79" name="Freeform 79"/>
            <p:cNvSpPr/>
            <p:nvPr/>
          </p:nvSpPr>
          <p:spPr>
            <a:xfrm>
              <a:off x="8304212" y="2452688"/>
              <a:ext cx="77787" cy="150019"/>
            </a:xfrm>
            <a:custGeom>
              <a:avLst/>
              <a:gdLst/>
              <a:ahLst/>
              <a:cxnLst/>
              <a:rect l="l" t="t" r="r" b="b"/>
              <a:pathLst>
                <a:path w="77787" h="150019">
                  <a:moveTo>
                    <a:pt x="0" y="70009"/>
                  </a:moveTo>
                  <a:lnTo>
                    <a:pt x="0" y="38894"/>
                  </a:lnTo>
                  <a:cubicBezTo>
                    <a:pt x="0" y="17413"/>
                    <a:pt x="17413" y="0"/>
                    <a:pt x="38894" y="0"/>
                  </a:cubicBezTo>
                  <a:cubicBezTo>
                    <a:pt x="60374" y="0"/>
                    <a:pt x="77787" y="17413"/>
                    <a:pt x="77787" y="38894"/>
                  </a:cubicBezTo>
                  <a:lnTo>
                    <a:pt x="77787" y="150019"/>
                  </a:lnTo>
                </a:path>
              </a:pathLst>
            </a:custGeom>
            <a:noFill/>
            <a:ln w="19050">
              <a:solidFill>
                <a:srgbClr val="A50021"/>
              </a:solidFill>
            </a:ln>
          </p:spPr>
        </p:sp>
      </p:grpSp>
      <p:sp>
        <p:nvSpPr>
          <p:cNvPr id="81" name="TextBox 81"/>
          <p:cNvSpPr txBox="1"/>
          <p:nvPr/>
        </p:nvSpPr>
        <p:spPr>
          <a:xfrm>
            <a:off x="8615362" y="2393156"/>
            <a:ext cx="891183" cy="228600"/>
          </a:xfrm>
          <a:prstGeom prst="rect">
            <a:avLst/>
          </a:prstGeom>
          <a:noFill/>
          <a:ln>
            <a:noFill/>
          </a:ln>
        </p:spPr>
        <p:txBody>
          <a:bodyPr wrap="none" lIns="0" tIns="0" rIns="0" bIns="0" anchor="t" anchorCtr="0">
            <a:spAutoFit/>
          </a:bodyPr>
          <a:lstStyle/>
          <a:p>
            <a:pPr algn="l"/>
            <a:r>
              <a:rPr lang="zh-CN" sz="1125" b="1" dirty="0">
                <a:solidFill>
                  <a:srgbClr val="1F2328"/>
                </a:solidFill>
                <a:latin typeface="Arial"/>
                <a:ea typeface="SimHei"/>
                <a:cs typeface="Arial"/>
              </a:rPr>
              <a:t>推理与决策</a:t>
            </a:r>
          </a:p>
        </p:txBody>
      </p:sp>
      <p:sp>
        <p:nvSpPr>
          <p:cNvPr id="82" name="TextBox 82"/>
          <p:cNvSpPr txBox="1"/>
          <p:nvPr/>
        </p:nvSpPr>
        <p:spPr>
          <a:xfrm>
            <a:off x="8618220" y="2617470"/>
            <a:ext cx="535496"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Thinking</a:t>
            </a:r>
          </a:p>
        </p:txBody>
      </p:sp>
      <p:sp>
        <p:nvSpPr>
          <p:cNvPr id="83" name="Rectangle 83"/>
          <p:cNvSpPr/>
          <p:nvPr/>
        </p:nvSpPr>
        <p:spPr>
          <a:xfrm>
            <a:off x="9772650" y="2266950"/>
            <a:ext cx="1295400" cy="590550"/>
          </a:xfrm>
          <a:prstGeom prst="roundRect">
            <a:avLst>
              <a:gd name="adj" fmla="val 19355"/>
            </a:avLst>
          </a:prstGeom>
          <a:solidFill>
            <a:srgbClr val="FFFFFF"/>
          </a:solidFill>
          <a:ln w="9525">
            <a:solidFill>
              <a:srgbClr val="E8EAED"/>
            </a:solidFill>
          </a:ln>
        </p:spPr>
      </p:sp>
      <p:sp>
        <p:nvSpPr>
          <p:cNvPr id="84" name="TextBox 84"/>
          <p:cNvSpPr txBox="1"/>
          <p:nvPr/>
        </p:nvSpPr>
        <p:spPr>
          <a:xfrm>
            <a:off x="10061019" y="2393156"/>
            <a:ext cx="718661" cy="228600"/>
          </a:xfrm>
          <a:prstGeom prst="rect">
            <a:avLst/>
          </a:prstGeom>
          <a:noFill/>
          <a:ln>
            <a:noFill/>
          </a:ln>
        </p:spPr>
        <p:txBody>
          <a:bodyPr wrap="none" lIns="0" tIns="0" rIns="0" bIns="0" anchor="t" anchorCtr="0">
            <a:spAutoFit/>
          </a:bodyPr>
          <a:lstStyle/>
          <a:p>
            <a:pPr algn="ctr"/>
            <a:r>
              <a:rPr lang="zh-CN" sz="1125" b="1" dirty="0">
                <a:solidFill>
                  <a:srgbClr val="1F2328"/>
                </a:solidFill>
                <a:latin typeface="Arial"/>
                <a:ea typeface="SimHei"/>
                <a:cs typeface="Arial"/>
              </a:rPr>
              <a:t>生成响应</a:t>
            </a:r>
          </a:p>
        </p:txBody>
      </p:sp>
      <p:sp>
        <p:nvSpPr>
          <p:cNvPr id="85" name="TextBox 85"/>
          <p:cNvSpPr txBox="1"/>
          <p:nvPr/>
        </p:nvSpPr>
        <p:spPr>
          <a:xfrm>
            <a:off x="9948862" y="2617470"/>
            <a:ext cx="942975" cy="182880"/>
          </a:xfrm>
          <a:prstGeom prst="rect">
            <a:avLst/>
          </a:prstGeom>
          <a:noFill/>
          <a:ln>
            <a:noFill/>
          </a:ln>
        </p:spPr>
        <p:txBody>
          <a:bodyPr wrap="none" lIns="0" tIns="0" rIns="0" bIns="0" anchor="t" anchorCtr="0">
            <a:spAutoFit/>
          </a:bodyPr>
          <a:lstStyle/>
          <a:p>
            <a:pPr algn="ctr"/>
            <a:r>
              <a:rPr lang="zh-CN" sz="900" dirty="0">
                <a:solidFill>
                  <a:srgbClr val="5F6368"/>
                </a:solidFill>
                <a:latin typeface="Arial"/>
                <a:ea typeface="SimHei"/>
                <a:cs typeface="Arial"/>
              </a:rPr>
              <a:t>文本或工具指令</a:t>
            </a:r>
          </a:p>
        </p:txBody>
      </p:sp>
      <p:sp>
        <p:nvSpPr>
          <p:cNvPr id="87" name="Freeform 87"/>
          <p:cNvSpPr/>
          <p:nvPr/>
        </p:nvSpPr>
        <p:spPr>
          <a:xfrm>
            <a:off x="6913880" y="2855118"/>
            <a:ext cx="3034982" cy="688182"/>
          </a:xfrm>
          <a:custGeom>
            <a:avLst/>
            <a:gdLst/>
            <a:ahLst/>
            <a:cxnLst/>
            <a:rect l="l" t="t" r="r" b="b"/>
            <a:pathLst>
              <a:path w="790575" h="247650">
                <a:moveTo>
                  <a:pt x="790575" y="0"/>
                </a:moveTo>
                <a:lnTo>
                  <a:pt x="790575" y="247650"/>
                </a:lnTo>
                <a:lnTo>
                  <a:pt x="0" y="247650"/>
                </a:lnTo>
              </a:path>
            </a:pathLst>
          </a:custGeom>
          <a:noFill/>
          <a:ln w="22860">
            <a:solidFill>
              <a:srgbClr val="A50021"/>
            </a:solidFill>
            <a:tailEnd type="triangle" w="lg" len="lg"/>
          </a:ln>
        </p:spPr>
      </p:sp>
      <p:sp>
        <p:nvSpPr>
          <p:cNvPr id="89" name="TextBox 89"/>
          <p:cNvSpPr txBox="1"/>
          <p:nvPr/>
        </p:nvSpPr>
        <p:spPr>
          <a:xfrm>
            <a:off x="10534650" y="3356736"/>
            <a:ext cx="923330" cy="138499"/>
          </a:xfrm>
          <a:prstGeom prst="rect">
            <a:avLst/>
          </a:prstGeom>
          <a:noFill/>
          <a:ln>
            <a:noFill/>
          </a:ln>
        </p:spPr>
        <p:txBody>
          <a:bodyPr wrap="none" lIns="0" tIns="0" rIns="0" bIns="0" anchor="t" anchorCtr="0">
            <a:spAutoFit/>
          </a:bodyPr>
          <a:lstStyle/>
          <a:p>
            <a:pPr algn="l"/>
            <a:r>
              <a:rPr lang="zh-CN" sz="900" b="1" dirty="0">
                <a:solidFill>
                  <a:srgbClr val="7A0018"/>
                </a:solidFill>
                <a:latin typeface="Arial"/>
                <a:ea typeface="SimHei"/>
                <a:cs typeface="Arial"/>
              </a:rPr>
              <a:t>包含工具使用指令</a:t>
            </a:r>
          </a:p>
        </p:txBody>
      </p:sp>
      <p:sp>
        <p:nvSpPr>
          <p:cNvPr id="90" name="TextBox 90"/>
          <p:cNvSpPr txBox="1"/>
          <p:nvPr/>
        </p:nvSpPr>
        <p:spPr>
          <a:xfrm>
            <a:off x="9019699" y="3343275"/>
            <a:ext cx="942975"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无工具使用指令</a:t>
            </a:r>
          </a:p>
        </p:txBody>
      </p:sp>
      <p:sp>
        <p:nvSpPr>
          <p:cNvPr id="93" name="Rectangle 93"/>
          <p:cNvSpPr/>
          <p:nvPr/>
        </p:nvSpPr>
        <p:spPr>
          <a:xfrm>
            <a:off x="7791450" y="3733800"/>
            <a:ext cx="3676650" cy="2095500"/>
          </a:xfrm>
          <a:prstGeom prst="roundRect">
            <a:avLst>
              <a:gd name="adj" fmla="val 7273"/>
            </a:avLst>
          </a:prstGeom>
          <a:solidFill>
            <a:srgbClr val="FFFFFF"/>
          </a:solidFill>
          <a:ln w="14288">
            <a:solidFill>
              <a:srgbClr val="A50021"/>
            </a:solidFill>
          </a:ln>
          <a:effectLst>
            <a:outerShdw blurRad="95250" dist="38100" dir="5400000" algn="ctr" rotWithShape="0">
              <a:srgbClr val="000000">
                <a:alpha val="7500"/>
              </a:srgbClr>
            </a:outerShdw>
          </a:effectLst>
        </p:spPr>
      </p:sp>
      <p:grpSp>
        <p:nvGrpSpPr>
          <p:cNvPr id="103" name="Group 103"/>
          <p:cNvGrpSpPr/>
          <p:nvPr/>
        </p:nvGrpSpPr>
        <p:grpSpPr>
          <a:xfrm>
            <a:off x="8140700" y="4019550"/>
            <a:ext cx="177800" cy="228600"/>
            <a:chOff x="8140700" y="4019550"/>
            <a:chExt cx="177800" cy="228600"/>
          </a:xfrm>
        </p:grpSpPr>
        <p:sp>
          <p:nvSpPr>
            <p:cNvPr id="94" name="Freeform 94"/>
            <p:cNvSpPr/>
            <p:nvPr/>
          </p:nvSpPr>
          <p:spPr>
            <a:xfrm>
              <a:off x="8204200" y="413385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A50021"/>
              </a:solidFill>
            </a:ln>
          </p:spPr>
        </p:sp>
        <p:sp>
          <p:nvSpPr>
            <p:cNvPr id="95" name="Freeform 95"/>
            <p:cNvSpPr/>
            <p:nvPr/>
          </p:nvSpPr>
          <p:spPr>
            <a:xfrm>
              <a:off x="8229600" y="4114800"/>
              <a:ext cx="9525" cy="19050"/>
            </a:xfrm>
            <a:custGeom>
              <a:avLst/>
              <a:gdLst/>
              <a:ahLst/>
              <a:cxnLst/>
              <a:rect l="l" t="t" r="r" b="b"/>
              <a:pathLst>
                <a:path w="9525" h="19050">
                  <a:moveTo>
                    <a:pt x="0" y="0"/>
                  </a:moveTo>
                  <a:lnTo>
                    <a:pt x="0" y="19050"/>
                  </a:lnTo>
                </a:path>
              </a:pathLst>
            </a:custGeom>
            <a:noFill/>
            <a:ln w="19050">
              <a:solidFill>
                <a:srgbClr val="A50021"/>
              </a:solidFill>
            </a:ln>
          </p:spPr>
        </p:sp>
        <p:sp>
          <p:nvSpPr>
            <p:cNvPr id="96" name="Freeform 96"/>
            <p:cNvSpPr/>
            <p:nvPr/>
          </p:nvSpPr>
          <p:spPr>
            <a:xfrm>
              <a:off x="8229600" y="4184650"/>
              <a:ext cx="9525" cy="19050"/>
            </a:xfrm>
            <a:custGeom>
              <a:avLst/>
              <a:gdLst/>
              <a:ahLst/>
              <a:cxnLst/>
              <a:rect l="l" t="t" r="r" b="b"/>
              <a:pathLst>
                <a:path w="9525" h="19050">
                  <a:moveTo>
                    <a:pt x="0" y="0"/>
                  </a:moveTo>
                  <a:lnTo>
                    <a:pt x="0" y="19050"/>
                  </a:lnTo>
                </a:path>
              </a:pathLst>
            </a:custGeom>
            <a:noFill/>
            <a:ln w="19050">
              <a:solidFill>
                <a:srgbClr val="A50021"/>
              </a:solidFill>
            </a:ln>
          </p:spPr>
        </p:sp>
        <p:sp>
          <p:nvSpPr>
            <p:cNvPr id="97" name="Freeform 97"/>
            <p:cNvSpPr/>
            <p:nvPr/>
          </p:nvSpPr>
          <p:spPr>
            <a:xfrm>
              <a:off x="8251596" y="4137025"/>
              <a:ext cx="16497" cy="9525"/>
            </a:xfrm>
            <a:custGeom>
              <a:avLst/>
              <a:gdLst/>
              <a:ahLst/>
              <a:cxnLst/>
              <a:rect l="l" t="t" r="r" b="b"/>
              <a:pathLst>
                <a:path w="16497" h="9525">
                  <a:moveTo>
                    <a:pt x="16497" y="0"/>
                  </a:moveTo>
                  <a:lnTo>
                    <a:pt x="0" y="9525"/>
                  </a:lnTo>
                </a:path>
              </a:pathLst>
            </a:custGeom>
            <a:noFill/>
            <a:ln w="19050">
              <a:solidFill>
                <a:srgbClr val="A50021"/>
              </a:solidFill>
            </a:ln>
          </p:spPr>
        </p:sp>
        <p:sp>
          <p:nvSpPr>
            <p:cNvPr id="98" name="Freeform 98"/>
            <p:cNvSpPr/>
            <p:nvPr/>
          </p:nvSpPr>
          <p:spPr>
            <a:xfrm>
              <a:off x="8191094" y="4171950"/>
              <a:ext cx="16510" cy="9525"/>
            </a:xfrm>
            <a:custGeom>
              <a:avLst/>
              <a:gdLst/>
              <a:ahLst/>
              <a:cxnLst/>
              <a:rect l="l" t="t" r="r" b="b"/>
              <a:pathLst>
                <a:path w="16510" h="9525">
                  <a:moveTo>
                    <a:pt x="16510" y="0"/>
                  </a:moveTo>
                  <a:lnTo>
                    <a:pt x="0" y="9525"/>
                  </a:lnTo>
                </a:path>
              </a:pathLst>
            </a:custGeom>
            <a:noFill/>
            <a:ln w="19050">
              <a:solidFill>
                <a:srgbClr val="A50021"/>
              </a:solidFill>
            </a:ln>
          </p:spPr>
        </p:sp>
        <p:sp>
          <p:nvSpPr>
            <p:cNvPr id="99" name="Freeform 99"/>
            <p:cNvSpPr/>
            <p:nvPr/>
          </p:nvSpPr>
          <p:spPr>
            <a:xfrm>
              <a:off x="8251380" y="4172331"/>
              <a:ext cx="16320" cy="9817"/>
            </a:xfrm>
            <a:custGeom>
              <a:avLst/>
              <a:gdLst/>
              <a:ahLst/>
              <a:cxnLst/>
              <a:rect l="l" t="t" r="r" b="b"/>
              <a:pathLst>
                <a:path w="16320" h="9817">
                  <a:moveTo>
                    <a:pt x="16320" y="9817"/>
                  </a:moveTo>
                  <a:lnTo>
                    <a:pt x="0" y="0"/>
                  </a:lnTo>
                </a:path>
              </a:pathLst>
            </a:custGeom>
            <a:noFill/>
            <a:ln w="19050">
              <a:solidFill>
                <a:srgbClr val="A50021"/>
              </a:solidFill>
            </a:ln>
          </p:spPr>
        </p:sp>
        <p:sp>
          <p:nvSpPr>
            <p:cNvPr id="100" name="Freeform 100"/>
            <p:cNvSpPr/>
            <p:nvPr/>
          </p:nvSpPr>
          <p:spPr>
            <a:xfrm>
              <a:off x="8191500" y="4136352"/>
              <a:ext cx="16320" cy="9817"/>
            </a:xfrm>
            <a:custGeom>
              <a:avLst/>
              <a:gdLst/>
              <a:ahLst/>
              <a:cxnLst/>
              <a:rect l="l" t="t" r="r" b="b"/>
              <a:pathLst>
                <a:path w="16320" h="9817">
                  <a:moveTo>
                    <a:pt x="16320" y="9817"/>
                  </a:moveTo>
                  <a:lnTo>
                    <a:pt x="0" y="0"/>
                  </a:lnTo>
                </a:path>
              </a:pathLst>
            </a:custGeom>
            <a:noFill/>
            <a:ln w="19050">
              <a:solidFill>
                <a:srgbClr val="A50021"/>
              </a:solidFill>
            </a:ln>
          </p:spPr>
        </p:sp>
        <p:sp>
          <p:nvSpPr>
            <p:cNvPr id="101" name="Freeform 101"/>
            <p:cNvSpPr/>
            <p:nvPr/>
          </p:nvSpPr>
          <p:spPr>
            <a:xfrm>
              <a:off x="8255000" y="4019550"/>
              <a:ext cx="63500" cy="63500"/>
            </a:xfrm>
            <a:custGeom>
              <a:avLst/>
              <a:gdLst/>
              <a:ahLst/>
              <a:cxnLst/>
              <a:rect l="l" t="t" r="r" b="b"/>
              <a:pathLst>
                <a:path w="63500" h="63500">
                  <a:moveTo>
                    <a:pt x="0" y="0"/>
                  </a:moveTo>
                  <a:lnTo>
                    <a:pt x="0" y="50800"/>
                  </a:lnTo>
                  <a:cubicBezTo>
                    <a:pt x="0" y="57814"/>
                    <a:pt x="5686" y="63500"/>
                    <a:pt x="12700" y="63500"/>
                  </a:cubicBezTo>
                  <a:lnTo>
                    <a:pt x="63500" y="63500"/>
                  </a:lnTo>
                </a:path>
              </a:pathLst>
            </a:custGeom>
            <a:noFill/>
            <a:ln w="19050">
              <a:solidFill>
                <a:srgbClr val="A50021"/>
              </a:solidFill>
            </a:ln>
          </p:spPr>
        </p:sp>
        <p:sp>
          <p:nvSpPr>
            <p:cNvPr id="102" name="Freeform 102"/>
            <p:cNvSpPr/>
            <p:nvPr/>
          </p:nvSpPr>
          <p:spPr>
            <a:xfrm>
              <a:off x="8140700" y="4019550"/>
              <a:ext cx="177800" cy="228600"/>
            </a:xfrm>
            <a:custGeom>
              <a:avLst/>
              <a:gdLst/>
              <a:ahLst/>
              <a:cxnLst/>
              <a:rect l="l" t="t" r="r" b="b"/>
              <a:pathLst>
                <a:path w="177800" h="228600">
                  <a:moveTo>
                    <a:pt x="152400" y="228600"/>
                  </a:moveTo>
                  <a:lnTo>
                    <a:pt x="25400" y="228600"/>
                  </a:lnTo>
                  <a:cubicBezTo>
                    <a:pt x="11372" y="228600"/>
                    <a:pt x="0" y="217228"/>
                    <a:pt x="0" y="203200"/>
                  </a:cubicBezTo>
                  <a:lnTo>
                    <a:pt x="0" y="25400"/>
                  </a:lnTo>
                  <a:cubicBezTo>
                    <a:pt x="0" y="11372"/>
                    <a:pt x="11372" y="0"/>
                    <a:pt x="25400" y="0"/>
                  </a:cubicBezTo>
                  <a:lnTo>
                    <a:pt x="114300" y="0"/>
                  </a:lnTo>
                  <a:lnTo>
                    <a:pt x="177800" y="63500"/>
                  </a:lnTo>
                  <a:lnTo>
                    <a:pt x="177800" y="203200"/>
                  </a:lnTo>
                  <a:cubicBezTo>
                    <a:pt x="177800" y="217228"/>
                    <a:pt x="166428" y="228600"/>
                    <a:pt x="152400" y="228600"/>
                  </a:cubicBezTo>
                </a:path>
              </a:pathLst>
            </a:custGeom>
            <a:noFill/>
            <a:ln w="19050">
              <a:solidFill>
                <a:srgbClr val="A50021"/>
              </a:solidFill>
            </a:ln>
          </p:spPr>
        </p:sp>
      </p:grpSp>
      <p:sp>
        <p:nvSpPr>
          <p:cNvPr id="104" name="TextBox 104"/>
          <p:cNvSpPr txBox="1"/>
          <p:nvPr/>
        </p:nvSpPr>
        <p:spPr>
          <a:xfrm>
            <a:off x="8495348" y="4011454"/>
            <a:ext cx="2346618" cy="320040"/>
          </a:xfrm>
          <a:prstGeom prst="rect">
            <a:avLst/>
          </a:prstGeom>
          <a:noFill/>
          <a:ln>
            <a:noFill/>
          </a:ln>
        </p:spPr>
        <p:txBody>
          <a:bodyPr wrap="none" lIns="0" tIns="0" rIns="0" bIns="0" anchor="t" anchorCtr="0">
            <a:spAutoFit/>
          </a:bodyPr>
          <a:lstStyle/>
          <a:p>
            <a:pPr algn="l"/>
            <a:r>
              <a:rPr lang="zh-CN" sz="1575" b="1" dirty="0">
                <a:solidFill>
                  <a:srgbClr val="1F2328"/>
                </a:solidFill>
                <a:latin typeface="Arial"/>
                <a:ea typeface="SimHei"/>
                <a:cs typeface="Arial"/>
              </a:rPr>
              <a:t>工具库/工具调用系统</a:t>
            </a:r>
          </a:p>
        </p:txBody>
      </p:sp>
      <p:sp>
        <p:nvSpPr>
          <p:cNvPr id="105" name="Rectangle 105"/>
          <p:cNvSpPr/>
          <p:nvPr/>
        </p:nvSpPr>
        <p:spPr>
          <a:xfrm>
            <a:off x="8077200" y="4476750"/>
            <a:ext cx="3105150" cy="685800"/>
          </a:xfrm>
          <a:prstGeom prst="roundRect">
            <a:avLst>
              <a:gd name="adj" fmla="val 16667"/>
            </a:avLst>
          </a:prstGeom>
          <a:solidFill>
            <a:srgbClr val="FFFFFF"/>
          </a:solidFill>
          <a:ln w="12382">
            <a:solidFill>
              <a:srgbClr val="A50021"/>
            </a:solidFill>
            <a:prstDash val="lgDash"/>
          </a:ln>
        </p:spPr>
      </p:sp>
      <p:sp>
        <p:nvSpPr>
          <p:cNvPr id="106" name="TextBox 106"/>
          <p:cNvSpPr txBox="1"/>
          <p:nvPr/>
        </p:nvSpPr>
        <p:spPr>
          <a:xfrm>
            <a:off x="9184184" y="4564856"/>
            <a:ext cx="891183" cy="228600"/>
          </a:xfrm>
          <a:prstGeom prst="rect">
            <a:avLst/>
          </a:prstGeom>
          <a:noFill/>
          <a:ln>
            <a:noFill/>
          </a:ln>
        </p:spPr>
        <p:txBody>
          <a:bodyPr wrap="none" lIns="0" tIns="0" rIns="0" bIns="0" anchor="t" anchorCtr="0">
            <a:spAutoFit/>
          </a:bodyPr>
          <a:lstStyle/>
          <a:p>
            <a:pPr algn="ctr"/>
            <a:r>
              <a:rPr lang="zh-CN" sz="1125" b="1" dirty="0">
                <a:solidFill>
                  <a:srgbClr val="7A0018"/>
                </a:solidFill>
                <a:latin typeface="Arial"/>
                <a:ea typeface="SimHei"/>
                <a:cs typeface="Arial"/>
              </a:rPr>
              <a:t>权限执行链</a:t>
            </a:r>
          </a:p>
        </p:txBody>
      </p:sp>
      <p:sp>
        <p:nvSpPr>
          <p:cNvPr id="107" name="Rectangle 107"/>
          <p:cNvSpPr/>
          <p:nvPr/>
        </p:nvSpPr>
        <p:spPr>
          <a:xfrm>
            <a:off x="8267700" y="4819650"/>
            <a:ext cx="647700" cy="238125"/>
          </a:xfrm>
          <a:prstGeom prst="roundRect">
            <a:avLst>
              <a:gd name="adj" fmla="val 32000"/>
            </a:avLst>
          </a:prstGeom>
          <a:solidFill>
            <a:srgbClr val="FDF3F5"/>
          </a:solidFill>
          <a:ln w="9525">
            <a:solidFill>
              <a:srgbClr val="D8A1AB"/>
            </a:solidFill>
          </a:ln>
        </p:spPr>
      </p:sp>
      <p:sp>
        <p:nvSpPr>
          <p:cNvPr id="108" name="Rectangle 108"/>
          <p:cNvSpPr/>
          <p:nvPr/>
        </p:nvSpPr>
        <p:spPr>
          <a:xfrm>
            <a:off x="9029700" y="4819650"/>
            <a:ext cx="647700" cy="238125"/>
          </a:xfrm>
          <a:prstGeom prst="roundRect">
            <a:avLst>
              <a:gd name="adj" fmla="val 32000"/>
            </a:avLst>
          </a:prstGeom>
          <a:solidFill>
            <a:srgbClr val="FDF3F5"/>
          </a:solidFill>
          <a:ln w="9525">
            <a:solidFill>
              <a:srgbClr val="D8A1AB"/>
            </a:solidFill>
          </a:ln>
        </p:spPr>
      </p:sp>
      <p:sp>
        <p:nvSpPr>
          <p:cNvPr id="109" name="Rectangle 109"/>
          <p:cNvSpPr/>
          <p:nvPr/>
        </p:nvSpPr>
        <p:spPr>
          <a:xfrm>
            <a:off x="9791700" y="4819650"/>
            <a:ext cx="647700" cy="238125"/>
          </a:xfrm>
          <a:prstGeom prst="roundRect">
            <a:avLst>
              <a:gd name="adj" fmla="val 32000"/>
            </a:avLst>
          </a:prstGeom>
          <a:solidFill>
            <a:srgbClr val="FDF3F5"/>
          </a:solidFill>
          <a:ln w="9525">
            <a:solidFill>
              <a:srgbClr val="D8A1AB"/>
            </a:solidFill>
          </a:ln>
        </p:spPr>
      </p:sp>
      <p:sp>
        <p:nvSpPr>
          <p:cNvPr id="110" name="Rectangle 110"/>
          <p:cNvSpPr/>
          <p:nvPr/>
        </p:nvSpPr>
        <p:spPr>
          <a:xfrm>
            <a:off x="10553700" y="4819650"/>
            <a:ext cx="457200" cy="238125"/>
          </a:xfrm>
          <a:prstGeom prst="roundRect">
            <a:avLst>
              <a:gd name="adj" fmla="val 32000"/>
            </a:avLst>
          </a:prstGeom>
          <a:solidFill>
            <a:srgbClr val="FDF3F5"/>
          </a:solidFill>
          <a:ln w="9525">
            <a:solidFill>
              <a:srgbClr val="D8A1AB"/>
            </a:solidFill>
          </a:ln>
        </p:spPr>
      </p:sp>
      <p:sp>
        <p:nvSpPr>
          <p:cNvPr id="111" name="TextBox 111"/>
          <p:cNvSpPr txBox="1"/>
          <p:nvPr/>
        </p:nvSpPr>
        <p:spPr>
          <a:xfrm>
            <a:off x="8340090" y="4892516"/>
            <a:ext cx="502920" cy="167640"/>
          </a:xfrm>
          <a:prstGeom prst="rect">
            <a:avLst/>
          </a:prstGeom>
          <a:noFill/>
          <a:ln>
            <a:noFill/>
          </a:ln>
        </p:spPr>
        <p:txBody>
          <a:bodyPr wrap="none" lIns="0" tIns="0" rIns="0" bIns="0" anchor="t" anchorCtr="0">
            <a:spAutoFit/>
          </a:bodyPr>
          <a:lstStyle/>
          <a:p>
            <a:pPr algn="ctr"/>
            <a:r>
              <a:rPr lang="zh-CN" sz="825" dirty="0">
                <a:solidFill>
                  <a:srgbClr val="7A0018"/>
                </a:solidFill>
                <a:latin typeface="Arial"/>
                <a:ea typeface="SimHei"/>
                <a:cs typeface="Arial"/>
              </a:rPr>
              <a:t>文件操作</a:t>
            </a:r>
          </a:p>
        </p:txBody>
      </p:sp>
      <p:sp>
        <p:nvSpPr>
          <p:cNvPr id="112" name="TextBox 112"/>
          <p:cNvSpPr txBox="1"/>
          <p:nvPr/>
        </p:nvSpPr>
        <p:spPr>
          <a:xfrm>
            <a:off x="9102090" y="4892516"/>
            <a:ext cx="502920" cy="167640"/>
          </a:xfrm>
          <a:prstGeom prst="rect">
            <a:avLst/>
          </a:prstGeom>
          <a:noFill/>
          <a:ln>
            <a:noFill/>
          </a:ln>
        </p:spPr>
        <p:txBody>
          <a:bodyPr wrap="none" lIns="0" tIns="0" rIns="0" bIns="0" anchor="t" anchorCtr="0">
            <a:spAutoFit/>
          </a:bodyPr>
          <a:lstStyle/>
          <a:p>
            <a:pPr algn="ctr"/>
            <a:r>
              <a:rPr lang="zh-CN" sz="825" dirty="0">
                <a:solidFill>
                  <a:srgbClr val="7A0018"/>
                </a:solidFill>
                <a:latin typeface="Arial"/>
                <a:ea typeface="SimHei"/>
                <a:cs typeface="Arial"/>
              </a:rPr>
              <a:t>代码搜索</a:t>
            </a:r>
          </a:p>
        </p:txBody>
      </p:sp>
      <p:sp>
        <p:nvSpPr>
          <p:cNvPr id="113" name="TextBox 113"/>
          <p:cNvSpPr txBox="1"/>
          <p:nvPr/>
        </p:nvSpPr>
        <p:spPr>
          <a:xfrm>
            <a:off x="9849029" y="4892516"/>
            <a:ext cx="533043" cy="167640"/>
          </a:xfrm>
          <a:prstGeom prst="rect">
            <a:avLst/>
          </a:prstGeom>
          <a:noFill/>
          <a:ln>
            <a:noFill/>
          </a:ln>
        </p:spPr>
        <p:txBody>
          <a:bodyPr wrap="none" lIns="0" tIns="0" rIns="0" bIns="0" anchor="t" anchorCtr="0">
            <a:spAutoFit/>
          </a:bodyPr>
          <a:lstStyle/>
          <a:p>
            <a:pPr algn="ctr"/>
            <a:r>
              <a:rPr lang="zh-CN" sz="825" dirty="0">
                <a:solidFill>
                  <a:srgbClr val="7A0018"/>
                </a:solidFill>
                <a:latin typeface="Arial"/>
                <a:ea typeface="SimHei"/>
                <a:cs typeface="Arial"/>
              </a:rPr>
              <a:t>Shell执行</a:t>
            </a:r>
          </a:p>
        </p:txBody>
      </p:sp>
      <p:sp>
        <p:nvSpPr>
          <p:cNvPr id="114" name="TextBox 114"/>
          <p:cNvSpPr txBox="1"/>
          <p:nvPr/>
        </p:nvSpPr>
        <p:spPr>
          <a:xfrm>
            <a:off x="10660368" y="4892516"/>
            <a:ext cx="243864" cy="167640"/>
          </a:xfrm>
          <a:prstGeom prst="rect">
            <a:avLst/>
          </a:prstGeom>
          <a:noFill/>
          <a:ln>
            <a:noFill/>
          </a:ln>
        </p:spPr>
        <p:txBody>
          <a:bodyPr wrap="none" lIns="0" tIns="0" rIns="0" bIns="0" anchor="t" anchorCtr="0">
            <a:spAutoFit/>
          </a:bodyPr>
          <a:lstStyle/>
          <a:p>
            <a:pPr algn="ctr"/>
            <a:r>
              <a:rPr lang="zh-CN" sz="825" dirty="0">
                <a:solidFill>
                  <a:srgbClr val="7A0018"/>
                </a:solidFill>
                <a:latin typeface="Arial"/>
                <a:ea typeface="SimHei"/>
                <a:cs typeface="Arial"/>
              </a:rPr>
              <a:t>MCP</a:t>
            </a:r>
          </a:p>
        </p:txBody>
      </p:sp>
      <p:sp>
        <p:nvSpPr>
          <p:cNvPr id="115" name="Freeform 115"/>
          <p:cNvSpPr/>
          <p:nvPr/>
        </p:nvSpPr>
        <p:spPr>
          <a:xfrm>
            <a:off x="9629775" y="5162550"/>
            <a:ext cx="9525" cy="190500"/>
          </a:xfrm>
          <a:custGeom>
            <a:avLst/>
            <a:gdLst/>
            <a:ahLst/>
            <a:cxnLst/>
            <a:rect l="l" t="t" r="r" b="b"/>
            <a:pathLst>
              <a:path w="9525" h="190500">
                <a:moveTo>
                  <a:pt x="0" y="0"/>
                </a:moveTo>
                <a:lnTo>
                  <a:pt x="0" y="190500"/>
                </a:lnTo>
              </a:path>
            </a:pathLst>
          </a:custGeom>
          <a:noFill/>
          <a:ln w="19050">
            <a:solidFill>
              <a:srgbClr val="A50021"/>
            </a:solidFill>
            <a:tailEnd type="triangle" w="lg" len="lg"/>
          </a:ln>
        </p:spPr>
      </p:sp>
      <p:sp>
        <p:nvSpPr>
          <p:cNvPr id="116" name="Rectangle 116"/>
          <p:cNvSpPr/>
          <p:nvPr/>
        </p:nvSpPr>
        <p:spPr>
          <a:xfrm>
            <a:off x="8172450" y="5410200"/>
            <a:ext cx="2914650" cy="304800"/>
          </a:xfrm>
          <a:prstGeom prst="roundRect">
            <a:avLst>
              <a:gd name="adj" fmla="val 31250"/>
            </a:avLst>
          </a:prstGeom>
          <a:solidFill>
            <a:srgbClr val="F8F9FA"/>
          </a:solidFill>
          <a:ln w="9525">
            <a:solidFill>
              <a:srgbClr val="E8EAED"/>
            </a:solidFill>
          </a:ln>
        </p:spPr>
      </p:sp>
      <p:sp>
        <p:nvSpPr>
          <p:cNvPr id="117" name="TextBox 117"/>
          <p:cNvSpPr txBox="1"/>
          <p:nvPr/>
        </p:nvSpPr>
        <p:spPr>
          <a:xfrm>
            <a:off x="8303895" y="5513070"/>
            <a:ext cx="2651760" cy="182880"/>
          </a:xfrm>
          <a:prstGeom prst="rect">
            <a:avLst/>
          </a:prstGeom>
          <a:noFill/>
          <a:ln>
            <a:noFill/>
          </a:ln>
        </p:spPr>
        <p:txBody>
          <a:bodyPr wrap="none" lIns="0" tIns="0" rIns="0" bIns="0" anchor="t" anchorCtr="0">
            <a:spAutoFit/>
          </a:bodyPr>
          <a:lstStyle/>
          <a:p>
            <a:pPr algn="ctr"/>
            <a:r>
              <a:rPr lang="zh-CN" sz="900" dirty="0">
                <a:solidFill>
                  <a:srgbClr val="1F2328"/>
                </a:solidFill>
                <a:latin typeface="Arial"/>
                <a:ea typeface="SimHei"/>
                <a:cs typeface="Arial"/>
              </a:rPr>
              <a:t>结果处理：超出上限写入磁盘，传递路径摘要</a:t>
            </a:r>
          </a:p>
        </p:txBody>
      </p:sp>
      <p:sp>
        <p:nvSpPr>
          <p:cNvPr id="119" name="Rectangle 119"/>
          <p:cNvSpPr/>
          <p:nvPr/>
        </p:nvSpPr>
        <p:spPr>
          <a:xfrm>
            <a:off x="5486399" y="4095750"/>
            <a:ext cx="1669391" cy="400050"/>
          </a:xfrm>
          <a:prstGeom prst="roundRect">
            <a:avLst>
              <a:gd name="adj" fmla="val 28571"/>
            </a:avLst>
          </a:prstGeom>
          <a:solidFill>
            <a:srgbClr val="FFFFFF"/>
          </a:solidFill>
          <a:ln w="10478">
            <a:solidFill>
              <a:srgbClr val="E8EAED"/>
            </a:solidFill>
          </a:ln>
        </p:spPr>
      </p:sp>
      <p:sp>
        <p:nvSpPr>
          <p:cNvPr id="120" name="Freeform 120"/>
          <p:cNvSpPr/>
          <p:nvPr/>
        </p:nvSpPr>
        <p:spPr>
          <a:xfrm>
            <a:off x="5705475" y="4238625"/>
            <a:ext cx="142875" cy="95250"/>
          </a:xfrm>
          <a:custGeom>
            <a:avLst/>
            <a:gdLst/>
            <a:ahLst/>
            <a:cxnLst/>
            <a:rect l="l" t="t" r="r" b="b"/>
            <a:pathLst>
              <a:path w="142875" h="95250">
                <a:moveTo>
                  <a:pt x="0" y="47625"/>
                </a:moveTo>
                <a:lnTo>
                  <a:pt x="47625" y="95250"/>
                </a:lnTo>
                <a:lnTo>
                  <a:pt x="142875" y="0"/>
                </a:lnTo>
              </a:path>
            </a:pathLst>
          </a:custGeom>
          <a:noFill/>
          <a:ln w="19050">
            <a:solidFill>
              <a:srgbClr val="A50021"/>
            </a:solidFill>
          </a:ln>
        </p:spPr>
      </p:sp>
      <p:sp>
        <p:nvSpPr>
          <p:cNvPr id="121" name="TextBox 121"/>
          <p:cNvSpPr txBox="1"/>
          <p:nvPr/>
        </p:nvSpPr>
        <p:spPr>
          <a:xfrm>
            <a:off x="5970270" y="4160520"/>
            <a:ext cx="1251214" cy="182880"/>
          </a:xfrm>
          <a:prstGeom prst="rect">
            <a:avLst/>
          </a:prstGeom>
          <a:noFill/>
          <a:ln>
            <a:noFill/>
          </a:ln>
        </p:spPr>
        <p:txBody>
          <a:bodyPr wrap="none" lIns="0" tIns="0" rIns="0" bIns="0" anchor="t" anchorCtr="0">
            <a:spAutoFit/>
          </a:bodyPr>
          <a:lstStyle/>
          <a:p>
            <a:pPr algn="l"/>
            <a:r>
              <a:rPr lang="zh-CN" sz="900" b="1" dirty="0">
                <a:solidFill>
                  <a:srgbClr val="7A0018"/>
                </a:solidFill>
                <a:latin typeface="Arial"/>
                <a:ea typeface="SimHei"/>
                <a:cs typeface="Arial"/>
              </a:rPr>
              <a:t>YES, Task Finished</a:t>
            </a:r>
          </a:p>
        </p:txBody>
      </p:sp>
      <p:sp>
        <p:nvSpPr>
          <p:cNvPr id="122" name="TextBox 122"/>
          <p:cNvSpPr txBox="1"/>
          <p:nvPr/>
        </p:nvSpPr>
        <p:spPr>
          <a:xfrm>
            <a:off x="5971222" y="4340066"/>
            <a:ext cx="984885"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SimHei"/>
                <a:cs typeface="Arial"/>
              </a:rPr>
              <a:t>输出最终文本响应</a:t>
            </a:r>
          </a:p>
        </p:txBody>
      </p:sp>
      <p:sp>
        <p:nvSpPr>
          <p:cNvPr id="124" name="Freeform 124"/>
          <p:cNvSpPr/>
          <p:nvPr/>
        </p:nvSpPr>
        <p:spPr>
          <a:xfrm>
            <a:off x="2286000" y="2476500"/>
            <a:ext cx="762000" cy="561975"/>
          </a:xfrm>
          <a:custGeom>
            <a:avLst/>
            <a:gdLst/>
            <a:ahLst/>
            <a:cxnLst/>
            <a:rect l="l" t="t" r="r" b="b"/>
            <a:pathLst>
              <a:path w="762000" h="561975">
                <a:moveTo>
                  <a:pt x="0" y="561975"/>
                </a:moveTo>
                <a:lnTo>
                  <a:pt x="438150" y="561975"/>
                </a:lnTo>
                <a:lnTo>
                  <a:pt x="438150" y="0"/>
                </a:lnTo>
                <a:lnTo>
                  <a:pt x="762000" y="0"/>
                </a:lnTo>
              </a:path>
            </a:pathLst>
          </a:custGeom>
          <a:noFill/>
          <a:ln w="26670">
            <a:solidFill>
              <a:srgbClr val="A50021"/>
            </a:solidFill>
            <a:tailEnd type="triangle" w="lg" len="lg"/>
          </a:ln>
        </p:spPr>
      </p:sp>
      <p:sp>
        <p:nvSpPr>
          <p:cNvPr id="125" name="Freeform 125"/>
          <p:cNvSpPr/>
          <p:nvPr/>
        </p:nvSpPr>
        <p:spPr>
          <a:xfrm>
            <a:off x="3876675" y="2819400"/>
            <a:ext cx="9525" cy="495300"/>
          </a:xfrm>
          <a:custGeom>
            <a:avLst/>
            <a:gdLst/>
            <a:ahLst/>
            <a:cxnLst/>
            <a:rect l="l" t="t" r="r" b="b"/>
            <a:pathLst>
              <a:path w="9525" h="495300">
                <a:moveTo>
                  <a:pt x="0" y="0"/>
                </a:moveTo>
                <a:lnTo>
                  <a:pt x="0" y="495300"/>
                </a:lnTo>
              </a:path>
            </a:pathLst>
          </a:custGeom>
          <a:noFill/>
          <a:ln w="22860">
            <a:solidFill>
              <a:srgbClr val="A50021"/>
            </a:solidFill>
            <a:tailEnd type="triangle" w="lg" len="lg"/>
          </a:ln>
        </p:spPr>
      </p:sp>
      <p:grpSp>
        <p:nvGrpSpPr>
          <p:cNvPr id="148" name="组合 147">
            <a:extLst>
              <a:ext uri="{FF2B5EF4-FFF2-40B4-BE49-F238E27FC236}">
                <a16:creationId xmlns:a16="http://schemas.microsoft.com/office/drawing/2014/main" id="{9E0A9CDA-C608-408C-8B1B-A6EDF7D7F86E}"/>
              </a:ext>
            </a:extLst>
          </p:cNvPr>
          <p:cNvGrpSpPr/>
          <p:nvPr/>
        </p:nvGrpSpPr>
        <p:grpSpPr>
          <a:xfrm>
            <a:off x="4705350" y="3467100"/>
            <a:ext cx="800100" cy="342900"/>
            <a:chOff x="4705350" y="3467100"/>
            <a:chExt cx="800100" cy="342900"/>
          </a:xfrm>
        </p:grpSpPr>
        <p:sp>
          <p:nvSpPr>
            <p:cNvPr id="126" name="Freeform 126"/>
            <p:cNvSpPr/>
            <p:nvPr/>
          </p:nvSpPr>
          <p:spPr>
            <a:xfrm rot="804471">
              <a:off x="4705350" y="3467100"/>
              <a:ext cx="800100" cy="190500"/>
            </a:xfrm>
            <a:custGeom>
              <a:avLst/>
              <a:gdLst/>
              <a:ahLst/>
              <a:cxnLst/>
              <a:rect l="l" t="t" r="r" b="b"/>
              <a:pathLst>
                <a:path w="800100" h="190500">
                  <a:moveTo>
                    <a:pt x="0" y="190500"/>
                  </a:moveTo>
                  <a:lnTo>
                    <a:pt x="800100" y="0"/>
                  </a:lnTo>
                </a:path>
              </a:pathLst>
            </a:custGeom>
            <a:noFill/>
            <a:ln w="22860">
              <a:solidFill>
                <a:srgbClr val="A50021"/>
              </a:solidFill>
              <a:tailEnd type="triangle" w="lg" len="lg"/>
            </a:ln>
          </p:spPr>
        </p:sp>
        <p:sp>
          <p:nvSpPr>
            <p:cNvPr id="127" name="Freeform 127"/>
            <p:cNvSpPr/>
            <p:nvPr/>
          </p:nvSpPr>
          <p:spPr>
            <a:xfrm rot="759498">
              <a:off x="4705350" y="3638550"/>
              <a:ext cx="800100" cy="171450"/>
            </a:xfrm>
            <a:custGeom>
              <a:avLst/>
              <a:gdLst/>
              <a:ahLst/>
              <a:cxnLst/>
              <a:rect l="l" t="t" r="r" b="b"/>
              <a:pathLst>
                <a:path w="800100" h="171450">
                  <a:moveTo>
                    <a:pt x="800100" y="0"/>
                  </a:moveTo>
                  <a:lnTo>
                    <a:pt x="0" y="171450"/>
                  </a:lnTo>
                </a:path>
              </a:pathLst>
            </a:custGeom>
            <a:noFill/>
            <a:ln w="19050">
              <a:solidFill>
                <a:srgbClr val="D8A1AB"/>
              </a:solidFill>
              <a:tailEnd type="triangle" w="lg" len="lg"/>
            </a:ln>
          </p:spPr>
        </p:sp>
      </p:grpSp>
      <p:sp>
        <p:nvSpPr>
          <p:cNvPr id="129" name="Freeform 129"/>
          <p:cNvSpPr/>
          <p:nvPr/>
        </p:nvSpPr>
        <p:spPr>
          <a:xfrm rot="483732">
            <a:off x="4705350" y="2244090"/>
            <a:ext cx="3086100" cy="438150"/>
          </a:xfrm>
          <a:custGeom>
            <a:avLst/>
            <a:gdLst/>
            <a:ahLst/>
            <a:cxnLst/>
            <a:rect l="l" t="t" r="r" b="b"/>
            <a:pathLst>
              <a:path w="3086100" h="438150">
                <a:moveTo>
                  <a:pt x="0" y="438150"/>
                </a:moveTo>
                <a:lnTo>
                  <a:pt x="3086100" y="0"/>
                </a:lnTo>
              </a:path>
            </a:pathLst>
          </a:custGeom>
          <a:noFill/>
          <a:ln w="22860">
            <a:solidFill>
              <a:srgbClr val="A50021"/>
            </a:solidFill>
            <a:tailEnd type="triangle" w="lg" len="lg"/>
          </a:ln>
        </p:spPr>
      </p:sp>
      <p:sp>
        <p:nvSpPr>
          <p:cNvPr id="130" name="TextBox 130"/>
          <p:cNvSpPr txBox="1"/>
          <p:nvPr/>
        </p:nvSpPr>
        <p:spPr>
          <a:xfrm>
            <a:off x="5455920" y="2150745"/>
            <a:ext cx="1074420" cy="182880"/>
          </a:xfrm>
          <a:prstGeom prst="rect">
            <a:avLst/>
          </a:prstGeom>
          <a:noFill/>
          <a:ln>
            <a:noFill/>
          </a:ln>
        </p:spPr>
        <p:txBody>
          <a:bodyPr wrap="none" lIns="0" tIns="0" rIns="0" bIns="0" anchor="t" anchorCtr="0">
            <a:spAutoFit/>
          </a:bodyPr>
          <a:lstStyle/>
          <a:p>
            <a:pPr algn="l"/>
            <a:r>
              <a:rPr lang="zh-CN" sz="900" dirty="0">
                <a:solidFill>
                  <a:srgbClr val="7A0018"/>
                </a:solidFill>
                <a:latin typeface="Arial"/>
                <a:ea typeface="SimHei"/>
                <a:cs typeface="Arial"/>
              </a:rPr>
              <a:t>初始任务规划请求</a:t>
            </a:r>
          </a:p>
        </p:txBody>
      </p:sp>
      <p:sp>
        <p:nvSpPr>
          <p:cNvPr id="131" name="Freeform 131"/>
          <p:cNvSpPr/>
          <p:nvPr/>
        </p:nvSpPr>
        <p:spPr>
          <a:xfrm>
            <a:off x="6934200" y="1924050"/>
            <a:ext cx="857250" cy="1314450"/>
          </a:xfrm>
          <a:custGeom>
            <a:avLst/>
            <a:gdLst/>
            <a:ahLst/>
            <a:cxnLst/>
            <a:rect l="l" t="t" r="r" b="b"/>
            <a:pathLst>
              <a:path w="857250" h="1314450">
                <a:moveTo>
                  <a:pt x="0" y="1314450"/>
                </a:moveTo>
                <a:lnTo>
                  <a:pt x="609600" y="1314450"/>
                </a:lnTo>
                <a:lnTo>
                  <a:pt x="609600" y="0"/>
                </a:lnTo>
                <a:lnTo>
                  <a:pt x="857250" y="0"/>
                </a:lnTo>
              </a:path>
            </a:pathLst>
          </a:custGeom>
          <a:noFill/>
          <a:ln w="22860">
            <a:solidFill>
              <a:srgbClr val="A50021"/>
            </a:solidFill>
            <a:tailEnd type="triangle" w="lg" len="lg"/>
          </a:ln>
        </p:spPr>
      </p:sp>
      <p:sp>
        <p:nvSpPr>
          <p:cNvPr id="132" name="TextBox 132"/>
          <p:cNvSpPr txBox="1"/>
          <p:nvPr/>
        </p:nvSpPr>
        <p:spPr>
          <a:xfrm>
            <a:off x="7018020" y="3007995"/>
            <a:ext cx="865622" cy="138499"/>
          </a:xfrm>
          <a:prstGeom prst="rect">
            <a:avLst/>
          </a:prstGeom>
          <a:noFill/>
          <a:ln>
            <a:noFill/>
          </a:ln>
        </p:spPr>
        <p:txBody>
          <a:bodyPr wrap="none" lIns="0" tIns="0" rIns="0" bIns="0" anchor="t" anchorCtr="0">
            <a:spAutoFit/>
          </a:bodyPr>
          <a:lstStyle/>
          <a:p>
            <a:pPr algn="l"/>
            <a:r>
              <a:rPr lang="zh-CN" sz="900" dirty="0">
                <a:solidFill>
                  <a:srgbClr val="7A0018"/>
                </a:solidFill>
                <a:latin typeface="Arial"/>
                <a:ea typeface="SimHei"/>
                <a:cs typeface="Arial"/>
              </a:rPr>
              <a:t>向 LLM 发起请求</a:t>
            </a:r>
          </a:p>
        </p:txBody>
      </p:sp>
      <p:sp>
        <p:nvSpPr>
          <p:cNvPr id="133" name="Freeform 133"/>
          <p:cNvSpPr/>
          <p:nvPr/>
        </p:nvSpPr>
        <p:spPr>
          <a:xfrm>
            <a:off x="6219825" y="3886200"/>
            <a:ext cx="9525" cy="209550"/>
          </a:xfrm>
          <a:custGeom>
            <a:avLst/>
            <a:gdLst/>
            <a:ahLst/>
            <a:cxnLst/>
            <a:rect l="l" t="t" r="r" b="b"/>
            <a:pathLst>
              <a:path w="9525" h="209550">
                <a:moveTo>
                  <a:pt x="0" y="0"/>
                </a:moveTo>
                <a:lnTo>
                  <a:pt x="0" y="209550"/>
                </a:lnTo>
              </a:path>
            </a:pathLst>
          </a:custGeom>
          <a:noFill/>
          <a:ln w="19050">
            <a:solidFill>
              <a:srgbClr val="A50021"/>
            </a:solidFill>
            <a:tailEnd type="triangle" w="lg" len="lg"/>
          </a:ln>
        </p:spPr>
      </p:sp>
      <p:sp>
        <p:nvSpPr>
          <p:cNvPr id="134" name="Freeform 134"/>
          <p:cNvSpPr/>
          <p:nvPr/>
        </p:nvSpPr>
        <p:spPr>
          <a:xfrm>
            <a:off x="3876675" y="4000500"/>
            <a:ext cx="9525" cy="762000"/>
          </a:xfrm>
          <a:custGeom>
            <a:avLst/>
            <a:gdLst/>
            <a:ahLst/>
            <a:cxnLst/>
            <a:rect l="l" t="t" r="r" b="b"/>
            <a:pathLst>
              <a:path w="9525" h="762000">
                <a:moveTo>
                  <a:pt x="0" y="0"/>
                </a:moveTo>
                <a:lnTo>
                  <a:pt x="0" y="762000"/>
                </a:lnTo>
              </a:path>
            </a:pathLst>
          </a:custGeom>
          <a:noFill/>
          <a:ln w="20955">
            <a:solidFill>
              <a:srgbClr val="A50021"/>
            </a:solidFill>
            <a:tailEnd type="triangle" w="lg" len="lg"/>
          </a:ln>
        </p:spPr>
      </p:sp>
      <p:sp>
        <p:nvSpPr>
          <p:cNvPr id="135" name="Freeform 135"/>
          <p:cNvSpPr/>
          <p:nvPr/>
        </p:nvSpPr>
        <p:spPr>
          <a:xfrm>
            <a:off x="4229100" y="4000500"/>
            <a:ext cx="9525" cy="762000"/>
          </a:xfrm>
          <a:custGeom>
            <a:avLst/>
            <a:gdLst/>
            <a:ahLst/>
            <a:cxnLst/>
            <a:rect l="l" t="t" r="r" b="b"/>
            <a:pathLst>
              <a:path w="9525" h="762000">
                <a:moveTo>
                  <a:pt x="0" y="762000"/>
                </a:moveTo>
                <a:lnTo>
                  <a:pt x="0" y="0"/>
                </a:lnTo>
              </a:path>
            </a:pathLst>
          </a:custGeom>
          <a:noFill/>
          <a:ln w="19050">
            <a:solidFill>
              <a:srgbClr val="D8A1AB"/>
            </a:solidFill>
            <a:tailEnd type="triangle" w="lg" len="lg"/>
          </a:ln>
        </p:spPr>
      </p:sp>
      <p:sp>
        <p:nvSpPr>
          <p:cNvPr id="136" name="TextBox 136"/>
          <p:cNvSpPr txBox="1"/>
          <p:nvPr/>
        </p:nvSpPr>
        <p:spPr>
          <a:xfrm>
            <a:off x="4302576" y="4531995"/>
            <a:ext cx="577081" cy="138499"/>
          </a:xfrm>
          <a:prstGeom prst="rect">
            <a:avLst/>
          </a:prstGeom>
          <a:noFill/>
          <a:ln>
            <a:noFill/>
          </a:ln>
        </p:spPr>
        <p:txBody>
          <a:bodyPr wrap="none" lIns="0" tIns="0" rIns="0" bIns="0" anchor="t" anchorCtr="0">
            <a:spAutoFit/>
          </a:bodyPr>
          <a:lstStyle/>
          <a:p>
            <a:pPr algn="l"/>
            <a:r>
              <a:rPr lang="zh-CN" altLang="en-US" sz="900" dirty="0">
                <a:solidFill>
                  <a:srgbClr val="7A0018"/>
                </a:solidFill>
                <a:latin typeface="Arial"/>
                <a:ea typeface="SimHei"/>
                <a:cs typeface="Arial"/>
              </a:rPr>
              <a:t>持久化存储</a:t>
            </a:r>
            <a:endParaRPr lang="zh-CN" sz="900" dirty="0">
              <a:solidFill>
                <a:srgbClr val="7A0018"/>
              </a:solidFill>
              <a:latin typeface="Arial"/>
              <a:ea typeface="SimHei"/>
              <a:cs typeface="Arial"/>
            </a:endParaRPr>
          </a:p>
        </p:txBody>
      </p:sp>
      <p:sp>
        <p:nvSpPr>
          <p:cNvPr id="137" name="Freeform 137"/>
          <p:cNvSpPr/>
          <p:nvPr/>
        </p:nvSpPr>
        <p:spPr>
          <a:xfrm>
            <a:off x="6913880" y="3543300"/>
            <a:ext cx="877570" cy="2076450"/>
          </a:xfrm>
          <a:custGeom>
            <a:avLst/>
            <a:gdLst/>
            <a:ahLst/>
            <a:cxnLst/>
            <a:rect l="l" t="t" r="r" b="b"/>
            <a:pathLst>
              <a:path w="1085850" h="1733550">
                <a:moveTo>
                  <a:pt x="1085850" y="1733550"/>
                </a:moveTo>
                <a:lnTo>
                  <a:pt x="666750" y="1733550"/>
                </a:lnTo>
                <a:lnTo>
                  <a:pt x="666750" y="0"/>
                </a:lnTo>
                <a:lnTo>
                  <a:pt x="0" y="0"/>
                </a:lnTo>
              </a:path>
            </a:pathLst>
          </a:custGeom>
          <a:noFill/>
          <a:ln w="22860">
            <a:solidFill>
              <a:srgbClr val="A50021"/>
            </a:solidFill>
            <a:tailEnd type="triangle" w="lg" len="lg"/>
          </a:ln>
        </p:spPr>
      </p:sp>
      <p:sp>
        <p:nvSpPr>
          <p:cNvPr id="138" name="TextBox 138"/>
          <p:cNvSpPr txBox="1"/>
          <p:nvPr/>
        </p:nvSpPr>
        <p:spPr>
          <a:xfrm>
            <a:off x="7198158" y="4535895"/>
            <a:ext cx="557845" cy="138499"/>
          </a:xfrm>
          <a:prstGeom prst="rect">
            <a:avLst/>
          </a:prstGeom>
          <a:noFill/>
          <a:ln>
            <a:noFill/>
          </a:ln>
        </p:spPr>
        <p:txBody>
          <a:bodyPr wrap="none" lIns="0" tIns="0" rIns="0" bIns="0" anchor="t" anchorCtr="0">
            <a:spAutoFit/>
          </a:bodyPr>
          <a:lstStyle/>
          <a:p>
            <a:pPr algn="l"/>
            <a:r>
              <a:rPr lang="zh-CN" sz="900" dirty="0">
                <a:solidFill>
                  <a:srgbClr val="7A0018"/>
                </a:solidFill>
                <a:latin typeface="Arial"/>
                <a:ea typeface="SimHei"/>
                <a:cs typeface="Arial"/>
              </a:rPr>
              <a:t>工具</a:t>
            </a:r>
            <a:r>
              <a:rPr lang="en-US" altLang="zh-CN" sz="900" dirty="0">
                <a:solidFill>
                  <a:srgbClr val="7A0018"/>
                </a:solidFill>
                <a:latin typeface="Arial"/>
                <a:ea typeface="SimHei"/>
                <a:cs typeface="Arial"/>
              </a:rPr>
              <a:t>  </a:t>
            </a:r>
            <a:r>
              <a:rPr lang="zh-CN" sz="900" dirty="0">
                <a:solidFill>
                  <a:srgbClr val="7A0018"/>
                </a:solidFill>
                <a:latin typeface="Arial"/>
                <a:ea typeface="SimHei"/>
                <a:cs typeface="Arial"/>
              </a:rPr>
              <a:t>结果 </a:t>
            </a:r>
          </a:p>
        </p:txBody>
      </p:sp>
      <p:sp>
        <p:nvSpPr>
          <p:cNvPr id="141" name="Line 141"/>
          <p:cNvSpPr/>
          <p:nvPr/>
        </p:nvSpPr>
        <p:spPr>
          <a:xfrm>
            <a:off x="685800" y="6286500"/>
            <a:ext cx="10820400" cy="9525"/>
          </a:xfrm>
          <a:custGeom>
            <a:avLst/>
            <a:gdLst/>
            <a:ahLst/>
            <a:cxnLst/>
            <a:rect l="l" t="t" r="r" b="b"/>
            <a:pathLst>
              <a:path w="10820400" h="9525">
                <a:moveTo>
                  <a:pt x="0" y="0"/>
                </a:moveTo>
                <a:lnTo>
                  <a:pt x="10820400" y="0"/>
                </a:lnTo>
              </a:path>
            </a:pathLst>
          </a:custGeom>
          <a:noFill/>
          <a:ln w="11430">
            <a:solidFill>
              <a:srgbClr val="E4E7EB"/>
            </a:solidFill>
          </a:ln>
        </p:spPr>
      </p:sp>
      <p:sp>
        <p:nvSpPr>
          <p:cNvPr id="142" name="TextBox 142"/>
          <p:cNvSpPr txBox="1"/>
          <p:nvPr/>
        </p:nvSpPr>
        <p:spPr>
          <a:xfrm>
            <a:off x="5864138" y="6458902"/>
            <a:ext cx="463725"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Arial"/>
                <a:ea typeface="SimHei"/>
                <a:cs typeface="Arial"/>
              </a:rPr>
              <a:t>01 / 01</a:t>
            </a:r>
          </a:p>
        </p:txBody>
      </p:sp>
      <p:sp>
        <p:nvSpPr>
          <p:cNvPr id="149" name="Freeform 134">
            <a:extLst>
              <a:ext uri="{FF2B5EF4-FFF2-40B4-BE49-F238E27FC236}">
                <a16:creationId xmlns:a16="http://schemas.microsoft.com/office/drawing/2014/main" id="{B942A351-B84F-4F11-8B69-1E73986400A4}"/>
              </a:ext>
            </a:extLst>
          </p:cNvPr>
          <p:cNvSpPr/>
          <p:nvPr/>
        </p:nvSpPr>
        <p:spPr>
          <a:xfrm>
            <a:off x="10461307" y="2880360"/>
            <a:ext cx="45719" cy="867408"/>
          </a:xfrm>
          <a:custGeom>
            <a:avLst/>
            <a:gdLst/>
            <a:ahLst/>
            <a:cxnLst/>
            <a:rect l="l" t="t" r="r" b="b"/>
            <a:pathLst>
              <a:path w="9525" h="762000">
                <a:moveTo>
                  <a:pt x="0" y="0"/>
                </a:moveTo>
                <a:lnTo>
                  <a:pt x="0" y="762000"/>
                </a:lnTo>
              </a:path>
            </a:pathLst>
          </a:custGeom>
          <a:noFill/>
          <a:ln w="20955">
            <a:solidFill>
              <a:srgbClr val="A50021"/>
            </a:solidFill>
            <a:tailEnd type="triangle" w="lg" len="lg"/>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3"/>
          <p:cNvPicPr>
            <a:picLocks noChangeAspect="1"/>
          </p:cNvPicPr>
          <p:nvPr/>
        </p:nvPicPr>
        <p:blipFill>
          <a:blip r:embed="rId3"/>
          <a:stretch>
            <a:fillRect/>
          </a:stretch>
        </p:blipFill>
        <p:spPr>
          <a:xfrm>
            <a:off x="9702327" y="419100"/>
            <a:ext cx="2026596" cy="571500"/>
          </a:xfrm>
          <a:prstGeom prst="rect">
            <a:avLst/>
          </a:prstGeom>
        </p:spPr>
      </p:pic>
      <p:sp>
        <p:nvSpPr>
          <p:cNvPr id="4" name="TextBox 4"/>
          <p:cNvSpPr txBox="1"/>
          <p:nvPr/>
        </p:nvSpPr>
        <p:spPr>
          <a:xfrm>
            <a:off x="657225" y="519112"/>
            <a:ext cx="2321148" cy="346249"/>
          </a:xfrm>
          <a:prstGeom prst="rect">
            <a:avLst/>
          </a:prstGeom>
          <a:noFill/>
          <a:ln>
            <a:noFill/>
          </a:ln>
        </p:spPr>
        <p:txBody>
          <a:bodyPr wrap="none" lIns="0" tIns="0" rIns="0" bIns="0" anchor="t" anchorCtr="0">
            <a:spAutoFit/>
          </a:bodyPr>
          <a:lstStyle/>
          <a:p>
            <a:pPr algn="l"/>
            <a:r>
              <a:rPr lang="zh-CN" sz="2250" b="1" dirty="0">
                <a:solidFill>
                  <a:srgbClr val="1F2328"/>
                </a:solidFill>
                <a:latin typeface="Arial"/>
                <a:ea typeface="SimHei"/>
                <a:cs typeface="Arial"/>
              </a:rPr>
              <a:t>反洗钱报告</a:t>
            </a:r>
            <a:r>
              <a:rPr lang="zh-CN" altLang="en-US" sz="2250" b="1" dirty="0">
                <a:solidFill>
                  <a:srgbClr val="1F2328"/>
                </a:solidFill>
                <a:latin typeface="Arial"/>
                <a:ea typeface="SimHei"/>
                <a:cs typeface="Arial"/>
              </a:rPr>
              <a:t>智能体</a:t>
            </a:r>
            <a:endParaRPr lang="zh-CN" sz="2250" b="1" dirty="0">
              <a:solidFill>
                <a:srgbClr val="1F2328"/>
              </a:solidFill>
              <a:latin typeface="Arial"/>
              <a:ea typeface="SimHei"/>
              <a:cs typeface="Arial"/>
            </a:endParaRPr>
          </a:p>
        </p:txBody>
      </p:sp>
      <p:sp>
        <p:nvSpPr>
          <p:cNvPr id="5" name="Line 5"/>
          <p:cNvSpPr/>
          <p:nvPr/>
        </p:nvSpPr>
        <p:spPr>
          <a:xfrm>
            <a:off x="685800" y="933450"/>
            <a:ext cx="2171700" cy="9525"/>
          </a:xfrm>
          <a:custGeom>
            <a:avLst/>
            <a:gdLst/>
            <a:ahLst/>
            <a:cxnLst/>
            <a:rect l="l" t="t" r="r" b="b"/>
            <a:pathLst>
              <a:path w="2171700" h="9525">
                <a:moveTo>
                  <a:pt x="0" y="0"/>
                </a:moveTo>
                <a:lnTo>
                  <a:pt x="2171700" y="0"/>
                </a:lnTo>
              </a:path>
            </a:pathLst>
          </a:custGeom>
          <a:noFill/>
          <a:ln w="28575">
            <a:solidFill>
              <a:srgbClr val="A50021"/>
            </a:solidFill>
          </a:ln>
        </p:spPr>
      </p:sp>
      <p:sp>
        <p:nvSpPr>
          <p:cNvPr id="7" name="Rectangle 7"/>
          <p:cNvSpPr/>
          <p:nvPr/>
        </p:nvSpPr>
        <p:spPr>
          <a:xfrm>
            <a:off x="388001" y="1066800"/>
            <a:ext cx="11430000" cy="5124450"/>
          </a:xfrm>
          <a:prstGeom prst="roundRect">
            <a:avLst>
              <a:gd name="adj" fmla="val 1859"/>
            </a:avLst>
          </a:prstGeom>
          <a:solidFill>
            <a:srgbClr val="FFFFFF"/>
          </a:solidFill>
          <a:ln w="13335">
            <a:solidFill>
              <a:srgbClr val="E8EAED"/>
            </a:solidFill>
          </a:ln>
        </p:spPr>
      </p:sp>
      <p:sp>
        <p:nvSpPr>
          <p:cNvPr id="8" name="TextBox 8"/>
          <p:cNvSpPr txBox="1"/>
          <p:nvPr/>
        </p:nvSpPr>
        <p:spPr>
          <a:xfrm>
            <a:off x="598170" y="1217295"/>
            <a:ext cx="3953066"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SimHei"/>
                <a:cs typeface="Arial"/>
              </a:rPr>
              <a:t>规则命中交易 → ML分类 → 智能体循环 → 长期记忆适配 → 个性化报告</a:t>
            </a:r>
          </a:p>
        </p:txBody>
      </p:sp>
      <p:sp>
        <p:nvSpPr>
          <p:cNvPr id="10" name="Rectangle 10"/>
          <p:cNvSpPr/>
          <p:nvPr/>
        </p:nvSpPr>
        <p:spPr>
          <a:xfrm>
            <a:off x="571500" y="1504950"/>
            <a:ext cx="2400300" cy="4267200"/>
          </a:xfrm>
          <a:prstGeom prst="roundRect">
            <a:avLst>
              <a:gd name="adj" fmla="val 4762"/>
            </a:avLst>
          </a:prstGeom>
          <a:solidFill>
            <a:srgbClr val="F8F9FA"/>
          </a:solidFill>
          <a:ln w="14288">
            <a:solidFill>
              <a:srgbClr val="E4E7EB"/>
            </a:solidFill>
          </a:ln>
        </p:spPr>
      </p:sp>
      <p:sp>
        <p:nvSpPr>
          <p:cNvPr id="11" name="Rectangle 11"/>
          <p:cNvSpPr/>
          <p:nvPr/>
        </p:nvSpPr>
        <p:spPr>
          <a:xfrm>
            <a:off x="571500" y="1504950"/>
            <a:ext cx="2400300" cy="476250"/>
          </a:xfrm>
          <a:prstGeom prst="roundRect">
            <a:avLst>
              <a:gd name="adj" fmla="val 24000"/>
            </a:avLst>
          </a:prstGeom>
          <a:solidFill>
            <a:srgbClr val="F6E8EC"/>
          </a:solidFill>
          <a:ln w="11430">
            <a:solidFill>
              <a:srgbClr val="A50021"/>
            </a:solidFill>
          </a:ln>
        </p:spPr>
      </p:sp>
      <p:sp>
        <p:nvSpPr>
          <p:cNvPr id="12" name="Freeform 12"/>
          <p:cNvSpPr/>
          <p:nvPr/>
        </p:nvSpPr>
        <p:spPr>
          <a:xfrm>
            <a:off x="772508" y="1647567"/>
            <a:ext cx="182330" cy="183572"/>
          </a:xfrm>
          <a:custGeom>
            <a:avLst/>
            <a:gdLst/>
            <a:ahLst/>
            <a:cxnLst/>
            <a:rect l="l" t="t" r="r" b="b"/>
            <a:pathLst>
              <a:path w="182330" h="183572">
                <a:moveTo>
                  <a:pt x="111730" y="17556"/>
                </a:moveTo>
                <a:cubicBezTo>
                  <a:pt x="129210" y="27646"/>
                  <a:pt x="141471" y="44805"/>
                  <a:pt x="145354" y="64612"/>
                </a:cubicBezTo>
                <a:cubicBezTo>
                  <a:pt x="149237" y="84419"/>
                  <a:pt x="144363" y="104937"/>
                  <a:pt x="131986" y="120881"/>
                </a:cubicBezTo>
                <a:lnTo>
                  <a:pt x="179021" y="167917"/>
                </a:lnTo>
                <a:cubicBezTo>
                  <a:pt x="182330" y="171343"/>
                  <a:pt x="182283" y="176788"/>
                  <a:pt x="178915" y="180156"/>
                </a:cubicBezTo>
                <a:cubicBezTo>
                  <a:pt x="175547" y="183524"/>
                  <a:pt x="170101" y="183572"/>
                  <a:pt x="166675" y="180263"/>
                </a:cubicBezTo>
                <a:lnTo>
                  <a:pt x="119631" y="133227"/>
                </a:lnTo>
                <a:cubicBezTo>
                  <a:pt x="91901" y="154745"/>
                  <a:pt x="52508" y="152342"/>
                  <a:pt x="27599" y="127613"/>
                </a:cubicBezTo>
                <a:cubicBezTo>
                  <a:pt x="2689" y="102884"/>
                  <a:pt x="0" y="63510"/>
                  <a:pt x="21315" y="35624"/>
                </a:cubicBezTo>
                <a:cubicBezTo>
                  <a:pt x="42631" y="7737"/>
                  <a:pt x="81330" y="0"/>
                  <a:pt x="111730" y="17547"/>
                </a:cubicBezTo>
              </a:path>
            </a:pathLst>
          </a:custGeom>
          <a:solidFill>
            <a:srgbClr val="A50021"/>
          </a:solidFill>
          <a:ln>
            <a:noFill/>
          </a:ln>
        </p:spPr>
      </p:sp>
      <p:sp>
        <p:nvSpPr>
          <p:cNvPr id="13" name="TextBox 13"/>
          <p:cNvSpPr txBox="1"/>
          <p:nvPr/>
        </p:nvSpPr>
        <p:spPr>
          <a:xfrm>
            <a:off x="1051560" y="1594485"/>
            <a:ext cx="1870710" cy="243840"/>
          </a:xfrm>
          <a:prstGeom prst="rect">
            <a:avLst/>
          </a:prstGeom>
          <a:noFill/>
          <a:ln>
            <a:noFill/>
          </a:ln>
        </p:spPr>
        <p:txBody>
          <a:bodyPr wrap="none" lIns="0" tIns="0" rIns="0" bIns="0" anchor="t" anchorCtr="0">
            <a:spAutoFit/>
          </a:bodyPr>
          <a:lstStyle/>
          <a:p>
            <a:pPr algn="l"/>
            <a:r>
              <a:rPr lang="zh-CN" sz="1200" b="1" dirty="0">
                <a:solidFill>
                  <a:srgbClr val="1F2328"/>
                </a:solidFill>
                <a:latin typeface="Arial"/>
                <a:ea typeface="SimHei"/>
                <a:cs typeface="Arial"/>
              </a:rPr>
              <a:t>总行跑批提取规则命中</a:t>
            </a:r>
          </a:p>
        </p:txBody>
      </p:sp>
      <p:sp>
        <p:nvSpPr>
          <p:cNvPr id="14" name="TextBox 14"/>
          <p:cNvSpPr txBox="1"/>
          <p:nvPr/>
        </p:nvSpPr>
        <p:spPr>
          <a:xfrm>
            <a:off x="1054418" y="1799749"/>
            <a:ext cx="1591151"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SimHei"/>
                <a:cs typeface="Arial"/>
              </a:rPr>
              <a:t>机器学习分类与特征输出</a:t>
            </a:r>
          </a:p>
        </p:txBody>
      </p:sp>
      <p:grpSp>
        <p:nvGrpSpPr>
          <p:cNvPr id="22" name="Group 22"/>
          <p:cNvGrpSpPr/>
          <p:nvPr/>
        </p:nvGrpSpPr>
        <p:grpSpPr>
          <a:xfrm>
            <a:off x="781050" y="2209800"/>
            <a:ext cx="1981200" cy="609600"/>
            <a:chOff x="781050" y="2209800"/>
            <a:chExt cx="1981200" cy="609600"/>
          </a:xfrm>
        </p:grpSpPr>
        <p:sp>
          <p:nvSpPr>
            <p:cNvPr id="15" name="Rectangle 15"/>
            <p:cNvSpPr/>
            <p:nvPr/>
          </p:nvSpPr>
          <p:spPr>
            <a:xfrm>
              <a:off x="781050" y="2209800"/>
              <a:ext cx="1981200" cy="609600"/>
            </a:xfrm>
            <a:prstGeom prst="roundRect">
              <a:avLst>
                <a:gd name="adj" fmla="val 12500"/>
              </a:avLst>
            </a:prstGeom>
            <a:solidFill>
              <a:srgbClr val="FFFFFF"/>
            </a:solidFill>
            <a:ln w="11430">
              <a:solidFill>
                <a:srgbClr val="E4E7EB"/>
              </a:solidFill>
            </a:ln>
          </p:spPr>
        </p:sp>
        <p:grpSp>
          <p:nvGrpSpPr>
            <p:cNvPr id="19" name="Group 19"/>
            <p:cNvGrpSpPr/>
            <p:nvPr/>
          </p:nvGrpSpPr>
          <p:grpSpPr>
            <a:xfrm>
              <a:off x="969168" y="2386012"/>
              <a:ext cx="214313" cy="238125"/>
              <a:chOff x="969168" y="2386012"/>
              <a:chExt cx="214313" cy="238125"/>
            </a:xfrm>
          </p:grpSpPr>
          <p:sp>
            <p:nvSpPr>
              <p:cNvPr id="16" name="Freeform 16"/>
              <p:cNvSpPr/>
              <p:nvPr/>
            </p:nvSpPr>
            <p:spPr>
              <a:xfrm>
                <a:off x="969169" y="2549497"/>
                <a:ext cx="214312" cy="74640"/>
              </a:xfrm>
              <a:custGeom>
                <a:avLst/>
                <a:gdLst/>
                <a:ahLst/>
                <a:cxnLst/>
                <a:rect l="l" t="t" r="r" b="b"/>
                <a:pathLst>
                  <a:path w="214312" h="74640">
                    <a:moveTo>
                      <a:pt x="0" y="0"/>
                    </a:moveTo>
                    <a:cubicBezTo>
                      <a:pt x="23431" y="17943"/>
                      <a:pt x="62317" y="27015"/>
                      <a:pt x="107156" y="27015"/>
                    </a:cubicBezTo>
                    <a:cubicBezTo>
                      <a:pt x="151924" y="27015"/>
                      <a:pt x="190798" y="17967"/>
                      <a:pt x="214312" y="202"/>
                    </a:cubicBezTo>
                    <a:lnTo>
                      <a:pt x="214312" y="27015"/>
                    </a:lnTo>
                    <a:cubicBezTo>
                      <a:pt x="214312" y="55888"/>
                      <a:pt x="167938" y="73878"/>
                      <a:pt x="110811" y="74616"/>
                    </a:cubicBezTo>
                    <a:lnTo>
                      <a:pt x="107156" y="74640"/>
                    </a:lnTo>
                    <a:cubicBezTo>
                      <a:pt x="48363" y="74640"/>
                      <a:pt x="0" y="56507"/>
                      <a:pt x="0" y="27015"/>
                    </a:cubicBezTo>
                    <a:close/>
                  </a:path>
                </a:pathLst>
              </a:custGeom>
              <a:solidFill>
                <a:srgbClr val="5F6368"/>
              </a:solidFill>
              <a:ln>
                <a:noFill/>
              </a:ln>
            </p:spPr>
          </p:sp>
          <p:sp>
            <p:nvSpPr>
              <p:cNvPr id="17" name="Freeform 17"/>
              <p:cNvSpPr/>
              <p:nvPr/>
            </p:nvSpPr>
            <p:spPr>
              <a:xfrm>
                <a:off x="969169" y="2478060"/>
                <a:ext cx="214312" cy="74640"/>
              </a:xfrm>
              <a:custGeom>
                <a:avLst/>
                <a:gdLst/>
                <a:ahLst/>
                <a:cxnLst/>
                <a:rect l="l" t="t" r="r" b="b"/>
                <a:pathLst>
                  <a:path w="214312" h="74640">
                    <a:moveTo>
                      <a:pt x="0" y="0"/>
                    </a:moveTo>
                    <a:cubicBezTo>
                      <a:pt x="23431" y="17943"/>
                      <a:pt x="62317" y="27015"/>
                      <a:pt x="107156" y="27015"/>
                    </a:cubicBezTo>
                    <a:cubicBezTo>
                      <a:pt x="151924" y="27015"/>
                      <a:pt x="190798" y="17967"/>
                      <a:pt x="214312" y="202"/>
                    </a:cubicBezTo>
                    <a:lnTo>
                      <a:pt x="214312" y="27015"/>
                    </a:lnTo>
                    <a:cubicBezTo>
                      <a:pt x="214312" y="56507"/>
                      <a:pt x="165949" y="74640"/>
                      <a:pt x="107156" y="74640"/>
                    </a:cubicBezTo>
                    <a:cubicBezTo>
                      <a:pt x="50030" y="74640"/>
                      <a:pt x="2738" y="57519"/>
                      <a:pt x="250" y="29456"/>
                    </a:cubicBezTo>
                    <a:lnTo>
                      <a:pt x="60" y="28254"/>
                    </a:lnTo>
                    <a:lnTo>
                      <a:pt x="0" y="27015"/>
                    </a:lnTo>
                    <a:close/>
                  </a:path>
                </a:pathLst>
              </a:custGeom>
              <a:solidFill>
                <a:srgbClr val="5F6368"/>
              </a:solidFill>
              <a:ln>
                <a:noFill/>
              </a:ln>
            </p:spPr>
          </p:sp>
          <p:sp>
            <p:nvSpPr>
              <p:cNvPr id="18" name="Freeform 18"/>
              <p:cNvSpPr/>
              <p:nvPr/>
            </p:nvSpPr>
            <p:spPr>
              <a:xfrm>
                <a:off x="969168" y="2386012"/>
                <a:ext cx="214313" cy="95250"/>
              </a:xfrm>
              <a:custGeom>
                <a:avLst/>
                <a:gdLst/>
                <a:ahLst/>
                <a:cxnLst/>
                <a:rect l="l" t="t" r="r" b="b"/>
                <a:pathLst>
                  <a:path w="214313" h="95250">
                    <a:moveTo>
                      <a:pt x="107157" y="0"/>
                    </a:moveTo>
                    <a:cubicBezTo>
                      <a:pt x="119552" y="0"/>
                      <a:pt x="131494" y="810"/>
                      <a:pt x="142602" y="2357"/>
                    </a:cubicBezTo>
                    <a:lnTo>
                      <a:pt x="148186" y="3203"/>
                    </a:lnTo>
                    <a:cubicBezTo>
                      <a:pt x="154854" y="4314"/>
                      <a:pt x="161148" y="5695"/>
                      <a:pt x="167069" y="7346"/>
                    </a:cubicBezTo>
                    <a:lnTo>
                      <a:pt x="172308" y="8906"/>
                    </a:lnTo>
                    <a:lnTo>
                      <a:pt x="173201" y="9192"/>
                    </a:lnTo>
                    <a:cubicBezTo>
                      <a:pt x="176441" y="10257"/>
                      <a:pt x="179639" y="11449"/>
                      <a:pt x="182786" y="12764"/>
                    </a:cubicBezTo>
                    <a:lnTo>
                      <a:pt x="185155" y="13787"/>
                    </a:lnTo>
                    <a:cubicBezTo>
                      <a:pt x="189402" y="15708"/>
                      <a:pt x="193239" y="17812"/>
                      <a:pt x="196668" y="20098"/>
                    </a:cubicBezTo>
                    <a:cubicBezTo>
                      <a:pt x="197978" y="20971"/>
                      <a:pt x="199220" y="21864"/>
                      <a:pt x="200395" y="22777"/>
                    </a:cubicBezTo>
                    <a:cubicBezTo>
                      <a:pt x="203371" y="25086"/>
                      <a:pt x="206047" y="27758"/>
                      <a:pt x="208360" y="30730"/>
                    </a:cubicBezTo>
                    <a:lnTo>
                      <a:pt x="209444" y="32254"/>
                    </a:lnTo>
                    <a:cubicBezTo>
                      <a:pt x="209999" y="33087"/>
                      <a:pt x="210511" y="33925"/>
                      <a:pt x="210980" y="34766"/>
                    </a:cubicBezTo>
                    <a:lnTo>
                      <a:pt x="211813" y="36421"/>
                    </a:lnTo>
                    <a:cubicBezTo>
                      <a:pt x="213107" y="39199"/>
                      <a:pt x="213901" y="42097"/>
                      <a:pt x="214194" y="45113"/>
                    </a:cubicBezTo>
                    <a:lnTo>
                      <a:pt x="214313" y="47625"/>
                    </a:lnTo>
                    <a:cubicBezTo>
                      <a:pt x="214313" y="77117"/>
                      <a:pt x="165950" y="95250"/>
                      <a:pt x="107157" y="95250"/>
                    </a:cubicBezTo>
                    <a:cubicBezTo>
                      <a:pt x="50031" y="95250"/>
                      <a:pt x="2739" y="78129"/>
                      <a:pt x="251" y="50066"/>
                    </a:cubicBezTo>
                    <a:cubicBezTo>
                      <a:pt x="84" y="49263"/>
                      <a:pt x="0" y="48445"/>
                      <a:pt x="1" y="47625"/>
                    </a:cubicBezTo>
                    <a:lnTo>
                      <a:pt x="60" y="46387"/>
                    </a:lnTo>
                    <a:lnTo>
                      <a:pt x="251" y="45196"/>
                    </a:lnTo>
                    <a:cubicBezTo>
                      <a:pt x="2692" y="17740"/>
                      <a:pt x="47995" y="750"/>
                      <a:pt x="103442" y="24"/>
                    </a:cubicBezTo>
                    <a:close/>
                  </a:path>
                </a:pathLst>
              </a:custGeom>
              <a:solidFill>
                <a:srgbClr val="5F6368"/>
              </a:solidFill>
              <a:ln>
                <a:noFill/>
              </a:ln>
            </p:spPr>
          </p:sp>
        </p:grpSp>
        <p:sp>
          <p:nvSpPr>
            <p:cNvPr id="20" name="TextBox 20"/>
            <p:cNvSpPr txBox="1"/>
            <p:nvPr/>
          </p:nvSpPr>
          <p:spPr>
            <a:xfrm>
              <a:off x="1320165" y="2363152"/>
              <a:ext cx="992791" cy="213360"/>
            </a:xfrm>
            <a:prstGeom prst="rect">
              <a:avLst/>
            </a:prstGeom>
            <a:noFill/>
            <a:ln>
              <a:noFill/>
            </a:ln>
          </p:spPr>
          <p:txBody>
            <a:bodyPr wrap="none" lIns="0" tIns="0" rIns="0" bIns="0" anchor="t" anchorCtr="0">
              <a:spAutoFit/>
            </a:bodyPr>
            <a:lstStyle/>
            <a:p>
              <a:pPr algn="l"/>
              <a:r>
                <a:rPr lang="zh-CN" sz="1050" b="1" dirty="0">
                  <a:solidFill>
                    <a:srgbClr val="1F2328"/>
                  </a:solidFill>
                  <a:latin typeface="Arial"/>
                  <a:ea typeface="SimHei"/>
                  <a:cs typeface="Arial"/>
                </a:rPr>
                <a:t>每个月底下发</a:t>
              </a:r>
            </a:p>
          </p:txBody>
        </p:sp>
        <p:sp>
          <p:nvSpPr>
            <p:cNvPr id="21" name="TextBox 21"/>
            <p:cNvSpPr txBox="1"/>
            <p:nvPr/>
          </p:nvSpPr>
          <p:spPr>
            <a:xfrm>
              <a:off x="1322070" y="2569845"/>
              <a:ext cx="81153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SimHei"/>
                  <a:cs typeface="Arial"/>
                </a:rPr>
                <a:t>规则命中交易</a:t>
              </a:r>
            </a:p>
          </p:txBody>
        </p:sp>
      </p:grpSp>
      <p:sp>
        <p:nvSpPr>
          <p:cNvPr id="23" name="Line 23"/>
          <p:cNvSpPr/>
          <p:nvPr/>
        </p:nvSpPr>
        <p:spPr>
          <a:xfrm>
            <a:off x="1771650" y="2819400"/>
            <a:ext cx="1" cy="266700"/>
          </a:xfrm>
          <a:prstGeom prst="line">
            <a:avLst/>
          </a:prstGeom>
          <a:noFill/>
          <a:ln w="19050">
            <a:solidFill>
              <a:srgbClr val="5F6368"/>
            </a:solidFill>
            <a:tailEnd type="triangle" w="lg" len="lg"/>
          </a:ln>
        </p:spPr>
      </p:sp>
      <p:grpSp>
        <p:nvGrpSpPr>
          <p:cNvPr id="32" name="Group 32"/>
          <p:cNvGrpSpPr/>
          <p:nvPr/>
        </p:nvGrpSpPr>
        <p:grpSpPr>
          <a:xfrm>
            <a:off x="781050" y="3124200"/>
            <a:ext cx="1981200" cy="857250"/>
            <a:chOff x="781050" y="3124200"/>
            <a:chExt cx="1981200" cy="857250"/>
          </a:xfrm>
        </p:grpSpPr>
        <p:sp>
          <p:nvSpPr>
            <p:cNvPr id="24" name="Rectangle 24"/>
            <p:cNvSpPr/>
            <p:nvPr/>
          </p:nvSpPr>
          <p:spPr>
            <a:xfrm>
              <a:off x="781050" y="3124200"/>
              <a:ext cx="1981200" cy="857250"/>
            </a:xfrm>
            <a:prstGeom prst="roundRect">
              <a:avLst>
                <a:gd name="adj" fmla="val 8889"/>
              </a:avLst>
            </a:prstGeom>
            <a:solidFill>
              <a:srgbClr val="FFFFFF"/>
            </a:solidFill>
            <a:ln w="11430">
              <a:solidFill>
                <a:srgbClr val="E4E7EB"/>
              </a:solidFill>
            </a:ln>
          </p:spPr>
        </p:sp>
        <p:sp>
          <p:nvSpPr>
            <p:cNvPr id="25" name="Freeform 25"/>
            <p:cNvSpPr/>
            <p:nvPr/>
          </p:nvSpPr>
          <p:spPr>
            <a:xfrm>
              <a:off x="957262" y="3350419"/>
              <a:ext cx="238125" cy="214312"/>
            </a:xfrm>
            <a:custGeom>
              <a:avLst/>
              <a:gdLst/>
              <a:ahLst/>
              <a:cxnLst/>
              <a:rect l="l" t="t" r="r" b="b"/>
              <a:pathLst>
                <a:path w="238125" h="214312">
                  <a:moveTo>
                    <a:pt x="59531" y="214312"/>
                  </a:moveTo>
                  <a:cubicBezTo>
                    <a:pt x="52956" y="214312"/>
                    <a:pt x="47625" y="208982"/>
                    <a:pt x="47625" y="202406"/>
                  </a:cubicBezTo>
                  <a:cubicBezTo>
                    <a:pt x="47625" y="195831"/>
                    <a:pt x="52956" y="190500"/>
                    <a:pt x="59531" y="190500"/>
                  </a:cubicBezTo>
                  <a:lnTo>
                    <a:pt x="71438" y="190500"/>
                  </a:lnTo>
                  <a:lnTo>
                    <a:pt x="71438" y="166688"/>
                  </a:lnTo>
                  <a:lnTo>
                    <a:pt x="23812" y="166688"/>
                  </a:lnTo>
                  <a:cubicBezTo>
                    <a:pt x="10661" y="166688"/>
                    <a:pt x="0" y="156026"/>
                    <a:pt x="0" y="142875"/>
                  </a:cubicBezTo>
                  <a:lnTo>
                    <a:pt x="0" y="23812"/>
                  </a:lnTo>
                  <a:cubicBezTo>
                    <a:pt x="0" y="10661"/>
                    <a:pt x="10661" y="0"/>
                    <a:pt x="23812" y="0"/>
                  </a:cubicBezTo>
                  <a:lnTo>
                    <a:pt x="214312" y="0"/>
                  </a:lnTo>
                  <a:cubicBezTo>
                    <a:pt x="227464" y="0"/>
                    <a:pt x="238125" y="10661"/>
                    <a:pt x="238125" y="23812"/>
                  </a:cubicBezTo>
                  <a:lnTo>
                    <a:pt x="238125" y="142875"/>
                  </a:lnTo>
                  <a:cubicBezTo>
                    <a:pt x="238125" y="156026"/>
                    <a:pt x="227464" y="166688"/>
                    <a:pt x="214312" y="166688"/>
                  </a:cubicBezTo>
                  <a:lnTo>
                    <a:pt x="166688" y="166688"/>
                  </a:lnTo>
                  <a:lnTo>
                    <a:pt x="166688" y="190500"/>
                  </a:lnTo>
                  <a:lnTo>
                    <a:pt x="178594" y="190500"/>
                  </a:lnTo>
                  <a:cubicBezTo>
                    <a:pt x="185169" y="190500"/>
                    <a:pt x="190500" y="195831"/>
                    <a:pt x="190500" y="202406"/>
                  </a:cubicBezTo>
                  <a:cubicBezTo>
                    <a:pt x="190500" y="208982"/>
                    <a:pt x="185169" y="214312"/>
                    <a:pt x="178594" y="214312"/>
                  </a:cubicBezTo>
                  <a:close/>
                  <a:moveTo>
                    <a:pt x="142875" y="166688"/>
                  </a:moveTo>
                  <a:lnTo>
                    <a:pt x="95250" y="166688"/>
                  </a:lnTo>
                  <a:lnTo>
                    <a:pt x="95250" y="190500"/>
                  </a:lnTo>
                  <a:lnTo>
                    <a:pt x="142875" y="190500"/>
                  </a:lnTo>
                  <a:close/>
                </a:path>
              </a:pathLst>
            </a:custGeom>
            <a:solidFill>
              <a:srgbClr val="1F2328"/>
            </a:solidFill>
            <a:ln>
              <a:noFill/>
            </a:ln>
          </p:spPr>
        </p:sp>
        <p:sp>
          <p:nvSpPr>
            <p:cNvPr id="26" name="TextBox 26"/>
            <p:cNvSpPr txBox="1"/>
            <p:nvPr/>
          </p:nvSpPr>
          <p:spPr>
            <a:xfrm>
              <a:off x="1319212" y="3307556"/>
              <a:ext cx="1063704" cy="228600"/>
            </a:xfrm>
            <a:prstGeom prst="rect">
              <a:avLst/>
            </a:prstGeom>
            <a:noFill/>
            <a:ln>
              <a:noFill/>
            </a:ln>
          </p:spPr>
          <p:txBody>
            <a:bodyPr wrap="none" lIns="0" tIns="0" rIns="0" bIns="0" anchor="t" anchorCtr="0">
              <a:spAutoFit/>
            </a:bodyPr>
            <a:lstStyle/>
            <a:p>
              <a:pPr algn="l"/>
              <a:r>
                <a:rPr lang="zh-CN" sz="1125" b="1" dirty="0">
                  <a:solidFill>
                    <a:srgbClr val="1F2328"/>
                  </a:solidFill>
                  <a:latin typeface="Arial"/>
                  <a:ea typeface="SimHei"/>
                  <a:cs typeface="Arial"/>
                </a:rPr>
                <a:t>机器学习模型</a:t>
              </a:r>
            </a:p>
          </p:txBody>
        </p:sp>
        <p:sp>
          <p:nvSpPr>
            <p:cNvPr id="27" name="TextBox 27"/>
            <p:cNvSpPr txBox="1"/>
            <p:nvPr/>
          </p:nvSpPr>
          <p:spPr>
            <a:xfrm>
              <a:off x="1323022" y="3520916"/>
              <a:ext cx="1123450"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SimHei"/>
                  <a:cs typeface="Arial"/>
                </a:rPr>
                <a:t>判断关闭 / 可疑方向</a:t>
              </a:r>
            </a:p>
          </p:txBody>
        </p:sp>
        <p:sp>
          <p:nvSpPr>
            <p:cNvPr id="28" name="Rectangle 28"/>
            <p:cNvSpPr/>
            <p:nvPr/>
          </p:nvSpPr>
          <p:spPr>
            <a:xfrm>
              <a:off x="952500" y="3724275"/>
              <a:ext cx="685800" cy="200025"/>
            </a:xfrm>
            <a:prstGeom prst="roundRect">
              <a:avLst>
                <a:gd name="adj" fmla="val 23810"/>
              </a:avLst>
            </a:prstGeom>
            <a:solidFill>
              <a:srgbClr val="F8F9FA"/>
            </a:solidFill>
            <a:ln w="9525">
              <a:solidFill>
                <a:srgbClr val="E4E7EB"/>
              </a:solidFill>
            </a:ln>
          </p:spPr>
        </p:sp>
        <p:sp>
          <p:nvSpPr>
            <p:cNvPr id="29" name="TextBox 29"/>
            <p:cNvSpPr txBox="1"/>
            <p:nvPr/>
          </p:nvSpPr>
          <p:spPr>
            <a:xfrm>
              <a:off x="1158407" y="3778091"/>
              <a:ext cx="273987"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Arial"/>
                  <a:ea typeface="SimHei"/>
                  <a:cs typeface="Arial"/>
                </a:rPr>
                <a:t>关闭</a:t>
              </a:r>
            </a:p>
          </p:txBody>
        </p:sp>
        <p:sp>
          <p:nvSpPr>
            <p:cNvPr id="30" name="Rectangle 30"/>
            <p:cNvSpPr/>
            <p:nvPr/>
          </p:nvSpPr>
          <p:spPr>
            <a:xfrm>
              <a:off x="1790700" y="3724275"/>
              <a:ext cx="685800" cy="200025"/>
            </a:xfrm>
            <a:prstGeom prst="roundRect">
              <a:avLst>
                <a:gd name="adj" fmla="val 23810"/>
              </a:avLst>
            </a:prstGeom>
            <a:solidFill>
              <a:srgbClr val="F6E8EC"/>
            </a:solidFill>
            <a:ln w="9525">
              <a:solidFill>
                <a:srgbClr val="A50021"/>
              </a:solidFill>
            </a:ln>
          </p:spPr>
        </p:sp>
        <p:sp>
          <p:nvSpPr>
            <p:cNvPr id="31" name="TextBox 31"/>
            <p:cNvSpPr txBox="1"/>
            <p:nvPr/>
          </p:nvSpPr>
          <p:spPr>
            <a:xfrm>
              <a:off x="1996607" y="3778091"/>
              <a:ext cx="273987" cy="167640"/>
            </a:xfrm>
            <a:prstGeom prst="rect">
              <a:avLst/>
            </a:prstGeom>
            <a:noFill/>
            <a:ln>
              <a:noFill/>
            </a:ln>
          </p:spPr>
          <p:txBody>
            <a:bodyPr wrap="none" lIns="0" tIns="0" rIns="0" bIns="0" anchor="t" anchorCtr="0">
              <a:spAutoFit/>
            </a:bodyPr>
            <a:lstStyle/>
            <a:p>
              <a:pPr algn="ctr"/>
              <a:r>
                <a:rPr lang="zh-CN" sz="825" b="1" dirty="0">
                  <a:solidFill>
                    <a:srgbClr val="A50021"/>
                  </a:solidFill>
                  <a:latin typeface="Arial"/>
                  <a:ea typeface="SimHei"/>
                  <a:cs typeface="Arial"/>
                </a:rPr>
                <a:t>可疑</a:t>
              </a:r>
            </a:p>
          </p:txBody>
        </p:sp>
      </p:grpSp>
      <p:sp>
        <p:nvSpPr>
          <p:cNvPr id="33" name="Rectangle 33"/>
          <p:cNvSpPr/>
          <p:nvPr/>
        </p:nvSpPr>
        <p:spPr>
          <a:xfrm>
            <a:off x="781050" y="4229100"/>
            <a:ext cx="1981200" cy="1123950"/>
          </a:xfrm>
          <a:prstGeom prst="roundRect">
            <a:avLst>
              <a:gd name="adj" fmla="val 6780"/>
            </a:avLst>
          </a:prstGeom>
          <a:solidFill>
            <a:srgbClr val="FFFFFF"/>
          </a:solidFill>
          <a:ln w="11430">
            <a:solidFill>
              <a:srgbClr val="E4E7EB"/>
            </a:solidFill>
          </a:ln>
        </p:spPr>
      </p:sp>
      <p:grpSp>
        <p:nvGrpSpPr>
          <p:cNvPr id="164" name="组合 163">
            <a:extLst>
              <a:ext uri="{FF2B5EF4-FFF2-40B4-BE49-F238E27FC236}">
                <a16:creationId xmlns:a16="http://schemas.microsoft.com/office/drawing/2014/main" id="{9A43F163-1EB0-434C-902A-C1786E9D881F}"/>
              </a:ext>
            </a:extLst>
          </p:cNvPr>
          <p:cNvGrpSpPr/>
          <p:nvPr/>
        </p:nvGrpSpPr>
        <p:grpSpPr>
          <a:xfrm>
            <a:off x="959168" y="4321017"/>
            <a:ext cx="1220914" cy="940117"/>
            <a:chOff x="959168" y="4352449"/>
            <a:chExt cx="1220914" cy="940117"/>
          </a:xfrm>
        </p:grpSpPr>
        <p:sp>
          <p:nvSpPr>
            <p:cNvPr id="34" name="TextBox 34"/>
            <p:cNvSpPr txBox="1"/>
            <p:nvPr/>
          </p:nvSpPr>
          <p:spPr>
            <a:xfrm>
              <a:off x="959168" y="4352449"/>
              <a:ext cx="1220914" cy="198120"/>
            </a:xfrm>
            <a:prstGeom prst="rect">
              <a:avLst/>
            </a:prstGeom>
            <a:noFill/>
            <a:ln>
              <a:noFill/>
            </a:ln>
          </p:spPr>
          <p:txBody>
            <a:bodyPr wrap="none" lIns="0" tIns="0" rIns="0" bIns="0" anchor="t" anchorCtr="0">
              <a:spAutoFit/>
            </a:bodyPr>
            <a:lstStyle/>
            <a:p>
              <a:pPr algn="l"/>
              <a:r>
                <a:rPr lang="zh-CN" sz="975" b="1" dirty="0">
                  <a:solidFill>
                    <a:srgbClr val="1F2328"/>
                  </a:solidFill>
                  <a:latin typeface="Arial"/>
                  <a:ea typeface="SimHei"/>
                  <a:cs typeface="Arial"/>
                </a:rPr>
                <a:t>进入智能体的输入</a:t>
              </a:r>
            </a:p>
          </p:txBody>
        </p:sp>
        <p:grpSp>
          <p:nvGrpSpPr>
            <p:cNvPr id="163" name="组合 162">
              <a:extLst>
                <a:ext uri="{FF2B5EF4-FFF2-40B4-BE49-F238E27FC236}">
                  <a16:creationId xmlns:a16="http://schemas.microsoft.com/office/drawing/2014/main" id="{C8E22AF3-8297-4EBD-AE6D-DE84D19D4A08}"/>
                </a:ext>
              </a:extLst>
            </p:cNvPr>
            <p:cNvGrpSpPr/>
            <p:nvPr/>
          </p:nvGrpSpPr>
          <p:grpSpPr>
            <a:xfrm>
              <a:off x="971550" y="4599781"/>
              <a:ext cx="753428" cy="198120"/>
              <a:chOff x="971550" y="4647724"/>
              <a:chExt cx="753428" cy="198120"/>
            </a:xfrm>
          </p:grpSpPr>
          <p:sp>
            <p:nvSpPr>
              <p:cNvPr id="35" name="Ellipse 35"/>
              <p:cNvSpPr/>
              <p:nvPr/>
            </p:nvSpPr>
            <p:spPr>
              <a:xfrm>
                <a:off x="971550" y="4667250"/>
                <a:ext cx="76200" cy="76200"/>
              </a:xfrm>
              <a:prstGeom prst="ellipse">
                <a:avLst/>
              </a:prstGeom>
              <a:solidFill>
                <a:srgbClr val="A50021"/>
              </a:solidFill>
              <a:ln>
                <a:noFill/>
              </a:ln>
            </p:spPr>
          </p:sp>
          <p:sp>
            <p:nvSpPr>
              <p:cNvPr id="36" name="TextBox 36"/>
              <p:cNvSpPr txBox="1"/>
              <p:nvPr/>
            </p:nvSpPr>
            <p:spPr>
              <a:xfrm>
                <a:off x="1130618" y="4647724"/>
                <a:ext cx="594360" cy="198120"/>
              </a:xfrm>
              <a:prstGeom prst="rect">
                <a:avLst/>
              </a:prstGeom>
              <a:noFill/>
              <a:ln>
                <a:noFill/>
              </a:ln>
            </p:spPr>
            <p:txBody>
              <a:bodyPr wrap="none" lIns="0" tIns="0" rIns="0" bIns="0" anchor="t" anchorCtr="0">
                <a:spAutoFit/>
              </a:bodyPr>
              <a:lstStyle/>
              <a:p>
                <a:pPr algn="l"/>
                <a:r>
                  <a:rPr lang="zh-CN" sz="975" dirty="0">
                    <a:solidFill>
                      <a:srgbClr val="1F2328"/>
                    </a:solidFill>
                    <a:latin typeface="Arial"/>
                    <a:ea typeface="SimHei"/>
                    <a:cs typeface="Arial"/>
                  </a:rPr>
                  <a:t>下发交易</a:t>
                </a:r>
              </a:p>
            </p:txBody>
          </p:sp>
        </p:grpSp>
        <p:grpSp>
          <p:nvGrpSpPr>
            <p:cNvPr id="161" name="组合 160">
              <a:extLst>
                <a:ext uri="{FF2B5EF4-FFF2-40B4-BE49-F238E27FC236}">
                  <a16:creationId xmlns:a16="http://schemas.microsoft.com/office/drawing/2014/main" id="{5A87063A-B4D9-4ECF-B653-D7926A1BD404}"/>
                </a:ext>
              </a:extLst>
            </p:cNvPr>
            <p:cNvGrpSpPr/>
            <p:nvPr/>
          </p:nvGrpSpPr>
          <p:grpSpPr>
            <a:xfrm>
              <a:off x="971550" y="4847113"/>
              <a:ext cx="938546" cy="198120"/>
              <a:chOff x="971550" y="4933474"/>
              <a:chExt cx="938546" cy="198120"/>
            </a:xfrm>
          </p:grpSpPr>
          <p:sp>
            <p:nvSpPr>
              <p:cNvPr id="37" name="Ellipse 37"/>
              <p:cNvSpPr/>
              <p:nvPr/>
            </p:nvSpPr>
            <p:spPr>
              <a:xfrm>
                <a:off x="971550" y="4953000"/>
                <a:ext cx="76200" cy="76200"/>
              </a:xfrm>
              <a:prstGeom prst="ellipse">
                <a:avLst/>
              </a:prstGeom>
              <a:solidFill>
                <a:srgbClr val="A50021"/>
              </a:solidFill>
              <a:ln>
                <a:noFill/>
              </a:ln>
            </p:spPr>
          </p:sp>
          <p:sp>
            <p:nvSpPr>
              <p:cNvPr id="38" name="TextBox 38"/>
              <p:cNvSpPr txBox="1"/>
              <p:nvPr/>
            </p:nvSpPr>
            <p:spPr>
              <a:xfrm>
                <a:off x="1130618" y="4933474"/>
                <a:ext cx="779478" cy="198120"/>
              </a:xfrm>
              <a:prstGeom prst="rect">
                <a:avLst/>
              </a:prstGeom>
              <a:noFill/>
              <a:ln>
                <a:noFill/>
              </a:ln>
            </p:spPr>
            <p:txBody>
              <a:bodyPr wrap="none" lIns="0" tIns="0" rIns="0" bIns="0" anchor="t" anchorCtr="0">
                <a:spAutoFit/>
              </a:bodyPr>
              <a:lstStyle/>
              <a:p>
                <a:pPr algn="l"/>
                <a:r>
                  <a:rPr lang="zh-CN" sz="975" dirty="0">
                    <a:solidFill>
                      <a:srgbClr val="1F2328"/>
                    </a:solidFill>
                    <a:latin typeface="Arial"/>
                    <a:ea typeface="SimHei"/>
                    <a:cs typeface="Arial"/>
                  </a:rPr>
                  <a:t>ML分类结果</a:t>
                </a:r>
              </a:p>
            </p:txBody>
          </p:sp>
        </p:grpSp>
        <p:grpSp>
          <p:nvGrpSpPr>
            <p:cNvPr id="160" name="组合 159">
              <a:extLst>
                <a:ext uri="{FF2B5EF4-FFF2-40B4-BE49-F238E27FC236}">
                  <a16:creationId xmlns:a16="http://schemas.microsoft.com/office/drawing/2014/main" id="{D3834636-196A-47AA-80BB-1DC78461027B}"/>
                </a:ext>
              </a:extLst>
            </p:cNvPr>
            <p:cNvGrpSpPr/>
            <p:nvPr/>
          </p:nvGrpSpPr>
          <p:grpSpPr>
            <a:xfrm>
              <a:off x="971550" y="5094446"/>
              <a:ext cx="867347" cy="198120"/>
              <a:chOff x="971550" y="5219224"/>
              <a:chExt cx="867347" cy="198120"/>
            </a:xfrm>
          </p:grpSpPr>
          <p:sp>
            <p:nvSpPr>
              <p:cNvPr id="39" name="Ellipse 39"/>
              <p:cNvSpPr/>
              <p:nvPr/>
            </p:nvSpPr>
            <p:spPr>
              <a:xfrm>
                <a:off x="971550" y="5238750"/>
                <a:ext cx="76200" cy="76200"/>
              </a:xfrm>
              <a:prstGeom prst="ellipse">
                <a:avLst/>
              </a:prstGeom>
              <a:solidFill>
                <a:srgbClr val="A50021"/>
              </a:solidFill>
              <a:ln>
                <a:noFill/>
              </a:ln>
            </p:spPr>
          </p:sp>
          <p:sp>
            <p:nvSpPr>
              <p:cNvPr id="40" name="TextBox 40"/>
              <p:cNvSpPr txBox="1"/>
              <p:nvPr/>
            </p:nvSpPr>
            <p:spPr>
              <a:xfrm>
                <a:off x="1130618" y="5219224"/>
                <a:ext cx="708279" cy="198120"/>
              </a:xfrm>
              <a:prstGeom prst="rect">
                <a:avLst/>
              </a:prstGeom>
              <a:noFill/>
              <a:ln>
                <a:noFill/>
              </a:ln>
            </p:spPr>
            <p:txBody>
              <a:bodyPr wrap="none" lIns="0" tIns="0" rIns="0" bIns="0" anchor="t" anchorCtr="0">
                <a:spAutoFit/>
              </a:bodyPr>
              <a:lstStyle/>
              <a:p>
                <a:pPr algn="l"/>
                <a:r>
                  <a:rPr lang="zh-CN" sz="975" dirty="0">
                    <a:solidFill>
                      <a:srgbClr val="1F2328"/>
                    </a:solidFill>
                    <a:latin typeface="Arial"/>
                    <a:ea typeface="SimHei"/>
                    <a:cs typeface="Arial"/>
                  </a:rPr>
                  <a:t>top10 特征</a:t>
                </a:r>
              </a:p>
            </p:txBody>
          </p:sp>
        </p:grpSp>
      </p:grpSp>
      <p:sp>
        <p:nvSpPr>
          <p:cNvPr id="43" name="Line 43"/>
          <p:cNvSpPr/>
          <p:nvPr/>
        </p:nvSpPr>
        <p:spPr>
          <a:xfrm>
            <a:off x="2762250" y="4705350"/>
            <a:ext cx="409575" cy="1"/>
          </a:xfrm>
          <a:prstGeom prst="line">
            <a:avLst/>
          </a:prstGeom>
          <a:noFill/>
          <a:ln w="21908">
            <a:solidFill>
              <a:srgbClr val="A50021"/>
            </a:solidFill>
            <a:tailEnd type="triangle" w="lg" len="lg"/>
          </a:ln>
        </p:spPr>
      </p:sp>
      <p:sp>
        <p:nvSpPr>
          <p:cNvPr id="44" name="Line 44"/>
          <p:cNvSpPr/>
          <p:nvPr/>
        </p:nvSpPr>
        <p:spPr>
          <a:xfrm>
            <a:off x="2762250" y="4991100"/>
            <a:ext cx="409575" cy="1"/>
          </a:xfrm>
          <a:prstGeom prst="line">
            <a:avLst/>
          </a:prstGeom>
          <a:noFill/>
          <a:ln w="21908">
            <a:solidFill>
              <a:srgbClr val="A50021"/>
            </a:solidFill>
            <a:tailEnd type="triangle" w="lg" len="lg"/>
          </a:ln>
        </p:spPr>
      </p:sp>
      <p:sp>
        <p:nvSpPr>
          <p:cNvPr id="45" name="Line 45"/>
          <p:cNvSpPr/>
          <p:nvPr/>
        </p:nvSpPr>
        <p:spPr>
          <a:xfrm>
            <a:off x="2762250" y="5276850"/>
            <a:ext cx="409575" cy="1"/>
          </a:xfrm>
          <a:prstGeom prst="line">
            <a:avLst/>
          </a:prstGeom>
          <a:noFill/>
          <a:ln w="21908">
            <a:solidFill>
              <a:srgbClr val="A50021"/>
            </a:solidFill>
            <a:tailEnd type="triangle" w="lg" len="lg"/>
          </a:ln>
        </p:spPr>
      </p:sp>
      <p:sp>
        <p:nvSpPr>
          <p:cNvPr id="47" name="Rectangle 47"/>
          <p:cNvSpPr/>
          <p:nvPr/>
        </p:nvSpPr>
        <p:spPr>
          <a:xfrm>
            <a:off x="3181350" y="1504950"/>
            <a:ext cx="3943350" cy="4267200"/>
          </a:xfrm>
          <a:prstGeom prst="roundRect">
            <a:avLst>
              <a:gd name="adj" fmla="val 2899"/>
            </a:avLst>
          </a:prstGeom>
          <a:solidFill>
            <a:srgbClr val="F6E8EC"/>
          </a:solidFill>
          <a:ln w="14288">
            <a:solidFill>
              <a:srgbClr val="A50021"/>
            </a:solidFill>
          </a:ln>
        </p:spPr>
      </p:sp>
      <p:grpSp>
        <p:nvGrpSpPr>
          <p:cNvPr id="51" name="Group 51"/>
          <p:cNvGrpSpPr/>
          <p:nvPr/>
        </p:nvGrpSpPr>
        <p:grpSpPr>
          <a:xfrm>
            <a:off x="3408101" y="1703920"/>
            <a:ext cx="202929" cy="192610"/>
            <a:chOff x="3408101" y="1703920"/>
            <a:chExt cx="202929" cy="192610"/>
          </a:xfrm>
        </p:grpSpPr>
        <p:sp>
          <p:nvSpPr>
            <p:cNvPr id="48" name="Freeform 48"/>
            <p:cNvSpPr/>
            <p:nvPr/>
          </p:nvSpPr>
          <p:spPr>
            <a:xfrm>
              <a:off x="3545681" y="1827745"/>
              <a:ext cx="65349" cy="68785"/>
            </a:xfrm>
            <a:custGeom>
              <a:avLst/>
              <a:gdLst/>
              <a:ahLst/>
              <a:cxnLst/>
              <a:rect l="l" t="t" r="r" b="b"/>
              <a:pathLst>
                <a:path w="65349" h="68785">
                  <a:moveTo>
                    <a:pt x="10319" y="44711"/>
                  </a:moveTo>
                  <a:cubicBezTo>
                    <a:pt x="4620" y="44711"/>
                    <a:pt x="0" y="40091"/>
                    <a:pt x="0" y="34392"/>
                  </a:cubicBezTo>
                  <a:cubicBezTo>
                    <a:pt x="0" y="28694"/>
                    <a:pt x="4620" y="24074"/>
                    <a:pt x="10319" y="24074"/>
                  </a:cubicBezTo>
                  <a:cubicBezTo>
                    <a:pt x="16018" y="24074"/>
                    <a:pt x="20638" y="19454"/>
                    <a:pt x="20638" y="13755"/>
                  </a:cubicBezTo>
                  <a:cubicBezTo>
                    <a:pt x="20638" y="0"/>
                    <a:pt x="41275" y="0"/>
                    <a:pt x="41275" y="13755"/>
                  </a:cubicBezTo>
                  <a:cubicBezTo>
                    <a:pt x="41275" y="19454"/>
                    <a:pt x="45895" y="24074"/>
                    <a:pt x="51594" y="24074"/>
                  </a:cubicBezTo>
                  <a:cubicBezTo>
                    <a:pt x="65349" y="24074"/>
                    <a:pt x="65349" y="44711"/>
                    <a:pt x="51594" y="44711"/>
                  </a:cubicBezTo>
                  <a:cubicBezTo>
                    <a:pt x="45895" y="44711"/>
                    <a:pt x="41275" y="49331"/>
                    <a:pt x="41275" y="55030"/>
                  </a:cubicBezTo>
                  <a:cubicBezTo>
                    <a:pt x="41275" y="68785"/>
                    <a:pt x="20638" y="68785"/>
                    <a:pt x="20638" y="55030"/>
                  </a:cubicBezTo>
                  <a:cubicBezTo>
                    <a:pt x="20638" y="49331"/>
                    <a:pt x="16018" y="44711"/>
                    <a:pt x="10319" y="44711"/>
                  </a:cubicBezTo>
                </a:path>
              </a:pathLst>
            </a:custGeom>
            <a:solidFill>
              <a:srgbClr val="A50021"/>
            </a:solidFill>
            <a:ln>
              <a:noFill/>
            </a:ln>
          </p:spPr>
        </p:sp>
        <p:sp>
          <p:nvSpPr>
            <p:cNvPr id="49" name="Freeform 49"/>
            <p:cNvSpPr/>
            <p:nvPr/>
          </p:nvSpPr>
          <p:spPr>
            <a:xfrm>
              <a:off x="3408101" y="1724558"/>
              <a:ext cx="151335" cy="147899"/>
            </a:xfrm>
            <a:custGeom>
              <a:avLst/>
              <a:gdLst/>
              <a:ahLst/>
              <a:cxnLst/>
              <a:rect l="l" t="t" r="r" b="b"/>
              <a:pathLst>
                <a:path w="151335" h="147899">
                  <a:moveTo>
                    <a:pt x="13755" y="65349"/>
                  </a:moveTo>
                  <a:cubicBezTo>
                    <a:pt x="42249" y="65349"/>
                    <a:pt x="65349" y="42249"/>
                    <a:pt x="65349" y="13755"/>
                  </a:cubicBezTo>
                  <a:cubicBezTo>
                    <a:pt x="65349" y="0"/>
                    <a:pt x="85986" y="0"/>
                    <a:pt x="85986" y="13755"/>
                  </a:cubicBezTo>
                  <a:cubicBezTo>
                    <a:pt x="85986" y="42249"/>
                    <a:pt x="109085" y="65349"/>
                    <a:pt x="137580" y="65349"/>
                  </a:cubicBezTo>
                  <a:cubicBezTo>
                    <a:pt x="151335" y="65349"/>
                    <a:pt x="151335" y="85986"/>
                    <a:pt x="137580" y="85986"/>
                  </a:cubicBezTo>
                  <a:cubicBezTo>
                    <a:pt x="109085" y="85986"/>
                    <a:pt x="85986" y="109085"/>
                    <a:pt x="85986" y="137580"/>
                  </a:cubicBezTo>
                  <a:cubicBezTo>
                    <a:pt x="85986" y="143279"/>
                    <a:pt x="81366" y="147899"/>
                    <a:pt x="75667" y="147899"/>
                  </a:cubicBezTo>
                  <a:cubicBezTo>
                    <a:pt x="69969" y="147899"/>
                    <a:pt x="65349" y="143279"/>
                    <a:pt x="65349" y="137580"/>
                  </a:cubicBezTo>
                  <a:cubicBezTo>
                    <a:pt x="65349" y="109085"/>
                    <a:pt x="42249" y="85986"/>
                    <a:pt x="13755" y="85986"/>
                  </a:cubicBezTo>
                  <a:cubicBezTo>
                    <a:pt x="0" y="85986"/>
                    <a:pt x="0" y="65349"/>
                    <a:pt x="13755" y="65349"/>
                  </a:cubicBezTo>
                </a:path>
              </a:pathLst>
            </a:custGeom>
            <a:solidFill>
              <a:srgbClr val="A50021"/>
            </a:solidFill>
            <a:ln>
              <a:noFill/>
            </a:ln>
          </p:spPr>
        </p:sp>
        <p:sp>
          <p:nvSpPr>
            <p:cNvPr id="50" name="Freeform 50"/>
            <p:cNvSpPr/>
            <p:nvPr/>
          </p:nvSpPr>
          <p:spPr>
            <a:xfrm>
              <a:off x="3545681" y="1703920"/>
              <a:ext cx="65349" cy="68785"/>
            </a:xfrm>
            <a:custGeom>
              <a:avLst/>
              <a:gdLst/>
              <a:ahLst/>
              <a:cxnLst/>
              <a:rect l="l" t="t" r="r" b="b"/>
              <a:pathLst>
                <a:path w="65349" h="68785">
                  <a:moveTo>
                    <a:pt x="10319" y="44711"/>
                  </a:moveTo>
                  <a:cubicBezTo>
                    <a:pt x="4620" y="44711"/>
                    <a:pt x="0" y="40091"/>
                    <a:pt x="0" y="34392"/>
                  </a:cubicBezTo>
                  <a:cubicBezTo>
                    <a:pt x="0" y="28694"/>
                    <a:pt x="4620" y="24074"/>
                    <a:pt x="10319" y="24074"/>
                  </a:cubicBezTo>
                  <a:cubicBezTo>
                    <a:pt x="16018" y="24074"/>
                    <a:pt x="20638" y="19454"/>
                    <a:pt x="20638" y="13755"/>
                  </a:cubicBezTo>
                  <a:cubicBezTo>
                    <a:pt x="20638" y="0"/>
                    <a:pt x="41275" y="0"/>
                    <a:pt x="41275" y="13755"/>
                  </a:cubicBezTo>
                  <a:cubicBezTo>
                    <a:pt x="41275" y="19454"/>
                    <a:pt x="45895" y="24074"/>
                    <a:pt x="51594" y="24074"/>
                  </a:cubicBezTo>
                  <a:cubicBezTo>
                    <a:pt x="65349" y="24074"/>
                    <a:pt x="65349" y="44711"/>
                    <a:pt x="51594" y="44711"/>
                  </a:cubicBezTo>
                  <a:cubicBezTo>
                    <a:pt x="45895" y="44711"/>
                    <a:pt x="41275" y="49331"/>
                    <a:pt x="41275" y="55030"/>
                  </a:cubicBezTo>
                  <a:cubicBezTo>
                    <a:pt x="41275" y="68785"/>
                    <a:pt x="20638" y="68785"/>
                    <a:pt x="20638" y="55030"/>
                  </a:cubicBezTo>
                  <a:cubicBezTo>
                    <a:pt x="20638" y="49331"/>
                    <a:pt x="16018" y="44711"/>
                    <a:pt x="10319" y="44711"/>
                  </a:cubicBezTo>
                </a:path>
              </a:pathLst>
            </a:custGeom>
            <a:solidFill>
              <a:srgbClr val="A50021"/>
            </a:solidFill>
            <a:ln>
              <a:noFill/>
            </a:ln>
          </p:spPr>
        </p:sp>
      </p:grpSp>
      <p:sp>
        <p:nvSpPr>
          <p:cNvPr id="52" name="TextBox 52"/>
          <p:cNvSpPr txBox="1"/>
          <p:nvPr/>
        </p:nvSpPr>
        <p:spPr>
          <a:xfrm>
            <a:off x="3716655" y="1711642"/>
            <a:ext cx="2104549" cy="274320"/>
          </a:xfrm>
          <a:prstGeom prst="rect">
            <a:avLst/>
          </a:prstGeom>
          <a:noFill/>
          <a:ln>
            <a:noFill/>
          </a:ln>
        </p:spPr>
        <p:txBody>
          <a:bodyPr wrap="none" lIns="0" tIns="0" rIns="0" bIns="0" anchor="t" anchorCtr="0">
            <a:spAutoFit/>
          </a:bodyPr>
          <a:lstStyle/>
          <a:p>
            <a:pPr algn="l"/>
            <a:r>
              <a:rPr lang="zh-CN" sz="1350" b="1" dirty="0">
                <a:solidFill>
                  <a:srgbClr val="1F2328"/>
                </a:solidFill>
                <a:latin typeface="Arial"/>
                <a:ea typeface="SimHei"/>
                <a:cs typeface="Arial"/>
              </a:rPr>
              <a:t>反洗钱报告生成智能体</a:t>
            </a:r>
          </a:p>
        </p:txBody>
      </p:sp>
      <p:grpSp>
        <p:nvGrpSpPr>
          <p:cNvPr id="77" name="Group 77"/>
          <p:cNvGrpSpPr/>
          <p:nvPr/>
        </p:nvGrpSpPr>
        <p:grpSpPr>
          <a:xfrm>
            <a:off x="3390900" y="2114550"/>
            <a:ext cx="2419350" cy="3276600"/>
            <a:chOff x="3390900" y="2114550"/>
            <a:chExt cx="2419350" cy="3276600"/>
          </a:xfrm>
        </p:grpSpPr>
        <p:sp>
          <p:nvSpPr>
            <p:cNvPr id="53" name="Rectangle 53"/>
            <p:cNvSpPr/>
            <p:nvPr/>
          </p:nvSpPr>
          <p:spPr>
            <a:xfrm>
              <a:off x="3390900" y="2114550"/>
              <a:ext cx="2266950" cy="3276600"/>
            </a:xfrm>
            <a:prstGeom prst="roundRect">
              <a:avLst>
                <a:gd name="adj" fmla="val 4202"/>
              </a:avLst>
            </a:prstGeom>
            <a:solidFill>
              <a:srgbClr val="FFFFFF"/>
            </a:solidFill>
            <a:ln w="11430">
              <a:solidFill>
                <a:srgbClr val="A50021"/>
              </a:solidFill>
            </a:ln>
          </p:spPr>
        </p:sp>
        <p:sp>
          <p:nvSpPr>
            <p:cNvPr id="54" name="TextBox 54"/>
            <p:cNvSpPr txBox="1"/>
            <p:nvPr/>
          </p:nvSpPr>
          <p:spPr>
            <a:xfrm>
              <a:off x="3570618" y="2213610"/>
              <a:ext cx="1907515" cy="243840"/>
            </a:xfrm>
            <a:prstGeom prst="rect">
              <a:avLst/>
            </a:prstGeom>
            <a:noFill/>
            <a:ln>
              <a:noFill/>
            </a:ln>
          </p:spPr>
          <p:txBody>
            <a:bodyPr wrap="none" lIns="0" tIns="0" rIns="0" bIns="0" anchor="t" anchorCtr="0">
              <a:spAutoFit/>
            </a:bodyPr>
            <a:lstStyle/>
            <a:p>
              <a:pPr algn="ctr"/>
              <a:r>
                <a:rPr lang="zh-CN" sz="1200" b="1" dirty="0">
                  <a:solidFill>
                    <a:srgbClr val="A50021"/>
                  </a:solidFill>
                  <a:latin typeface="Arial"/>
                  <a:ea typeface="SimHei"/>
                  <a:cs typeface="Arial"/>
                </a:rPr>
                <a:t>智能体自动 LOOP 机制</a:t>
              </a:r>
            </a:p>
          </p:txBody>
        </p:sp>
        <p:sp>
          <p:nvSpPr>
            <p:cNvPr id="55" name="Rectangle 55"/>
            <p:cNvSpPr/>
            <p:nvPr/>
          </p:nvSpPr>
          <p:spPr>
            <a:xfrm>
              <a:off x="3590925" y="2533650"/>
              <a:ext cx="1866900" cy="228600"/>
            </a:xfrm>
            <a:prstGeom prst="roundRect">
              <a:avLst>
                <a:gd name="adj" fmla="val 25000"/>
              </a:avLst>
            </a:prstGeom>
            <a:solidFill>
              <a:srgbClr val="F6E8EC"/>
            </a:solidFill>
            <a:ln>
              <a:noFill/>
            </a:ln>
          </p:spPr>
        </p:sp>
        <p:sp>
          <p:nvSpPr>
            <p:cNvPr id="56" name="TextBox 56"/>
            <p:cNvSpPr txBox="1"/>
            <p:nvPr/>
          </p:nvSpPr>
          <p:spPr>
            <a:xfrm>
              <a:off x="3704272" y="2606516"/>
              <a:ext cx="1123450" cy="167640"/>
            </a:xfrm>
            <a:prstGeom prst="rect">
              <a:avLst/>
            </a:prstGeom>
            <a:noFill/>
            <a:ln>
              <a:noFill/>
            </a:ln>
          </p:spPr>
          <p:txBody>
            <a:bodyPr wrap="none" lIns="0" tIns="0" rIns="0" bIns="0" anchor="t" anchorCtr="0">
              <a:spAutoFit/>
            </a:bodyPr>
            <a:lstStyle/>
            <a:p>
              <a:pPr algn="l"/>
              <a:r>
                <a:rPr lang="zh-CN" sz="825" dirty="0">
                  <a:solidFill>
                    <a:srgbClr val="1F2328"/>
                  </a:solidFill>
                  <a:latin typeface="Arial"/>
                  <a:ea typeface="SimHei"/>
                  <a:cs typeface="Arial"/>
                </a:rPr>
                <a:t>1. 自动读取用户输入</a:t>
              </a:r>
            </a:p>
          </p:txBody>
        </p:sp>
        <p:sp>
          <p:nvSpPr>
            <p:cNvPr id="57" name="Line 57"/>
            <p:cNvSpPr/>
            <p:nvPr/>
          </p:nvSpPr>
          <p:spPr>
            <a:xfrm>
              <a:off x="4524375" y="2781300"/>
              <a:ext cx="1" cy="95250"/>
            </a:xfrm>
            <a:prstGeom prst="line">
              <a:avLst/>
            </a:prstGeom>
            <a:noFill/>
            <a:ln w="14288">
              <a:solidFill>
                <a:srgbClr val="A50021"/>
              </a:solidFill>
              <a:tailEnd type="triangle" w="lg" len="lg"/>
            </a:ln>
          </p:spPr>
        </p:sp>
        <p:sp>
          <p:nvSpPr>
            <p:cNvPr id="58" name="Rectangle 58"/>
            <p:cNvSpPr/>
            <p:nvPr/>
          </p:nvSpPr>
          <p:spPr>
            <a:xfrm>
              <a:off x="3590925" y="2914650"/>
              <a:ext cx="1866900" cy="228600"/>
            </a:xfrm>
            <a:prstGeom prst="roundRect">
              <a:avLst>
                <a:gd name="adj" fmla="val 25000"/>
              </a:avLst>
            </a:prstGeom>
            <a:solidFill>
              <a:srgbClr val="F8F9FA"/>
            </a:solidFill>
            <a:ln w="9525">
              <a:solidFill>
                <a:srgbClr val="E4E7EB"/>
              </a:solidFill>
            </a:ln>
          </p:spPr>
        </p:sp>
        <p:sp>
          <p:nvSpPr>
            <p:cNvPr id="59" name="TextBox 59"/>
            <p:cNvSpPr txBox="1"/>
            <p:nvPr/>
          </p:nvSpPr>
          <p:spPr>
            <a:xfrm>
              <a:off x="3704272" y="2987516"/>
              <a:ext cx="1569268" cy="167640"/>
            </a:xfrm>
            <a:prstGeom prst="rect">
              <a:avLst/>
            </a:prstGeom>
            <a:noFill/>
            <a:ln>
              <a:noFill/>
            </a:ln>
          </p:spPr>
          <p:txBody>
            <a:bodyPr wrap="none" lIns="0" tIns="0" rIns="0" bIns="0" anchor="t" anchorCtr="0">
              <a:spAutoFit/>
            </a:bodyPr>
            <a:lstStyle/>
            <a:p>
              <a:pPr algn="l"/>
              <a:r>
                <a:rPr lang="zh-CN" sz="825" dirty="0">
                  <a:solidFill>
                    <a:srgbClr val="1F2328"/>
                  </a:solidFill>
                  <a:latin typeface="Arial"/>
                  <a:ea typeface="SimHei"/>
                  <a:cs typeface="Arial"/>
                </a:rPr>
                <a:t>2. 查询工具列表 / Skill 文档</a:t>
              </a:r>
            </a:p>
          </p:txBody>
        </p:sp>
        <p:sp>
          <p:nvSpPr>
            <p:cNvPr id="60" name="Line 60"/>
            <p:cNvSpPr/>
            <p:nvPr/>
          </p:nvSpPr>
          <p:spPr>
            <a:xfrm>
              <a:off x="4524375" y="3162300"/>
              <a:ext cx="1" cy="95250"/>
            </a:xfrm>
            <a:prstGeom prst="line">
              <a:avLst/>
            </a:prstGeom>
            <a:noFill/>
            <a:ln w="14288">
              <a:solidFill>
                <a:srgbClr val="A50021"/>
              </a:solidFill>
              <a:tailEnd type="triangle" w="lg" len="lg"/>
            </a:ln>
          </p:spPr>
        </p:sp>
        <p:sp>
          <p:nvSpPr>
            <p:cNvPr id="61" name="Rectangle 61"/>
            <p:cNvSpPr/>
            <p:nvPr/>
          </p:nvSpPr>
          <p:spPr>
            <a:xfrm>
              <a:off x="3590925" y="3295650"/>
              <a:ext cx="1866900" cy="228600"/>
            </a:xfrm>
            <a:prstGeom prst="roundRect">
              <a:avLst>
                <a:gd name="adj" fmla="val 25000"/>
              </a:avLst>
            </a:prstGeom>
            <a:solidFill>
              <a:srgbClr val="F6E8EC"/>
            </a:solidFill>
            <a:ln>
              <a:noFill/>
            </a:ln>
          </p:spPr>
        </p:sp>
        <p:sp>
          <p:nvSpPr>
            <p:cNvPr id="62" name="TextBox 62"/>
            <p:cNvSpPr txBox="1"/>
            <p:nvPr/>
          </p:nvSpPr>
          <p:spPr>
            <a:xfrm>
              <a:off x="3704272" y="3368516"/>
              <a:ext cx="792099" cy="167640"/>
            </a:xfrm>
            <a:prstGeom prst="rect">
              <a:avLst/>
            </a:prstGeom>
            <a:noFill/>
            <a:ln>
              <a:noFill/>
            </a:ln>
          </p:spPr>
          <p:txBody>
            <a:bodyPr wrap="none" lIns="0" tIns="0" rIns="0" bIns="0" anchor="t" anchorCtr="0">
              <a:spAutoFit/>
            </a:bodyPr>
            <a:lstStyle/>
            <a:p>
              <a:pPr algn="l"/>
              <a:r>
                <a:rPr lang="zh-CN" sz="825" dirty="0">
                  <a:solidFill>
                    <a:srgbClr val="1F2328"/>
                  </a:solidFill>
                  <a:latin typeface="Arial"/>
                  <a:ea typeface="SimHei"/>
                  <a:cs typeface="Arial"/>
                </a:rPr>
                <a:t>3. 组织上下文</a:t>
              </a:r>
            </a:p>
          </p:txBody>
        </p:sp>
        <p:sp>
          <p:nvSpPr>
            <p:cNvPr id="63" name="Line 63"/>
            <p:cNvSpPr/>
            <p:nvPr/>
          </p:nvSpPr>
          <p:spPr>
            <a:xfrm>
              <a:off x="4524375" y="3543300"/>
              <a:ext cx="1" cy="95250"/>
            </a:xfrm>
            <a:prstGeom prst="line">
              <a:avLst/>
            </a:prstGeom>
            <a:noFill/>
            <a:ln w="14288">
              <a:solidFill>
                <a:srgbClr val="A50021"/>
              </a:solidFill>
              <a:tailEnd type="triangle" w="lg" len="lg"/>
            </a:ln>
          </p:spPr>
        </p:sp>
        <p:sp>
          <p:nvSpPr>
            <p:cNvPr id="64" name="Rectangle 64"/>
            <p:cNvSpPr/>
            <p:nvPr/>
          </p:nvSpPr>
          <p:spPr>
            <a:xfrm>
              <a:off x="3590925" y="3676650"/>
              <a:ext cx="1866900" cy="228600"/>
            </a:xfrm>
            <a:prstGeom prst="roundRect">
              <a:avLst>
                <a:gd name="adj" fmla="val 25000"/>
              </a:avLst>
            </a:prstGeom>
            <a:solidFill>
              <a:srgbClr val="F8F9FA"/>
            </a:solidFill>
            <a:ln w="9525">
              <a:solidFill>
                <a:srgbClr val="E4E7EB"/>
              </a:solidFill>
            </a:ln>
          </p:spPr>
        </p:sp>
        <p:sp>
          <p:nvSpPr>
            <p:cNvPr id="65" name="TextBox 65"/>
            <p:cNvSpPr txBox="1"/>
            <p:nvPr/>
          </p:nvSpPr>
          <p:spPr>
            <a:xfrm>
              <a:off x="3704272" y="3749516"/>
              <a:ext cx="1087303" cy="167640"/>
            </a:xfrm>
            <a:prstGeom prst="rect">
              <a:avLst/>
            </a:prstGeom>
            <a:noFill/>
            <a:ln>
              <a:noFill/>
            </a:ln>
          </p:spPr>
          <p:txBody>
            <a:bodyPr wrap="none" lIns="0" tIns="0" rIns="0" bIns="0" anchor="t" anchorCtr="0">
              <a:spAutoFit/>
            </a:bodyPr>
            <a:lstStyle/>
            <a:p>
              <a:pPr algn="l"/>
              <a:r>
                <a:rPr lang="zh-CN" sz="825" dirty="0">
                  <a:solidFill>
                    <a:srgbClr val="1F2328"/>
                  </a:solidFill>
                  <a:latin typeface="Arial"/>
                  <a:ea typeface="SimHei"/>
                  <a:cs typeface="Arial"/>
                </a:rPr>
                <a:t>4. 自动向 LLM 输入</a:t>
              </a:r>
            </a:p>
          </p:txBody>
        </p:sp>
        <p:sp>
          <p:nvSpPr>
            <p:cNvPr id="66" name="Line 66"/>
            <p:cNvSpPr/>
            <p:nvPr/>
          </p:nvSpPr>
          <p:spPr>
            <a:xfrm>
              <a:off x="4524375" y="3924300"/>
              <a:ext cx="1" cy="95250"/>
            </a:xfrm>
            <a:prstGeom prst="line">
              <a:avLst/>
            </a:prstGeom>
            <a:noFill/>
            <a:ln w="14288">
              <a:solidFill>
                <a:srgbClr val="A50021"/>
              </a:solidFill>
              <a:tailEnd type="triangle" w="lg" len="lg"/>
            </a:ln>
          </p:spPr>
        </p:sp>
        <p:sp>
          <p:nvSpPr>
            <p:cNvPr id="67" name="Rectangle 67"/>
            <p:cNvSpPr/>
            <p:nvPr/>
          </p:nvSpPr>
          <p:spPr>
            <a:xfrm>
              <a:off x="3590925" y="4057650"/>
              <a:ext cx="1866900" cy="228600"/>
            </a:xfrm>
            <a:prstGeom prst="roundRect">
              <a:avLst>
                <a:gd name="adj" fmla="val 25000"/>
              </a:avLst>
            </a:prstGeom>
            <a:solidFill>
              <a:srgbClr val="F6E8EC"/>
            </a:solidFill>
            <a:ln>
              <a:noFill/>
            </a:ln>
          </p:spPr>
        </p:sp>
        <p:sp>
          <p:nvSpPr>
            <p:cNvPr id="68" name="TextBox 68"/>
            <p:cNvSpPr txBox="1"/>
            <p:nvPr/>
          </p:nvSpPr>
          <p:spPr>
            <a:xfrm>
              <a:off x="3704272" y="4130516"/>
              <a:ext cx="1328285" cy="167640"/>
            </a:xfrm>
            <a:prstGeom prst="rect">
              <a:avLst/>
            </a:prstGeom>
            <a:noFill/>
            <a:ln>
              <a:noFill/>
            </a:ln>
          </p:spPr>
          <p:txBody>
            <a:bodyPr wrap="none" lIns="0" tIns="0" rIns="0" bIns="0" anchor="t" anchorCtr="0">
              <a:spAutoFit/>
            </a:bodyPr>
            <a:lstStyle/>
            <a:p>
              <a:pPr algn="l"/>
              <a:r>
                <a:rPr lang="zh-CN" sz="825" dirty="0">
                  <a:solidFill>
                    <a:srgbClr val="1F2328"/>
                  </a:solidFill>
                  <a:latin typeface="Arial"/>
                  <a:ea typeface="SimHei"/>
                  <a:cs typeface="Arial"/>
                </a:rPr>
                <a:t>5. 等待并读取 LLM 输出</a:t>
              </a:r>
            </a:p>
          </p:txBody>
        </p:sp>
        <p:sp>
          <p:nvSpPr>
            <p:cNvPr id="69" name="Line 69"/>
            <p:cNvSpPr/>
            <p:nvPr/>
          </p:nvSpPr>
          <p:spPr>
            <a:xfrm>
              <a:off x="4524375" y="4305300"/>
              <a:ext cx="1" cy="95250"/>
            </a:xfrm>
            <a:prstGeom prst="line">
              <a:avLst/>
            </a:prstGeom>
            <a:noFill/>
            <a:ln w="14288">
              <a:solidFill>
                <a:srgbClr val="A50021"/>
              </a:solidFill>
              <a:tailEnd type="triangle" w="lg" len="lg"/>
            </a:ln>
          </p:spPr>
        </p:sp>
        <p:sp>
          <p:nvSpPr>
            <p:cNvPr id="70" name="Rectangle 70"/>
            <p:cNvSpPr/>
            <p:nvPr/>
          </p:nvSpPr>
          <p:spPr>
            <a:xfrm>
              <a:off x="3590925" y="4438650"/>
              <a:ext cx="1866900" cy="361950"/>
            </a:xfrm>
            <a:prstGeom prst="roundRect">
              <a:avLst>
                <a:gd name="adj" fmla="val 15789"/>
              </a:avLst>
            </a:prstGeom>
            <a:solidFill>
              <a:srgbClr val="F8F9FA"/>
            </a:solidFill>
            <a:ln w="9525">
              <a:solidFill>
                <a:srgbClr val="E4E7EB"/>
              </a:solidFill>
            </a:ln>
          </p:spPr>
        </p:sp>
        <p:sp>
          <p:nvSpPr>
            <p:cNvPr id="71" name="TextBox 71"/>
            <p:cNvSpPr txBox="1"/>
            <p:nvPr/>
          </p:nvSpPr>
          <p:spPr>
            <a:xfrm>
              <a:off x="3704272" y="4501991"/>
              <a:ext cx="1292138" cy="167640"/>
            </a:xfrm>
            <a:prstGeom prst="rect">
              <a:avLst/>
            </a:prstGeom>
            <a:noFill/>
            <a:ln>
              <a:noFill/>
            </a:ln>
          </p:spPr>
          <p:txBody>
            <a:bodyPr wrap="none" lIns="0" tIns="0" rIns="0" bIns="0" anchor="t" anchorCtr="0">
              <a:spAutoFit/>
            </a:bodyPr>
            <a:lstStyle/>
            <a:p>
              <a:pPr algn="l"/>
              <a:r>
                <a:rPr lang="zh-CN" sz="825" dirty="0">
                  <a:solidFill>
                    <a:srgbClr val="1F2328"/>
                  </a:solidFill>
                  <a:latin typeface="Arial"/>
                  <a:ea typeface="SimHei"/>
                  <a:cs typeface="Arial"/>
                </a:rPr>
                <a:t>6. 工具调用 / 资料查询</a:t>
              </a:r>
            </a:p>
          </p:txBody>
        </p:sp>
        <p:sp>
          <p:nvSpPr>
            <p:cNvPr id="72" name="TextBox 72"/>
            <p:cNvSpPr txBox="1"/>
            <p:nvPr/>
          </p:nvSpPr>
          <p:spPr>
            <a:xfrm>
              <a:off x="3704272" y="4654391"/>
              <a:ext cx="605338" cy="167640"/>
            </a:xfrm>
            <a:prstGeom prst="rect">
              <a:avLst/>
            </a:prstGeom>
            <a:noFill/>
            <a:ln>
              <a:noFill/>
            </a:ln>
          </p:spPr>
          <p:txBody>
            <a:bodyPr wrap="none" lIns="0" tIns="0" rIns="0" bIns="0" anchor="t" anchorCtr="0">
              <a:spAutoFit/>
            </a:bodyPr>
            <a:lstStyle/>
            <a:p>
              <a:pPr algn="l"/>
              <a:r>
                <a:rPr lang="zh-CN" sz="825" dirty="0">
                  <a:solidFill>
                    <a:srgbClr val="1F2328"/>
                  </a:solidFill>
                  <a:latin typeface="Arial"/>
                  <a:ea typeface="SimHei"/>
                  <a:cs typeface="Arial"/>
                </a:rPr>
                <a:t>/ 命令执行</a:t>
              </a:r>
            </a:p>
          </p:txBody>
        </p:sp>
        <p:sp>
          <p:nvSpPr>
            <p:cNvPr id="73" name="Line 73"/>
            <p:cNvSpPr/>
            <p:nvPr/>
          </p:nvSpPr>
          <p:spPr>
            <a:xfrm>
              <a:off x="4524375" y="4819650"/>
              <a:ext cx="1" cy="95250"/>
            </a:xfrm>
            <a:prstGeom prst="line">
              <a:avLst/>
            </a:prstGeom>
            <a:noFill/>
            <a:ln w="14288">
              <a:solidFill>
                <a:srgbClr val="A50021"/>
              </a:solidFill>
              <a:tailEnd type="triangle" w="lg" len="lg"/>
            </a:ln>
          </p:spPr>
        </p:sp>
        <p:sp>
          <p:nvSpPr>
            <p:cNvPr id="74" name="Rectangle 74"/>
            <p:cNvSpPr/>
            <p:nvPr/>
          </p:nvSpPr>
          <p:spPr>
            <a:xfrm>
              <a:off x="3590925" y="4953000"/>
              <a:ext cx="1866900" cy="228600"/>
            </a:xfrm>
            <a:prstGeom prst="roundRect">
              <a:avLst>
                <a:gd name="adj" fmla="val 25000"/>
              </a:avLst>
            </a:prstGeom>
            <a:solidFill>
              <a:srgbClr val="F6E8EC"/>
            </a:solidFill>
            <a:ln>
              <a:noFill/>
            </a:ln>
          </p:spPr>
        </p:sp>
        <p:sp>
          <p:nvSpPr>
            <p:cNvPr id="75" name="TextBox 75"/>
            <p:cNvSpPr txBox="1"/>
            <p:nvPr/>
          </p:nvSpPr>
          <p:spPr>
            <a:xfrm>
              <a:off x="3704272" y="5025866"/>
              <a:ext cx="1406604" cy="167640"/>
            </a:xfrm>
            <a:prstGeom prst="rect">
              <a:avLst/>
            </a:prstGeom>
            <a:noFill/>
            <a:ln>
              <a:noFill/>
            </a:ln>
          </p:spPr>
          <p:txBody>
            <a:bodyPr wrap="none" lIns="0" tIns="0" rIns="0" bIns="0" anchor="t" anchorCtr="0">
              <a:spAutoFit/>
            </a:bodyPr>
            <a:lstStyle/>
            <a:p>
              <a:pPr algn="l"/>
              <a:r>
                <a:rPr lang="zh-CN" sz="825" dirty="0">
                  <a:solidFill>
                    <a:srgbClr val="1F2328"/>
                  </a:solidFill>
                  <a:latin typeface="Arial"/>
                  <a:ea typeface="SimHei"/>
                  <a:cs typeface="Arial"/>
                </a:rPr>
                <a:t>7-9. 收集结果并再次输入</a:t>
              </a:r>
            </a:p>
          </p:txBody>
        </p:sp>
        <p:sp>
          <p:nvSpPr>
            <p:cNvPr id="76" name="Freeform 76"/>
            <p:cNvSpPr/>
            <p:nvPr/>
          </p:nvSpPr>
          <p:spPr>
            <a:xfrm>
              <a:off x="5581650" y="2533650"/>
              <a:ext cx="228600" cy="2514600"/>
            </a:xfrm>
            <a:custGeom>
              <a:avLst/>
              <a:gdLst/>
              <a:ahLst/>
              <a:cxnLst/>
              <a:rect l="l" t="t" r="r" b="b"/>
              <a:pathLst>
                <a:path w="228600" h="2514600">
                  <a:moveTo>
                    <a:pt x="0" y="2514600"/>
                  </a:moveTo>
                  <a:cubicBezTo>
                    <a:pt x="228600" y="2276475"/>
                    <a:pt x="228600" y="190500"/>
                    <a:pt x="0" y="0"/>
                  </a:cubicBezTo>
                </a:path>
              </a:pathLst>
            </a:custGeom>
            <a:noFill/>
            <a:ln w="19050">
              <a:solidFill>
                <a:srgbClr val="A50021"/>
              </a:solidFill>
              <a:custDash>
                <a:ds d="300000" sp="200000"/>
              </a:custDash>
              <a:tailEnd type="triangle" w="lg" len="lg"/>
            </a:ln>
          </p:spPr>
        </p:sp>
      </p:grpSp>
      <p:grpSp>
        <p:nvGrpSpPr>
          <p:cNvPr id="92" name="Group 92"/>
          <p:cNvGrpSpPr/>
          <p:nvPr/>
        </p:nvGrpSpPr>
        <p:grpSpPr>
          <a:xfrm>
            <a:off x="5657850" y="2114550"/>
            <a:ext cx="1257300" cy="2457450"/>
            <a:chOff x="5657850" y="2114550"/>
            <a:chExt cx="1257300" cy="2457450"/>
          </a:xfrm>
        </p:grpSpPr>
        <p:sp>
          <p:nvSpPr>
            <p:cNvPr id="78" name="Rectangle 78"/>
            <p:cNvSpPr/>
            <p:nvPr/>
          </p:nvSpPr>
          <p:spPr>
            <a:xfrm>
              <a:off x="5848350" y="2114550"/>
              <a:ext cx="1066800" cy="2457450"/>
            </a:xfrm>
            <a:prstGeom prst="roundRect">
              <a:avLst>
                <a:gd name="adj" fmla="val 8929"/>
              </a:avLst>
            </a:prstGeom>
            <a:solidFill>
              <a:srgbClr val="FFFFFF"/>
            </a:solidFill>
            <a:ln w="11430">
              <a:solidFill>
                <a:srgbClr val="A50021"/>
              </a:solidFill>
              <a:custDash>
                <a:ds d="500000" sp="333333"/>
              </a:custDash>
            </a:ln>
          </p:spPr>
        </p:sp>
        <p:sp>
          <p:nvSpPr>
            <p:cNvPr id="79" name="Freeform 79"/>
            <p:cNvSpPr/>
            <p:nvPr/>
          </p:nvSpPr>
          <p:spPr>
            <a:xfrm>
              <a:off x="6262395" y="2319045"/>
              <a:ext cx="229186" cy="229186"/>
            </a:xfrm>
            <a:custGeom>
              <a:avLst/>
              <a:gdLst/>
              <a:ahLst/>
              <a:cxnLst/>
              <a:rect l="l" t="t" r="r" b="b"/>
              <a:pathLst>
                <a:path w="229186" h="229186">
                  <a:moveTo>
                    <a:pt x="142957" y="29736"/>
                  </a:moveTo>
                  <a:cubicBezTo>
                    <a:pt x="143540" y="32142"/>
                    <a:pt x="145237" y="34126"/>
                    <a:pt x="147525" y="35075"/>
                  </a:cubicBezTo>
                  <a:cubicBezTo>
                    <a:pt x="149812" y="36024"/>
                    <a:pt x="152415" y="35824"/>
                    <a:pt x="154530" y="34536"/>
                  </a:cubicBezTo>
                  <a:cubicBezTo>
                    <a:pt x="180665" y="18624"/>
                    <a:pt x="210573" y="48520"/>
                    <a:pt x="194660" y="74656"/>
                  </a:cubicBezTo>
                  <a:cubicBezTo>
                    <a:pt x="193373" y="76770"/>
                    <a:pt x="193171" y="79371"/>
                    <a:pt x="194118" y="81658"/>
                  </a:cubicBezTo>
                  <a:cubicBezTo>
                    <a:pt x="195064" y="83945"/>
                    <a:pt x="197045" y="85643"/>
                    <a:pt x="199450" y="86229"/>
                  </a:cubicBezTo>
                  <a:cubicBezTo>
                    <a:pt x="229186" y="93440"/>
                    <a:pt x="229186" y="135735"/>
                    <a:pt x="199450" y="142957"/>
                  </a:cubicBezTo>
                  <a:cubicBezTo>
                    <a:pt x="197043" y="143540"/>
                    <a:pt x="195060" y="145237"/>
                    <a:pt x="194111" y="147525"/>
                  </a:cubicBezTo>
                  <a:cubicBezTo>
                    <a:pt x="193162" y="149812"/>
                    <a:pt x="193362" y="152415"/>
                    <a:pt x="194649" y="154530"/>
                  </a:cubicBezTo>
                  <a:cubicBezTo>
                    <a:pt x="210562" y="180665"/>
                    <a:pt x="180665" y="210573"/>
                    <a:pt x="154530" y="194660"/>
                  </a:cubicBezTo>
                  <a:cubicBezTo>
                    <a:pt x="152416" y="193373"/>
                    <a:pt x="149815" y="193171"/>
                    <a:pt x="147528" y="194118"/>
                  </a:cubicBezTo>
                  <a:cubicBezTo>
                    <a:pt x="145241" y="195064"/>
                    <a:pt x="143543" y="197045"/>
                    <a:pt x="142957" y="199450"/>
                  </a:cubicBezTo>
                  <a:cubicBezTo>
                    <a:pt x="135746" y="229186"/>
                    <a:pt x="93451" y="229186"/>
                    <a:pt x="86229" y="199450"/>
                  </a:cubicBezTo>
                  <a:cubicBezTo>
                    <a:pt x="85646" y="197043"/>
                    <a:pt x="83949" y="195060"/>
                    <a:pt x="81661" y="194111"/>
                  </a:cubicBezTo>
                  <a:cubicBezTo>
                    <a:pt x="79374" y="193162"/>
                    <a:pt x="76771" y="193362"/>
                    <a:pt x="74656" y="194649"/>
                  </a:cubicBezTo>
                  <a:cubicBezTo>
                    <a:pt x="48520" y="210562"/>
                    <a:pt x="18613" y="180665"/>
                    <a:pt x="34526" y="154530"/>
                  </a:cubicBezTo>
                  <a:cubicBezTo>
                    <a:pt x="35813" y="152416"/>
                    <a:pt x="36015" y="149815"/>
                    <a:pt x="35068" y="147528"/>
                  </a:cubicBezTo>
                  <a:cubicBezTo>
                    <a:pt x="34121" y="145241"/>
                    <a:pt x="32141" y="143543"/>
                    <a:pt x="29736" y="142957"/>
                  </a:cubicBezTo>
                  <a:cubicBezTo>
                    <a:pt x="0" y="135746"/>
                    <a:pt x="0" y="93451"/>
                    <a:pt x="29736" y="86229"/>
                  </a:cubicBezTo>
                  <a:cubicBezTo>
                    <a:pt x="32142" y="85646"/>
                    <a:pt x="34126" y="83949"/>
                    <a:pt x="35075" y="81661"/>
                  </a:cubicBezTo>
                  <a:cubicBezTo>
                    <a:pt x="36024" y="79374"/>
                    <a:pt x="35824" y="76771"/>
                    <a:pt x="34536" y="74656"/>
                  </a:cubicBezTo>
                  <a:cubicBezTo>
                    <a:pt x="18624" y="48520"/>
                    <a:pt x="48520" y="18613"/>
                    <a:pt x="74656" y="34526"/>
                  </a:cubicBezTo>
                  <a:cubicBezTo>
                    <a:pt x="76768" y="35823"/>
                    <a:pt x="79373" y="36030"/>
                    <a:pt x="81664" y="35082"/>
                  </a:cubicBezTo>
                  <a:cubicBezTo>
                    <a:pt x="83954" y="34134"/>
                    <a:pt x="85651" y="32146"/>
                    <a:pt x="86229" y="29736"/>
                  </a:cubicBezTo>
                  <a:cubicBezTo>
                    <a:pt x="93440" y="0"/>
                    <a:pt x="135735" y="0"/>
                    <a:pt x="142957" y="29736"/>
                  </a:cubicBezTo>
                  <a:close/>
                  <a:moveTo>
                    <a:pt x="114593" y="82446"/>
                  </a:moveTo>
                  <a:cubicBezTo>
                    <a:pt x="96839" y="82446"/>
                    <a:pt x="82446" y="96839"/>
                    <a:pt x="82446" y="114593"/>
                  </a:cubicBezTo>
                  <a:cubicBezTo>
                    <a:pt x="82446" y="132347"/>
                    <a:pt x="96839" y="146740"/>
                    <a:pt x="114593" y="146740"/>
                  </a:cubicBezTo>
                  <a:cubicBezTo>
                    <a:pt x="132347" y="146740"/>
                    <a:pt x="146740" y="132347"/>
                    <a:pt x="146740" y="114593"/>
                  </a:cubicBezTo>
                  <a:cubicBezTo>
                    <a:pt x="146740" y="96839"/>
                    <a:pt x="132347" y="82446"/>
                    <a:pt x="114593" y="82446"/>
                  </a:cubicBezTo>
                </a:path>
              </a:pathLst>
            </a:custGeom>
            <a:solidFill>
              <a:srgbClr val="A50021"/>
            </a:solidFill>
            <a:ln>
              <a:noFill/>
            </a:ln>
          </p:spPr>
        </p:sp>
        <p:sp>
          <p:nvSpPr>
            <p:cNvPr id="80" name="TextBox 80"/>
            <p:cNvSpPr txBox="1"/>
            <p:nvPr/>
          </p:nvSpPr>
          <p:spPr>
            <a:xfrm>
              <a:off x="5995571" y="2637949"/>
              <a:ext cx="772358" cy="198120"/>
            </a:xfrm>
            <a:prstGeom prst="rect">
              <a:avLst/>
            </a:prstGeom>
            <a:noFill/>
            <a:ln>
              <a:noFill/>
            </a:ln>
          </p:spPr>
          <p:txBody>
            <a:bodyPr wrap="none" lIns="0" tIns="0" rIns="0" bIns="0" anchor="t" anchorCtr="0">
              <a:spAutoFit/>
            </a:bodyPr>
            <a:lstStyle/>
            <a:p>
              <a:pPr algn="ctr"/>
              <a:r>
                <a:rPr lang="zh-CN" sz="975" b="1" dirty="0">
                  <a:solidFill>
                    <a:srgbClr val="1F2328"/>
                  </a:solidFill>
                  <a:latin typeface="Arial"/>
                  <a:ea typeface="SimHei"/>
                  <a:cs typeface="Arial"/>
                </a:rPr>
                <a:t>反洗钱工具</a:t>
              </a:r>
            </a:p>
          </p:txBody>
        </p:sp>
        <p:sp>
          <p:nvSpPr>
            <p:cNvPr id="81" name="TextBox 81"/>
            <p:cNvSpPr txBox="1"/>
            <p:nvPr/>
          </p:nvSpPr>
          <p:spPr>
            <a:xfrm>
              <a:off x="6081544" y="2809399"/>
              <a:ext cx="600412" cy="198120"/>
            </a:xfrm>
            <a:prstGeom prst="rect">
              <a:avLst/>
            </a:prstGeom>
            <a:noFill/>
            <a:ln>
              <a:noFill/>
            </a:ln>
          </p:spPr>
          <p:txBody>
            <a:bodyPr wrap="none" lIns="0" tIns="0" rIns="0" bIns="0" anchor="t" anchorCtr="0">
              <a:spAutoFit/>
            </a:bodyPr>
            <a:lstStyle/>
            <a:p>
              <a:pPr algn="ctr"/>
              <a:r>
                <a:rPr lang="zh-CN" sz="975" b="1" dirty="0">
                  <a:solidFill>
                    <a:srgbClr val="1F2328"/>
                  </a:solidFill>
                  <a:latin typeface="Arial"/>
                  <a:ea typeface="SimHei"/>
                  <a:cs typeface="Arial"/>
                </a:rPr>
                <a:t>和 Skills</a:t>
              </a:r>
            </a:p>
          </p:txBody>
        </p:sp>
        <p:sp>
          <p:nvSpPr>
            <p:cNvPr id="82" name="Rectangle 82"/>
            <p:cNvSpPr/>
            <p:nvPr/>
          </p:nvSpPr>
          <p:spPr>
            <a:xfrm>
              <a:off x="6000750" y="3143250"/>
              <a:ext cx="762000" cy="228600"/>
            </a:xfrm>
            <a:prstGeom prst="roundRect">
              <a:avLst>
                <a:gd name="adj" fmla="val 25000"/>
              </a:avLst>
            </a:prstGeom>
            <a:solidFill>
              <a:srgbClr val="F6E8EC"/>
            </a:solidFill>
            <a:ln>
              <a:noFill/>
            </a:ln>
          </p:spPr>
        </p:sp>
        <p:sp>
          <p:nvSpPr>
            <p:cNvPr id="83" name="TextBox 83"/>
            <p:cNvSpPr txBox="1"/>
            <p:nvPr/>
          </p:nvSpPr>
          <p:spPr>
            <a:xfrm>
              <a:off x="6130290" y="3206591"/>
              <a:ext cx="502920" cy="167640"/>
            </a:xfrm>
            <a:prstGeom prst="rect">
              <a:avLst/>
            </a:prstGeom>
            <a:noFill/>
            <a:ln>
              <a:noFill/>
            </a:ln>
          </p:spPr>
          <p:txBody>
            <a:bodyPr wrap="none" lIns="0" tIns="0" rIns="0" bIns="0" anchor="t" anchorCtr="0">
              <a:spAutoFit/>
            </a:bodyPr>
            <a:lstStyle/>
            <a:p>
              <a:pPr algn="ctr"/>
              <a:r>
                <a:rPr lang="zh-CN" sz="825" dirty="0">
                  <a:solidFill>
                    <a:srgbClr val="1F2328"/>
                  </a:solidFill>
                  <a:latin typeface="Arial"/>
                  <a:ea typeface="SimHei"/>
                  <a:cs typeface="Arial"/>
                </a:rPr>
                <a:t>报告生成</a:t>
              </a:r>
            </a:p>
          </p:txBody>
        </p:sp>
        <p:sp>
          <p:nvSpPr>
            <p:cNvPr id="84" name="Rectangle 84"/>
            <p:cNvSpPr/>
            <p:nvPr/>
          </p:nvSpPr>
          <p:spPr>
            <a:xfrm>
              <a:off x="6000750" y="3448050"/>
              <a:ext cx="762000" cy="228600"/>
            </a:xfrm>
            <a:prstGeom prst="roundRect">
              <a:avLst>
                <a:gd name="adj" fmla="val 25000"/>
              </a:avLst>
            </a:prstGeom>
            <a:solidFill>
              <a:srgbClr val="F8F9FA"/>
            </a:solidFill>
            <a:ln w="9525">
              <a:solidFill>
                <a:srgbClr val="E4E7EB"/>
              </a:solidFill>
            </a:ln>
          </p:spPr>
        </p:sp>
        <p:sp>
          <p:nvSpPr>
            <p:cNvPr id="85" name="TextBox 85"/>
            <p:cNvSpPr txBox="1"/>
            <p:nvPr/>
          </p:nvSpPr>
          <p:spPr>
            <a:xfrm>
              <a:off x="6130290" y="3511391"/>
              <a:ext cx="502920" cy="167640"/>
            </a:xfrm>
            <a:prstGeom prst="rect">
              <a:avLst/>
            </a:prstGeom>
            <a:noFill/>
            <a:ln>
              <a:noFill/>
            </a:ln>
          </p:spPr>
          <p:txBody>
            <a:bodyPr wrap="none" lIns="0" tIns="0" rIns="0" bIns="0" anchor="t" anchorCtr="0">
              <a:spAutoFit/>
            </a:bodyPr>
            <a:lstStyle/>
            <a:p>
              <a:pPr algn="ctr"/>
              <a:r>
                <a:rPr lang="zh-CN" sz="825" dirty="0">
                  <a:solidFill>
                    <a:srgbClr val="1F2328"/>
                  </a:solidFill>
                  <a:latin typeface="Arial"/>
                  <a:ea typeface="SimHei"/>
                  <a:cs typeface="Arial"/>
                </a:rPr>
                <a:t>习惯适配</a:t>
              </a:r>
            </a:p>
          </p:txBody>
        </p:sp>
        <p:sp>
          <p:nvSpPr>
            <p:cNvPr id="86" name="Rectangle 86"/>
            <p:cNvSpPr/>
            <p:nvPr/>
          </p:nvSpPr>
          <p:spPr>
            <a:xfrm>
              <a:off x="6000750" y="3752850"/>
              <a:ext cx="762000" cy="228600"/>
            </a:xfrm>
            <a:prstGeom prst="roundRect">
              <a:avLst>
                <a:gd name="adj" fmla="val 25000"/>
              </a:avLst>
            </a:prstGeom>
            <a:solidFill>
              <a:srgbClr val="F8F9FA"/>
            </a:solidFill>
            <a:ln w="9525">
              <a:solidFill>
                <a:srgbClr val="E4E7EB"/>
              </a:solidFill>
            </a:ln>
          </p:spPr>
        </p:sp>
        <p:sp>
          <p:nvSpPr>
            <p:cNvPr id="87" name="TextBox 87"/>
            <p:cNvSpPr txBox="1"/>
            <p:nvPr/>
          </p:nvSpPr>
          <p:spPr>
            <a:xfrm>
              <a:off x="6130290" y="3816191"/>
              <a:ext cx="502920" cy="167640"/>
            </a:xfrm>
            <a:prstGeom prst="rect">
              <a:avLst/>
            </a:prstGeom>
            <a:noFill/>
            <a:ln>
              <a:noFill/>
            </a:ln>
          </p:spPr>
          <p:txBody>
            <a:bodyPr wrap="none" lIns="0" tIns="0" rIns="0" bIns="0" anchor="t" anchorCtr="0">
              <a:spAutoFit/>
            </a:bodyPr>
            <a:lstStyle/>
            <a:p>
              <a:pPr algn="ctr"/>
              <a:r>
                <a:rPr lang="zh-CN" sz="825" dirty="0">
                  <a:solidFill>
                    <a:srgbClr val="1F2328"/>
                  </a:solidFill>
                  <a:latin typeface="Arial"/>
                  <a:ea typeface="SimHei"/>
                  <a:cs typeface="Arial"/>
                </a:rPr>
                <a:t>历史检索</a:t>
              </a:r>
            </a:p>
          </p:txBody>
        </p:sp>
        <p:sp>
          <p:nvSpPr>
            <p:cNvPr id="88" name="Rectangle 88"/>
            <p:cNvSpPr/>
            <p:nvPr/>
          </p:nvSpPr>
          <p:spPr>
            <a:xfrm>
              <a:off x="6000750" y="4057650"/>
              <a:ext cx="762000" cy="228600"/>
            </a:xfrm>
            <a:prstGeom prst="roundRect">
              <a:avLst>
                <a:gd name="adj" fmla="val 25000"/>
              </a:avLst>
            </a:prstGeom>
            <a:solidFill>
              <a:srgbClr val="F8F9FA"/>
            </a:solidFill>
            <a:ln w="9525">
              <a:solidFill>
                <a:srgbClr val="E4E7EB"/>
              </a:solidFill>
            </a:ln>
          </p:spPr>
        </p:sp>
        <p:sp>
          <p:nvSpPr>
            <p:cNvPr id="89" name="TextBox 89"/>
            <p:cNvSpPr txBox="1"/>
            <p:nvPr/>
          </p:nvSpPr>
          <p:spPr>
            <a:xfrm>
              <a:off x="6130290" y="4120991"/>
              <a:ext cx="502920" cy="167640"/>
            </a:xfrm>
            <a:prstGeom prst="rect">
              <a:avLst/>
            </a:prstGeom>
            <a:noFill/>
            <a:ln>
              <a:noFill/>
            </a:ln>
          </p:spPr>
          <p:txBody>
            <a:bodyPr wrap="none" lIns="0" tIns="0" rIns="0" bIns="0" anchor="t" anchorCtr="0">
              <a:spAutoFit/>
            </a:bodyPr>
            <a:lstStyle/>
            <a:p>
              <a:pPr algn="ctr"/>
              <a:r>
                <a:rPr lang="zh-CN" sz="825" dirty="0">
                  <a:solidFill>
                    <a:srgbClr val="1F2328"/>
                  </a:solidFill>
                  <a:latin typeface="Arial"/>
                  <a:ea typeface="SimHei"/>
                  <a:cs typeface="Arial"/>
                </a:rPr>
                <a:t>特征驳斥</a:t>
              </a:r>
            </a:p>
          </p:txBody>
        </p:sp>
        <p:sp>
          <p:nvSpPr>
            <p:cNvPr id="90" name="Line 90"/>
            <p:cNvSpPr/>
            <p:nvPr/>
          </p:nvSpPr>
          <p:spPr>
            <a:xfrm>
              <a:off x="5657850" y="3810000"/>
              <a:ext cx="190500" cy="1"/>
            </a:xfrm>
            <a:prstGeom prst="line">
              <a:avLst/>
            </a:prstGeom>
            <a:noFill/>
            <a:ln w="19050">
              <a:solidFill>
                <a:srgbClr val="A50021"/>
              </a:solidFill>
              <a:tailEnd type="triangle" w="lg" len="lg"/>
            </a:ln>
          </p:spPr>
        </p:sp>
        <p:sp>
          <p:nvSpPr>
            <p:cNvPr id="91" name="Line 91"/>
            <p:cNvSpPr/>
            <p:nvPr/>
          </p:nvSpPr>
          <p:spPr>
            <a:xfrm flipH="1">
              <a:off x="5657850" y="4095750"/>
              <a:ext cx="190500" cy="1"/>
            </a:xfrm>
            <a:prstGeom prst="line">
              <a:avLst/>
            </a:prstGeom>
            <a:noFill/>
            <a:ln w="19050">
              <a:solidFill>
                <a:srgbClr val="A50021"/>
              </a:solidFill>
              <a:tailEnd type="triangle" w="lg" len="lg"/>
            </a:ln>
          </p:spPr>
        </p:sp>
      </p:grpSp>
      <p:sp>
        <p:nvSpPr>
          <p:cNvPr id="99" name="Rectangle 99"/>
          <p:cNvSpPr/>
          <p:nvPr/>
        </p:nvSpPr>
        <p:spPr>
          <a:xfrm>
            <a:off x="7448550" y="1504950"/>
            <a:ext cx="4171950" cy="4267200"/>
          </a:xfrm>
          <a:prstGeom prst="roundRect">
            <a:avLst>
              <a:gd name="adj" fmla="val 2740"/>
            </a:avLst>
          </a:prstGeom>
          <a:solidFill>
            <a:srgbClr val="F8F9FA"/>
          </a:solidFill>
          <a:ln w="14288">
            <a:solidFill>
              <a:srgbClr val="E4E7EB"/>
            </a:solidFill>
          </a:ln>
        </p:spPr>
      </p:sp>
      <p:grpSp>
        <p:nvGrpSpPr>
          <p:cNvPr id="108" name="Group 108"/>
          <p:cNvGrpSpPr/>
          <p:nvPr/>
        </p:nvGrpSpPr>
        <p:grpSpPr>
          <a:xfrm>
            <a:off x="7639050" y="1695450"/>
            <a:ext cx="3790950" cy="685800"/>
            <a:chOff x="7639050" y="1695450"/>
            <a:chExt cx="3790950" cy="685800"/>
          </a:xfrm>
        </p:grpSpPr>
        <p:sp>
          <p:nvSpPr>
            <p:cNvPr id="100" name="Rectangle 100"/>
            <p:cNvSpPr/>
            <p:nvPr/>
          </p:nvSpPr>
          <p:spPr>
            <a:xfrm>
              <a:off x="7639050" y="1695450"/>
              <a:ext cx="3790950" cy="685800"/>
            </a:xfrm>
            <a:prstGeom prst="roundRect">
              <a:avLst>
                <a:gd name="adj" fmla="val 13889"/>
              </a:avLst>
            </a:prstGeom>
            <a:solidFill>
              <a:srgbClr val="FFFFFF"/>
            </a:solidFill>
            <a:ln w="11430">
              <a:solidFill>
                <a:srgbClr val="E4E7EB"/>
              </a:solidFill>
            </a:ln>
          </p:spPr>
        </p:sp>
        <p:grpSp>
          <p:nvGrpSpPr>
            <p:cNvPr id="104" name="Group 104"/>
            <p:cNvGrpSpPr/>
            <p:nvPr/>
          </p:nvGrpSpPr>
          <p:grpSpPr>
            <a:xfrm>
              <a:off x="7867649" y="1892300"/>
              <a:ext cx="228601" cy="254000"/>
              <a:chOff x="7867649" y="1892300"/>
              <a:chExt cx="228601" cy="254000"/>
            </a:xfrm>
          </p:grpSpPr>
          <p:sp>
            <p:nvSpPr>
              <p:cNvPr id="101" name="Freeform 101"/>
              <p:cNvSpPr/>
              <p:nvPr/>
            </p:nvSpPr>
            <p:spPr>
              <a:xfrm>
                <a:off x="7867650" y="2066684"/>
                <a:ext cx="228600" cy="79616"/>
              </a:xfrm>
              <a:custGeom>
                <a:avLst/>
                <a:gdLst/>
                <a:ahLst/>
                <a:cxnLst/>
                <a:rect l="l" t="t" r="r" b="b"/>
                <a:pathLst>
                  <a:path w="228600" h="79616">
                    <a:moveTo>
                      <a:pt x="0" y="0"/>
                    </a:moveTo>
                    <a:cubicBezTo>
                      <a:pt x="24994" y="19139"/>
                      <a:pt x="66472" y="28816"/>
                      <a:pt x="114300" y="28816"/>
                    </a:cubicBezTo>
                    <a:cubicBezTo>
                      <a:pt x="162052" y="28816"/>
                      <a:pt x="203518" y="19164"/>
                      <a:pt x="228600" y="216"/>
                    </a:cubicBezTo>
                    <a:lnTo>
                      <a:pt x="228600" y="28816"/>
                    </a:lnTo>
                    <a:cubicBezTo>
                      <a:pt x="228600" y="59614"/>
                      <a:pt x="179133" y="78803"/>
                      <a:pt x="118199" y="79591"/>
                    </a:cubicBezTo>
                    <a:lnTo>
                      <a:pt x="114300" y="79616"/>
                    </a:lnTo>
                    <a:cubicBezTo>
                      <a:pt x="51587" y="79616"/>
                      <a:pt x="0" y="60274"/>
                      <a:pt x="0" y="28816"/>
                    </a:cubicBezTo>
                    <a:close/>
                  </a:path>
                </a:pathLst>
              </a:custGeom>
              <a:solidFill>
                <a:srgbClr val="5F6368"/>
              </a:solidFill>
              <a:ln>
                <a:noFill/>
              </a:ln>
            </p:spPr>
          </p:sp>
          <p:sp>
            <p:nvSpPr>
              <p:cNvPr id="102" name="Freeform 102"/>
              <p:cNvSpPr/>
              <p:nvPr/>
            </p:nvSpPr>
            <p:spPr>
              <a:xfrm>
                <a:off x="7867650" y="1990484"/>
                <a:ext cx="228600" cy="79616"/>
              </a:xfrm>
              <a:custGeom>
                <a:avLst/>
                <a:gdLst/>
                <a:ahLst/>
                <a:cxnLst/>
                <a:rect l="l" t="t" r="r" b="b"/>
                <a:pathLst>
                  <a:path w="228600" h="79616">
                    <a:moveTo>
                      <a:pt x="0" y="0"/>
                    </a:moveTo>
                    <a:cubicBezTo>
                      <a:pt x="24994" y="19139"/>
                      <a:pt x="66472" y="28816"/>
                      <a:pt x="114300" y="28816"/>
                    </a:cubicBezTo>
                    <a:cubicBezTo>
                      <a:pt x="162052" y="28816"/>
                      <a:pt x="203518" y="19164"/>
                      <a:pt x="228600" y="216"/>
                    </a:cubicBezTo>
                    <a:lnTo>
                      <a:pt x="228600" y="28816"/>
                    </a:lnTo>
                    <a:cubicBezTo>
                      <a:pt x="228600" y="60274"/>
                      <a:pt x="177013" y="79616"/>
                      <a:pt x="114300" y="79616"/>
                    </a:cubicBezTo>
                    <a:cubicBezTo>
                      <a:pt x="53365" y="79616"/>
                      <a:pt x="2921" y="61354"/>
                      <a:pt x="267" y="31420"/>
                    </a:cubicBezTo>
                    <a:lnTo>
                      <a:pt x="63" y="30137"/>
                    </a:lnTo>
                    <a:lnTo>
                      <a:pt x="0" y="28816"/>
                    </a:lnTo>
                    <a:close/>
                  </a:path>
                </a:pathLst>
              </a:custGeom>
              <a:solidFill>
                <a:srgbClr val="5F6368"/>
              </a:solidFill>
              <a:ln>
                <a:noFill/>
              </a:ln>
            </p:spPr>
          </p:sp>
          <p:sp>
            <p:nvSpPr>
              <p:cNvPr id="103" name="Freeform 103"/>
              <p:cNvSpPr/>
              <p:nvPr/>
            </p:nvSpPr>
            <p:spPr>
              <a:xfrm>
                <a:off x="7867649" y="1892300"/>
                <a:ext cx="228601" cy="101600"/>
              </a:xfrm>
              <a:custGeom>
                <a:avLst/>
                <a:gdLst/>
                <a:ahLst/>
                <a:cxnLst/>
                <a:rect l="l" t="t" r="r" b="b"/>
                <a:pathLst>
                  <a:path w="228601" h="101600">
                    <a:moveTo>
                      <a:pt x="114301" y="0"/>
                    </a:moveTo>
                    <a:cubicBezTo>
                      <a:pt x="127522" y="0"/>
                      <a:pt x="140260" y="864"/>
                      <a:pt x="152109" y="2515"/>
                    </a:cubicBezTo>
                    <a:lnTo>
                      <a:pt x="158065" y="3416"/>
                    </a:lnTo>
                    <a:cubicBezTo>
                      <a:pt x="165177" y="4602"/>
                      <a:pt x="171891" y="6075"/>
                      <a:pt x="178207" y="7836"/>
                    </a:cubicBezTo>
                    <a:lnTo>
                      <a:pt x="183795" y="9500"/>
                    </a:lnTo>
                    <a:lnTo>
                      <a:pt x="184748" y="9804"/>
                    </a:lnTo>
                    <a:cubicBezTo>
                      <a:pt x="188204" y="10941"/>
                      <a:pt x="191614" y="12212"/>
                      <a:pt x="194971" y="13614"/>
                    </a:cubicBezTo>
                    <a:lnTo>
                      <a:pt x="197499" y="14707"/>
                    </a:lnTo>
                    <a:cubicBezTo>
                      <a:pt x="202028" y="16756"/>
                      <a:pt x="206122" y="18999"/>
                      <a:pt x="209780" y="21438"/>
                    </a:cubicBezTo>
                    <a:cubicBezTo>
                      <a:pt x="211177" y="22369"/>
                      <a:pt x="212502" y="23321"/>
                      <a:pt x="213755" y="24295"/>
                    </a:cubicBezTo>
                    <a:cubicBezTo>
                      <a:pt x="216929" y="26758"/>
                      <a:pt x="219783" y="29608"/>
                      <a:pt x="222251" y="32779"/>
                    </a:cubicBezTo>
                    <a:lnTo>
                      <a:pt x="223407" y="34404"/>
                    </a:lnTo>
                    <a:cubicBezTo>
                      <a:pt x="223999" y="35293"/>
                      <a:pt x="224545" y="36187"/>
                      <a:pt x="225045" y="37084"/>
                    </a:cubicBezTo>
                    <a:lnTo>
                      <a:pt x="225934" y="38849"/>
                    </a:lnTo>
                    <a:cubicBezTo>
                      <a:pt x="227314" y="41813"/>
                      <a:pt x="228161" y="44903"/>
                      <a:pt x="228474" y="48120"/>
                    </a:cubicBezTo>
                    <a:lnTo>
                      <a:pt x="228601" y="50800"/>
                    </a:lnTo>
                    <a:cubicBezTo>
                      <a:pt x="228601" y="82258"/>
                      <a:pt x="177014" y="101600"/>
                      <a:pt x="114301" y="101600"/>
                    </a:cubicBezTo>
                    <a:cubicBezTo>
                      <a:pt x="53366" y="101600"/>
                      <a:pt x="2922" y="83337"/>
                      <a:pt x="268" y="53404"/>
                    </a:cubicBezTo>
                    <a:cubicBezTo>
                      <a:pt x="89" y="52547"/>
                      <a:pt x="0" y="51675"/>
                      <a:pt x="1" y="50800"/>
                    </a:cubicBezTo>
                    <a:lnTo>
                      <a:pt x="64" y="49479"/>
                    </a:lnTo>
                    <a:lnTo>
                      <a:pt x="268" y="48209"/>
                    </a:lnTo>
                    <a:cubicBezTo>
                      <a:pt x="2871" y="18923"/>
                      <a:pt x="51195" y="800"/>
                      <a:pt x="110339" y="25"/>
                    </a:cubicBezTo>
                    <a:close/>
                  </a:path>
                </a:pathLst>
              </a:custGeom>
              <a:solidFill>
                <a:srgbClr val="5F6368"/>
              </a:solidFill>
              <a:ln>
                <a:noFill/>
              </a:ln>
            </p:spPr>
          </p:sp>
        </p:grpSp>
        <p:sp>
          <p:nvSpPr>
            <p:cNvPr id="105" name="TextBox 105"/>
            <p:cNvSpPr txBox="1"/>
            <p:nvPr/>
          </p:nvSpPr>
          <p:spPr>
            <a:xfrm>
              <a:off x="8233410" y="1813560"/>
              <a:ext cx="2422779" cy="243840"/>
            </a:xfrm>
            <a:prstGeom prst="rect">
              <a:avLst/>
            </a:prstGeom>
            <a:noFill/>
            <a:ln>
              <a:noFill/>
            </a:ln>
          </p:spPr>
          <p:txBody>
            <a:bodyPr wrap="none" lIns="0" tIns="0" rIns="0" bIns="0" anchor="t" anchorCtr="0">
              <a:spAutoFit/>
            </a:bodyPr>
            <a:lstStyle/>
            <a:p>
              <a:pPr algn="l"/>
              <a:r>
                <a:rPr lang="zh-CN" sz="1200" b="1" dirty="0">
                  <a:solidFill>
                    <a:srgbClr val="1F2328"/>
                  </a:solidFill>
                  <a:latin typeface="Arial"/>
                  <a:ea typeface="SimHei"/>
                  <a:cs typeface="Arial"/>
                </a:rPr>
                <a:t>向量知识库（长期记忆中心）</a:t>
              </a:r>
            </a:p>
          </p:txBody>
        </p:sp>
        <p:sp>
          <p:nvSpPr>
            <p:cNvPr id="106" name="TextBox 106"/>
            <p:cNvSpPr txBox="1"/>
            <p:nvPr/>
          </p:nvSpPr>
          <p:spPr>
            <a:xfrm>
              <a:off x="8238172" y="2054066"/>
              <a:ext cx="2310289"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SimHei"/>
                  <a:cs typeface="Arial"/>
                </a:rPr>
                <a:t>用户画像、历史交互、推理轨迹、分行范式</a:t>
              </a:r>
            </a:p>
          </p:txBody>
        </p:sp>
        <p:sp>
          <p:nvSpPr>
            <p:cNvPr id="107" name="TextBox 107"/>
            <p:cNvSpPr txBox="1"/>
            <p:nvPr/>
          </p:nvSpPr>
          <p:spPr>
            <a:xfrm>
              <a:off x="8238172" y="2206466"/>
              <a:ext cx="1466850"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SimHei"/>
                  <a:cs typeface="Arial"/>
                </a:rPr>
                <a:t>支撑多轮检索与报告个性化</a:t>
              </a:r>
            </a:p>
          </p:txBody>
        </p:sp>
      </p:grpSp>
      <p:sp>
        <p:nvSpPr>
          <p:cNvPr id="109" name="Freeform 109"/>
          <p:cNvSpPr/>
          <p:nvPr/>
        </p:nvSpPr>
        <p:spPr>
          <a:xfrm>
            <a:off x="7124700" y="3009900"/>
            <a:ext cx="514350" cy="1809750"/>
          </a:xfrm>
          <a:custGeom>
            <a:avLst/>
            <a:gdLst/>
            <a:ahLst/>
            <a:cxnLst/>
            <a:rect l="l" t="t" r="r" b="b"/>
            <a:pathLst>
              <a:path w="514350" h="1809750">
                <a:moveTo>
                  <a:pt x="0" y="1809750"/>
                </a:moveTo>
                <a:cubicBezTo>
                  <a:pt x="247650" y="1809750"/>
                  <a:pt x="247650" y="0"/>
                  <a:pt x="514350" y="0"/>
                </a:cubicBezTo>
              </a:path>
            </a:pathLst>
          </a:custGeom>
          <a:noFill/>
          <a:ln w="20002">
            <a:solidFill>
              <a:srgbClr val="A50021"/>
            </a:solidFill>
            <a:tailEnd type="triangle" w="lg" len="lg"/>
          </a:ln>
        </p:spPr>
      </p:sp>
      <p:sp>
        <p:nvSpPr>
          <p:cNvPr id="110" name="Freeform 110"/>
          <p:cNvSpPr/>
          <p:nvPr/>
        </p:nvSpPr>
        <p:spPr>
          <a:xfrm>
            <a:off x="7124700" y="4533900"/>
            <a:ext cx="514350" cy="285750"/>
          </a:xfrm>
          <a:custGeom>
            <a:avLst/>
            <a:gdLst/>
            <a:ahLst/>
            <a:cxnLst/>
            <a:rect l="l" t="t" r="r" b="b"/>
            <a:pathLst>
              <a:path w="514350" h="285750">
                <a:moveTo>
                  <a:pt x="0" y="285750"/>
                </a:moveTo>
                <a:cubicBezTo>
                  <a:pt x="247650" y="285750"/>
                  <a:pt x="247650" y="0"/>
                  <a:pt x="514350" y="0"/>
                </a:cubicBezTo>
              </a:path>
            </a:pathLst>
          </a:custGeom>
          <a:noFill/>
          <a:ln w="20002">
            <a:solidFill>
              <a:srgbClr val="1967D2"/>
            </a:solidFill>
            <a:tailEnd type="triangle" w="lg" len="lg"/>
          </a:ln>
        </p:spPr>
      </p:sp>
      <p:sp>
        <p:nvSpPr>
          <p:cNvPr id="113" name="Rectangle 113"/>
          <p:cNvSpPr/>
          <p:nvPr/>
        </p:nvSpPr>
        <p:spPr>
          <a:xfrm>
            <a:off x="7639050" y="2609850"/>
            <a:ext cx="3790950" cy="1276350"/>
          </a:xfrm>
          <a:prstGeom prst="roundRect">
            <a:avLst>
              <a:gd name="adj" fmla="val 7463"/>
            </a:avLst>
          </a:prstGeom>
          <a:solidFill>
            <a:srgbClr val="F6E8EC"/>
          </a:solidFill>
          <a:ln w="13335">
            <a:solidFill>
              <a:srgbClr val="A50021"/>
            </a:solidFill>
            <a:custDash>
              <a:ds d="428571" sp="285714"/>
            </a:custDash>
          </a:ln>
        </p:spPr>
      </p:sp>
      <p:sp>
        <p:nvSpPr>
          <p:cNvPr id="114" name="TextBox 114"/>
          <p:cNvSpPr txBox="1"/>
          <p:nvPr/>
        </p:nvSpPr>
        <p:spPr>
          <a:xfrm>
            <a:off x="7853362" y="2717006"/>
            <a:ext cx="1063704" cy="228600"/>
          </a:xfrm>
          <a:prstGeom prst="rect">
            <a:avLst/>
          </a:prstGeom>
          <a:noFill/>
          <a:ln>
            <a:noFill/>
          </a:ln>
        </p:spPr>
        <p:txBody>
          <a:bodyPr wrap="none" lIns="0" tIns="0" rIns="0" bIns="0" anchor="t" anchorCtr="0">
            <a:spAutoFit/>
          </a:bodyPr>
          <a:lstStyle/>
          <a:p>
            <a:pPr algn="l"/>
            <a:r>
              <a:rPr lang="zh-CN" sz="1125" b="1" dirty="0">
                <a:solidFill>
                  <a:srgbClr val="A50021"/>
                </a:solidFill>
                <a:latin typeface="Arial"/>
                <a:ea typeface="SimHei"/>
                <a:cs typeface="Arial"/>
              </a:rPr>
              <a:t>可疑交易路径</a:t>
            </a:r>
          </a:p>
        </p:txBody>
      </p:sp>
      <p:sp>
        <p:nvSpPr>
          <p:cNvPr id="115" name="Freeform 115"/>
          <p:cNvSpPr/>
          <p:nvPr/>
        </p:nvSpPr>
        <p:spPr>
          <a:xfrm>
            <a:off x="7870824" y="3101803"/>
            <a:ext cx="233994" cy="234907"/>
          </a:xfrm>
          <a:custGeom>
            <a:avLst/>
            <a:gdLst/>
            <a:ahLst/>
            <a:cxnLst/>
            <a:rect l="l" t="t" r="r" b="b"/>
            <a:pathLst>
              <a:path w="233994" h="234907">
                <a:moveTo>
                  <a:pt x="166689" y="19868"/>
                </a:moveTo>
                <a:cubicBezTo>
                  <a:pt x="213392" y="46833"/>
                  <a:pt x="233994" y="103437"/>
                  <a:pt x="215549" y="154113"/>
                </a:cubicBezTo>
                <a:cubicBezTo>
                  <a:pt x="197104" y="204790"/>
                  <a:pt x="144937" y="234907"/>
                  <a:pt x="91828" y="225542"/>
                </a:cubicBezTo>
                <a:cubicBezTo>
                  <a:pt x="38719" y="216176"/>
                  <a:pt x="0" y="170031"/>
                  <a:pt x="1" y="116103"/>
                </a:cubicBezTo>
                <a:lnTo>
                  <a:pt x="57" y="112502"/>
                </a:lnTo>
                <a:cubicBezTo>
                  <a:pt x="1323" y="73464"/>
                  <a:pt x="22991" y="37956"/>
                  <a:pt x="57130" y="18978"/>
                </a:cubicBezTo>
                <a:cubicBezTo>
                  <a:pt x="91268" y="0"/>
                  <a:pt x="132863" y="338"/>
                  <a:pt x="166689" y="19868"/>
                </a:cubicBezTo>
                <a:close/>
                <a:moveTo>
                  <a:pt x="150631" y="62407"/>
                </a:moveTo>
                <a:cubicBezTo>
                  <a:pt x="148179" y="60771"/>
                  <a:pt x="145178" y="60176"/>
                  <a:pt x="142287" y="60753"/>
                </a:cubicBezTo>
                <a:cubicBezTo>
                  <a:pt x="139397" y="61331"/>
                  <a:pt x="136854" y="63033"/>
                  <a:pt x="135218" y="65485"/>
                </a:cubicBezTo>
                <a:lnTo>
                  <a:pt x="111126" y="101612"/>
                </a:lnTo>
                <a:lnTo>
                  <a:pt x="87034" y="65496"/>
                </a:lnTo>
                <a:cubicBezTo>
                  <a:pt x="83910" y="60804"/>
                  <a:pt x="77768" y="59194"/>
                  <a:pt x="72744" y="61751"/>
                </a:cubicBezTo>
                <a:lnTo>
                  <a:pt x="71633" y="62407"/>
                </a:lnTo>
                <a:cubicBezTo>
                  <a:pt x="69178" y="64041"/>
                  <a:pt x="67474" y="66583"/>
                  <a:pt x="66895" y="69474"/>
                </a:cubicBezTo>
                <a:cubicBezTo>
                  <a:pt x="66315" y="72364"/>
                  <a:pt x="66908" y="75367"/>
                  <a:pt x="68543" y="77820"/>
                </a:cubicBezTo>
                <a:lnTo>
                  <a:pt x="94058" y="116103"/>
                </a:lnTo>
                <a:lnTo>
                  <a:pt x="77789" y="116103"/>
                </a:lnTo>
                <a:cubicBezTo>
                  <a:pt x="72155" y="116103"/>
                  <a:pt x="67413" y="120320"/>
                  <a:pt x="66754" y="125915"/>
                </a:cubicBezTo>
                <a:lnTo>
                  <a:pt x="66676" y="127215"/>
                </a:lnTo>
                <a:cubicBezTo>
                  <a:pt x="66676" y="133352"/>
                  <a:pt x="71652" y="138328"/>
                  <a:pt x="77789" y="138328"/>
                </a:cubicBezTo>
                <a:lnTo>
                  <a:pt x="100014" y="138328"/>
                </a:lnTo>
                <a:lnTo>
                  <a:pt x="100014" y="171665"/>
                </a:lnTo>
                <a:cubicBezTo>
                  <a:pt x="100015" y="177299"/>
                  <a:pt x="104231" y="182041"/>
                  <a:pt x="109826" y="182700"/>
                </a:cubicBezTo>
                <a:lnTo>
                  <a:pt x="111126" y="182778"/>
                </a:lnTo>
                <a:lnTo>
                  <a:pt x="112427" y="182700"/>
                </a:lnTo>
                <a:cubicBezTo>
                  <a:pt x="118022" y="182041"/>
                  <a:pt x="122238" y="177299"/>
                  <a:pt x="122239" y="171665"/>
                </a:cubicBezTo>
                <a:lnTo>
                  <a:pt x="122239" y="138328"/>
                </a:lnTo>
                <a:lnTo>
                  <a:pt x="144464" y="138328"/>
                </a:lnTo>
                <a:cubicBezTo>
                  <a:pt x="150098" y="138327"/>
                  <a:pt x="154839" y="134110"/>
                  <a:pt x="155499" y="128515"/>
                </a:cubicBezTo>
                <a:lnTo>
                  <a:pt x="155576" y="127215"/>
                </a:lnTo>
                <a:cubicBezTo>
                  <a:pt x="155576" y="121078"/>
                  <a:pt x="150601" y="116103"/>
                  <a:pt x="144464" y="116103"/>
                </a:cubicBezTo>
                <a:lnTo>
                  <a:pt x="128184" y="116103"/>
                </a:lnTo>
                <a:lnTo>
                  <a:pt x="153709" y="77820"/>
                </a:lnTo>
                <a:cubicBezTo>
                  <a:pt x="156840" y="73130"/>
                  <a:pt x="155961" y="66838"/>
                  <a:pt x="151665" y="63185"/>
                </a:cubicBezTo>
                <a:lnTo>
                  <a:pt x="150631" y="62407"/>
                </a:lnTo>
                <a:close/>
              </a:path>
            </a:pathLst>
          </a:custGeom>
          <a:solidFill>
            <a:srgbClr val="F6A11A"/>
          </a:solidFill>
          <a:ln>
            <a:noFill/>
          </a:ln>
        </p:spPr>
      </p:sp>
      <p:sp>
        <p:nvSpPr>
          <p:cNvPr id="117" name="TextBox 117"/>
          <p:cNvSpPr txBox="1"/>
          <p:nvPr/>
        </p:nvSpPr>
        <p:spPr>
          <a:xfrm>
            <a:off x="8154953" y="3150007"/>
            <a:ext cx="461665" cy="138499"/>
          </a:xfrm>
          <a:prstGeom prst="rect">
            <a:avLst/>
          </a:prstGeom>
          <a:noFill/>
          <a:ln>
            <a:noFill/>
          </a:ln>
        </p:spPr>
        <p:txBody>
          <a:bodyPr wrap="square" lIns="0" tIns="0" rIns="0" bIns="0" anchor="t" anchorCtr="0">
            <a:spAutoFit/>
          </a:bodyPr>
          <a:lstStyle/>
          <a:p>
            <a:pPr algn="l"/>
            <a:r>
              <a:rPr lang="zh-CN" altLang="en-US" sz="900" b="1" dirty="0">
                <a:solidFill>
                  <a:srgbClr val="1F2328"/>
                </a:solidFill>
                <a:latin typeface="Arial"/>
                <a:ea typeface="SimHei"/>
                <a:cs typeface="Arial"/>
              </a:rPr>
              <a:t>可疑交易</a:t>
            </a:r>
            <a:endParaRPr lang="zh-CN" sz="900" b="1" dirty="0">
              <a:solidFill>
                <a:srgbClr val="1F2328"/>
              </a:solidFill>
              <a:latin typeface="Arial"/>
              <a:ea typeface="SimHei"/>
              <a:cs typeface="Arial"/>
            </a:endParaRPr>
          </a:p>
        </p:txBody>
      </p:sp>
      <p:sp>
        <p:nvSpPr>
          <p:cNvPr id="118" name="Line 118"/>
          <p:cNvSpPr/>
          <p:nvPr/>
        </p:nvSpPr>
        <p:spPr>
          <a:xfrm flipV="1">
            <a:off x="8701088" y="3219257"/>
            <a:ext cx="423862" cy="194"/>
          </a:xfrm>
          <a:prstGeom prst="line">
            <a:avLst/>
          </a:prstGeom>
          <a:noFill/>
          <a:ln w="19050">
            <a:solidFill>
              <a:srgbClr val="A50021"/>
            </a:solidFill>
            <a:tailEnd type="triangle" w="lg" len="lg"/>
          </a:ln>
        </p:spPr>
      </p:sp>
      <p:sp>
        <p:nvSpPr>
          <p:cNvPr id="119" name="Rectangle 119"/>
          <p:cNvSpPr/>
          <p:nvPr/>
        </p:nvSpPr>
        <p:spPr>
          <a:xfrm>
            <a:off x="9163050" y="2990850"/>
            <a:ext cx="1066800" cy="457200"/>
          </a:xfrm>
          <a:prstGeom prst="roundRect">
            <a:avLst>
              <a:gd name="adj" fmla="val 16667"/>
            </a:avLst>
          </a:prstGeom>
          <a:solidFill>
            <a:srgbClr val="FFFFFF"/>
          </a:solidFill>
          <a:ln w="9525">
            <a:solidFill>
              <a:srgbClr val="A50021"/>
            </a:solidFill>
          </a:ln>
        </p:spPr>
      </p:sp>
      <p:sp>
        <p:nvSpPr>
          <p:cNvPr id="120" name="TextBox 120"/>
          <p:cNvSpPr txBox="1"/>
          <p:nvPr/>
        </p:nvSpPr>
        <p:spPr>
          <a:xfrm>
            <a:off x="9213044" y="3082766"/>
            <a:ext cx="966811" cy="167640"/>
          </a:xfrm>
          <a:prstGeom prst="rect">
            <a:avLst/>
          </a:prstGeom>
          <a:noFill/>
          <a:ln>
            <a:noFill/>
          </a:ln>
        </p:spPr>
        <p:txBody>
          <a:bodyPr wrap="none" lIns="0" tIns="0" rIns="0" bIns="0" anchor="t" anchorCtr="0">
            <a:spAutoFit/>
          </a:bodyPr>
          <a:lstStyle/>
          <a:p>
            <a:pPr algn="ctr"/>
            <a:r>
              <a:rPr lang="zh-CN" sz="825" dirty="0">
                <a:solidFill>
                  <a:srgbClr val="1F2328"/>
                </a:solidFill>
                <a:latin typeface="Arial"/>
                <a:ea typeface="SimHei"/>
                <a:cs typeface="Arial"/>
              </a:rPr>
              <a:t>使用 ML top 特征</a:t>
            </a:r>
          </a:p>
        </p:txBody>
      </p:sp>
      <p:sp>
        <p:nvSpPr>
          <p:cNvPr id="121" name="TextBox 121"/>
          <p:cNvSpPr txBox="1"/>
          <p:nvPr/>
        </p:nvSpPr>
        <p:spPr>
          <a:xfrm>
            <a:off x="9444990" y="3244691"/>
            <a:ext cx="502920" cy="167640"/>
          </a:xfrm>
          <a:prstGeom prst="rect">
            <a:avLst/>
          </a:prstGeom>
          <a:noFill/>
          <a:ln>
            <a:noFill/>
          </a:ln>
        </p:spPr>
        <p:txBody>
          <a:bodyPr wrap="none" lIns="0" tIns="0" rIns="0" bIns="0" anchor="t" anchorCtr="0">
            <a:spAutoFit/>
          </a:bodyPr>
          <a:lstStyle/>
          <a:p>
            <a:pPr algn="ctr"/>
            <a:r>
              <a:rPr lang="zh-CN" sz="825" dirty="0">
                <a:solidFill>
                  <a:srgbClr val="1F2328"/>
                </a:solidFill>
                <a:latin typeface="Arial"/>
                <a:ea typeface="SimHei"/>
                <a:cs typeface="Arial"/>
              </a:rPr>
              <a:t>解释原因</a:t>
            </a:r>
          </a:p>
        </p:txBody>
      </p:sp>
      <p:sp>
        <p:nvSpPr>
          <p:cNvPr id="122" name="Line 122"/>
          <p:cNvSpPr/>
          <p:nvPr/>
        </p:nvSpPr>
        <p:spPr>
          <a:xfrm>
            <a:off x="10229850" y="3219450"/>
            <a:ext cx="266700" cy="1"/>
          </a:xfrm>
          <a:prstGeom prst="line">
            <a:avLst/>
          </a:prstGeom>
          <a:noFill/>
          <a:ln w="19050">
            <a:solidFill>
              <a:srgbClr val="A50021"/>
            </a:solidFill>
            <a:tailEnd type="triangle" w="lg" len="lg"/>
          </a:ln>
        </p:spPr>
      </p:sp>
      <p:sp>
        <p:nvSpPr>
          <p:cNvPr id="123" name="Freeform 123"/>
          <p:cNvSpPr/>
          <p:nvPr/>
        </p:nvSpPr>
        <p:spPr>
          <a:xfrm>
            <a:off x="10601322" y="3005138"/>
            <a:ext cx="190505" cy="238125"/>
          </a:xfrm>
          <a:custGeom>
            <a:avLst/>
            <a:gdLst/>
            <a:ahLst/>
            <a:cxnLst/>
            <a:rect l="l" t="t" r="r" b="b"/>
            <a:pathLst>
              <a:path w="190505" h="238125">
                <a:moveTo>
                  <a:pt x="166654" y="25837"/>
                </a:moveTo>
                <a:cubicBezTo>
                  <a:pt x="180946" y="30872"/>
                  <a:pt x="190505" y="44378"/>
                  <a:pt x="190503" y="59531"/>
                </a:cubicBezTo>
                <a:lnTo>
                  <a:pt x="190503" y="202406"/>
                </a:lnTo>
                <a:cubicBezTo>
                  <a:pt x="190503" y="222133"/>
                  <a:pt x="174511" y="238125"/>
                  <a:pt x="154784" y="238125"/>
                </a:cubicBezTo>
                <a:lnTo>
                  <a:pt x="35721" y="238125"/>
                </a:lnTo>
                <a:cubicBezTo>
                  <a:pt x="15994" y="238125"/>
                  <a:pt x="3" y="222133"/>
                  <a:pt x="3" y="202406"/>
                </a:cubicBezTo>
                <a:lnTo>
                  <a:pt x="3" y="59531"/>
                </a:lnTo>
                <a:cubicBezTo>
                  <a:pt x="0" y="44378"/>
                  <a:pt x="9559" y="30872"/>
                  <a:pt x="23851" y="25837"/>
                </a:cubicBezTo>
                <a:cubicBezTo>
                  <a:pt x="24935" y="51332"/>
                  <a:pt x="45922" y="71441"/>
                  <a:pt x="71440" y="71438"/>
                </a:cubicBezTo>
                <a:lnTo>
                  <a:pt x="119065" y="71438"/>
                </a:lnTo>
                <a:cubicBezTo>
                  <a:pt x="143511" y="71440"/>
                  <a:pt x="163989" y="52933"/>
                  <a:pt x="166452" y="28611"/>
                </a:cubicBezTo>
                <a:close/>
                <a:moveTo>
                  <a:pt x="59534" y="107156"/>
                </a:moveTo>
                <a:cubicBezTo>
                  <a:pt x="52958" y="107156"/>
                  <a:pt x="47628" y="112487"/>
                  <a:pt x="47628" y="119062"/>
                </a:cubicBezTo>
                <a:lnTo>
                  <a:pt x="47628" y="178594"/>
                </a:lnTo>
                <a:cubicBezTo>
                  <a:pt x="47628" y="185169"/>
                  <a:pt x="52958" y="190500"/>
                  <a:pt x="59534" y="190500"/>
                </a:cubicBezTo>
                <a:cubicBezTo>
                  <a:pt x="66109" y="190500"/>
                  <a:pt x="71440" y="185169"/>
                  <a:pt x="71440" y="178594"/>
                </a:cubicBezTo>
                <a:lnTo>
                  <a:pt x="71440" y="119062"/>
                </a:lnTo>
                <a:cubicBezTo>
                  <a:pt x="71440" y="112487"/>
                  <a:pt x="66109" y="107156"/>
                  <a:pt x="59534" y="107156"/>
                </a:cubicBezTo>
                <a:moveTo>
                  <a:pt x="95253" y="154781"/>
                </a:moveTo>
                <a:cubicBezTo>
                  <a:pt x="88677" y="154781"/>
                  <a:pt x="83346" y="160112"/>
                  <a:pt x="83346" y="166688"/>
                </a:cubicBezTo>
                <a:lnTo>
                  <a:pt x="83346" y="178594"/>
                </a:lnTo>
                <a:cubicBezTo>
                  <a:pt x="83346" y="185169"/>
                  <a:pt x="88677" y="190500"/>
                  <a:pt x="95253" y="190500"/>
                </a:cubicBezTo>
                <a:cubicBezTo>
                  <a:pt x="101828" y="190500"/>
                  <a:pt x="107159" y="185169"/>
                  <a:pt x="107159" y="178594"/>
                </a:cubicBezTo>
                <a:lnTo>
                  <a:pt x="107159" y="166688"/>
                </a:lnTo>
                <a:cubicBezTo>
                  <a:pt x="107159" y="160112"/>
                  <a:pt x="101828" y="154781"/>
                  <a:pt x="95253" y="154781"/>
                </a:cubicBezTo>
                <a:moveTo>
                  <a:pt x="130971" y="130969"/>
                </a:moveTo>
                <a:cubicBezTo>
                  <a:pt x="124396" y="130969"/>
                  <a:pt x="119065" y="136299"/>
                  <a:pt x="119065" y="142875"/>
                </a:cubicBezTo>
                <a:lnTo>
                  <a:pt x="119065" y="178594"/>
                </a:lnTo>
                <a:cubicBezTo>
                  <a:pt x="119065" y="185169"/>
                  <a:pt x="124396" y="190500"/>
                  <a:pt x="130971" y="190500"/>
                </a:cubicBezTo>
                <a:cubicBezTo>
                  <a:pt x="137547" y="190500"/>
                  <a:pt x="142878" y="185169"/>
                  <a:pt x="142878" y="178594"/>
                </a:cubicBezTo>
                <a:lnTo>
                  <a:pt x="142878" y="142875"/>
                </a:lnTo>
                <a:cubicBezTo>
                  <a:pt x="142878" y="136299"/>
                  <a:pt x="137547" y="130969"/>
                  <a:pt x="130971" y="130969"/>
                </a:cubicBezTo>
                <a:moveTo>
                  <a:pt x="119065" y="0"/>
                </a:moveTo>
                <a:cubicBezTo>
                  <a:pt x="132216" y="0"/>
                  <a:pt x="142878" y="10661"/>
                  <a:pt x="142878" y="23812"/>
                </a:cubicBezTo>
                <a:cubicBezTo>
                  <a:pt x="142878" y="36964"/>
                  <a:pt x="132216" y="47625"/>
                  <a:pt x="119065" y="47625"/>
                </a:cubicBezTo>
                <a:lnTo>
                  <a:pt x="71440" y="47625"/>
                </a:lnTo>
                <a:cubicBezTo>
                  <a:pt x="58289" y="47625"/>
                  <a:pt x="47628" y="36964"/>
                  <a:pt x="47628" y="23812"/>
                </a:cubicBezTo>
                <a:cubicBezTo>
                  <a:pt x="47628" y="10661"/>
                  <a:pt x="58289" y="0"/>
                  <a:pt x="71440" y="0"/>
                </a:cubicBezTo>
                <a:close/>
              </a:path>
            </a:pathLst>
          </a:custGeom>
          <a:solidFill>
            <a:srgbClr val="A50021"/>
          </a:solidFill>
          <a:ln>
            <a:noFill/>
          </a:ln>
        </p:spPr>
      </p:sp>
      <p:sp>
        <p:nvSpPr>
          <p:cNvPr id="124" name="TextBox 124"/>
          <p:cNvSpPr txBox="1"/>
          <p:nvPr/>
        </p:nvSpPr>
        <p:spPr>
          <a:xfrm>
            <a:off x="10316075" y="3330416"/>
            <a:ext cx="780050" cy="167640"/>
          </a:xfrm>
          <a:prstGeom prst="rect">
            <a:avLst/>
          </a:prstGeom>
          <a:noFill/>
          <a:ln>
            <a:noFill/>
          </a:ln>
        </p:spPr>
        <p:txBody>
          <a:bodyPr wrap="none" lIns="0" tIns="0" rIns="0" bIns="0" anchor="t" anchorCtr="0">
            <a:spAutoFit/>
          </a:bodyPr>
          <a:lstStyle/>
          <a:p>
            <a:pPr algn="ctr"/>
            <a:r>
              <a:rPr lang="zh-CN" sz="825" b="1" dirty="0">
                <a:solidFill>
                  <a:srgbClr val="1F2328"/>
                </a:solidFill>
                <a:latin typeface="Arial"/>
                <a:ea typeface="SimHei"/>
                <a:cs typeface="Arial"/>
              </a:rPr>
              <a:t>可疑交易报告</a:t>
            </a:r>
          </a:p>
        </p:txBody>
      </p:sp>
      <p:sp>
        <p:nvSpPr>
          <p:cNvPr id="125" name="TextBox 125"/>
          <p:cNvSpPr txBox="1"/>
          <p:nvPr/>
        </p:nvSpPr>
        <p:spPr>
          <a:xfrm>
            <a:off x="7858125" y="3595688"/>
            <a:ext cx="2209800" cy="152400"/>
          </a:xfrm>
          <a:prstGeom prst="rect">
            <a:avLst/>
          </a:prstGeom>
          <a:noFill/>
          <a:ln>
            <a:noFill/>
          </a:ln>
        </p:spPr>
        <p:txBody>
          <a:bodyPr wrap="none" lIns="0" tIns="0" rIns="0" bIns="0" anchor="t" anchorCtr="0">
            <a:spAutoFit/>
          </a:bodyPr>
          <a:lstStyle/>
          <a:p>
            <a:pPr algn="l"/>
            <a:r>
              <a:rPr lang="zh-CN" sz="750" dirty="0">
                <a:solidFill>
                  <a:srgbClr val="5F6368"/>
                </a:solidFill>
                <a:latin typeface="Arial"/>
                <a:ea typeface="SimHei"/>
                <a:cs typeface="Arial"/>
              </a:rPr>
              <a:t>结合分行撰写习惯、历史类似案例、推理轨迹</a:t>
            </a:r>
          </a:p>
        </p:txBody>
      </p:sp>
      <p:sp>
        <p:nvSpPr>
          <p:cNvPr id="153" name="Line 153"/>
          <p:cNvSpPr/>
          <p:nvPr/>
        </p:nvSpPr>
        <p:spPr>
          <a:xfrm>
            <a:off x="10706101" y="3622834"/>
            <a:ext cx="0" cy="1825465"/>
          </a:xfrm>
          <a:prstGeom prst="line">
            <a:avLst/>
          </a:prstGeom>
          <a:noFill/>
          <a:ln w="17145">
            <a:solidFill>
              <a:srgbClr val="A50021"/>
            </a:solidFill>
            <a:tailEnd type="triangle" w="lg" len="lg"/>
          </a:ln>
        </p:spPr>
      </p:sp>
      <p:grpSp>
        <p:nvGrpSpPr>
          <p:cNvPr id="149" name="Group 149"/>
          <p:cNvGrpSpPr/>
          <p:nvPr/>
        </p:nvGrpSpPr>
        <p:grpSpPr>
          <a:xfrm>
            <a:off x="7639050" y="4198620"/>
            <a:ext cx="3790950" cy="895350"/>
            <a:chOff x="7639050" y="4419600"/>
            <a:chExt cx="3790950" cy="895350"/>
          </a:xfrm>
        </p:grpSpPr>
        <p:sp>
          <p:nvSpPr>
            <p:cNvPr id="137" name="Rectangle 137"/>
            <p:cNvSpPr/>
            <p:nvPr/>
          </p:nvSpPr>
          <p:spPr>
            <a:xfrm>
              <a:off x="7639050" y="4419600"/>
              <a:ext cx="3790950" cy="895350"/>
            </a:xfrm>
            <a:prstGeom prst="roundRect">
              <a:avLst>
                <a:gd name="adj" fmla="val 10638"/>
              </a:avLst>
            </a:prstGeom>
            <a:solidFill>
              <a:srgbClr val="EAF3FF"/>
            </a:solidFill>
            <a:ln w="13335">
              <a:solidFill>
                <a:srgbClr val="1967D2"/>
              </a:solidFill>
              <a:custDash>
                <a:ds d="428571" sp="285714"/>
              </a:custDash>
            </a:ln>
          </p:spPr>
        </p:sp>
        <p:sp>
          <p:nvSpPr>
            <p:cNvPr id="138" name="TextBox 138"/>
            <p:cNvSpPr txBox="1"/>
            <p:nvPr/>
          </p:nvSpPr>
          <p:spPr>
            <a:xfrm>
              <a:off x="7853362" y="4526756"/>
              <a:ext cx="1063704" cy="228600"/>
            </a:xfrm>
            <a:prstGeom prst="rect">
              <a:avLst/>
            </a:prstGeom>
            <a:noFill/>
            <a:ln>
              <a:noFill/>
            </a:ln>
          </p:spPr>
          <p:txBody>
            <a:bodyPr wrap="none" lIns="0" tIns="0" rIns="0" bIns="0" anchor="t" anchorCtr="0">
              <a:spAutoFit/>
            </a:bodyPr>
            <a:lstStyle/>
            <a:p>
              <a:pPr algn="l"/>
              <a:r>
                <a:rPr lang="zh-CN" sz="1125" b="1" dirty="0">
                  <a:solidFill>
                    <a:srgbClr val="1967D2"/>
                  </a:solidFill>
                  <a:latin typeface="Arial"/>
                  <a:ea typeface="SimHei"/>
                  <a:cs typeface="Arial"/>
                </a:rPr>
                <a:t>关闭交易路径</a:t>
              </a:r>
            </a:p>
          </p:txBody>
        </p:sp>
        <p:sp>
          <p:nvSpPr>
            <p:cNvPr id="139" name="Freeform 139"/>
            <p:cNvSpPr/>
            <p:nvPr/>
          </p:nvSpPr>
          <p:spPr>
            <a:xfrm>
              <a:off x="7869236" y="4854715"/>
              <a:ext cx="217281" cy="218128"/>
            </a:xfrm>
            <a:custGeom>
              <a:avLst/>
              <a:gdLst/>
              <a:ahLst/>
              <a:cxnLst/>
              <a:rect l="l" t="t" r="r" b="b"/>
              <a:pathLst>
                <a:path w="217281" h="218128">
                  <a:moveTo>
                    <a:pt x="154783" y="18449"/>
                  </a:moveTo>
                  <a:cubicBezTo>
                    <a:pt x="198150" y="43488"/>
                    <a:pt x="217281" y="96049"/>
                    <a:pt x="200153" y="143105"/>
                  </a:cubicBezTo>
                  <a:cubicBezTo>
                    <a:pt x="183025" y="190162"/>
                    <a:pt x="134584" y="218128"/>
                    <a:pt x="85269" y="209432"/>
                  </a:cubicBezTo>
                  <a:cubicBezTo>
                    <a:pt x="35953" y="200735"/>
                    <a:pt x="0" y="157886"/>
                    <a:pt x="1" y="107810"/>
                  </a:cubicBezTo>
                  <a:lnTo>
                    <a:pt x="53" y="104466"/>
                  </a:lnTo>
                  <a:cubicBezTo>
                    <a:pt x="1228" y="68216"/>
                    <a:pt x="21349" y="35245"/>
                    <a:pt x="53049" y="17623"/>
                  </a:cubicBezTo>
                  <a:cubicBezTo>
                    <a:pt x="84749" y="0"/>
                    <a:pt x="123373" y="314"/>
                    <a:pt x="154783" y="18449"/>
                  </a:cubicBezTo>
                  <a:close/>
                  <a:moveTo>
                    <a:pt x="139872" y="57949"/>
                  </a:moveTo>
                  <a:cubicBezTo>
                    <a:pt x="137595" y="56430"/>
                    <a:pt x="134808" y="55878"/>
                    <a:pt x="132124" y="56414"/>
                  </a:cubicBezTo>
                  <a:cubicBezTo>
                    <a:pt x="129440" y="56950"/>
                    <a:pt x="127078" y="58531"/>
                    <a:pt x="125560" y="60808"/>
                  </a:cubicBezTo>
                  <a:lnTo>
                    <a:pt x="103189" y="94354"/>
                  </a:lnTo>
                  <a:lnTo>
                    <a:pt x="80818" y="60818"/>
                  </a:lnTo>
                  <a:cubicBezTo>
                    <a:pt x="77917" y="56461"/>
                    <a:pt x="72213" y="54966"/>
                    <a:pt x="67548" y="57341"/>
                  </a:cubicBezTo>
                  <a:lnTo>
                    <a:pt x="66516" y="57949"/>
                  </a:lnTo>
                  <a:cubicBezTo>
                    <a:pt x="64237" y="59466"/>
                    <a:pt x="62654" y="61827"/>
                    <a:pt x="62116" y="64511"/>
                  </a:cubicBezTo>
                  <a:cubicBezTo>
                    <a:pt x="61578" y="67195"/>
                    <a:pt x="62129" y="69983"/>
                    <a:pt x="63647" y="72262"/>
                  </a:cubicBezTo>
                  <a:lnTo>
                    <a:pt x="87339" y="107810"/>
                  </a:lnTo>
                  <a:lnTo>
                    <a:pt x="72233" y="107810"/>
                  </a:lnTo>
                  <a:cubicBezTo>
                    <a:pt x="67001" y="107810"/>
                    <a:pt x="62598" y="111726"/>
                    <a:pt x="61986" y="116921"/>
                  </a:cubicBezTo>
                  <a:lnTo>
                    <a:pt x="61914" y="118128"/>
                  </a:lnTo>
                  <a:cubicBezTo>
                    <a:pt x="61914" y="123827"/>
                    <a:pt x="66534" y="128447"/>
                    <a:pt x="72233" y="128447"/>
                  </a:cubicBezTo>
                  <a:lnTo>
                    <a:pt x="92870" y="128447"/>
                  </a:lnTo>
                  <a:lnTo>
                    <a:pt x="92870" y="159403"/>
                  </a:lnTo>
                  <a:cubicBezTo>
                    <a:pt x="92871" y="164635"/>
                    <a:pt x="96786" y="169038"/>
                    <a:pt x="101981" y="169650"/>
                  </a:cubicBezTo>
                  <a:lnTo>
                    <a:pt x="103189" y="169722"/>
                  </a:lnTo>
                  <a:lnTo>
                    <a:pt x="104396" y="169650"/>
                  </a:lnTo>
                  <a:cubicBezTo>
                    <a:pt x="109591" y="169038"/>
                    <a:pt x="113507" y="164635"/>
                    <a:pt x="113508" y="159403"/>
                  </a:cubicBezTo>
                  <a:lnTo>
                    <a:pt x="113508" y="128447"/>
                  </a:lnTo>
                  <a:lnTo>
                    <a:pt x="134145" y="128447"/>
                  </a:lnTo>
                  <a:cubicBezTo>
                    <a:pt x="139376" y="128446"/>
                    <a:pt x="143779" y="124531"/>
                    <a:pt x="144392" y="119336"/>
                  </a:cubicBezTo>
                  <a:lnTo>
                    <a:pt x="144464" y="118128"/>
                  </a:lnTo>
                  <a:cubicBezTo>
                    <a:pt x="144464" y="112430"/>
                    <a:pt x="139844" y="107810"/>
                    <a:pt x="134145" y="107810"/>
                  </a:cubicBezTo>
                  <a:lnTo>
                    <a:pt x="119028" y="107810"/>
                  </a:lnTo>
                  <a:lnTo>
                    <a:pt x="142730" y="72262"/>
                  </a:lnTo>
                  <a:cubicBezTo>
                    <a:pt x="145637" y="67906"/>
                    <a:pt x="144821" y="62064"/>
                    <a:pt x="140832" y="58672"/>
                  </a:cubicBezTo>
                  <a:lnTo>
                    <a:pt x="139872" y="57949"/>
                  </a:lnTo>
                  <a:close/>
                </a:path>
              </a:pathLst>
            </a:custGeom>
            <a:solidFill>
              <a:srgbClr val="5F6368"/>
            </a:solidFill>
            <a:ln>
              <a:noFill/>
            </a:ln>
          </p:spPr>
        </p:sp>
        <p:sp>
          <p:nvSpPr>
            <p:cNvPr id="140" name="TextBox 140"/>
            <p:cNvSpPr txBox="1"/>
            <p:nvPr/>
          </p:nvSpPr>
          <p:spPr>
            <a:xfrm>
              <a:off x="8151643" y="4895656"/>
              <a:ext cx="461665" cy="138499"/>
            </a:xfrm>
            <a:prstGeom prst="rect">
              <a:avLst/>
            </a:prstGeom>
            <a:noFill/>
            <a:ln>
              <a:noFill/>
            </a:ln>
          </p:spPr>
          <p:txBody>
            <a:bodyPr wrap="none" lIns="0" tIns="0" rIns="0" bIns="0" anchor="t" anchorCtr="0">
              <a:spAutoFit/>
            </a:bodyPr>
            <a:lstStyle/>
            <a:p>
              <a:pPr algn="l"/>
              <a:r>
                <a:rPr lang="zh-CN" altLang="en-US" sz="900" b="1" dirty="0">
                  <a:solidFill>
                    <a:srgbClr val="1F2328"/>
                  </a:solidFill>
                  <a:latin typeface="Arial"/>
                  <a:ea typeface="SimHei"/>
                  <a:cs typeface="Arial"/>
                </a:rPr>
                <a:t>关闭</a:t>
              </a:r>
              <a:r>
                <a:rPr lang="zh-CN" sz="900" b="1" dirty="0">
                  <a:solidFill>
                    <a:srgbClr val="1F2328"/>
                  </a:solidFill>
                  <a:latin typeface="Arial"/>
                  <a:ea typeface="SimHei"/>
                  <a:cs typeface="Arial"/>
                </a:rPr>
                <a:t>交易</a:t>
              </a:r>
            </a:p>
          </p:txBody>
        </p:sp>
        <p:sp>
          <p:nvSpPr>
            <p:cNvPr id="141" name="Line 141"/>
            <p:cNvSpPr/>
            <p:nvPr/>
          </p:nvSpPr>
          <p:spPr>
            <a:xfrm>
              <a:off x="8651408" y="4953001"/>
              <a:ext cx="397342" cy="0"/>
            </a:xfrm>
            <a:prstGeom prst="line">
              <a:avLst/>
            </a:prstGeom>
            <a:noFill/>
            <a:ln w="19050">
              <a:solidFill>
                <a:srgbClr val="1967D2"/>
              </a:solidFill>
              <a:tailEnd type="triangle" w="lg" len="lg"/>
            </a:ln>
          </p:spPr>
        </p:sp>
        <p:sp>
          <p:nvSpPr>
            <p:cNvPr id="142" name="Rectangle 142"/>
            <p:cNvSpPr/>
            <p:nvPr/>
          </p:nvSpPr>
          <p:spPr>
            <a:xfrm>
              <a:off x="9086850" y="4762500"/>
              <a:ext cx="990600" cy="381000"/>
            </a:xfrm>
            <a:prstGeom prst="roundRect">
              <a:avLst>
                <a:gd name="adj" fmla="val 20000"/>
              </a:avLst>
            </a:prstGeom>
            <a:solidFill>
              <a:srgbClr val="FFFFFF"/>
            </a:solidFill>
            <a:ln w="9525">
              <a:solidFill>
                <a:srgbClr val="1967D2"/>
              </a:solidFill>
            </a:ln>
          </p:spPr>
        </p:sp>
        <p:sp>
          <p:nvSpPr>
            <p:cNvPr id="143" name="TextBox 143"/>
            <p:cNvSpPr txBox="1"/>
            <p:nvPr/>
          </p:nvSpPr>
          <p:spPr>
            <a:xfrm>
              <a:off x="9244012" y="4843462"/>
              <a:ext cx="676275" cy="152400"/>
            </a:xfrm>
            <a:prstGeom prst="rect">
              <a:avLst/>
            </a:prstGeom>
            <a:noFill/>
            <a:ln>
              <a:noFill/>
            </a:ln>
          </p:spPr>
          <p:txBody>
            <a:bodyPr wrap="none" lIns="0" tIns="0" rIns="0" bIns="0" anchor="t" anchorCtr="0">
              <a:spAutoFit/>
            </a:bodyPr>
            <a:lstStyle/>
            <a:p>
              <a:pPr algn="ctr"/>
              <a:r>
                <a:rPr lang="zh-CN" sz="750" dirty="0">
                  <a:solidFill>
                    <a:srgbClr val="1F2328"/>
                  </a:solidFill>
                  <a:latin typeface="Arial"/>
                  <a:ea typeface="SimHei"/>
                  <a:cs typeface="Arial"/>
                </a:rPr>
                <a:t>不能直接使用</a:t>
              </a:r>
            </a:p>
          </p:txBody>
        </p:sp>
        <p:sp>
          <p:nvSpPr>
            <p:cNvPr id="144" name="TextBox 144"/>
            <p:cNvSpPr txBox="1"/>
            <p:nvPr/>
          </p:nvSpPr>
          <p:spPr>
            <a:xfrm>
              <a:off x="9191982" y="4986338"/>
              <a:ext cx="780336" cy="152400"/>
            </a:xfrm>
            <a:prstGeom prst="rect">
              <a:avLst/>
            </a:prstGeom>
            <a:noFill/>
            <a:ln>
              <a:noFill/>
            </a:ln>
          </p:spPr>
          <p:txBody>
            <a:bodyPr wrap="none" lIns="0" tIns="0" rIns="0" bIns="0" anchor="t" anchorCtr="0">
              <a:spAutoFit/>
            </a:bodyPr>
            <a:lstStyle/>
            <a:p>
              <a:pPr algn="ctr"/>
              <a:r>
                <a:rPr lang="zh-CN" sz="750" dirty="0">
                  <a:solidFill>
                    <a:srgbClr val="1F2328"/>
                  </a:solidFill>
                  <a:latin typeface="Arial"/>
                  <a:ea typeface="SimHei"/>
                  <a:cs typeface="Arial"/>
                </a:rPr>
                <a:t>top 特征写报告</a:t>
              </a:r>
            </a:p>
          </p:txBody>
        </p:sp>
        <p:sp>
          <p:nvSpPr>
            <p:cNvPr id="145" name="Line 145"/>
            <p:cNvSpPr/>
            <p:nvPr/>
          </p:nvSpPr>
          <p:spPr>
            <a:xfrm>
              <a:off x="10077450" y="4953000"/>
              <a:ext cx="190500" cy="1"/>
            </a:xfrm>
            <a:prstGeom prst="line">
              <a:avLst/>
            </a:prstGeom>
            <a:noFill/>
            <a:ln w="19050">
              <a:solidFill>
                <a:srgbClr val="1967D2"/>
              </a:solidFill>
              <a:tailEnd type="triangle" w="lg" len="lg"/>
            </a:ln>
          </p:spPr>
        </p:sp>
        <p:sp>
          <p:nvSpPr>
            <p:cNvPr id="146" name="Rectangle 146"/>
            <p:cNvSpPr/>
            <p:nvPr/>
          </p:nvSpPr>
          <p:spPr>
            <a:xfrm>
              <a:off x="10306050" y="4762500"/>
              <a:ext cx="914400" cy="381000"/>
            </a:xfrm>
            <a:prstGeom prst="roundRect">
              <a:avLst>
                <a:gd name="adj" fmla="val 20000"/>
              </a:avLst>
            </a:prstGeom>
            <a:solidFill>
              <a:srgbClr val="FFFFFF"/>
            </a:solidFill>
            <a:ln w="9525">
              <a:solidFill>
                <a:srgbClr val="1967D2"/>
              </a:solidFill>
            </a:ln>
          </p:spPr>
        </p:sp>
        <p:sp>
          <p:nvSpPr>
            <p:cNvPr id="147" name="TextBox 147"/>
            <p:cNvSpPr txBox="1"/>
            <p:nvPr/>
          </p:nvSpPr>
          <p:spPr>
            <a:xfrm>
              <a:off x="10425112" y="4843462"/>
              <a:ext cx="676275" cy="152400"/>
            </a:xfrm>
            <a:prstGeom prst="rect">
              <a:avLst/>
            </a:prstGeom>
            <a:noFill/>
            <a:ln>
              <a:noFill/>
            </a:ln>
          </p:spPr>
          <p:txBody>
            <a:bodyPr wrap="none" lIns="0" tIns="0" rIns="0" bIns="0" anchor="t" anchorCtr="0">
              <a:spAutoFit/>
            </a:bodyPr>
            <a:lstStyle/>
            <a:p>
              <a:pPr algn="ctr"/>
              <a:r>
                <a:rPr lang="zh-CN" sz="750" dirty="0">
                  <a:solidFill>
                    <a:srgbClr val="1F2328"/>
                  </a:solidFill>
                  <a:latin typeface="Arial"/>
                  <a:ea typeface="SimHei"/>
                  <a:cs typeface="Arial"/>
                </a:rPr>
                <a:t>检索关闭范式</a:t>
              </a:r>
            </a:p>
          </p:txBody>
        </p:sp>
        <p:sp>
          <p:nvSpPr>
            <p:cNvPr id="148" name="TextBox 148"/>
            <p:cNvSpPr txBox="1"/>
            <p:nvPr/>
          </p:nvSpPr>
          <p:spPr>
            <a:xfrm>
              <a:off x="10479881" y="4986338"/>
              <a:ext cx="566737" cy="152400"/>
            </a:xfrm>
            <a:prstGeom prst="rect">
              <a:avLst/>
            </a:prstGeom>
            <a:noFill/>
            <a:ln>
              <a:noFill/>
            </a:ln>
          </p:spPr>
          <p:txBody>
            <a:bodyPr wrap="none" lIns="0" tIns="0" rIns="0" bIns="0" anchor="t" anchorCtr="0">
              <a:spAutoFit/>
            </a:bodyPr>
            <a:lstStyle/>
            <a:p>
              <a:pPr algn="ctr"/>
              <a:r>
                <a:rPr lang="zh-CN" sz="750" dirty="0">
                  <a:solidFill>
                    <a:srgbClr val="1F2328"/>
                  </a:solidFill>
                  <a:latin typeface="Arial"/>
                  <a:ea typeface="SimHei"/>
                  <a:cs typeface="Arial"/>
                </a:rPr>
                <a:t>找到驳斥点</a:t>
              </a:r>
            </a:p>
          </p:txBody>
        </p:sp>
      </p:grpSp>
      <p:sp>
        <p:nvSpPr>
          <p:cNvPr id="150" name="Rectangle 150"/>
          <p:cNvSpPr/>
          <p:nvPr/>
        </p:nvSpPr>
        <p:spPr>
          <a:xfrm>
            <a:off x="8610600" y="5467350"/>
            <a:ext cx="2343150" cy="361950"/>
          </a:xfrm>
          <a:prstGeom prst="roundRect">
            <a:avLst>
              <a:gd name="adj" fmla="val 50000"/>
            </a:avLst>
          </a:prstGeom>
          <a:solidFill>
            <a:srgbClr val="A50021"/>
          </a:solidFill>
          <a:ln>
            <a:noFill/>
          </a:ln>
        </p:spPr>
      </p:sp>
      <p:sp>
        <p:nvSpPr>
          <p:cNvPr id="151" name="Freeform 151"/>
          <p:cNvSpPr/>
          <p:nvPr/>
        </p:nvSpPr>
        <p:spPr>
          <a:xfrm>
            <a:off x="8818562" y="5569744"/>
            <a:ext cx="174625" cy="166302"/>
          </a:xfrm>
          <a:custGeom>
            <a:avLst/>
            <a:gdLst/>
            <a:ahLst/>
            <a:cxnLst/>
            <a:rect l="l" t="t" r="r" b="b"/>
            <a:pathLst>
              <a:path w="174625" h="166302">
                <a:moveTo>
                  <a:pt x="139700" y="0"/>
                </a:moveTo>
                <a:cubicBezTo>
                  <a:pt x="158989" y="0"/>
                  <a:pt x="174625" y="15636"/>
                  <a:pt x="174625" y="34925"/>
                </a:cubicBezTo>
                <a:lnTo>
                  <a:pt x="174625" y="104775"/>
                </a:lnTo>
                <a:cubicBezTo>
                  <a:pt x="174625" y="124064"/>
                  <a:pt x="158989" y="139700"/>
                  <a:pt x="139700" y="139700"/>
                </a:cubicBezTo>
                <a:lnTo>
                  <a:pt x="98454" y="139700"/>
                </a:lnTo>
                <a:lnTo>
                  <a:pt x="56875" y="164645"/>
                </a:lnTo>
                <a:cubicBezTo>
                  <a:pt x="54331" y="166172"/>
                  <a:pt x="51185" y="166302"/>
                  <a:pt x="48524" y="164991"/>
                </a:cubicBezTo>
                <a:cubicBezTo>
                  <a:pt x="45862" y="163679"/>
                  <a:pt x="44048" y="161106"/>
                  <a:pt x="43709" y="158158"/>
                </a:cubicBezTo>
                <a:lnTo>
                  <a:pt x="43656" y="157162"/>
                </a:lnTo>
                <a:lnTo>
                  <a:pt x="43656" y="139700"/>
                </a:lnTo>
                <a:lnTo>
                  <a:pt x="34925" y="139700"/>
                </a:lnTo>
                <a:cubicBezTo>
                  <a:pt x="16315" y="139700"/>
                  <a:pt x="974" y="125108"/>
                  <a:pt x="44" y="106521"/>
                </a:cubicBezTo>
                <a:lnTo>
                  <a:pt x="0" y="104775"/>
                </a:lnTo>
                <a:lnTo>
                  <a:pt x="0" y="34925"/>
                </a:lnTo>
                <a:cubicBezTo>
                  <a:pt x="0" y="15636"/>
                  <a:pt x="15636" y="0"/>
                  <a:pt x="34925" y="0"/>
                </a:cubicBezTo>
                <a:close/>
                <a:moveTo>
                  <a:pt x="87312" y="87312"/>
                </a:moveTo>
                <a:cubicBezTo>
                  <a:pt x="82490" y="87312"/>
                  <a:pt x="78581" y="91222"/>
                  <a:pt x="78581" y="96044"/>
                </a:cubicBezTo>
                <a:lnTo>
                  <a:pt x="78581" y="96131"/>
                </a:lnTo>
                <a:cubicBezTo>
                  <a:pt x="78581" y="100953"/>
                  <a:pt x="82490" y="104862"/>
                  <a:pt x="87312" y="104862"/>
                </a:cubicBezTo>
                <a:cubicBezTo>
                  <a:pt x="92135" y="104862"/>
                  <a:pt x="96044" y="100953"/>
                  <a:pt x="96044" y="96131"/>
                </a:cubicBezTo>
                <a:lnTo>
                  <a:pt x="96044" y="96044"/>
                </a:lnTo>
                <a:cubicBezTo>
                  <a:pt x="96044" y="91222"/>
                  <a:pt x="92135" y="87312"/>
                  <a:pt x="87312" y="87312"/>
                </a:cubicBezTo>
                <a:moveTo>
                  <a:pt x="87312" y="34925"/>
                </a:moveTo>
                <a:cubicBezTo>
                  <a:pt x="82490" y="34925"/>
                  <a:pt x="78581" y="38834"/>
                  <a:pt x="78581" y="43656"/>
                </a:cubicBezTo>
                <a:lnTo>
                  <a:pt x="78581" y="69850"/>
                </a:lnTo>
                <a:cubicBezTo>
                  <a:pt x="78581" y="74672"/>
                  <a:pt x="82490" y="78581"/>
                  <a:pt x="87312" y="78581"/>
                </a:cubicBezTo>
                <a:cubicBezTo>
                  <a:pt x="92135" y="78581"/>
                  <a:pt x="96044" y="74672"/>
                  <a:pt x="96044" y="69850"/>
                </a:cubicBezTo>
                <a:lnTo>
                  <a:pt x="96044" y="43656"/>
                </a:lnTo>
                <a:cubicBezTo>
                  <a:pt x="96044" y="38834"/>
                  <a:pt x="92135" y="34925"/>
                  <a:pt x="87312" y="34925"/>
                </a:cubicBezTo>
              </a:path>
            </a:pathLst>
          </a:custGeom>
          <a:solidFill>
            <a:srgbClr val="FFFFFF"/>
          </a:solidFill>
          <a:ln>
            <a:noFill/>
          </a:ln>
        </p:spPr>
      </p:sp>
      <p:sp>
        <p:nvSpPr>
          <p:cNvPr id="152" name="TextBox 152"/>
          <p:cNvSpPr txBox="1"/>
          <p:nvPr/>
        </p:nvSpPr>
        <p:spPr>
          <a:xfrm>
            <a:off x="9111615" y="5592128"/>
            <a:ext cx="1636871"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SimHei"/>
                <a:cs typeface="Arial"/>
              </a:rPr>
              <a:t>生成个性化反洗钱报告</a:t>
            </a:r>
          </a:p>
        </p:txBody>
      </p:sp>
      <p:sp>
        <p:nvSpPr>
          <p:cNvPr id="154" name="Line 154"/>
          <p:cNvSpPr/>
          <p:nvPr/>
        </p:nvSpPr>
        <p:spPr>
          <a:xfrm>
            <a:off x="10763251" y="4917758"/>
            <a:ext cx="0" cy="530542"/>
          </a:xfrm>
          <a:prstGeom prst="line">
            <a:avLst/>
          </a:prstGeom>
          <a:noFill/>
          <a:ln w="17145">
            <a:solidFill>
              <a:srgbClr val="1967D2"/>
            </a:solidFill>
            <a:tailEnd type="triangle" w="lg" len="lg"/>
          </a:ln>
        </p:spPr>
      </p:sp>
      <p:sp>
        <p:nvSpPr>
          <p:cNvPr id="157" name="Line 157"/>
          <p:cNvSpPr/>
          <p:nvPr/>
        </p:nvSpPr>
        <p:spPr>
          <a:xfrm>
            <a:off x="685800" y="6286500"/>
            <a:ext cx="10820400" cy="9525"/>
          </a:xfrm>
          <a:custGeom>
            <a:avLst/>
            <a:gdLst/>
            <a:ahLst/>
            <a:cxnLst/>
            <a:rect l="l" t="t" r="r" b="b"/>
            <a:pathLst>
              <a:path w="10820400" h="9525">
                <a:moveTo>
                  <a:pt x="0" y="0"/>
                </a:moveTo>
                <a:lnTo>
                  <a:pt x="10820400" y="0"/>
                </a:lnTo>
              </a:path>
            </a:pathLst>
          </a:custGeom>
          <a:noFill/>
          <a:ln w="11430">
            <a:solidFill>
              <a:srgbClr val="E4E7EB"/>
            </a:solidFill>
          </a:ln>
        </p:spPr>
      </p:sp>
      <p:sp>
        <p:nvSpPr>
          <p:cNvPr id="158" name="TextBox 158"/>
          <p:cNvSpPr txBox="1"/>
          <p:nvPr/>
        </p:nvSpPr>
        <p:spPr>
          <a:xfrm>
            <a:off x="5948482" y="6458902"/>
            <a:ext cx="295037"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Arial"/>
                <a:ea typeface="SimHei"/>
                <a:cs typeface="Arial"/>
              </a:rPr>
              <a:t>1 / 1</a:t>
            </a:r>
          </a:p>
        </p:txBody>
      </p:sp>
      <p:sp>
        <p:nvSpPr>
          <p:cNvPr id="94" name="Line 94"/>
          <p:cNvSpPr/>
          <p:nvPr/>
        </p:nvSpPr>
        <p:spPr>
          <a:xfrm>
            <a:off x="7124700" y="1962150"/>
            <a:ext cx="323850" cy="1"/>
          </a:xfrm>
          <a:prstGeom prst="line">
            <a:avLst/>
          </a:prstGeom>
          <a:noFill/>
          <a:ln w="20955">
            <a:solidFill>
              <a:srgbClr val="A50021"/>
            </a:solidFill>
            <a:tailEnd type="triangle" w="lg" len="lg"/>
          </a:ln>
        </p:spPr>
      </p:sp>
      <p:sp>
        <p:nvSpPr>
          <p:cNvPr id="95" name="TextBox 95"/>
          <p:cNvSpPr txBox="1"/>
          <p:nvPr/>
        </p:nvSpPr>
        <p:spPr>
          <a:xfrm>
            <a:off x="6948488" y="1766888"/>
            <a:ext cx="676275" cy="152400"/>
          </a:xfrm>
          <a:prstGeom prst="rect">
            <a:avLst/>
          </a:prstGeom>
          <a:noFill/>
          <a:ln>
            <a:noFill/>
          </a:ln>
        </p:spPr>
        <p:txBody>
          <a:bodyPr wrap="none" lIns="0" tIns="0" rIns="0" bIns="0" anchor="t" anchorCtr="0">
            <a:spAutoFit/>
          </a:bodyPr>
          <a:lstStyle/>
          <a:p>
            <a:pPr algn="ctr"/>
            <a:r>
              <a:rPr lang="zh-CN" sz="750" dirty="0">
                <a:solidFill>
                  <a:srgbClr val="A50021"/>
                </a:solidFill>
                <a:latin typeface="Arial"/>
                <a:ea typeface="SimHei"/>
                <a:cs typeface="Arial"/>
              </a:rPr>
              <a:t>长期记忆检索</a:t>
            </a:r>
          </a:p>
        </p:txBody>
      </p:sp>
      <p:sp>
        <p:nvSpPr>
          <p:cNvPr id="96" name="Line 96"/>
          <p:cNvSpPr/>
          <p:nvPr/>
        </p:nvSpPr>
        <p:spPr>
          <a:xfrm flipH="1">
            <a:off x="7124700" y="2247900"/>
            <a:ext cx="323850" cy="1"/>
          </a:xfrm>
          <a:prstGeom prst="line">
            <a:avLst/>
          </a:prstGeom>
          <a:noFill/>
          <a:ln w="20955">
            <a:solidFill>
              <a:srgbClr val="1967D2"/>
            </a:solidFill>
            <a:tailEnd type="triangle" w="lg" len="lg"/>
          </a:ln>
        </p:spPr>
      </p:sp>
      <p:sp>
        <p:nvSpPr>
          <p:cNvPr id="97" name="TextBox 97"/>
          <p:cNvSpPr txBox="1"/>
          <p:nvPr/>
        </p:nvSpPr>
        <p:spPr>
          <a:xfrm>
            <a:off x="6948488" y="2347912"/>
            <a:ext cx="676275" cy="152400"/>
          </a:xfrm>
          <a:prstGeom prst="rect">
            <a:avLst/>
          </a:prstGeom>
          <a:noFill/>
          <a:ln>
            <a:noFill/>
          </a:ln>
        </p:spPr>
        <p:txBody>
          <a:bodyPr wrap="none" lIns="0" tIns="0" rIns="0" bIns="0" anchor="t" anchorCtr="0">
            <a:spAutoFit/>
          </a:bodyPr>
          <a:lstStyle/>
          <a:p>
            <a:pPr algn="ctr"/>
            <a:r>
              <a:rPr lang="zh-CN" sz="750" dirty="0">
                <a:solidFill>
                  <a:srgbClr val="1967D2"/>
                </a:solidFill>
                <a:latin typeface="Arial"/>
                <a:ea typeface="SimHei"/>
                <a:cs typeface="Arial"/>
              </a:rPr>
              <a:t>业务状态维持</a:t>
            </a:r>
          </a:p>
        </p:txBody>
      </p:sp>
      <p:sp>
        <p:nvSpPr>
          <p:cNvPr id="111" name="TextBox 111"/>
          <p:cNvSpPr txBox="1"/>
          <p:nvPr/>
        </p:nvSpPr>
        <p:spPr>
          <a:xfrm>
            <a:off x="7143750" y="4857750"/>
            <a:ext cx="566737" cy="152400"/>
          </a:xfrm>
          <a:prstGeom prst="rect">
            <a:avLst/>
          </a:prstGeom>
          <a:noFill/>
          <a:ln>
            <a:noFill/>
          </a:ln>
        </p:spPr>
        <p:txBody>
          <a:bodyPr wrap="none" lIns="0" tIns="0" rIns="0" bIns="0" anchor="t" anchorCtr="0">
            <a:spAutoFit/>
          </a:bodyPr>
          <a:lstStyle/>
          <a:p>
            <a:pPr algn="l"/>
            <a:r>
              <a:rPr lang="zh-CN" sz="750" dirty="0">
                <a:solidFill>
                  <a:srgbClr val="5F6368"/>
                </a:solidFill>
                <a:latin typeface="Arial"/>
                <a:ea typeface="SimHei"/>
                <a:cs typeface="Arial"/>
              </a:rPr>
              <a:t>智能体分流</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3"/>
          <p:cNvPicPr>
            <a:picLocks noChangeAspect="1"/>
          </p:cNvPicPr>
          <p:nvPr/>
        </p:nvPicPr>
        <p:blipFill>
          <a:blip r:embed="rId3"/>
          <a:stretch>
            <a:fillRect/>
          </a:stretch>
        </p:blipFill>
        <p:spPr>
          <a:xfrm>
            <a:off x="9709785" y="419100"/>
            <a:ext cx="2012632" cy="571500"/>
          </a:xfrm>
          <a:prstGeom prst="rect">
            <a:avLst/>
          </a:prstGeom>
        </p:spPr>
      </p:pic>
      <p:sp>
        <p:nvSpPr>
          <p:cNvPr id="4" name="pageTitle"/>
          <p:cNvSpPr txBox="1"/>
          <p:nvPr/>
        </p:nvSpPr>
        <p:spPr>
          <a:xfrm>
            <a:off x="657225" y="519112"/>
            <a:ext cx="2127409" cy="457200"/>
          </a:xfrm>
          <a:prstGeom prst="rect">
            <a:avLst/>
          </a:prstGeom>
          <a:noFill/>
          <a:ln>
            <a:noFill/>
          </a:ln>
        </p:spPr>
        <p:txBody>
          <a:bodyPr wrap="none" lIns="0" tIns="0" rIns="0" bIns="0" anchor="t" anchorCtr="0">
            <a:spAutoFit/>
          </a:bodyPr>
          <a:lstStyle/>
          <a:p>
            <a:pPr algn="l"/>
            <a:r>
              <a:rPr lang="zh-CN" sz="2250" b="1" dirty="0">
                <a:solidFill>
                  <a:srgbClr val="1F2328"/>
                </a:solidFill>
                <a:latin typeface="Arial"/>
                <a:ea typeface="SimHei"/>
                <a:cs typeface="Arial"/>
              </a:rPr>
              <a:t>知识库的演进</a:t>
            </a:r>
          </a:p>
        </p:txBody>
      </p:sp>
      <p:sp>
        <p:nvSpPr>
          <p:cNvPr id="5" name="Line 5"/>
          <p:cNvSpPr/>
          <p:nvPr/>
        </p:nvSpPr>
        <p:spPr>
          <a:xfrm>
            <a:off x="685800" y="933450"/>
            <a:ext cx="2171700" cy="1"/>
          </a:xfrm>
          <a:prstGeom prst="line">
            <a:avLst/>
          </a:prstGeom>
          <a:noFill/>
          <a:ln w="28575">
            <a:solidFill>
              <a:srgbClr val="A50021"/>
            </a:solidFill>
          </a:ln>
        </p:spPr>
      </p:sp>
      <p:sp>
        <p:nvSpPr>
          <p:cNvPr id="7" name="Rectangle 7"/>
          <p:cNvSpPr/>
          <p:nvPr/>
        </p:nvSpPr>
        <p:spPr>
          <a:xfrm>
            <a:off x="685800" y="1143000"/>
            <a:ext cx="10820400" cy="438150"/>
          </a:xfrm>
          <a:prstGeom prst="roundRect">
            <a:avLst>
              <a:gd name="adj" fmla="val 17391"/>
            </a:avLst>
          </a:prstGeom>
          <a:solidFill>
            <a:srgbClr val="F8F9FA"/>
          </a:solidFill>
          <a:ln w="9525">
            <a:solidFill>
              <a:srgbClr val="E4E7EB"/>
            </a:solidFill>
          </a:ln>
        </p:spPr>
      </p:sp>
      <p:sp>
        <p:nvSpPr>
          <p:cNvPr id="8" name="Rectangle 8"/>
          <p:cNvSpPr/>
          <p:nvPr/>
        </p:nvSpPr>
        <p:spPr>
          <a:xfrm>
            <a:off x="685800" y="1143000"/>
            <a:ext cx="57150" cy="438150"/>
          </a:xfrm>
          <a:prstGeom prst="roundRect">
            <a:avLst>
              <a:gd name="adj" fmla="val 50000"/>
            </a:avLst>
          </a:prstGeom>
          <a:solidFill>
            <a:srgbClr val="A50021"/>
          </a:solidFill>
          <a:ln>
            <a:noFill/>
          </a:ln>
        </p:spPr>
      </p:sp>
      <p:sp>
        <p:nvSpPr>
          <p:cNvPr id="9" name="TextBox 9"/>
          <p:cNvSpPr txBox="1"/>
          <p:nvPr/>
        </p:nvSpPr>
        <p:spPr>
          <a:xfrm>
            <a:off x="899160" y="1289685"/>
            <a:ext cx="7060159" cy="243840"/>
          </a:xfrm>
          <a:prstGeom prst="rect">
            <a:avLst/>
          </a:prstGeom>
          <a:noFill/>
          <a:ln>
            <a:noFill/>
          </a:ln>
        </p:spPr>
        <p:txBody>
          <a:bodyPr wrap="none" lIns="0" tIns="0" rIns="0" bIns="0" anchor="t" anchorCtr="0">
            <a:spAutoFit/>
          </a:bodyPr>
          <a:lstStyle/>
          <a:p>
            <a:pPr algn="l"/>
            <a:r>
              <a:rPr lang="zh-CN" sz="1200" b="1" dirty="0">
                <a:solidFill>
                  <a:srgbClr val="1F2328"/>
                </a:solidFill>
                <a:latin typeface="Arial"/>
                <a:ea typeface="Microsoft YaHei"/>
                <a:cs typeface="Arial"/>
              </a:rPr>
              <a:t>核心结论：知识库正在从“人写规则、机器检索”演进为“机器理解语义、按意图召回”。</a:t>
            </a:r>
          </a:p>
        </p:txBody>
      </p:sp>
      <p:sp>
        <p:nvSpPr>
          <p:cNvPr id="11" name="Line 11"/>
          <p:cNvSpPr/>
          <p:nvPr/>
        </p:nvSpPr>
        <p:spPr>
          <a:xfrm>
            <a:off x="1524000" y="1866900"/>
            <a:ext cx="9144000" cy="1"/>
          </a:xfrm>
          <a:prstGeom prst="line">
            <a:avLst/>
          </a:prstGeom>
          <a:noFill/>
          <a:ln w="38100" cap="rnd">
            <a:solidFill>
              <a:srgbClr val="D8DEE6"/>
            </a:solidFill>
          </a:ln>
        </p:spPr>
      </p:sp>
      <p:sp>
        <p:nvSpPr>
          <p:cNvPr id="12" name="Line 12"/>
          <p:cNvSpPr/>
          <p:nvPr/>
        </p:nvSpPr>
        <p:spPr>
          <a:xfrm>
            <a:off x="1524000" y="1866900"/>
            <a:ext cx="9144000" cy="1"/>
          </a:xfrm>
          <a:prstGeom prst="line">
            <a:avLst/>
          </a:prstGeom>
          <a:noFill/>
          <a:ln w="38100" cap="rnd">
            <a:solidFill>
              <a:srgbClr val="A50021"/>
            </a:solidFill>
            <a:custDash>
              <a:ds d="200000" sp="200000"/>
            </a:custDash>
          </a:ln>
        </p:spPr>
      </p:sp>
      <p:sp>
        <p:nvSpPr>
          <p:cNvPr id="13" name="Ellipse 13"/>
          <p:cNvSpPr/>
          <p:nvPr/>
        </p:nvSpPr>
        <p:spPr>
          <a:xfrm>
            <a:off x="2219325" y="1704975"/>
            <a:ext cx="323850" cy="323850"/>
          </a:xfrm>
          <a:prstGeom prst="ellipse">
            <a:avLst/>
          </a:prstGeom>
          <a:solidFill>
            <a:srgbClr val="FFFFFF"/>
          </a:solidFill>
          <a:ln w="28575">
            <a:solidFill>
              <a:srgbClr val="5F6368"/>
            </a:solidFill>
          </a:ln>
        </p:spPr>
      </p:sp>
      <p:sp>
        <p:nvSpPr>
          <p:cNvPr id="14" name="Ellipse 14"/>
          <p:cNvSpPr/>
          <p:nvPr/>
        </p:nvSpPr>
        <p:spPr>
          <a:xfrm>
            <a:off x="5915025" y="1704975"/>
            <a:ext cx="323850" cy="323850"/>
          </a:xfrm>
          <a:prstGeom prst="ellipse">
            <a:avLst/>
          </a:prstGeom>
          <a:solidFill>
            <a:srgbClr val="FFFFFF"/>
          </a:solidFill>
          <a:ln w="28575">
            <a:solidFill>
              <a:srgbClr val="B08A3C"/>
            </a:solidFill>
          </a:ln>
        </p:spPr>
      </p:sp>
      <p:sp>
        <p:nvSpPr>
          <p:cNvPr id="15" name="Ellipse 15"/>
          <p:cNvSpPr/>
          <p:nvPr/>
        </p:nvSpPr>
        <p:spPr>
          <a:xfrm>
            <a:off x="9591675" y="1685925"/>
            <a:ext cx="361950" cy="361950"/>
          </a:xfrm>
          <a:prstGeom prst="ellipse">
            <a:avLst/>
          </a:prstGeom>
          <a:solidFill>
            <a:srgbClr val="A50021"/>
          </a:solidFill>
          <a:ln w="28575">
            <a:solidFill>
              <a:srgbClr val="A50021"/>
            </a:solidFill>
          </a:ln>
        </p:spPr>
      </p:sp>
      <p:sp>
        <p:nvSpPr>
          <p:cNvPr id="16" name="Line 16"/>
          <p:cNvSpPr/>
          <p:nvPr/>
        </p:nvSpPr>
        <p:spPr>
          <a:xfrm>
            <a:off x="2762250" y="1866900"/>
            <a:ext cx="2933700" cy="1"/>
          </a:xfrm>
          <a:prstGeom prst="line">
            <a:avLst/>
          </a:prstGeom>
          <a:noFill/>
          <a:ln w="22860">
            <a:solidFill>
              <a:srgbClr val="A50021"/>
            </a:solidFill>
            <a:tailEnd type="triangle" w="lg" len="lg"/>
          </a:ln>
        </p:spPr>
      </p:sp>
      <p:sp>
        <p:nvSpPr>
          <p:cNvPr id="17" name="Line 17"/>
          <p:cNvSpPr/>
          <p:nvPr/>
        </p:nvSpPr>
        <p:spPr>
          <a:xfrm>
            <a:off x="6457950" y="1866900"/>
            <a:ext cx="2933700" cy="1"/>
          </a:xfrm>
          <a:prstGeom prst="line">
            <a:avLst/>
          </a:prstGeom>
          <a:noFill/>
          <a:ln w="22860">
            <a:solidFill>
              <a:srgbClr val="A50021"/>
            </a:solidFill>
            <a:tailEnd type="triangle" w="lg" len="lg"/>
          </a:ln>
        </p:spPr>
      </p:sp>
      <p:sp>
        <p:nvSpPr>
          <p:cNvPr id="19" name="Rectangle 19"/>
          <p:cNvSpPr/>
          <p:nvPr/>
        </p:nvSpPr>
        <p:spPr>
          <a:xfrm>
            <a:off x="685800" y="2133600"/>
            <a:ext cx="3371850" cy="2609850"/>
          </a:xfrm>
          <a:prstGeom prst="roundRect">
            <a:avLst>
              <a:gd name="adj" fmla="val 2919"/>
            </a:avLst>
          </a:prstGeom>
          <a:solidFill>
            <a:srgbClr val="FFFFFF"/>
          </a:solidFill>
          <a:ln w="13335">
            <a:solidFill>
              <a:srgbClr val="E4E7EB"/>
            </a:solidFill>
          </a:ln>
        </p:spPr>
      </p:sp>
      <p:sp>
        <p:nvSpPr>
          <p:cNvPr id="20" name="Rectangle 20"/>
          <p:cNvSpPr/>
          <p:nvPr/>
        </p:nvSpPr>
        <p:spPr>
          <a:xfrm>
            <a:off x="685800" y="2133600"/>
            <a:ext cx="3371850" cy="76200"/>
          </a:xfrm>
          <a:prstGeom prst="roundRect">
            <a:avLst>
              <a:gd name="adj" fmla="val 50000"/>
            </a:avLst>
          </a:prstGeom>
          <a:solidFill>
            <a:srgbClr val="5F6368"/>
          </a:solidFill>
          <a:ln>
            <a:noFill/>
          </a:ln>
        </p:spPr>
      </p:sp>
      <p:grpSp>
        <p:nvGrpSpPr>
          <p:cNvPr id="32" name="eraExpertHeader"/>
          <p:cNvGrpSpPr/>
          <p:nvPr/>
        </p:nvGrpSpPr>
        <p:grpSpPr>
          <a:xfrm>
            <a:off x="819150" y="2305050"/>
            <a:ext cx="2241328" cy="576262"/>
            <a:chOff x="819150" y="2305050"/>
            <a:chExt cx="2241328" cy="576262"/>
          </a:xfrm>
        </p:grpSpPr>
        <p:sp>
          <p:nvSpPr>
            <p:cNvPr id="21" name="Ellipse 21"/>
            <p:cNvSpPr/>
            <p:nvPr/>
          </p:nvSpPr>
          <p:spPr>
            <a:xfrm>
              <a:off x="819150" y="2305050"/>
              <a:ext cx="419100" cy="419100"/>
            </a:xfrm>
            <a:prstGeom prst="ellipse">
              <a:avLst/>
            </a:prstGeom>
            <a:solidFill>
              <a:srgbClr val="F8F9FA"/>
            </a:solidFill>
            <a:ln w="9525">
              <a:solidFill>
                <a:srgbClr val="E4E7EB"/>
              </a:solidFill>
            </a:ln>
          </p:spPr>
        </p:sp>
        <p:grpSp>
          <p:nvGrpSpPr>
            <p:cNvPr id="28" name="Group 28"/>
            <p:cNvGrpSpPr/>
            <p:nvPr/>
          </p:nvGrpSpPr>
          <p:grpSpPr>
            <a:xfrm>
              <a:off x="928688" y="2414588"/>
              <a:ext cx="200024" cy="200024"/>
              <a:chOff x="928688" y="2414588"/>
              <a:chExt cx="200024" cy="200024"/>
            </a:xfrm>
          </p:grpSpPr>
          <p:sp>
            <p:nvSpPr>
              <p:cNvPr id="22" name="Freeform 22"/>
              <p:cNvSpPr/>
              <p:nvPr/>
            </p:nvSpPr>
            <p:spPr>
              <a:xfrm>
                <a:off x="1028700" y="2525712"/>
                <a:ext cx="77788" cy="88900"/>
              </a:xfrm>
              <a:custGeom>
                <a:avLst/>
                <a:gdLst/>
                <a:ahLst/>
                <a:cxnLst/>
                <a:rect l="l" t="t" r="r" b="b"/>
                <a:pathLst>
                  <a:path w="77788" h="88900">
                    <a:moveTo>
                      <a:pt x="38894" y="0"/>
                    </a:moveTo>
                    <a:cubicBezTo>
                      <a:pt x="17413" y="0"/>
                      <a:pt x="0" y="17413"/>
                      <a:pt x="0" y="38894"/>
                    </a:cubicBezTo>
                    <a:lnTo>
                      <a:pt x="0" y="50006"/>
                    </a:lnTo>
                    <a:cubicBezTo>
                      <a:pt x="0" y="71487"/>
                      <a:pt x="17413" y="88900"/>
                      <a:pt x="38894" y="88900"/>
                    </a:cubicBezTo>
                    <a:cubicBezTo>
                      <a:pt x="60374" y="88900"/>
                      <a:pt x="77788" y="71487"/>
                      <a:pt x="77788" y="50006"/>
                    </a:cubicBezTo>
                    <a:lnTo>
                      <a:pt x="77788" y="30004"/>
                    </a:lnTo>
                  </a:path>
                </a:pathLst>
              </a:custGeom>
              <a:noFill/>
              <a:ln w="19050">
                <a:solidFill>
                  <a:srgbClr val="5F6368"/>
                </a:solidFill>
              </a:ln>
            </p:spPr>
          </p:sp>
          <p:sp>
            <p:nvSpPr>
              <p:cNvPr id="23" name="Freeform 23"/>
              <p:cNvSpPr/>
              <p:nvPr/>
            </p:nvSpPr>
            <p:spPr>
              <a:xfrm>
                <a:off x="950912" y="2525712"/>
                <a:ext cx="77788" cy="88900"/>
              </a:xfrm>
              <a:custGeom>
                <a:avLst/>
                <a:gdLst/>
                <a:ahLst/>
                <a:cxnLst/>
                <a:rect l="l" t="t" r="r" b="b"/>
                <a:pathLst>
                  <a:path w="77788" h="88900">
                    <a:moveTo>
                      <a:pt x="38894" y="0"/>
                    </a:moveTo>
                    <a:cubicBezTo>
                      <a:pt x="60374" y="0"/>
                      <a:pt x="77788" y="17413"/>
                      <a:pt x="77788" y="38894"/>
                    </a:cubicBezTo>
                    <a:lnTo>
                      <a:pt x="77788" y="50006"/>
                    </a:lnTo>
                    <a:cubicBezTo>
                      <a:pt x="77788" y="71487"/>
                      <a:pt x="60374" y="88900"/>
                      <a:pt x="38894" y="88900"/>
                    </a:cubicBezTo>
                    <a:cubicBezTo>
                      <a:pt x="17413" y="88900"/>
                      <a:pt x="0" y="71487"/>
                      <a:pt x="0" y="50006"/>
                    </a:cubicBezTo>
                    <a:lnTo>
                      <a:pt x="0" y="30004"/>
                    </a:lnTo>
                  </a:path>
                </a:pathLst>
              </a:custGeom>
              <a:noFill/>
              <a:ln w="19050">
                <a:solidFill>
                  <a:srgbClr val="5F6368"/>
                </a:solidFill>
              </a:ln>
            </p:spPr>
          </p:sp>
          <p:sp>
            <p:nvSpPr>
              <p:cNvPr id="24" name="Freeform 24"/>
              <p:cNvSpPr/>
              <p:nvPr/>
            </p:nvSpPr>
            <p:spPr>
              <a:xfrm>
                <a:off x="1084262" y="2481262"/>
                <a:ext cx="44450" cy="77788"/>
              </a:xfrm>
              <a:custGeom>
                <a:avLst/>
                <a:gdLst/>
                <a:ahLst/>
                <a:cxnLst/>
                <a:rect l="l" t="t" r="r" b="b"/>
                <a:pathLst>
                  <a:path w="44450" h="77788">
                    <a:moveTo>
                      <a:pt x="5556" y="77788"/>
                    </a:moveTo>
                    <a:cubicBezTo>
                      <a:pt x="27037" y="77788"/>
                      <a:pt x="44450" y="60374"/>
                      <a:pt x="44450" y="38894"/>
                    </a:cubicBezTo>
                    <a:cubicBezTo>
                      <a:pt x="44450" y="17413"/>
                      <a:pt x="27037" y="0"/>
                      <a:pt x="5556" y="0"/>
                    </a:cubicBezTo>
                    <a:lnTo>
                      <a:pt x="0" y="0"/>
                    </a:lnTo>
                  </a:path>
                </a:pathLst>
              </a:custGeom>
              <a:noFill/>
              <a:ln w="19050">
                <a:solidFill>
                  <a:srgbClr val="5F6368"/>
                </a:solidFill>
              </a:ln>
            </p:spPr>
          </p:sp>
          <p:sp>
            <p:nvSpPr>
              <p:cNvPr id="25" name="Freeform 25"/>
              <p:cNvSpPr/>
              <p:nvPr/>
            </p:nvSpPr>
            <p:spPr>
              <a:xfrm>
                <a:off x="1028700" y="2414588"/>
                <a:ext cx="77788" cy="70009"/>
              </a:xfrm>
              <a:custGeom>
                <a:avLst/>
                <a:gdLst/>
                <a:ahLst/>
                <a:cxnLst/>
                <a:rect l="l" t="t" r="r" b="b"/>
                <a:pathLst>
                  <a:path w="77788" h="70009">
                    <a:moveTo>
                      <a:pt x="77788" y="70009"/>
                    </a:moveTo>
                    <a:lnTo>
                      <a:pt x="77788" y="38894"/>
                    </a:lnTo>
                    <a:cubicBezTo>
                      <a:pt x="77788" y="17413"/>
                      <a:pt x="60374" y="0"/>
                      <a:pt x="38894" y="0"/>
                    </a:cubicBezTo>
                    <a:cubicBezTo>
                      <a:pt x="17413" y="0"/>
                      <a:pt x="0" y="17413"/>
                      <a:pt x="0" y="38894"/>
                    </a:cubicBezTo>
                  </a:path>
                </a:pathLst>
              </a:custGeom>
              <a:noFill/>
              <a:ln w="19050">
                <a:solidFill>
                  <a:srgbClr val="5F6368"/>
                </a:solidFill>
              </a:ln>
            </p:spPr>
          </p:sp>
          <p:sp>
            <p:nvSpPr>
              <p:cNvPr id="26" name="Freeform 26"/>
              <p:cNvSpPr/>
              <p:nvPr/>
            </p:nvSpPr>
            <p:spPr>
              <a:xfrm>
                <a:off x="928688" y="2481262"/>
                <a:ext cx="44450" cy="77788"/>
              </a:xfrm>
              <a:custGeom>
                <a:avLst/>
                <a:gdLst/>
                <a:ahLst/>
                <a:cxnLst/>
                <a:rect l="l" t="t" r="r" b="b"/>
                <a:pathLst>
                  <a:path w="44450" h="77788">
                    <a:moveTo>
                      <a:pt x="38894" y="77788"/>
                    </a:moveTo>
                    <a:cubicBezTo>
                      <a:pt x="17413" y="77788"/>
                      <a:pt x="0" y="60374"/>
                      <a:pt x="0" y="38894"/>
                    </a:cubicBezTo>
                    <a:cubicBezTo>
                      <a:pt x="0" y="17413"/>
                      <a:pt x="17413" y="0"/>
                      <a:pt x="38894" y="0"/>
                    </a:cubicBezTo>
                    <a:lnTo>
                      <a:pt x="44450" y="0"/>
                    </a:lnTo>
                  </a:path>
                </a:pathLst>
              </a:custGeom>
              <a:noFill/>
              <a:ln w="19050">
                <a:solidFill>
                  <a:srgbClr val="5F6368"/>
                </a:solidFill>
              </a:ln>
            </p:spPr>
          </p:sp>
          <p:sp>
            <p:nvSpPr>
              <p:cNvPr id="27" name="Freeform 27"/>
              <p:cNvSpPr/>
              <p:nvPr/>
            </p:nvSpPr>
            <p:spPr>
              <a:xfrm>
                <a:off x="950912" y="2414588"/>
                <a:ext cx="77788" cy="150019"/>
              </a:xfrm>
              <a:custGeom>
                <a:avLst/>
                <a:gdLst/>
                <a:ahLst/>
                <a:cxnLst/>
                <a:rect l="l" t="t" r="r" b="b"/>
                <a:pathLst>
                  <a:path w="77788" h="150019">
                    <a:moveTo>
                      <a:pt x="0" y="70009"/>
                    </a:moveTo>
                    <a:lnTo>
                      <a:pt x="0" y="38894"/>
                    </a:lnTo>
                    <a:cubicBezTo>
                      <a:pt x="0" y="17413"/>
                      <a:pt x="17413" y="0"/>
                      <a:pt x="38894" y="0"/>
                    </a:cubicBezTo>
                    <a:cubicBezTo>
                      <a:pt x="60374" y="0"/>
                      <a:pt x="77788" y="17413"/>
                      <a:pt x="77788" y="38894"/>
                    </a:cubicBezTo>
                    <a:lnTo>
                      <a:pt x="77788" y="150019"/>
                    </a:lnTo>
                  </a:path>
                </a:pathLst>
              </a:custGeom>
              <a:noFill/>
              <a:ln w="19050">
                <a:solidFill>
                  <a:srgbClr val="5F6368"/>
                </a:solidFill>
              </a:ln>
            </p:spPr>
          </p:sp>
        </p:grpSp>
        <p:sp>
          <p:nvSpPr>
            <p:cNvPr id="29" name="TextBox 29"/>
            <p:cNvSpPr txBox="1"/>
            <p:nvPr/>
          </p:nvSpPr>
          <p:spPr>
            <a:xfrm>
              <a:off x="1377315" y="2353628"/>
              <a:ext cx="509730"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第一代</a:t>
              </a:r>
            </a:p>
          </p:txBody>
        </p:sp>
        <p:sp>
          <p:nvSpPr>
            <p:cNvPr id="30" name="TextBox 30"/>
            <p:cNvSpPr txBox="1"/>
            <p:nvPr/>
          </p:nvSpPr>
          <p:spPr>
            <a:xfrm>
              <a:off x="1369695" y="2546032"/>
              <a:ext cx="1054036" cy="335280"/>
            </a:xfrm>
            <a:prstGeom prst="rect">
              <a:avLst/>
            </a:prstGeom>
            <a:noFill/>
            <a:ln>
              <a:noFill/>
            </a:ln>
          </p:spPr>
          <p:txBody>
            <a:bodyPr wrap="none" lIns="0" tIns="0" rIns="0" bIns="0" anchor="t" anchorCtr="0">
              <a:spAutoFit/>
            </a:bodyPr>
            <a:lstStyle/>
            <a:p>
              <a:pPr algn="l"/>
              <a:r>
                <a:rPr lang="zh-CN" sz="1650" b="1" dirty="0">
                  <a:solidFill>
                    <a:srgbClr val="1F2328"/>
                  </a:solidFill>
                  <a:latin typeface="Arial"/>
                  <a:ea typeface="SimHei"/>
                  <a:cs typeface="Arial"/>
                </a:rPr>
                <a:t>专家系统</a:t>
              </a:r>
            </a:p>
          </p:txBody>
        </p:sp>
        <p:sp>
          <p:nvSpPr>
            <p:cNvPr id="31" name="TextBox 31"/>
            <p:cNvSpPr txBox="1"/>
            <p:nvPr/>
          </p:nvSpPr>
          <p:spPr>
            <a:xfrm>
              <a:off x="2558415" y="2610802"/>
              <a:ext cx="502063" cy="213360"/>
            </a:xfrm>
            <a:prstGeom prst="rect">
              <a:avLst/>
            </a:prstGeom>
            <a:noFill/>
            <a:ln>
              <a:noFill/>
            </a:ln>
          </p:spPr>
          <p:txBody>
            <a:bodyPr wrap="none" lIns="0" tIns="0" rIns="0" bIns="0" anchor="t" anchorCtr="0">
              <a:spAutoFit/>
            </a:bodyPr>
            <a:lstStyle/>
            <a:p>
              <a:pPr algn="l"/>
              <a:r>
                <a:rPr lang="zh-CN" sz="1050" dirty="0">
                  <a:solidFill>
                    <a:srgbClr val="8A9099"/>
                  </a:solidFill>
                  <a:latin typeface="Arial"/>
                  <a:ea typeface="Microsoft YaHei"/>
                  <a:cs typeface="Arial"/>
                </a:rPr>
                <a:t>80年代</a:t>
              </a:r>
            </a:p>
          </p:txBody>
        </p:sp>
      </p:grpSp>
      <p:sp>
        <p:nvSpPr>
          <p:cNvPr id="33" name="Line 33"/>
          <p:cNvSpPr/>
          <p:nvPr/>
        </p:nvSpPr>
        <p:spPr>
          <a:xfrm>
            <a:off x="914400" y="2818638"/>
            <a:ext cx="2914650" cy="1"/>
          </a:xfrm>
          <a:prstGeom prst="line">
            <a:avLst/>
          </a:prstGeom>
          <a:noFill/>
          <a:ln w="9525">
            <a:solidFill>
              <a:srgbClr val="E4E7EB"/>
            </a:solidFill>
          </a:ln>
        </p:spPr>
      </p:sp>
      <p:sp>
        <p:nvSpPr>
          <p:cNvPr id="34" name="TextBox 34"/>
          <p:cNvSpPr txBox="1"/>
          <p:nvPr/>
        </p:nvSpPr>
        <p:spPr>
          <a:xfrm>
            <a:off x="901065" y="2962466"/>
            <a:ext cx="670750" cy="213360"/>
          </a:xfrm>
          <a:prstGeom prst="rect">
            <a:avLst/>
          </a:prstGeom>
          <a:noFill/>
          <a:ln>
            <a:noFill/>
          </a:ln>
        </p:spPr>
        <p:txBody>
          <a:bodyPr wrap="none" lIns="0" tIns="0" rIns="0" bIns="0" anchor="t" anchorCtr="0">
            <a:spAutoFit/>
          </a:bodyPr>
          <a:lstStyle/>
          <a:p>
            <a:pPr algn="l"/>
            <a:r>
              <a:rPr lang="zh-CN" sz="1050" b="1" dirty="0">
                <a:solidFill>
                  <a:srgbClr val="7A1B2E"/>
                </a:solidFill>
                <a:latin typeface="Arial"/>
                <a:ea typeface="Microsoft YaHei"/>
                <a:cs typeface="Arial"/>
              </a:rPr>
              <a:t>底层逻辑</a:t>
            </a:r>
          </a:p>
        </p:txBody>
      </p:sp>
      <p:sp>
        <p:nvSpPr>
          <p:cNvPr id="35" name="TextBox 35"/>
          <p:cNvSpPr txBox="1"/>
          <p:nvPr/>
        </p:nvSpPr>
        <p:spPr>
          <a:xfrm>
            <a:off x="899160" y="3222498"/>
            <a:ext cx="1607820" cy="243840"/>
          </a:xfrm>
          <a:prstGeom prst="rect">
            <a:avLst/>
          </a:prstGeom>
          <a:noFill/>
          <a:ln>
            <a:noFill/>
          </a:ln>
        </p:spPr>
        <p:txBody>
          <a:bodyPr wrap="none" lIns="0" tIns="0" rIns="0" bIns="0" anchor="t" anchorCtr="0">
            <a:spAutoFit/>
          </a:bodyPr>
          <a:lstStyle/>
          <a:p>
            <a:pPr algn="l"/>
            <a:r>
              <a:rPr lang="zh-CN" sz="1200" dirty="0">
                <a:solidFill>
                  <a:srgbClr val="1F2328"/>
                </a:solidFill>
                <a:latin typeface="Arial"/>
                <a:ea typeface="Microsoft YaHei"/>
                <a:cs typeface="Arial"/>
              </a:rPr>
              <a:t>基于人类手工编写的</a:t>
            </a:r>
          </a:p>
        </p:txBody>
      </p:sp>
      <p:sp>
        <p:nvSpPr>
          <p:cNvPr id="36" name="TextBox 36"/>
          <p:cNvSpPr txBox="1"/>
          <p:nvPr/>
        </p:nvSpPr>
        <p:spPr>
          <a:xfrm>
            <a:off x="899160" y="3451098"/>
            <a:ext cx="2370201" cy="243840"/>
          </a:xfrm>
          <a:prstGeom prst="rect">
            <a:avLst/>
          </a:prstGeom>
          <a:noFill/>
          <a:ln>
            <a:noFill/>
          </a:ln>
        </p:spPr>
        <p:txBody>
          <a:bodyPr wrap="none" lIns="0" tIns="0" rIns="0" bIns="0" anchor="t" anchorCtr="0">
            <a:spAutoFit/>
          </a:bodyPr>
          <a:lstStyle/>
          <a:p>
            <a:pPr algn="l"/>
            <a:r>
              <a:rPr lang="zh-CN" sz="1200" dirty="0">
                <a:solidFill>
                  <a:srgbClr val="1F2328"/>
                </a:solidFill>
                <a:latin typeface="Arial"/>
                <a:ea typeface="Microsoft YaHei"/>
                <a:cs typeface="Arial"/>
              </a:rPr>
              <a:t>“如果-那么”(If-Then)规则。</a:t>
            </a:r>
          </a:p>
        </p:txBody>
      </p:sp>
      <p:sp>
        <p:nvSpPr>
          <p:cNvPr id="37" name="TextBox 37"/>
          <p:cNvSpPr txBox="1"/>
          <p:nvPr/>
        </p:nvSpPr>
        <p:spPr>
          <a:xfrm>
            <a:off x="901065" y="3800666"/>
            <a:ext cx="1177964" cy="213360"/>
          </a:xfrm>
          <a:prstGeom prst="rect">
            <a:avLst/>
          </a:prstGeom>
          <a:noFill/>
          <a:ln>
            <a:noFill/>
          </a:ln>
        </p:spPr>
        <p:txBody>
          <a:bodyPr wrap="none" lIns="0" tIns="0" rIns="0" bIns="0" anchor="t" anchorCtr="0">
            <a:spAutoFit/>
          </a:bodyPr>
          <a:lstStyle/>
          <a:p>
            <a:pPr algn="l"/>
            <a:r>
              <a:rPr lang="zh-CN" sz="1050" b="1" dirty="0">
                <a:solidFill>
                  <a:srgbClr val="7A1B2E"/>
                </a:solidFill>
                <a:latin typeface="Arial"/>
                <a:ea typeface="Microsoft YaHei"/>
                <a:cs typeface="Arial"/>
              </a:rPr>
              <a:t>业务映射 &amp; 瓶颈</a:t>
            </a:r>
          </a:p>
        </p:txBody>
      </p:sp>
      <p:sp>
        <p:nvSpPr>
          <p:cNvPr id="38" name="TextBox 38"/>
          <p:cNvSpPr txBox="1"/>
          <p:nvPr/>
        </p:nvSpPr>
        <p:spPr>
          <a:xfrm>
            <a:off x="900112" y="4068794"/>
            <a:ext cx="1671638"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适合小范围制度问答；</a:t>
            </a:r>
          </a:p>
        </p:txBody>
      </p:sp>
      <p:sp>
        <p:nvSpPr>
          <p:cNvPr id="39" name="TextBox 39"/>
          <p:cNvSpPr txBox="1"/>
          <p:nvPr/>
        </p:nvSpPr>
        <p:spPr>
          <a:xfrm>
            <a:off x="900112" y="4278344"/>
            <a:ext cx="1671638"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规则维护成本高，覆盖</a:t>
            </a:r>
          </a:p>
        </p:txBody>
      </p:sp>
      <p:sp>
        <p:nvSpPr>
          <p:cNvPr id="40" name="TextBox 40"/>
          <p:cNvSpPr txBox="1"/>
          <p:nvPr/>
        </p:nvSpPr>
        <p:spPr>
          <a:xfrm>
            <a:off x="900112" y="4487894"/>
            <a:ext cx="1835944"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新业务和例外场景困难。</a:t>
            </a:r>
          </a:p>
        </p:txBody>
      </p:sp>
      <p:sp>
        <p:nvSpPr>
          <p:cNvPr id="42" name="Rectangle 42"/>
          <p:cNvSpPr/>
          <p:nvPr/>
        </p:nvSpPr>
        <p:spPr>
          <a:xfrm>
            <a:off x="4410075" y="2133600"/>
            <a:ext cx="3371850" cy="2609850"/>
          </a:xfrm>
          <a:prstGeom prst="roundRect">
            <a:avLst>
              <a:gd name="adj" fmla="val 2919"/>
            </a:avLst>
          </a:prstGeom>
          <a:solidFill>
            <a:srgbClr val="FFFFFF"/>
          </a:solidFill>
          <a:ln w="13335">
            <a:solidFill>
              <a:srgbClr val="E4E7EB"/>
            </a:solidFill>
          </a:ln>
        </p:spPr>
      </p:sp>
      <p:sp>
        <p:nvSpPr>
          <p:cNvPr id="43" name="Rectangle 43"/>
          <p:cNvSpPr/>
          <p:nvPr/>
        </p:nvSpPr>
        <p:spPr>
          <a:xfrm>
            <a:off x="4410075" y="2133600"/>
            <a:ext cx="3371850" cy="76200"/>
          </a:xfrm>
          <a:prstGeom prst="roundRect">
            <a:avLst>
              <a:gd name="adj" fmla="val 50000"/>
            </a:avLst>
          </a:prstGeom>
          <a:solidFill>
            <a:srgbClr val="B08A3C"/>
          </a:solidFill>
          <a:ln>
            <a:noFill/>
          </a:ln>
        </p:spPr>
      </p:sp>
      <p:grpSp>
        <p:nvGrpSpPr>
          <p:cNvPr id="51" name="eraSearchHeader"/>
          <p:cNvGrpSpPr/>
          <p:nvPr/>
        </p:nvGrpSpPr>
        <p:grpSpPr>
          <a:xfrm>
            <a:off x="4543425" y="2305050"/>
            <a:ext cx="2710910" cy="576262"/>
            <a:chOff x="4543425" y="2305050"/>
            <a:chExt cx="2710910" cy="576262"/>
          </a:xfrm>
        </p:grpSpPr>
        <p:sp>
          <p:nvSpPr>
            <p:cNvPr id="44" name="Ellipse 44"/>
            <p:cNvSpPr/>
            <p:nvPr/>
          </p:nvSpPr>
          <p:spPr>
            <a:xfrm>
              <a:off x="4543425" y="2305050"/>
              <a:ext cx="419100" cy="419100"/>
            </a:xfrm>
            <a:prstGeom prst="ellipse">
              <a:avLst/>
            </a:prstGeom>
            <a:solidFill>
              <a:srgbClr val="F8F9FA"/>
            </a:solidFill>
            <a:ln w="9525">
              <a:solidFill>
                <a:srgbClr val="E4E7EB"/>
              </a:solidFill>
            </a:ln>
          </p:spPr>
        </p:sp>
        <p:grpSp>
          <p:nvGrpSpPr>
            <p:cNvPr id="47" name="Group 47"/>
            <p:cNvGrpSpPr/>
            <p:nvPr/>
          </p:nvGrpSpPr>
          <p:grpSpPr>
            <a:xfrm>
              <a:off x="4652962" y="2414588"/>
              <a:ext cx="200025" cy="200025"/>
              <a:chOff x="4652962" y="2414588"/>
              <a:chExt cx="200025" cy="200025"/>
            </a:xfrm>
          </p:grpSpPr>
          <p:sp>
            <p:nvSpPr>
              <p:cNvPr id="45" name="Freeform 45"/>
              <p:cNvSpPr/>
              <p:nvPr/>
            </p:nvSpPr>
            <p:spPr>
              <a:xfrm>
                <a:off x="4652962" y="2414588"/>
                <a:ext cx="155575" cy="155575"/>
              </a:xfrm>
              <a:custGeom>
                <a:avLst/>
                <a:gdLst/>
                <a:ahLst/>
                <a:cxnLst/>
                <a:rect l="l" t="t" r="r" b="b"/>
                <a:pathLst>
                  <a:path w="155575" h="155575">
                    <a:moveTo>
                      <a:pt x="0" y="77788"/>
                    </a:moveTo>
                    <a:cubicBezTo>
                      <a:pt x="0" y="120748"/>
                      <a:pt x="34827" y="155575"/>
                      <a:pt x="77788" y="155575"/>
                    </a:cubicBezTo>
                    <a:cubicBezTo>
                      <a:pt x="120748" y="155575"/>
                      <a:pt x="155575" y="120748"/>
                      <a:pt x="155575" y="77788"/>
                    </a:cubicBezTo>
                    <a:cubicBezTo>
                      <a:pt x="155575" y="34827"/>
                      <a:pt x="120748" y="0"/>
                      <a:pt x="77788" y="0"/>
                    </a:cubicBezTo>
                    <a:cubicBezTo>
                      <a:pt x="34827" y="0"/>
                      <a:pt x="0" y="34827"/>
                      <a:pt x="0" y="77788"/>
                    </a:cubicBezTo>
                  </a:path>
                </a:pathLst>
              </a:custGeom>
              <a:noFill/>
              <a:ln w="19050">
                <a:solidFill>
                  <a:srgbClr val="B08A3C"/>
                </a:solidFill>
              </a:ln>
            </p:spPr>
          </p:sp>
          <p:sp>
            <p:nvSpPr>
              <p:cNvPr id="46" name="Freeform 46"/>
              <p:cNvSpPr/>
              <p:nvPr/>
            </p:nvSpPr>
            <p:spPr>
              <a:xfrm>
                <a:off x="4786312" y="2547938"/>
                <a:ext cx="66675" cy="66675"/>
              </a:xfrm>
              <a:custGeom>
                <a:avLst/>
                <a:gdLst/>
                <a:ahLst/>
                <a:cxnLst/>
                <a:rect l="l" t="t" r="r" b="b"/>
                <a:pathLst>
                  <a:path w="66675" h="66675">
                    <a:moveTo>
                      <a:pt x="66675" y="66675"/>
                    </a:moveTo>
                    <a:lnTo>
                      <a:pt x="0" y="0"/>
                    </a:lnTo>
                  </a:path>
                </a:pathLst>
              </a:custGeom>
              <a:noFill/>
              <a:ln w="19050">
                <a:solidFill>
                  <a:srgbClr val="B08A3C"/>
                </a:solidFill>
              </a:ln>
            </p:spPr>
          </p:sp>
        </p:grpSp>
        <p:sp>
          <p:nvSpPr>
            <p:cNvPr id="48" name="TextBox 48"/>
            <p:cNvSpPr txBox="1"/>
            <p:nvPr/>
          </p:nvSpPr>
          <p:spPr>
            <a:xfrm>
              <a:off x="5101590" y="2353628"/>
              <a:ext cx="509730" cy="213360"/>
            </a:xfrm>
            <a:prstGeom prst="rect">
              <a:avLst/>
            </a:prstGeom>
            <a:noFill/>
            <a:ln>
              <a:noFill/>
            </a:ln>
          </p:spPr>
          <p:txBody>
            <a:bodyPr wrap="none" lIns="0" tIns="0" rIns="0" bIns="0" anchor="t" anchorCtr="0">
              <a:spAutoFit/>
            </a:bodyPr>
            <a:lstStyle/>
            <a:p>
              <a:pPr algn="l"/>
              <a:r>
                <a:rPr lang="zh-CN" sz="1050" b="1" dirty="0">
                  <a:solidFill>
                    <a:srgbClr val="B08A3C"/>
                  </a:solidFill>
                  <a:latin typeface="Arial"/>
                  <a:ea typeface="Microsoft YaHei"/>
                  <a:cs typeface="Arial"/>
                </a:rPr>
                <a:t>第二代</a:t>
              </a:r>
            </a:p>
          </p:txBody>
        </p:sp>
        <p:sp>
          <p:nvSpPr>
            <p:cNvPr id="49" name="TextBox 49"/>
            <p:cNvSpPr txBox="1"/>
            <p:nvPr/>
          </p:nvSpPr>
          <p:spPr>
            <a:xfrm>
              <a:off x="5093970" y="2546032"/>
              <a:ext cx="1054036" cy="335280"/>
            </a:xfrm>
            <a:prstGeom prst="rect">
              <a:avLst/>
            </a:prstGeom>
            <a:noFill/>
            <a:ln>
              <a:noFill/>
            </a:ln>
          </p:spPr>
          <p:txBody>
            <a:bodyPr wrap="none" lIns="0" tIns="0" rIns="0" bIns="0" anchor="t" anchorCtr="0">
              <a:spAutoFit/>
            </a:bodyPr>
            <a:lstStyle/>
            <a:p>
              <a:pPr algn="l"/>
              <a:r>
                <a:rPr lang="zh-CN" sz="1650" b="1" dirty="0">
                  <a:solidFill>
                    <a:srgbClr val="1F2328"/>
                  </a:solidFill>
                  <a:latin typeface="Arial"/>
                  <a:ea typeface="SimHei"/>
                  <a:cs typeface="Arial"/>
                </a:rPr>
                <a:t>搜索引擎</a:t>
              </a:r>
            </a:p>
          </p:txBody>
        </p:sp>
        <p:sp>
          <p:nvSpPr>
            <p:cNvPr id="50" name="TextBox 50"/>
            <p:cNvSpPr txBox="1"/>
            <p:nvPr/>
          </p:nvSpPr>
          <p:spPr>
            <a:xfrm>
              <a:off x="6292215" y="2610802"/>
              <a:ext cx="962120" cy="213360"/>
            </a:xfrm>
            <a:prstGeom prst="rect">
              <a:avLst/>
            </a:prstGeom>
            <a:noFill/>
            <a:ln>
              <a:noFill/>
            </a:ln>
          </p:spPr>
          <p:txBody>
            <a:bodyPr wrap="none" lIns="0" tIns="0" rIns="0" bIns="0" anchor="t" anchorCtr="0">
              <a:spAutoFit/>
            </a:bodyPr>
            <a:lstStyle/>
            <a:p>
              <a:pPr algn="l"/>
              <a:r>
                <a:rPr lang="zh-CN" sz="1050" dirty="0">
                  <a:solidFill>
                    <a:srgbClr val="8A9099"/>
                  </a:solidFill>
                  <a:latin typeface="Arial"/>
                  <a:ea typeface="Microsoft YaHei"/>
                  <a:cs typeface="Arial"/>
                </a:rPr>
                <a:t>20世纪末至今</a:t>
              </a:r>
            </a:p>
          </p:txBody>
        </p:sp>
      </p:grpSp>
      <p:sp>
        <p:nvSpPr>
          <p:cNvPr id="52" name="Line 52"/>
          <p:cNvSpPr/>
          <p:nvPr/>
        </p:nvSpPr>
        <p:spPr>
          <a:xfrm>
            <a:off x="4638675" y="2818638"/>
            <a:ext cx="2914650" cy="1"/>
          </a:xfrm>
          <a:prstGeom prst="line">
            <a:avLst/>
          </a:prstGeom>
          <a:noFill/>
          <a:ln w="9525">
            <a:solidFill>
              <a:srgbClr val="E4E7EB"/>
            </a:solidFill>
          </a:ln>
        </p:spPr>
      </p:sp>
      <p:sp>
        <p:nvSpPr>
          <p:cNvPr id="53" name="TextBox 53"/>
          <p:cNvSpPr txBox="1"/>
          <p:nvPr/>
        </p:nvSpPr>
        <p:spPr>
          <a:xfrm>
            <a:off x="4625340" y="2962466"/>
            <a:ext cx="670750" cy="213360"/>
          </a:xfrm>
          <a:prstGeom prst="rect">
            <a:avLst/>
          </a:prstGeom>
          <a:noFill/>
          <a:ln>
            <a:noFill/>
          </a:ln>
        </p:spPr>
        <p:txBody>
          <a:bodyPr wrap="none" lIns="0" tIns="0" rIns="0" bIns="0" anchor="t" anchorCtr="0">
            <a:spAutoFit/>
          </a:bodyPr>
          <a:lstStyle/>
          <a:p>
            <a:pPr algn="l"/>
            <a:r>
              <a:rPr lang="zh-CN" sz="1050" b="1" dirty="0">
                <a:solidFill>
                  <a:srgbClr val="7A1B2E"/>
                </a:solidFill>
                <a:latin typeface="Arial"/>
                <a:ea typeface="Microsoft YaHei"/>
                <a:cs typeface="Arial"/>
              </a:rPr>
              <a:t>底层逻辑</a:t>
            </a:r>
          </a:p>
        </p:txBody>
      </p:sp>
      <p:sp>
        <p:nvSpPr>
          <p:cNvPr id="54" name="TextBox 54"/>
          <p:cNvSpPr txBox="1"/>
          <p:nvPr/>
        </p:nvSpPr>
        <p:spPr>
          <a:xfrm>
            <a:off x="4623435" y="3222498"/>
            <a:ext cx="2151126" cy="243840"/>
          </a:xfrm>
          <a:prstGeom prst="rect">
            <a:avLst/>
          </a:prstGeom>
          <a:noFill/>
          <a:ln>
            <a:noFill/>
          </a:ln>
        </p:spPr>
        <p:txBody>
          <a:bodyPr wrap="none" lIns="0" tIns="0" rIns="0" bIns="0" anchor="t" anchorCtr="0">
            <a:spAutoFit/>
          </a:bodyPr>
          <a:lstStyle/>
          <a:p>
            <a:pPr algn="l"/>
            <a:r>
              <a:rPr lang="zh-CN" sz="1200" dirty="0">
                <a:solidFill>
                  <a:srgbClr val="1F2328"/>
                </a:solidFill>
                <a:latin typeface="Arial"/>
                <a:ea typeface="Microsoft YaHei"/>
                <a:cs typeface="Arial"/>
              </a:rPr>
              <a:t>基于“关键词”的字面匹配，</a:t>
            </a:r>
          </a:p>
        </p:txBody>
      </p:sp>
      <p:sp>
        <p:nvSpPr>
          <p:cNvPr id="55" name="TextBox 55"/>
          <p:cNvSpPr txBox="1"/>
          <p:nvPr/>
        </p:nvSpPr>
        <p:spPr>
          <a:xfrm>
            <a:off x="4623435" y="3451098"/>
            <a:ext cx="2133600" cy="243840"/>
          </a:xfrm>
          <a:prstGeom prst="rect">
            <a:avLst/>
          </a:prstGeom>
          <a:noFill/>
          <a:ln>
            <a:noFill/>
          </a:ln>
        </p:spPr>
        <p:txBody>
          <a:bodyPr wrap="none" lIns="0" tIns="0" rIns="0" bIns="0" anchor="t" anchorCtr="0">
            <a:spAutoFit/>
          </a:bodyPr>
          <a:lstStyle/>
          <a:p>
            <a:pPr algn="l"/>
            <a:r>
              <a:rPr lang="zh-CN" sz="1200" dirty="0">
                <a:solidFill>
                  <a:srgbClr val="1F2328"/>
                </a:solidFill>
                <a:latin typeface="Arial"/>
                <a:ea typeface="Microsoft YaHei"/>
                <a:cs typeface="Arial"/>
              </a:rPr>
              <a:t>按词频、字段和索引排序。</a:t>
            </a:r>
          </a:p>
        </p:txBody>
      </p:sp>
      <p:sp>
        <p:nvSpPr>
          <p:cNvPr id="56" name="TextBox 56"/>
          <p:cNvSpPr txBox="1"/>
          <p:nvPr/>
        </p:nvSpPr>
        <p:spPr>
          <a:xfrm>
            <a:off x="4625340" y="3800666"/>
            <a:ext cx="1177964" cy="213360"/>
          </a:xfrm>
          <a:prstGeom prst="rect">
            <a:avLst/>
          </a:prstGeom>
          <a:noFill/>
          <a:ln>
            <a:noFill/>
          </a:ln>
        </p:spPr>
        <p:txBody>
          <a:bodyPr wrap="none" lIns="0" tIns="0" rIns="0" bIns="0" anchor="t" anchorCtr="0">
            <a:spAutoFit/>
          </a:bodyPr>
          <a:lstStyle/>
          <a:p>
            <a:pPr algn="l"/>
            <a:r>
              <a:rPr lang="zh-CN" sz="1050" b="1" dirty="0">
                <a:solidFill>
                  <a:srgbClr val="7A1B2E"/>
                </a:solidFill>
                <a:latin typeface="Arial"/>
                <a:ea typeface="Microsoft YaHei"/>
                <a:cs typeface="Arial"/>
              </a:rPr>
              <a:t>业务映射 &amp; 瓶颈</a:t>
            </a:r>
          </a:p>
        </p:txBody>
      </p:sp>
      <p:sp>
        <p:nvSpPr>
          <p:cNvPr id="57" name="TextBox 57"/>
          <p:cNvSpPr txBox="1"/>
          <p:nvPr/>
        </p:nvSpPr>
        <p:spPr>
          <a:xfrm>
            <a:off x="4624388" y="4068794"/>
            <a:ext cx="1507331"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多数银行目前现状；</a:t>
            </a:r>
          </a:p>
        </p:txBody>
      </p:sp>
      <p:sp>
        <p:nvSpPr>
          <p:cNvPr id="58" name="TextBox 58"/>
          <p:cNvSpPr txBox="1"/>
          <p:nvPr/>
        </p:nvSpPr>
        <p:spPr>
          <a:xfrm>
            <a:off x="4624388" y="4278344"/>
            <a:ext cx="1852374"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依赖用户“问得对”，同义</a:t>
            </a:r>
          </a:p>
        </p:txBody>
      </p:sp>
      <p:sp>
        <p:nvSpPr>
          <p:cNvPr id="59" name="TextBox 59"/>
          <p:cNvSpPr txBox="1"/>
          <p:nvPr/>
        </p:nvSpPr>
        <p:spPr>
          <a:xfrm>
            <a:off x="4624388" y="4487894"/>
            <a:ext cx="2000250"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表达、口语化问题召回弱。</a:t>
            </a:r>
          </a:p>
        </p:txBody>
      </p:sp>
      <p:sp>
        <p:nvSpPr>
          <p:cNvPr id="61" name="Rectangle 61"/>
          <p:cNvSpPr/>
          <p:nvPr/>
        </p:nvSpPr>
        <p:spPr>
          <a:xfrm>
            <a:off x="8134350" y="2133600"/>
            <a:ext cx="3371850" cy="2609850"/>
          </a:xfrm>
          <a:prstGeom prst="roundRect">
            <a:avLst>
              <a:gd name="adj" fmla="val 2919"/>
            </a:avLst>
          </a:prstGeom>
          <a:solidFill>
            <a:srgbClr val="FFF7F4"/>
          </a:solidFill>
          <a:ln w="17145">
            <a:solidFill>
              <a:srgbClr val="A50021"/>
            </a:solidFill>
          </a:ln>
        </p:spPr>
      </p:sp>
      <p:sp>
        <p:nvSpPr>
          <p:cNvPr id="62" name="Rectangle 62"/>
          <p:cNvSpPr/>
          <p:nvPr/>
        </p:nvSpPr>
        <p:spPr>
          <a:xfrm>
            <a:off x="8134350" y="2133600"/>
            <a:ext cx="3371850" cy="76200"/>
          </a:xfrm>
          <a:prstGeom prst="roundRect">
            <a:avLst>
              <a:gd name="adj" fmla="val 50000"/>
            </a:avLst>
          </a:prstGeom>
          <a:solidFill>
            <a:srgbClr val="A50021"/>
          </a:solidFill>
          <a:ln>
            <a:noFill/>
          </a:ln>
        </p:spPr>
      </p:sp>
      <p:grpSp>
        <p:nvGrpSpPr>
          <p:cNvPr id="76" name="eraVectorHeader"/>
          <p:cNvGrpSpPr/>
          <p:nvPr/>
        </p:nvGrpSpPr>
        <p:grpSpPr>
          <a:xfrm>
            <a:off x="8267700" y="2305050"/>
            <a:ext cx="2704147" cy="576262"/>
            <a:chOff x="8267700" y="2305050"/>
            <a:chExt cx="2704147" cy="576262"/>
          </a:xfrm>
        </p:grpSpPr>
        <p:sp>
          <p:nvSpPr>
            <p:cNvPr id="63" name="Ellipse 63"/>
            <p:cNvSpPr/>
            <p:nvPr/>
          </p:nvSpPr>
          <p:spPr>
            <a:xfrm>
              <a:off x="8267700" y="2305050"/>
              <a:ext cx="419100" cy="419100"/>
            </a:xfrm>
            <a:prstGeom prst="ellipse">
              <a:avLst/>
            </a:prstGeom>
            <a:solidFill>
              <a:srgbClr val="FFFFFF"/>
            </a:solidFill>
            <a:ln w="11430">
              <a:solidFill>
                <a:srgbClr val="A50021"/>
              </a:solidFill>
            </a:ln>
          </p:spPr>
        </p:sp>
        <p:grpSp>
          <p:nvGrpSpPr>
            <p:cNvPr id="72" name="Group 72"/>
            <p:cNvGrpSpPr/>
            <p:nvPr/>
          </p:nvGrpSpPr>
          <p:grpSpPr>
            <a:xfrm>
              <a:off x="8377238" y="2414588"/>
              <a:ext cx="200024" cy="200024"/>
              <a:chOff x="8377238" y="2414588"/>
              <a:chExt cx="200024" cy="200024"/>
            </a:xfrm>
          </p:grpSpPr>
          <p:sp>
            <p:nvSpPr>
              <p:cNvPr id="64" name="Freeform 64"/>
              <p:cNvSpPr/>
              <p:nvPr/>
            </p:nvSpPr>
            <p:spPr>
              <a:xfrm>
                <a:off x="8377238" y="2414588"/>
                <a:ext cx="44450" cy="44450"/>
              </a:xfrm>
              <a:custGeom>
                <a:avLst/>
                <a:gdLst/>
                <a:ahLst/>
                <a:cxnLst/>
                <a:rect l="l" t="t" r="r" b="b"/>
                <a:pathLst>
                  <a:path w="44450" h="44450">
                    <a:moveTo>
                      <a:pt x="0" y="11112"/>
                    </a:moveTo>
                    <a:cubicBezTo>
                      <a:pt x="0" y="4975"/>
                      <a:pt x="4975" y="0"/>
                      <a:pt x="11112" y="0"/>
                    </a:cubicBezTo>
                    <a:lnTo>
                      <a:pt x="33338" y="0"/>
                    </a:lnTo>
                    <a:cubicBezTo>
                      <a:pt x="39475" y="0"/>
                      <a:pt x="44450" y="4975"/>
                      <a:pt x="44450" y="11112"/>
                    </a:cubicBezTo>
                    <a:lnTo>
                      <a:pt x="44450" y="33338"/>
                    </a:lnTo>
                    <a:cubicBezTo>
                      <a:pt x="44450" y="39475"/>
                      <a:pt x="39475" y="44450"/>
                      <a:pt x="33338" y="44450"/>
                    </a:cubicBezTo>
                    <a:lnTo>
                      <a:pt x="11112" y="44450"/>
                    </a:lnTo>
                    <a:cubicBezTo>
                      <a:pt x="4975" y="44450"/>
                      <a:pt x="0" y="39475"/>
                      <a:pt x="0" y="33338"/>
                    </a:cubicBezTo>
                    <a:lnTo>
                      <a:pt x="0" y="11112"/>
                    </a:lnTo>
                  </a:path>
                </a:pathLst>
              </a:custGeom>
              <a:noFill/>
              <a:ln w="19050">
                <a:solidFill>
                  <a:srgbClr val="A50021"/>
                </a:solidFill>
              </a:ln>
            </p:spPr>
          </p:sp>
          <p:sp>
            <p:nvSpPr>
              <p:cNvPr id="65" name="Freeform 65"/>
              <p:cNvSpPr/>
              <p:nvPr/>
            </p:nvSpPr>
            <p:spPr>
              <a:xfrm>
                <a:off x="8532812" y="2414588"/>
                <a:ext cx="44450" cy="44450"/>
              </a:xfrm>
              <a:custGeom>
                <a:avLst/>
                <a:gdLst/>
                <a:ahLst/>
                <a:cxnLst/>
                <a:rect l="l" t="t" r="r" b="b"/>
                <a:pathLst>
                  <a:path w="44450" h="44450">
                    <a:moveTo>
                      <a:pt x="0" y="11112"/>
                    </a:moveTo>
                    <a:cubicBezTo>
                      <a:pt x="0" y="4975"/>
                      <a:pt x="4975" y="0"/>
                      <a:pt x="11112" y="0"/>
                    </a:cubicBezTo>
                    <a:lnTo>
                      <a:pt x="33338" y="0"/>
                    </a:lnTo>
                    <a:cubicBezTo>
                      <a:pt x="39475" y="0"/>
                      <a:pt x="44450" y="4975"/>
                      <a:pt x="44450" y="11112"/>
                    </a:cubicBezTo>
                    <a:lnTo>
                      <a:pt x="44450" y="33338"/>
                    </a:lnTo>
                    <a:cubicBezTo>
                      <a:pt x="44450" y="39475"/>
                      <a:pt x="39475" y="44450"/>
                      <a:pt x="33338" y="44450"/>
                    </a:cubicBezTo>
                    <a:lnTo>
                      <a:pt x="11112" y="44450"/>
                    </a:lnTo>
                    <a:cubicBezTo>
                      <a:pt x="4975" y="44450"/>
                      <a:pt x="0" y="39475"/>
                      <a:pt x="0" y="33338"/>
                    </a:cubicBezTo>
                    <a:lnTo>
                      <a:pt x="0" y="11112"/>
                    </a:lnTo>
                  </a:path>
                </a:pathLst>
              </a:custGeom>
              <a:noFill/>
              <a:ln w="19050">
                <a:solidFill>
                  <a:srgbClr val="A50021"/>
                </a:solidFill>
              </a:ln>
            </p:spPr>
          </p:sp>
          <p:sp>
            <p:nvSpPr>
              <p:cNvPr id="66" name="Freeform 66"/>
              <p:cNvSpPr/>
              <p:nvPr/>
            </p:nvSpPr>
            <p:spPr>
              <a:xfrm>
                <a:off x="8532812" y="2570162"/>
                <a:ext cx="44450" cy="44450"/>
              </a:xfrm>
              <a:custGeom>
                <a:avLst/>
                <a:gdLst/>
                <a:ahLst/>
                <a:cxnLst/>
                <a:rect l="l" t="t" r="r" b="b"/>
                <a:pathLst>
                  <a:path w="44450" h="44450">
                    <a:moveTo>
                      <a:pt x="0" y="11113"/>
                    </a:moveTo>
                    <a:cubicBezTo>
                      <a:pt x="0" y="4975"/>
                      <a:pt x="4975" y="0"/>
                      <a:pt x="11112" y="0"/>
                    </a:cubicBezTo>
                    <a:lnTo>
                      <a:pt x="33338" y="0"/>
                    </a:lnTo>
                    <a:cubicBezTo>
                      <a:pt x="39475" y="0"/>
                      <a:pt x="44450" y="4975"/>
                      <a:pt x="44450" y="11113"/>
                    </a:cubicBezTo>
                    <a:lnTo>
                      <a:pt x="44450" y="33338"/>
                    </a:lnTo>
                    <a:cubicBezTo>
                      <a:pt x="44450" y="39475"/>
                      <a:pt x="39475" y="44450"/>
                      <a:pt x="33338" y="44450"/>
                    </a:cubicBezTo>
                    <a:lnTo>
                      <a:pt x="11112" y="44450"/>
                    </a:lnTo>
                    <a:cubicBezTo>
                      <a:pt x="4975" y="44450"/>
                      <a:pt x="0" y="39475"/>
                      <a:pt x="0" y="33338"/>
                    </a:cubicBezTo>
                    <a:lnTo>
                      <a:pt x="0" y="11113"/>
                    </a:lnTo>
                  </a:path>
                </a:pathLst>
              </a:custGeom>
              <a:noFill/>
              <a:ln w="19050">
                <a:solidFill>
                  <a:srgbClr val="A50021"/>
                </a:solidFill>
              </a:ln>
            </p:spPr>
          </p:sp>
          <p:sp>
            <p:nvSpPr>
              <p:cNvPr id="67" name="Freeform 67"/>
              <p:cNvSpPr/>
              <p:nvPr/>
            </p:nvSpPr>
            <p:spPr>
              <a:xfrm>
                <a:off x="8377238" y="2570162"/>
                <a:ext cx="44450" cy="44450"/>
              </a:xfrm>
              <a:custGeom>
                <a:avLst/>
                <a:gdLst/>
                <a:ahLst/>
                <a:cxnLst/>
                <a:rect l="l" t="t" r="r" b="b"/>
                <a:pathLst>
                  <a:path w="44450" h="44450">
                    <a:moveTo>
                      <a:pt x="0" y="11113"/>
                    </a:moveTo>
                    <a:cubicBezTo>
                      <a:pt x="0" y="4975"/>
                      <a:pt x="4975" y="0"/>
                      <a:pt x="11112" y="0"/>
                    </a:cubicBezTo>
                    <a:lnTo>
                      <a:pt x="33338" y="0"/>
                    </a:lnTo>
                    <a:cubicBezTo>
                      <a:pt x="39475" y="0"/>
                      <a:pt x="44450" y="4975"/>
                      <a:pt x="44450" y="11113"/>
                    </a:cubicBezTo>
                    <a:lnTo>
                      <a:pt x="44450" y="33338"/>
                    </a:lnTo>
                    <a:cubicBezTo>
                      <a:pt x="44450" y="39475"/>
                      <a:pt x="39475" y="44450"/>
                      <a:pt x="33338" y="44450"/>
                    </a:cubicBezTo>
                    <a:lnTo>
                      <a:pt x="11112" y="44450"/>
                    </a:lnTo>
                    <a:cubicBezTo>
                      <a:pt x="4975" y="44450"/>
                      <a:pt x="0" y="39475"/>
                      <a:pt x="0" y="33338"/>
                    </a:cubicBezTo>
                    <a:lnTo>
                      <a:pt x="0" y="11113"/>
                    </a:lnTo>
                  </a:path>
                </a:pathLst>
              </a:custGeom>
              <a:noFill/>
              <a:ln w="19050">
                <a:solidFill>
                  <a:srgbClr val="A50021"/>
                </a:solidFill>
              </a:ln>
            </p:spPr>
          </p:sp>
          <p:sp>
            <p:nvSpPr>
              <p:cNvPr id="68" name="Freeform 68"/>
              <p:cNvSpPr/>
              <p:nvPr/>
            </p:nvSpPr>
            <p:spPr>
              <a:xfrm>
                <a:off x="8399462" y="2459038"/>
                <a:ext cx="9525" cy="111125"/>
              </a:xfrm>
              <a:custGeom>
                <a:avLst/>
                <a:gdLst/>
                <a:ahLst/>
                <a:cxnLst/>
                <a:rect l="l" t="t" r="r" b="b"/>
                <a:pathLst>
                  <a:path w="9525" h="111125">
                    <a:moveTo>
                      <a:pt x="0" y="0"/>
                    </a:moveTo>
                    <a:lnTo>
                      <a:pt x="0" y="111125"/>
                    </a:lnTo>
                  </a:path>
                </a:pathLst>
              </a:custGeom>
              <a:noFill/>
              <a:ln w="19050">
                <a:solidFill>
                  <a:srgbClr val="A50021"/>
                </a:solidFill>
              </a:ln>
            </p:spPr>
          </p:sp>
          <p:sp>
            <p:nvSpPr>
              <p:cNvPr id="69" name="Freeform 69"/>
              <p:cNvSpPr/>
              <p:nvPr/>
            </p:nvSpPr>
            <p:spPr>
              <a:xfrm>
                <a:off x="8555038" y="2459038"/>
                <a:ext cx="9525" cy="111125"/>
              </a:xfrm>
              <a:custGeom>
                <a:avLst/>
                <a:gdLst/>
                <a:ahLst/>
                <a:cxnLst/>
                <a:rect l="l" t="t" r="r" b="b"/>
                <a:pathLst>
                  <a:path w="9525" h="111125">
                    <a:moveTo>
                      <a:pt x="0" y="0"/>
                    </a:moveTo>
                    <a:lnTo>
                      <a:pt x="0" y="111125"/>
                    </a:lnTo>
                  </a:path>
                </a:pathLst>
              </a:custGeom>
              <a:noFill/>
              <a:ln w="19050">
                <a:solidFill>
                  <a:srgbClr val="A50021"/>
                </a:solidFill>
              </a:ln>
            </p:spPr>
          </p:sp>
          <p:sp>
            <p:nvSpPr>
              <p:cNvPr id="70" name="Freeform 70"/>
              <p:cNvSpPr/>
              <p:nvPr/>
            </p:nvSpPr>
            <p:spPr>
              <a:xfrm>
                <a:off x="8421688" y="2436812"/>
                <a:ext cx="111125" cy="9525"/>
              </a:xfrm>
              <a:custGeom>
                <a:avLst/>
                <a:gdLst/>
                <a:ahLst/>
                <a:cxnLst/>
                <a:rect l="l" t="t" r="r" b="b"/>
                <a:pathLst>
                  <a:path w="111125" h="9525">
                    <a:moveTo>
                      <a:pt x="0" y="0"/>
                    </a:moveTo>
                    <a:lnTo>
                      <a:pt x="111125" y="0"/>
                    </a:lnTo>
                  </a:path>
                </a:pathLst>
              </a:custGeom>
              <a:noFill/>
              <a:ln w="19050">
                <a:solidFill>
                  <a:srgbClr val="A50021"/>
                </a:solidFill>
              </a:ln>
            </p:spPr>
          </p:sp>
          <p:sp>
            <p:nvSpPr>
              <p:cNvPr id="71" name="Freeform 71"/>
              <p:cNvSpPr/>
              <p:nvPr/>
            </p:nvSpPr>
            <p:spPr>
              <a:xfrm>
                <a:off x="8421688" y="2592388"/>
                <a:ext cx="111125" cy="9525"/>
              </a:xfrm>
              <a:custGeom>
                <a:avLst/>
                <a:gdLst/>
                <a:ahLst/>
                <a:cxnLst/>
                <a:rect l="l" t="t" r="r" b="b"/>
                <a:pathLst>
                  <a:path w="111125" h="9525">
                    <a:moveTo>
                      <a:pt x="0" y="0"/>
                    </a:moveTo>
                    <a:lnTo>
                      <a:pt x="111125" y="0"/>
                    </a:lnTo>
                  </a:path>
                </a:pathLst>
              </a:custGeom>
              <a:noFill/>
              <a:ln w="19050">
                <a:solidFill>
                  <a:srgbClr val="A50021"/>
                </a:solidFill>
              </a:ln>
            </p:spPr>
          </p:sp>
        </p:grpSp>
        <p:sp>
          <p:nvSpPr>
            <p:cNvPr id="73" name="TextBox 73"/>
            <p:cNvSpPr txBox="1"/>
            <p:nvPr/>
          </p:nvSpPr>
          <p:spPr>
            <a:xfrm>
              <a:off x="8825865" y="2353628"/>
              <a:ext cx="509730" cy="213360"/>
            </a:xfrm>
            <a:prstGeom prst="rect">
              <a:avLst/>
            </a:prstGeom>
            <a:noFill/>
            <a:ln>
              <a:noFill/>
            </a:ln>
          </p:spPr>
          <p:txBody>
            <a:bodyPr wrap="none" lIns="0" tIns="0" rIns="0" bIns="0" anchor="t" anchorCtr="0">
              <a:spAutoFit/>
            </a:bodyPr>
            <a:lstStyle/>
            <a:p>
              <a:pPr algn="l"/>
              <a:r>
                <a:rPr lang="zh-CN" sz="1050" b="1" dirty="0">
                  <a:solidFill>
                    <a:srgbClr val="A50021"/>
                  </a:solidFill>
                  <a:latin typeface="Arial"/>
                  <a:ea typeface="Microsoft YaHei"/>
                  <a:cs typeface="Arial"/>
                </a:rPr>
                <a:t>第三代</a:t>
              </a:r>
            </a:p>
          </p:txBody>
        </p:sp>
        <p:sp>
          <p:nvSpPr>
            <p:cNvPr id="74" name="TextBox 74"/>
            <p:cNvSpPr txBox="1"/>
            <p:nvPr/>
          </p:nvSpPr>
          <p:spPr>
            <a:xfrm>
              <a:off x="8818245" y="2546032"/>
              <a:ext cx="1307068" cy="335280"/>
            </a:xfrm>
            <a:prstGeom prst="rect">
              <a:avLst/>
            </a:prstGeom>
            <a:noFill/>
            <a:ln>
              <a:noFill/>
            </a:ln>
          </p:spPr>
          <p:txBody>
            <a:bodyPr wrap="none" lIns="0" tIns="0" rIns="0" bIns="0" anchor="t" anchorCtr="0">
              <a:spAutoFit/>
            </a:bodyPr>
            <a:lstStyle/>
            <a:p>
              <a:pPr algn="l"/>
              <a:r>
                <a:rPr lang="zh-CN" sz="1650" b="1" dirty="0">
                  <a:solidFill>
                    <a:srgbClr val="1F2328"/>
                  </a:solidFill>
                  <a:latin typeface="Arial"/>
                  <a:ea typeface="SimHei"/>
                  <a:cs typeface="Arial"/>
                </a:rPr>
                <a:t>向量知识库</a:t>
              </a:r>
            </a:p>
          </p:txBody>
        </p:sp>
        <p:sp>
          <p:nvSpPr>
            <p:cNvPr id="75" name="TextBox 75"/>
            <p:cNvSpPr txBox="1"/>
            <p:nvPr/>
          </p:nvSpPr>
          <p:spPr>
            <a:xfrm>
              <a:off x="10178415" y="2610802"/>
              <a:ext cx="793432" cy="213360"/>
            </a:xfrm>
            <a:prstGeom prst="rect">
              <a:avLst/>
            </a:prstGeom>
            <a:noFill/>
            <a:ln>
              <a:noFill/>
            </a:ln>
          </p:spPr>
          <p:txBody>
            <a:bodyPr wrap="none" lIns="0" tIns="0" rIns="0" bIns="0" anchor="t" anchorCtr="0">
              <a:spAutoFit/>
            </a:bodyPr>
            <a:lstStyle/>
            <a:p>
              <a:pPr algn="l"/>
              <a:r>
                <a:rPr lang="zh-CN" sz="1050" dirty="0">
                  <a:solidFill>
                    <a:srgbClr val="8A9099"/>
                  </a:solidFill>
                  <a:latin typeface="Arial"/>
                  <a:ea typeface="Microsoft YaHei"/>
                  <a:cs typeface="Arial"/>
                </a:rPr>
                <a:t>大模型时代</a:t>
              </a:r>
            </a:p>
          </p:txBody>
        </p:sp>
      </p:grpSp>
      <p:sp>
        <p:nvSpPr>
          <p:cNvPr id="77" name="Line 77"/>
          <p:cNvSpPr/>
          <p:nvPr/>
        </p:nvSpPr>
        <p:spPr>
          <a:xfrm>
            <a:off x="8362950" y="2818638"/>
            <a:ext cx="2914650" cy="1"/>
          </a:xfrm>
          <a:prstGeom prst="line">
            <a:avLst/>
          </a:prstGeom>
          <a:noFill/>
          <a:ln w="9525">
            <a:solidFill>
              <a:srgbClr val="E4E7EB"/>
            </a:solidFill>
          </a:ln>
        </p:spPr>
      </p:sp>
      <p:sp>
        <p:nvSpPr>
          <p:cNvPr id="78" name="TextBox 78"/>
          <p:cNvSpPr txBox="1"/>
          <p:nvPr/>
        </p:nvSpPr>
        <p:spPr>
          <a:xfrm>
            <a:off x="8349615" y="2962466"/>
            <a:ext cx="670750" cy="213360"/>
          </a:xfrm>
          <a:prstGeom prst="rect">
            <a:avLst/>
          </a:prstGeom>
          <a:noFill/>
          <a:ln>
            <a:noFill/>
          </a:ln>
        </p:spPr>
        <p:txBody>
          <a:bodyPr wrap="none" lIns="0" tIns="0" rIns="0" bIns="0" anchor="t" anchorCtr="0">
            <a:spAutoFit/>
          </a:bodyPr>
          <a:lstStyle/>
          <a:p>
            <a:pPr algn="l"/>
            <a:r>
              <a:rPr lang="zh-CN" sz="1050" b="1" dirty="0">
                <a:solidFill>
                  <a:srgbClr val="7A1B2E"/>
                </a:solidFill>
                <a:latin typeface="Arial"/>
                <a:ea typeface="Microsoft YaHei"/>
                <a:cs typeface="Arial"/>
              </a:rPr>
              <a:t>底层逻辑</a:t>
            </a:r>
          </a:p>
        </p:txBody>
      </p:sp>
      <p:sp>
        <p:nvSpPr>
          <p:cNvPr id="79" name="TextBox 79"/>
          <p:cNvSpPr txBox="1"/>
          <p:nvPr/>
        </p:nvSpPr>
        <p:spPr>
          <a:xfrm>
            <a:off x="8347710" y="3222498"/>
            <a:ext cx="2326386" cy="243840"/>
          </a:xfrm>
          <a:prstGeom prst="rect">
            <a:avLst/>
          </a:prstGeom>
          <a:noFill/>
          <a:ln>
            <a:noFill/>
          </a:ln>
        </p:spPr>
        <p:txBody>
          <a:bodyPr wrap="none" lIns="0" tIns="0" rIns="0" bIns="0" anchor="t" anchorCtr="0">
            <a:spAutoFit/>
          </a:bodyPr>
          <a:lstStyle/>
          <a:p>
            <a:pPr algn="l"/>
            <a:r>
              <a:rPr lang="zh-CN" sz="1200" dirty="0">
                <a:solidFill>
                  <a:srgbClr val="1F2328"/>
                </a:solidFill>
                <a:latin typeface="Arial"/>
                <a:ea typeface="Microsoft YaHei"/>
                <a:cs typeface="Arial"/>
              </a:rPr>
              <a:t>基于“语义理解”的空间映射，</a:t>
            </a:r>
          </a:p>
        </p:txBody>
      </p:sp>
      <p:sp>
        <p:nvSpPr>
          <p:cNvPr id="80" name="TextBox 80"/>
          <p:cNvSpPr txBox="1"/>
          <p:nvPr/>
        </p:nvSpPr>
        <p:spPr>
          <a:xfrm>
            <a:off x="8347710" y="3451098"/>
            <a:ext cx="2308860" cy="243840"/>
          </a:xfrm>
          <a:prstGeom prst="rect">
            <a:avLst/>
          </a:prstGeom>
          <a:noFill/>
          <a:ln>
            <a:noFill/>
          </a:ln>
        </p:spPr>
        <p:txBody>
          <a:bodyPr wrap="none" lIns="0" tIns="0" rIns="0" bIns="0" anchor="t" anchorCtr="0">
            <a:spAutoFit/>
          </a:bodyPr>
          <a:lstStyle/>
          <a:p>
            <a:pPr algn="l"/>
            <a:r>
              <a:rPr lang="zh-CN" sz="1200" dirty="0">
                <a:solidFill>
                  <a:srgbClr val="1F2328"/>
                </a:solidFill>
                <a:latin typeface="Arial"/>
                <a:ea typeface="Microsoft YaHei"/>
                <a:cs typeface="Arial"/>
              </a:rPr>
              <a:t>把内容和问题转成向量坐标。</a:t>
            </a:r>
          </a:p>
        </p:txBody>
      </p:sp>
      <p:sp>
        <p:nvSpPr>
          <p:cNvPr id="81" name="TextBox 81"/>
          <p:cNvSpPr txBox="1"/>
          <p:nvPr/>
        </p:nvSpPr>
        <p:spPr>
          <a:xfrm>
            <a:off x="8349615" y="3800666"/>
            <a:ext cx="1177964" cy="213360"/>
          </a:xfrm>
          <a:prstGeom prst="rect">
            <a:avLst/>
          </a:prstGeom>
          <a:noFill/>
          <a:ln>
            <a:noFill/>
          </a:ln>
        </p:spPr>
        <p:txBody>
          <a:bodyPr wrap="none" lIns="0" tIns="0" rIns="0" bIns="0" anchor="t" anchorCtr="0">
            <a:spAutoFit/>
          </a:bodyPr>
          <a:lstStyle/>
          <a:p>
            <a:pPr algn="l"/>
            <a:r>
              <a:rPr lang="zh-CN" sz="1050" b="1" dirty="0">
                <a:solidFill>
                  <a:srgbClr val="7A1B2E"/>
                </a:solidFill>
                <a:latin typeface="Arial"/>
                <a:ea typeface="Microsoft YaHei"/>
                <a:cs typeface="Arial"/>
              </a:rPr>
              <a:t>业务映射 &amp; 瓶颈</a:t>
            </a:r>
          </a:p>
        </p:txBody>
      </p:sp>
      <p:sp>
        <p:nvSpPr>
          <p:cNvPr id="82" name="TextBox 82"/>
          <p:cNvSpPr txBox="1"/>
          <p:nvPr/>
        </p:nvSpPr>
        <p:spPr>
          <a:xfrm>
            <a:off x="8348662" y="4068794"/>
            <a:ext cx="2107049"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支撑语义检索、RAG和助手；</a:t>
            </a:r>
          </a:p>
        </p:txBody>
      </p:sp>
      <p:sp>
        <p:nvSpPr>
          <p:cNvPr id="83" name="TextBox 83"/>
          <p:cNvSpPr txBox="1"/>
          <p:nvPr/>
        </p:nvSpPr>
        <p:spPr>
          <a:xfrm>
            <a:off x="8348662" y="4278344"/>
            <a:ext cx="1835944"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关键瓶颈转向知识治理、</a:t>
            </a:r>
          </a:p>
        </p:txBody>
      </p:sp>
      <p:sp>
        <p:nvSpPr>
          <p:cNvPr id="84" name="TextBox 84"/>
          <p:cNvSpPr txBox="1"/>
          <p:nvPr/>
        </p:nvSpPr>
        <p:spPr>
          <a:xfrm>
            <a:off x="8348662" y="4487894"/>
            <a:ext cx="1671638"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切片质量与权限可控。</a:t>
            </a:r>
          </a:p>
        </p:txBody>
      </p:sp>
      <p:sp>
        <p:nvSpPr>
          <p:cNvPr id="86" name="Rectangle 86"/>
          <p:cNvSpPr/>
          <p:nvPr/>
        </p:nvSpPr>
        <p:spPr>
          <a:xfrm>
            <a:off x="685800" y="4972050"/>
            <a:ext cx="10820400" cy="1009650"/>
          </a:xfrm>
          <a:prstGeom prst="roundRect">
            <a:avLst>
              <a:gd name="adj" fmla="val 7547"/>
            </a:avLst>
          </a:prstGeom>
          <a:solidFill>
            <a:srgbClr val="F8F9FA"/>
          </a:solidFill>
          <a:ln w="11430">
            <a:solidFill>
              <a:srgbClr val="E4E7EB"/>
            </a:solidFill>
          </a:ln>
        </p:spPr>
      </p:sp>
      <p:grpSp>
        <p:nvGrpSpPr>
          <p:cNvPr id="90" name="Group 90"/>
          <p:cNvGrpSpPr/>
          <p:nvPr/>
        </p:nvGrpSpPr>
        <p:grpSpPr>
          <a:xfrm>
            <a:off x="1025525" y="5298281"/>
            <a:ext cx="215900" cy="242888"/>
            <a:chOff x="1025525" y="5298281"/>
            <a:chExt cx="215900" cy="242888"/>
          </a:xfrm>
        </p:grpSpPr>
        <p:sp>
          <p:nvSpPr>
            <p:cNvPr id="87" name="Freeform 87"/>
            <p:cNvSpPr/>
            <p:nvPr/>
          </p:nvSpPr>
          <p:spPr>
            <a:xfrm>
              <a:off x="1025525" y="5298281"/>
              <a:ext cx="215900" cy="80962"/>
            </a:xfrm>
            <a:custGeom>
              <a:avLst/>
              <a:gdLst/>
              <a:ahLst/>
              <a:cxnLst/>
              <a:rect l="l" t="t" r="r" b="b"/>
              <a:pathLst>
                <a:path w="215900" h="80962">
                  <a:moveTo>
                    <a:pt x="0" y="40481"/>
                  </a:moveTo>
                  <a:cubicBezTo>
                    <a:pt x="0" y="62838"/>
                    <a:pt x="48331" y="80962"/>
                    <a:pt x="107950" y="80962"/>
                  </a:cubicBezTo>
                  <a:cubicBezTo>
                    <a:pt x="167569" y="80962"/>
                    <a:pt x="215900" y="62838"/>
                    <a:pt x="215900" y="40481"/>
                  </a:cubicBezTo>
                  <a:cubicBezTo>
                    <a:pt x="215900" y="18124"/>
                    <a:pt x="167569" y="0"/>
                    <a:pt x="107950" y="0"/>
                  </a:cubicBezTo>
                  <a:cubicBezTo>
                    <a:pt x="48331" y="0"/>
                    <a:pt x="0" y="18124"/>
                    <a:pt x="0" y="40481"/>
                  </a:cubicBezTo>
                </a:path>
              </a:pathLst>
            </a:custGeom>
            <a:noFill/>
            <a:ln w="19050">
              <a:solidFill>
                <a:srgbClr val="A50021"/>
              </a:solidFill>
            </a:ln>
          </p:spPr>
        </p:sp>
        <p:sp>
          <p:nvSpPr>
            <p:cNvPr id="88" name="Freeform 88"/>
            <p:cNvSpPr/>
            <p:nvPr/>
          </p:nvSpPr>
          <p:spPr>
            <a:xfrm>
              <a:off x="1025525" y="5338762"/>
              <a:ext cx="215900" cy="121444"/>
            </a:xfrm>
            <a:custGeom>
              <a:avLst/>
              <a:gdLst/>
              <a:ahLst/>
              <a:cxnLst/>
              <a:rect l="l" t="t" r="r" b="b"/>
              <a:pathLst>
                <a:path w="215900" h="121444">
                  <a:moveTo>
                    <a:pt x="0" y="0"/>
                  </a:moveTo>
                  <a:lnTo>
                    <a:pt x="0" y="80962"/>
                  </a:lnTo>
                  <a:cubicBezTo>
                    <a:pt x="0" y="103320"/>
                    <a:pt x="48331" y="121444"/>
                    <a:pt x="107950" y="121444"/>
                  </a:cubicBezTo>
                  <a:cubicBezTo>
                    <a:pt x="167569" y="121444"/>
                    <a:pt x="215900" y="103320"/>
                    <a:pt x="215900" y="80962"/>
                  </a:cubicBezTo>
                  <a:lnTo>
                    <a:pt x="215900" y="0"/>
                  </a:lnTo>
                </a:path>
              </a:pathLst>
            </a:custGeom>
            <a:noFill/>
            <a:ln w="19050">
              <a:solidFill>
                <a:srgbClr val="A50021"/>
              </a:solidFill>
            </a:ln>
          </p:spPr>
        </p:sp>
        <p:sp>
          <p:nvSpPr>
            <p:cNvPr id="89" name="Freeform 89"/>
            <p:cNvSpPr/>
            <p:nvPr/>
          </p:nvSpPr>
          <p:spPr>
            <a:xfrm>
              <a:off x="1025525" y="5419725"/>
              <a:ext cx="215900" cy="121444"/>
            </a:xfrm>
            <a:custGeom>
              <a:avLst/>
              <a:gdLst/>
              <a:ahLst/>
              <a:cxnLst/>
              <a:rect l="l" t="t" r="r" b="b"/>
              <a:pathLst>
                <a:path w="215900" h="121444">
                  <a:moveTo>
                    <a:pt x="0" y="0"/>
                  </a:moveTo>
                  <a:lnTo>
                    <a:pt x="0" y="80962"/>
                  </a:lnTo>
                  <a:cubicBezTo>
                    <a:pt x="0" y="103320"/>
                    <a:pt x="48331" y="121444"/>
                    <a:pt x="107950" y="121444"/>
                  </a:cubicBezTo>
                  <a:cubicBezTo>
                    <a:pt x="167569" y="121444"/>
                    <a:pt x="215900" y="103320"/>
                    <a:pt x="215900" y="80962"/>
                  </a:cubicBezTo>
                  <a:lnTo>
                    <a:pt x="215900" y="0"/>
                  </a:lnTo>
                </a:path>
              </a:pathLst>
            </a:custGeom>
            <a:noFill/>
            <a:ln w="19050">
              <a:solidFill>
                <a:srgbClr val="A50021"/>
              </a:solidFill>
            </a:ln>
          </p:spPr>
        </p:sp>
      </p:grpSp>
      <p:sp>
        <p:nvSpPr>
          <p:cNvPr id="91" name="TextBox 91"/>
          <p:cNvSpPr txBox="1"/>
          <p:nvPr/>
        </p:nvSpPr>
        <p:spPr>
          <a:xfrm>
            <a:off x="1447800" y="5124450"/>
            <a:ext cx="7445026" cy="304800"/>
          </a:xfrm>
          <a:prstGeom prst="rect">
            <a:avLst/>
          </a:prstGeom>
          <a:noFill/>
          <a:ln>
            <a:noFill/>
          </a:ln>
        </p:spPr>
        <p:txBody>
          <a:bodyPr wrap="none" lIns="0" tIns="0" rIns="0" bIns="0" anchor="t" anchorCtr="0">
            <a:spAutoFit/>
          </a:bodyPr>
          <a:lstStyle/>
          <a:p>
            <a:pPr algn="l"/>
            <a:r>
              <a:rPr lang="zh-CN" sz="1500" b="1" dirty="0">
                <a:solidFill>
                  <a:srgbClr val="1F2328"/>
                </a:solidFill>
                <a:latin typeface="Arial"/>
                <a:ea typeface="SimHei"/>
                <a:cs typeface="Arial"/>
              </a:rPr>
              <a:t>演进主线：知识库的价值，从“收得全”转向“找得准、答得出、可追溯”。</a:t>
            </a:r>
          </a:p>
        </p:txBody>
      </p:sp>
      <p:sp>
        <p:nvSpPr>
          <p:cNvPr id="92" name="TextBox 92"/>
          <p:cNvSpPr txBox="1"/>
          <p:nvPr/>
        </p:nvSpPr>
        <p:spPr>
          <a:xfrm>
            <a:off x="1452562" y="5460206"/>
            <a:ext cx="5943600"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专家系统解决确定规则，搜索引擎解决文本命中，向量知识库开始解决意图理解。</a:t>
            </a:r>
          </a:p>
        </p:txBody>
      </p:sp>
      <p:sp>
        <p:nvSpPr>
          <p:cNvPr id="93" name="TextBox 93"/>
          <p:cNvSpPr txBox="1"/>
          <p:nvPr/>
        </p:nvSpPr>
        <p:spPr>
          <a:xfrm>
            <a:off x="1452562" y="5679281"/>
            <a:ext cx="7093744"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对银行而言，下一阶段重点不是单纯堆文档，而是把制度、产品、流程沉淀成可治理的语义资产。</a:t>
            </a:r>
          </a:p>
        </p:txBody>
      </p:sp>
      <p:sp>
        <p:nvSpPr>
          <p:cNvPr id="95" name="Line 95"/>
          <p:cNvSpPr/>
          <p:nvPr/>
        </p:nvSpPr>
        <p:spPr>
          <a:xfrm>
            <a:off x="685800" y="6286500"/>
            <a:ext cx="10820400" cy="1"/>
          </a:xfrm>
          <a:prstGeom prst="line">
            <a:avLst/>
          </a:prstGeom>
          <a:noFill/>
          <a:ln w="11430">
            <a:solidFill>
              <a:srgbClr val="E4E7EB"/>
            </a:solidFill>
          </a:ln>
        </p:spPr>
      </p:sp>
      <p:sp>
        <p:nvSpPr>
          <p:cNvPr id="96" name="TextBox 96"/>
          <p:cNvSpPr txBox="1"/>
          <p:nvPr/>
        </p:nvSpPr>
        <p:spPr>
          <a:xfrm>
            <a:off x="674370" y="6475095"/>
            <a:ext cx="4012216"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Source: 用户提供内容，PPT Master 重构为可编辑 SVG/PPT 形状。</a:t>
            </a:r>
          </a:p>
        </p:txBody>
      </p:sp>
      <p:sp>
        <p:nvSpPr>
          <p:cNvPr id="97" name="TextBox 97"/>
          <p:cNvSpPr txBox="1"/>
          <p:nvPr/>
        </p:nvSpPr>
        <p:spPr>
          <a:xfrm>
            <a:off x="5948482" y="6458902"/>
            <a:ext cx="295037"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Arial"/>
                <a:ea typeface="SimHei"/>
                <a:cs typeface="Arial"/>
              </a:rPr>
              <a:t>1 / 1</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3"/>
          <a:stretch>
            <a:fillRect/>
          </a:stretch>
        </p:blipFill>
        <p:spPr>
          <a:xfrm>
            <a:off x="0" y="0"/>
            <a:ext cx="12192000" cy="6858000"/>
          </a:xfrm>
          <a:prstGeom prst="rect">
            <a:avLst/>
          </a:prstGeom>
        </p:spPr>
      </p:pic>
      <p:pic>
        <p:nvPicPr>
          <p:cNvPr id="4" name="Image 4"/>
          <p:cNvPicPr>
            <a:picLocks noChangeAspect="1"/>
          </p:cNvPicPr>
          <p:nvPr/>
        </p:nvPicPr>
        <p:blipFill>
          <a:blip r:embed="rId4"/>
          <a:stretch>
            <a:fillRect/>
          </a:stretch>
        </p:blipFill>
        <p:spPr>
          <a:xfrm>
            <a:off x="9709785" y="419100"/>
            <a:ext cx="2012632" cy="571500"/>
          </a:xfrm>
          <a:prstGeom prst="rect">
            <a:avLst/>
          </a:prstGeom>
        </p:spPr>
      </p:pic>
      <p:grpSp>
        <p:nvGrpSpPr>
          <p:cNvPr id="8" name="chapterTitle"/>
          <p:cNvGrpSpPr/>
          <p:nvPr/>
        </p:nvGrpSpPr>
        <p:grpSpPr>
          <a:xfrm>
            <a:off x="3565970" y="2632710"/>
            <a:ext cx="5060061" cy="1520190"/>
            <a:chOff x="3565970" y="2632710"/>
            <a:chExt cx="5060061" cy="1520190"/>
          </a:xfrm>
        </p:grpSpPr>
        <p:sp>
          <p:nvSpPr>
            <p:cNvPr id="5" name="TextBox 5"/>
            <p:cNvSpPr txBox="1"/>
            <p:nvPr/>
          </p:nvSpPr>
          <p:spPr>
            <a:xfrm>
              <a:off x="5673280" y="2632710"/>
              <a:ext cx="845439" cy="243840"/>
            </a:xfrm>
            <a:prstGeom prst="rect">
              <a:avLst/>
            </a:prstGeom>
            <a:noFill/>
            <a:ln>
              <a:noFill/>
            </a:ln>
          </p:spPr>
          <p:txBody>
            <a:bodyPr wrap="none" lIns="0" tIns="0" rIns="0" bIns="0" anchor="t" anchorCtr="0">
              <a:spAutoFit/>
            </a:bodyPr>
            <a:lstStyle/>
            <a:p>
              <a:pPr algn="ctr"/>
              <a:r>
                <a:rPr lang="zh-CN" sz="1200" dirty="0">
                  <a:solidFill>
                    <a:srgbClr val="B40029"/>
                  </a:solidFill>
                  <a:latin typeface="Arial"/>
                  <a:ea typeface="Microsoft YaHei"/>
                  <a:cs typeface="Arial"/>
                </a:rPr>
                <a:t>SECTION 2</a:t>
              </a:r>
            </a:p>
          </p:txBody>
        </p:sp>
        <p:sp>
          <p:nvSpPr>
            <p:cNvPr id="6" name="Line 6"/>
            <p:cNvSpPr/>
            <p:nvPr/>
          </p:nvSpPr>
          <p:spPr>
            <a:xfrm>
              <a:off x="5143500" y="3048000"/>
              <a:ext cx="1905000" cy="1"/>
            </a:xfrm>
            <a:prstGeom prst="line">
              <a:avLst/>
            </a:prstGeom>
            <a:noFill/>
            <a:ln w="47625">
              <a:solidFill>
                <a:srgbClr val="B40029"/>
              </a:solidFill>
            </a:ln>
          </p:spPr>
        </p:sp>
        <p:sp>
          <p:nvSpPr>
            <p:cNvPr id="7" name="TextBox 7"/>
            <p:cNvSpPr txBox="1"/>
            <p:nvPr/>
          </p:nvSpPr>
          <p:spPr>
            <a:xfrm>
              <a:off x="3565970" y="3421380"/>
              <a:ext cx="5060061" cy="731520"/>
            </a:xfrm>
            <a:prstGeom prst="rect">
              <a:avLst/>
            </a:prstGeom>
            <a:noFill/>
            <a:ln>
              <a:noFill/>
            </a:ln>
          </p:spPr>
          <p:txBody>
            <a:bodyPr wrap="none" lIns="0" tIns="0" rIns="0" bIns="0" anchor="t" anchorCtr="0">
              <a:spAutoFit/>
            </a:bodyPr>
            <a:lstStyle/>
            <a:p>
              <a:pPr algn="ctr"/>
              <a:r>
                <a:rPr lang="zh-CN" sz="3600" b="1" dirty="0">
                  <a:solidFill>
                    <a:srgbClr val="1F2328"/>
                  </a:solidFill>
                  <a:latin typeface="Arial"/>
                  <a:ea typeface="SimHei"/>
                  <a:cs typeface="Arial"/>
                </a:rPr>
                <a:t>向量知识库建设情况</a:t>
              </a:r>
            </a:p>
          </p:txBody>
        </p:sp>
      </p:grpSp>
      <p:grpSp>
        <p:nvGrpSpPr>
          <p:cNvPr id="11" name="footer"/>
          <p:cNvGrpSpPr/>
          <p:nvPr/>
        </p:nvGrpSpPr>
        <p:grpSpPr>
          <a:xfrm>
            <a:off x="571500" y="6286500"/>
            <a:ext cx="11049000" cy="385762"/>
            <a:chOff x="571500" y="6286500"/>
            <a:chExt cx="11049000" cy="385762"/>
          </a:xfrm>
        </p:grpSpPr>
        <p:sp>
          <p:nvSpPr>
            <p:cNvPr id="9" name="Line 9"/>
            <p:cNvSpPr/>
            <p:nvPr/>
          </p:nvSpPr>
          <p:spPr>
            <a:xfrm>
              <a:off x="571500" y="6286500"/>
              <a:ext cx="11049000" cy="1"/>
            </a:xfrm>
            <a:prstGeom prst="line">
              <a:avLst/>
            </a:prstGeom>
            <a:noFill/>
            <a:ln w="9525">
              <a:solidFill>
                <a:srgbClr val="E4E7EB"/>
              </a:solidFill>
            </a:ln>
          </p:spPr>
        </p:sp>
        <p:sp>
          <p:nvSpPr>
            <p:cNvPr id="10" name="TextBox 10"/>
            <p:cNvSpPr txBox="1"/>
            <p:nvPr/>
          </p:nvSpPr>
          <p:spPr>
            <a:xfrm>
              <a:off x="5844969" y="6458902"/>
              <a:ext cx="502063"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Arial"/>
                  <a:ea typeface="Microsoft YaHei"/>
                  <a:cs typeface="Arial"/>
                </a:rPr>
                <a:t>14 / 27</a:t>
              </a:r>
            </a:p>
          </p:txBody>
        </p:sp>
      </p:gr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3"/>
          <p:cNvPicPr>
            <a:picLocks noChangeAspect="1"/>
          </p:cNvPicPr>
          <p:nvPr/>
        </p:nvPicPr>
        <p:blipFill>
          <a:blip r:embed="rId3"/>
          <a:stretch>
            <a:fillRect/>
          </a:stretch>
        </p:blipFill>
        <p:spPr>
          <a:xfrm>
            <a:off x="9705234" y="419100"/>
            <a:ext cx="2020783" cy="571500"/>
          </a:xfrm>
          <a:prstGeom prst="rect">
            <a:avLst/>
          </a:prstGeom>
        </p:spPr>
      </p:pic>
      <p:sp>
        <p:nvSpPr>
          <p:cNvPr id="4" name="TextBox 4"/>
          <p:cNvSpPr txBox="1"/>
          <p:nvPr/>
        </p:nvSpPr>
        <p:spPr>
          <a:xfrm>
            <a:off x="657225" y="519112"/>
            <a:ext cx="1154162" cy="346249"/>
          </a:xfrm>
          <a:prstGeom prst="rect">
            <a:avLst/>
          </a:prstGeom>
          <a:noFill/>
          <a:ln>
            <a:noFill/>
          </a:ln>
        </p:spPr>
        <p:txBody>
          <a:bodyPr wrap="none" lIns="0" tIns="0" rIns="0" bIns="0" anchor="t" anchorCtr="0">
            <a:spAutoFit/>
          </a:bodyPr>
          <a:lstStyle/>
          <a:p>
            <a:pPr algn="l"/>
            <a:r>
              <a:rPr lang="zh-CN" altLang="en-US" sz="2250" b="1" dirty="0">
                <a:solidFill>
                  <a:srgbClr val="1F2328"/>
                </a:solidFill>
                <a:latin typeface="Arial"/>
                <a:ea typeface="Microsoft YaHei"/>
                <a:cs typeface="Arial"/>
              </a:rPr>
              <a:t>任务来源</a:t>
            </a:r>
            <a:endParaRPr lang="zh-CN" sz="2250" b="1" dirty="0">
              <a:solidFill>
                <a:srgbClr val="1F2328"/>
              </a:solidFill>
              <a:latin typeface="Arial"/>
              <a:ea typeface="Microsoft YaHei"/>
              <a:cs typeface="Arial"/>
            </a:endParaRPr>
          </a:p>
        </p:txBody>
      </p:sp>
      <p:sp>
        <p:nvSpPr>
          <p:cNvPr id="5" name="Line 5"/>
          <p:cNvSpPr/>
          <p:nvPr/>
        </p:nvSpPr>
        <p:spPr>
          <a:xfrm>
            <a:off x="685800" y="933450"/>
            <a:ext cx="3314700" cy="9525"/>
          </a:xfrm>
          <a:custGeom>
            <a:avLst/>
            <a:gdLst/>
            <a:ahLst/>
            <a:cxnLst/>
            <a:rect l="l" t="t" r="r" b="b"/>
            <a:pathLst>
              <a:path w="3314700" h="9525">
                <a:moveTo>
                  <a:pt x="0" y="0"/>
                </a:moveTo>
                <a:lnTo>
                  <a:pt x="3314700" y="0"/>
                </a:lnTo>
              </a:path>
            </a:pathLst>
          </a:custGeom>
          <a:noFill/>
          <a:ln w="28575">
            <a:solidFill>
              <a:srgbClr val="A50021"/>
            </a:solidFill>
          </a:ln>
        </p:spPr>
      </p:sp>
      <p:sp>
        <p:nvSpPr>
          <p:cNvPr id="7" name="Rectangle 7"/>
          <p:cNvSpPr/>
          <p:nvPr/>
        </p:nvSpPr>
        <p:spPr>
          <a:xfrm>
            <a:off x="685800" y="1162050"/>
            <a:ext cx="10820400" cy="533400"/>
          </a:xfrm>
          <a:prstGeom prst="roundRect">
            <a:avLst>
              <a:gd name="adj" fmla="val 14286"/>
            </a:avLst>
          </a:prstGeom>
          <a:solidFill>
            <a:srgbClr val="FFF7F7"/>
          </a:solidFill>
          <a:ln w="9525">
            <a:solidFill>
              <a:srgbClr val="F3D7DC"/>
            </a:solidFill>
          </a:ln>
        </p:spPr>
      </p:sp>
      <p:sp>
        <p:nvSpPr>
          <p:cNvPr id="8" name="TextBox 8"/>
          <p:cNvSpPr txBox="1"/>
          <p:nvPr/>
        </p:nvSpPr>
        <p:spPr>
          <a:xfrm>
            <a:off x="933450" y="1333500"/>
            <a:ext cx="1346522" cy="230832"/>
          </a:xfrm>
          <a:prstGeom prst="rect">
            <a:avLst/>
          </a:prstGeom>
          <a:noFill/>
          <a:ln>
            <a:noFill/>
          </a:ln>
        </p:spPr>
        <p:txBody>
          <a:bodyPr wrap="none" lIns="0" tIns="0" rIns="0" bIns="0" anchor="t" anchorCtr="0">
            <a:spAutoFit/>
          </a:bodyPr>
          <a:lstStyle/>
          <a:p>
            <a:pPr algn="l"/>
            <a:r>
              <a:rPr lang="zh-CN" altLang="en-US" sz="1500" b="1" dirty="0">
                <a:solidFill>
                  <a:srgbClr val="7A0018"/>
                </a:solidFill>
                <a:latin typeface="Arial"/>
                <a:ea typeface="Microsoft YaHei"/>
                <a:cs typeface="Arial"/>
              </a:rPr>
              <a:t>向量知识库建设</a:t>
            </a:r>
            <a:endParaRPr lang="zh-CN" sz="1500" b="1" dirty="0">
              <a:solidFill>
                <a:srgbClr val="7A0018"/>
              </a:solidFill>
              <a:latin typeface="Arial"/>
              <a:ea typeface="Microsoft YaHei"/>
              <a:cs typeface="Arial"/>
            </a:endParaRPr>
          </a:p>
        </p:txBody>
      </p:sp>
      <p:sp>
        <p:nvSpPr>
          <p:cNvPr id="9" name="TextBox 9"/>
          <p:cNvSpPr txBox="1"/>
          <p:nvPr/>
        </p:nvSpPr>
        <p:spPr>
          <a:xfrm>
            <a:off x="2281237" y="1333500"/>
            <a:ext cx="3847207" cy="230832"/>
          </a:xfrm>
          <a:prstGeom prst="rect">
            <a:avLst/>
          </a:prstGeom>
          <a:noFill/>
          <a:ln>
            <a:noFill/>
          </a:ln>
        </p:spPr>
        <p:txBody>
          <a:bodyPr wrap="none" lIns="0" tIns="0" rIns="0" bIns="0" anchor="t" anchorCtr="0">
            <a:spAutoFit/>
          </a:bodyPr>
          <a:lstStyle/>
          <a:p>
            <a:pPr algn="l"/>
            <a:r>
              <a:rPr lang="zh-CN" sz="1500" dirty="0">
                <a:solidFill>
                  <a:srgbClr val="1F2328"/>
                </a:solidFill>
                <a:latin typeface="Arial"/>
                <a:ea typeface="Microsoft YaHei"/>
                <a:cs typeface="Arial"/>
              </a:rPr>
              <a:t>从技术课题明确为数据治理与知识运营任务。</a:t>
            </a:r>
          </a:p>
        </p:txBody>
      </p:sp>
      <p:sp>
        <p:nvSpPr>
          <p:cNvPr id="11" name="Line 11"/>
          <p:cNvSpPr/>
          <p:nvPr/>
        </p:nvSpPr>
        <p:spPr>
          <a:xfrm>
            <a:off x="1562100" y="3028950"/>
            <a:ext cx="7105650" cy="9525"/>
          </a:xfrm>
          <a:custGeom>
            <a:avLst/>
            <a:gdLst/>
            <a:ahLst/>
            <a:cxnLst/>
            <a:rect l="l" t="t" r="r" b="b"/>
            <a:pathLst>
              <a:path w="7105650" h="9525">
                <a:moveTo>
                  <a:pt x="0" y="0"/>
                </a:moveTo>
                <a:lnTo>
                  <a:pt x="7105650" y="0"/>
                </a:lnTo>
              </a:path>
            </a:pathLst>
          </a:custGeom>
          <a:noFill/>
          <a:ln w="57150" cap="rnd">
            <a:solidFill>
              <a:srgbClr val="E4E7EB"/>
            </a:solidFill>
          </a:ln>
        </p:spPr>
      </p:sp>
      <p:sp>
        <p:nvSpPr>
          <p:cNvPr id="12" name="Line 12"/>
          <p:cNvSpPr/>
          <p:nvPr/>
        </p:nvSpPr>
        <p:spPr>
          <a:xfrm>
            <a:off x="1562100" y="3028950"/>
            <a:ext cx="7105650" cy="9525"/>
          </a:xfrm>
          <a:custGeom>
            <a:avLst/>
            <a:gdLst/>
            <a:ahLst/>
            <a:cxnLst/>
            <a:rect l="l" t="t" r="r" b="b"/>
            <a:pathLst>
              <a:path w="7105650" h="9525">
                <a:moveTo>
                  <a:pt x="0" y="0"/>
                </a:moveTo>
                <a:lnTo>
                  <a:pt x="7105650" y="0"/>
                </a:lnTo>
              </a:path>
            </a:pathLst>
          </a:custGeom>
          <a:noFill/>
          <a:ln w="57150" cap="rnd">
            <a:solidFill>
              <a:srgbClr val="A50021"/>
            </a:solidFill>
          </a:ln>
        </p:spPr>
      </p:sp>
      <p:sp>
        <p:nvSpPr>
          <p:cNvPr id="13" name="Ellipse 13"/>
          <p:cNvSpPr/>
          <p:nvPr/>
        </p:nvSpPr>
        <p:spPr>
          <a:xfrm>
            <a:off x="1876425" y="2790825"/>
            <a:ext cx="476250" cy="476250"/>
          </a:xfrm>
          <a:prstGeom prst="ellipse">
            <a:avLst/>
          </a:prstGeom>
          <a:solidFill>
            <a:srgbClr val="A50021"/>
          </a:solidFill>
          <a:ln>
            <a:noFill/>
          </a:ln>
        </p:spPr>
      </p:sp>
      <p:sp>
        <p:nvSpPr>
          <p:cNvPr id="14" name="Ellipse 14"/>
          <p:cNvSpPr/>
          <p:nvPr/>
        </p:nvSpPr>
        <p:spPr>
          <a:xfrm>
            <a:off x="6257925" y="2790825"/>
            <a:ext cx="476250" cy="476250"/>
          </a:xfrm>
          <a:prstGeom prst="ellipse">
            <a:avLst/>
          </a:prstGeom>
          <a:solidFill>
            <a:srgbClr val="A50021"/>
          </a:solidFill>
          <a:ln>
            <a:noFill/>
          </a:ln>
        </p:spPr>
      </p:sp>
      <p:grpSp>
        <p:nvGrpSpPr>
          <p:cNvPr id="17" name="Group 17"/>
          <p:cNvGrpSpPr/>
          <p:nvPr/>
        </p:nvGrpSpPr>
        <p:grpSpPr>
          <a:xfrm>
            <a:off x="1947862" y="2838450"/>
            <a:ext cx="333375" cy="357188"/>
            <a:chOff x="1947862" y="2838450"/>
            <a:chExt cx="333375" cy="357188"/>
          </a:xfrm>
        </p:grpSpPr>
        <p:sp>
          <p:nvSpPr>
            <p:cNvPr id="15" name="Freeform 15"/>
            <p:cNvSpPr/>
            <p:nvPr/>
          </p:nvSpPr>
          <p:spPr>
            <a:xfrm>
              <a:off x="1947862" y="2838450"/>
              <a:ext cx="333375" cy="119062"/>
            </a:xfrm>
            <a:custGeom>
              <a:avLst/>
              <a:gdLst/>
              <a:ahLst/>
              <a:cxnLst/>
              <a:rect l="l" t="t" r="r" b="b"/>
              <a:pathLst>
                <a:path w="333375" h="119062">
                  <a:moveTo>
                    <a:pt x="119062" y="0"/>
                  </a:moveTo>
                  <a:lnTo>
                    <a:pt x="47625" y="0"/>
                  </a:lnTo>
                  <a:lnTo>
                    <a:pt x="47625" y="47625"/>
                  </a:lnTo>
                  <a:lnTo>
                    <a:pt x="0" y="47625"/>
                  </a:lnTo>
                  <a:lnTo>
                    <a:pt x="0" y="119062"/>
                  </a:lnTo>
                  <a:lnTo>
                    <a:pt x="333375" y="119062"/>
                  </a:lnTo>
                  <a:lnTo>
                    <a:pt x="333375" y="47625"/>
                  </a:lnTo>
                  <a:lnTo>
                    <a:pt x="285750" y="47625"/>
                  </a:lnTo>
                  <a:lnTo>
                    <a:pt x="285750" y="0"/>
                  </a:lnTo>
                  <a:lnTo>
                    <a:pt x="214312" y="0"/>
                  </a:lnTo>
                  <a:lnTo>
                    <a:pt x="214312" y="47625"/>
                  </a:lnTo>
                  <a:lnTo>
                    <a:pt x="119062" y="47625"/>
                  </a:lnTo>
                  <a:lnTo>
                    <a:pt x="119062" y="0"/>
                  </a:lnTo>
                  <a:close/>
                </a:path>
              </a:pathLst>
            </a:custGeom>
            <a:solidFill>
              <a:srgbClr val="FFFFFF"/>
            </a:solidFill>
            <a:ln>
              <a:noFill/>
            </a:ln>
          </p:spPr>
        </p:sp>
        <p:sp>
          <p:nvSpPr>
            <p:cNvPr id="16" name="Freeform 16"/>
            <p:cNvSpPr/>
            <p:nvPr/>
          </p:nvSpPr>
          <p:spPr>
            <a:xfrm>
              <a:off x="1947862" y="3005138"/>
              <a:ext cx="333375" cy="190500"/>
            </a:xfrm>
            <a:custGeom>
              <a:avLst/>
              <a:gdLst/>
              <a:ahLst/>
              <a:cxnLst/>
              <a:rect l="l" t="t" r="r" b="b"/>
              <a:pathLst>
                <a:path w="333375" h="190500">
                  <a:moveTo>
                    <a:pt x="333375" y="0"/>
                  </a:moveTo>
                  <a:lnTo>
                    <a:pt x="0" y="0"/>
                  </a:lnTo>
                  <a:lnTo>
                    <a:pt x="0" y="190500"/>
                  </a:lnTo>
                  <a:lnTo>
                    <a:pt x="333375" y="190500"/>
                  </a:lnTo>
                  <a:lnTo>
                    <a:pt x="333375" y="0"/>
                  </a:lnTo>
                  <a:close/>
                </a:path>
              </a:pathLst>
            </a:custGeom>
            <a:solidFill>
              <a:srgbClr val="FFFFFF"/>
            </a:solidFill>
            <a:ln>
              <a:noFill/>
            </a:ln>
          </p:spPr>
        </p:sp>
      </p:grpSp>
      <p:grpSp>
        <p:nvGrpSpPr>
          <p:cNvPr id="20" name="Group 20"/>
          <p:cNvGrpSpPr/>
          <p:nvPr/>
        </p:nvGrpSpPr>
        <p:grpSpPr>
          <a:xfrm>
            <a:off x="6305550" y="2838450"/>
            <a:ext cx="381000" cy="381000"/>
            <a:chOff x="6305550" y="2838450"/>
            <a:chExt cx="381000" cy="381000"/>
          </a:xfrm>
        </p:grpSpPr>
        <p:sp>
          <p:nvSpPr>
            <p:cNvPr id="18" name="Freeform 18"/>
            <p:cNvSpPr/>
            <p:nvPr/>
          </p:nvSpPr>
          <p:spPr>
            <a:xfrm>
              <a:off x="6400800" y="2933700"/>
              <a:ext cx="190500" cy="190500"/>
            </a:xfrm>
            <a:custGeom>
              <a:avLst/>
              <a:gdLst/>
              <a:ahLst/>
              <a:cxnLst/>
              <a:rect l="l" t="t" r="r" b="b"/>
              <a:pathLst>
                <a:path w="190500" h="190500">
                  <a:moveTo>
                    <a:pt x="95250" y="0"/>
                  </a:moveTo>
                  <a:cubicBezTo>
                    <a:pt x="42645" y="0"/>
                    <a:pt x="0" y="42645"/>
                    <a:pt x="0" y="95250"/>
                  </a:cubicBezTo>
                  <a:cubicBezTo>
                    <a:pt x="0" y="147854"/>
                    <a:pt x="42645" y="190500"/>
                    <a:pt x="95250" y="190500"/>
                  </a:cubicBezTo>
                  <a:cubicBezTo>
                    <a:pt x="147854" y="190500"/>
                    <a:pt x="190500" y="147854"/>
                    <a:pt x="190500" y="95250"/>
                  </a:cubicBezTo>
                  <a:cubicBezTo>
                    <a:pt x="190500" y="42645"/>
                    <a:pt x="147854" y="0"/>
                    <a:pt x="95250" y="0"/>
                  </a:cubicBezTo>
                  <a:close/>
                  <a:moveTo>
                    <a:pt x="47625" y="95250"/>
                  </a:moveTo>
                  <a:cubicBezTo>
                    <a:pt x="47625" y="68947"/>
                    <a:pt x="68947" y="47625"/>
                    <a:pt x="95250" y="47625"/>
                  </a:cubicBezTo>
                  <a:cubicBezTo>
                    <a:pt x="121553" y="47625"/>
                    <a:pt x="142875" y="68947"/>
                    <a:pt x="142875" y="95250"/>
                  </a:cubicBezTo>
                  <a:cubicBezTo>
                    <a:pt x="142875" y="121553"/>
                    <a:pt x="121553" y="142875"/>
                    <a:pt x="95250" y="142875"/>
                  </a:cubicBezTo>
                  <a:cubicBezTo>
                    <a:pt x="68947" y="142875"/>
                    <a:pt x="47625" y="121553"/>
                    <a:pt x="47625" y="95250"/>
                  </a:cubicBezTo>
                  <a:close/>
                </a:path>
              </a:pathLst>
            </a:custGeom>
            <a:solidFill>
              <a:srgbClr val="FFFFFF"/>
            </a:solidFill>
            <a:ln>
              <a:noFill/>
            </a:ln>
          </p:spPr>
        </p:sp>
        <p:sp>
          <p:nvSpPr>
            <p:cNvPr id="19" name="Freeform 19"/>
            <p:cNvSpPr/>
            <p:nvPr/>
          </p:nvSpPr>
          <p:spPr>
            <a:xfrm>
              <a:off x="6305550" y="2838450"/>
              <a:ext cx="381000" cy="381000"/>
            </a:xfrm>
            <a:custGeom>
              <a:avLst/>
              <a:gdLst/>
              <a:ahLst/>
              <a:cxnLst/>
              <a:rect l="l" t="t" r="r" b="b"/>
              <a:pathLst>
                <a:path w="381000" h="381000">
                  <a:moveTo>
                    <a:pt x="190500" y="0"/>
                  </a:moveTo>
                  <a:cubicBezTo>
                    <a:pt x="85290" y="0"/>
                    <a:pt x="0" y="85290"/>
                    <a:pt x="0" y="190500"/>
                  </a:cubicBezTo>
                  <a:cubicBezTo>
                    <a:pt x="0" y="295711"/>
                    <a:pt x="85290" y="381000"/>
                    <a:pt x="190500" y="381000"/>
                  </a:cubicBezTo>
                  <a:cubicBezTo>
                    <a:pt x="295711" y="381000"/>
                    <a:pt x="381000" y="295711"/>
                    <a:pt x="381000" y="190500"/>
                  </a:cubicBezTo>
                  <a:cubicBezTo>
                    <a:pt x="381000" y="85290"/>
                    <a:pt x="295711" y="0"/>
                    <a:pt x="190500" y="0"/>
                  </a:cubicBezTo>
                  <a:close/>
                  <a:moveTo>
                    <a:pt x="47625" y="190500"/>
                  </a:moveTo>
                  <a:cubicBezTo>
                    <a:pt x="47625" y="111592"/>
                    <a:pt x="111592" y="47625"/>
                    <a:pt x="190500" y="47625"/>
                  </a:cubicBezTo>
                  <a:cubicBezTo>
                    <a:pt x="269407" y="47625"/>
                    <a:pt x="333375" y="111592"/>
                    <a:pt x="333375" y="190500"/>
                  </a:cubicBezTo>
                  <a:cubicBezTo>
                    <a:pt x="333375" y="269407"/>
                    <a:pt x="269407" y="333375"/>
                    <a:pt x="190500" y="333375"/>
                  </a:cubicBezTo>
                  <a:cubicBezTo>
                    <a:pt x="111592" y="333375"/>
                    <a:pt x="47625" y="269407"/>
                    <a:pt x="47625" y="190500"/>
                  </a:cubicBezTo>
                  <a:close/>
                </a:path>
              </a:pathLst>
            </a:custGeom>
            <a:solidFill>
              <a:srgbClr val="FFFFFF"/>
            </a:solidFill>
            <a:ln>
              <a:noFill/>
            </a:ln>
          </p:spPr>
        </p:sp>
      </p:grpSp>
      <p:sp>
        <p:nvSpPr>
          <p:cNvPr id="22" name="Rectangle 22"/>
          <p:cNvSpPr/>
          <p:nvPr/>
        </p:nvSpPr>
        <p:spPr>
          <a:xfrm>
            <a:off x="895350" y="1943100"/>
            <a:ext cx="3714750" cy="2650182"/>
          </a:xfrm>
          <a:prstGeom prst="roundRect">
            <a:avLst>
              <a:gd name="adj" fmla="val 4545"/>
            </a:avLst>
          </a:prstGeom>
          <a:solidFill>
            <a:srgbClr val="FFFFFF"/>
          </a:solidFill>
          <a:ln w="11430">
            <a:solidFill>
              <a:srgbClr val="E4E7EB"/>
            </a:solidFill>
          </a:ln>
          <a:effectLst>
            <a:outerShdw blurRad="114300" dist="38100" dir="5400000" algn="ctr" rotWithShape="0">
              <a:srgbClr val="000000">
                <a:alpha val="6000"/>
              </a:srgbClr>
            </a:outerShdw>
          </a:effectLst>
        </p:spPr>
      </p:sp>
      <p:sp>
        <p:nvSpPr>
          <p:cNvPr id="23" name="TextBox 23"/>
          <p:cNvSpPr txBox="1"/>
          <p:nvPr/>
        </p:nvSpPr>
        <p:spPr>
          <a:xfrm>
            <a:off x="1158240" y="2110740"/>
            <a:ext cx="1563910" cy="365760"/>
          </a:xfrm>
          <a:prstGeom prst="rect">
            <a:avLst/>
          </a:prstGeom>
          <a:noFill/>
          <a:ln>
            <a:noFill/>
          </a:ln>
        </p:spPr>
        <p:txBody>
          <a:bodyPr wrap="none" lIns="0" tIns="0" rIns="0" bIns="0" anchor="t" anchorCtr="0">
            <a:spAutoFit/>
          </a:bodyPr>
          <a:lstStyle/>
          <a:p>
            <a:pPr algn="l"/>
            <a:r>
              <a:rPr lang="zh-CN" sz="1800" b="1" dirty="0">
                <a:solidFill>
                  <a:srgbClr val="A50021"/>
                </a:solidFill>
                <a:latin typeface="Arial"/>
                <a:ea typeface="Microsoft YaHei"/>
                <a:cs typeface="Arial"/>
              </a:rPr>
              <a:t>2025.03.20</a:t>
            </a:r>
          </a:p>
        </p:txBody>
      </p:sp>
      <p:sp>
        <p:nvSpPr>
          <p:cNvPr id="24" name="TextBox 24"/>
          <p:cNvSpPr txBox="1"/>
          <p:nvPr/>
        </p:nvSpPr>
        <p:spPr>
          <a:xfrm>
            <a:off x="1160145" y="2431732"/>
            <a:ext cx="1560100" cy="335280"/>
          </a:xfrm>
          <a:prstGeom prst="rect">
            <a:avLst/>
          </a:prstGeom>
          <a:noFill/>
          <a:ln>
            <a:noFill/>
          </a:ln>
        </p:spPr>
        <p:txBody>
          <a:bodyPr wrap="none" lIns="0" tIns="0" rIns="0" bIns="0" anchor="t" anchorCtr="0">
            <a:spAutoFit/>
          </a:bodyPr>
          <a:lstStyle/>
          <a:p>
            <a:pPr algn="l"/>
            <a:r>
              <a:rPr lang="zh-CN" sz="1650" b="1" dirty="0">
                <a:solidFill>
                  <a:srgbClr val="1F2328"/>
                </a:solidFill>
                <a:latin typeface="Arial"/>
                <a:ea typeface="Microsoft YaHei"/>
                <a:cs typeface="Arial"/>
              </a:rPr>
              <a:t>大模型专题会</a:t>
            </a:r>
          </a:p>
        </p:txBody>
      </p:sp>
      <p:sp>
        <p:nvSpPr>
          <p:cNvPr id="25" name="Line 25"/>
          <p:cNvSpPr/>
          <p:nvPr/>
        </p:nvSpPr>
        <p:spPr>
          <a:xfrm>
            <a:off x="1181100" y="2800350"/>
            <a:ext cx="3105150" cy="9525"/>
          </a:xfrm>
          <a:custGeom>
            <a:avLst/>
            <a:gdLst/>
            <a:ahLst/>
            <a:cxnLst/>
            <a:rect l="l" t="t" r="r" b="b"/>
            <a:pathLst>
              <a:path w="3105150" h="9525">
                <a:moveTo>
                  <a:pt x="0" y="0"/>
                </a:moveTo>
                <a:lnTo>
                  <a:pt x="3105150" y="0"/>
                </a:lnTo>
              </a:path>
            </a:pathLst>
          </a:custGeom>
          <a:noFill/>
          <a:ln w="9525">
            <a:solidFill>
              <a:srgbClr val="E4E7EB"/>
            </a:solidFill>
          </a:ln>
        </p:spPr>
      </p:sp>
      <p:sp>
        <p:nvSpPr>
          <p:cNvPr id="26" name="TextBox 26"/>
          <p:cNvSpPr txBox="1"/>
          <p:nvPr/>
        </p:nvSpPr>
        <p:spPr>
          <a:xfrm>
            <a:off x="1163955" y="2959418"/>
            <a:ext cx="3898773" cy="274320"/>
          </a:xfrm>
          <a:prstGeom prst="rect">
            <a:avLst/>
          </a:prstGeom>
          <a:noFill/>
          <a:ln>
            <a:noFill/>
          </a:ln>
        </p:spPr>
        <p:txBody>
          <a:bodyPr wrap="none" lIns="0" tIns="0" rIns="0" bIns="0" anchor="t" anchorCtr="0">
            <a:spAutoFit/>
          </a:bodyPr>
          <a:lstStyle/>
          <a:p>
            <a:pPr algn="l"/>
            <a:r>
              <a:rPr lang="zh-CN" sz="1350" dirty="0">
                <a:solidFill>
                  <a:srgbClr val="5F6368"/>
                </a:solidFill>
                <a:latin typeface="Arial"/>
                <a:ea typeface="Microsoft YaHei"/>
                <a:cs typeface="Arial"/>
              </a:rPr>
              <a:t>对于行内数据，明确由 </a:t>
            </a:r>
            <a:r>
              <a:rPr lang="zh-CN" sz="1350" b="1" dirty="0">
                <a:solidFill>
                  <a:srgbClr val="A50021"/>
                </a:solidFill>
                <a:latin typeface="Arial"/>
                <a:ea typeface="Microsoft YaHei"/>
                <a:cs typeface="Arial"/>
              </a:rPr>
              <a:t>数据管理部统筹</a:t>
            </a:r>
            <a:r>
              <a:rPr lang="zh-CN" sz="1350" dirty="0">
                <a:solidFill>
                  <a:srgbClr val="5F6368"/>
                </a:solidFill>
                <a:latin typeface="Arial"/>
                <a:ea typeface="Microsoft YaHei"/>
                <a:cs typeface="Arial"/>
              </a:rPr>
              <a:t> 建立</a:t>
            </a:r>
          </a:p>
        </p:txBody>
      </p:sp>
      <p:sp>
        <p:nvSpPr>
          <p:cNvPr id="27" name="TextBox 27"/>
          <p:cNvSpPr txBox="1"/>
          <p:nvPr/>
        </p:nvSpPr>
        <p:spPr>
          <a:xfrm>
            <a:off x="1163955" y="3226118"/>
            <a:ext cx="2991802" cy="274320"/>
          </a:xfrm>
          <a:prstGeom prst="rect">
            <a:avLst/>
          </a:prstGeom>
          <a:noFill/>
          <a:ln>
            <a:noFill/>
          </a:ln>
        </p:spPr>
        <p:txBody>
          <a:bodyPr wrap="none" lIns="0" tIns="0" rIns="0" bIns="0" anchor="t" anchorCtr="0">
            <a:spAutoFit/>
          </a:bodyPr>
          <a:lstStyle/>
          <a:p>
            <a:pPr algn="l"/>
            <a:r>
              <a:rPr lang="zh-CN" sz="1350" dirty="0">
                <a:solidFill>
                  <a:srgbClr val="5F6368"/>
                </a:solidFill>
                <a:latin typeface="Arial"/>
                <a:ea typeface="Microsoft YaHei"/>
                <a:cs typeface="Arial"/>
              </a:rPr>
              <a:t>向量知识库，建设责任正式落位。</a:t>
            </a:r>
          </a:p>
        </p:txBody>
      </p:sp>
      <p:sp>
        <p:nvSpPr>
          <p:cNvPr id="29" name="Rectangle 29"/>
          <p:cNvSpPr/>
          <p:nvPr/>
        </p:nvSpPr>
        <p:spPr>
          <a:xfrm>
            <a:off x="5276850" y="1943099"/>
            <a:ext cx="4095750" cy="2664619"/>
          </a:xfrm>
          <a:prstGeom prst="roundRect">
            <a:avLst>
              <a:gd name="adj" fmla="val 3361"/>
            </a:avLst>
          </a:prstGeom>
          <a:solidFill>
            <a:srgbClr val="FFFFFF"/>
          </a:solidFill>
          <a:ln w="11430">
            <a:solidFill>
              <a:srgbClr val="E4E7EB"/>
            </a:solidFill>
          </a:ln>
          <a:effectLst>
            <a:outerShdw blurRad="114300" dist="38100" dir="5400000" algn="ctr" rotWithShape="0">
              <a:srgbClr val="000000">
                <a:alpha val="6000"/>
              </a:srgbClr>
            </a:outerShdw>
          </a:effectLst>
        </p:spPr>
      </p:sp>
      <p:sp>
        <p:nvSpPr>
          <p:cNvPr id="30" name="TextBox 30"/>
          <p:cNvSpPr txBox="1"/>
          <p:nvPr/>
        </p:nvSpPr>
        <p:spPr>
          <a:xfrm>
            <a:off x="5539740" y="2110740"/>
            <a:ext cx="1494901" cy="365760"/>
          </a:xfrm>
          <a:prstGeom prst="rect">
            <a:avLst/>
          </a:prstGeom>
          <a:noFill/>
          <a:ln>
            <a:noFill/>
          </a:ln>
        </p:spPr>
        <p:txBody>
          <a:bodyPr wrap="none" lIns="0" tIns="0" rIns="0" bIns="0" anchor="t" anchorCtr="0">
            <a:spAutoFit/>
          </a:bodyPr>
          <a:lstStyle/>
          <a:p>
            <a:pPr algn="l"/>
            <a:r>
              <a:rPr lang="zh-CN" sz="1800" b="1" dirty="0">
                <a:solidFill>
                  <a:srgbClr val="A50021"/>
                </a:solidFill>
                <a:latin typeface="Arial"/>
                <a:ea typeface="Microsoft YaHei"/>
                <a:cs typeface="Arial"/>
              </a:rPr>
              <a:t>2025.07.31</a:t>
            </a:r>
          </a:p>
        </p:txBody>
      </p:sp>
      <p:sp>
        <p:nvSpPr>
          <p:cNvPr id="31" name="TextBox 31"/>
          <p:cNvSpPr txBox="1"/>
          <p:nvPr/>
        </p:nvSpPr>
        <p:spPr>
          <a:xfrm>
            <a:off x="5541645" y="2431732"/>
            <a:ext cx="1269578" cy="253916"/>
          </a:xfrm>
          <a:prstGeom prst="rect">
            <a:avLst/>
          </a:prstGeom>
          <a:noFill/>
          <a:ln>
            <a:noFill/>
          </a:ln>
        </p:spPr>
        <p:txBody>
          <a:bodyPr wrap="none" lIns="0" tIns="0" rIns="0" bIns="0" anchor="t" anchorCtr="0">
            <a:spAutoFit/>
          </a:bodyPr>
          <a:lstStyle/>
          <a:p>
            <a:pPr algn="l"/>
            <a:r>
              <a:rPr lang="zh-CN" sz="1650" b="1" dirty="0">
                <a:solidFill>
                  <a:srgbClr val="1F2328"/>
                </a:solidFill>
                <a:latin typeface="Arial"/>
                <a:ea typeface="Microsoft YaHei"/>
                <a:cs typeface="Arial"/>
              </a:rPr>
              <a:t>大模型专题会</a:t>
            </a:r>
          </a:p>
        </p:txBody>
      </p:sp>
      <p:sp>
        <p:nvSpPr>
          <p:cNvPr id="32" name="Line 32"/>
          <p:cNvSpPr/>
          <p:nvPr/>
        </p:nvSpPr>
        <p:spPr>
          <a:xfrm>
            <a:off x="5562600" y="2800350"/>
            <a:ext cx="3486150" cy="9525"/>
          </a:xfrm>
          <a:custGeom>
            <a:avLst/>
            <a:gdLst/>
            <a:ahLst/>
            <a:cxnLst/>
            <a:rect l="l" t="t" r="r" b="b"/>
            <a:pathLst>
              <a:path w="3486150" h="9525">
                <a:moveTo>
                  <a:pt x="0" y="0"/>
                </a:moveTo>
                <a:lnTo>
                  <a:pt x="3486150" y="0"/>
                </a:lnTo>
              </a:path>
            </a:pathLst>
          </a:custGeom>
          <a:noFill/>
          <a:ln w="9525">
            <a:solidFill>
              <a:srgbClr val="E4E7EB"/>
            </a:solidFill>
          </a:ln>
        </p:spPr>
      </p:sp>
      <p:sp>
        <p:nvSpPr>
          <p:cNvPr id="33" name="TextBox 33"/>
          <p:cNvSpPr txBox="1"/>
          <p:nvPr/>
        </p:nvSpPr>
        <p:spPr>
          <a:xfrm>
            <a:off x="5546408" y="2986564"/>
            <a:ext cx="3756660" cy="259080"/>
          </a:xfrm>
          <a:prstGeom prst="rect">
            <a:avLst/>
          </a:prstGeom>
          <a:noFill/>
          <a:ln>
            <a:noFill/>
          </a:ln>
        </p:spPr>
        <p:txBody>
          <a:bodyPr wrap="none" lIns="0" tIns="0" rIns="0" bIns="0" anchor="t" anchorCtr="0">
            <a:spAutoFit/>
          </a:bodyPr>
          <a:lstStyle/>
          <a:p>
            <a:pPr algn="l"/>
            <a:r>
              <a:rPr lang="zh-CN" sz="1275" dirty="0">
                <a:solidFill>
                  <a:srgbClr val="5F6368"/>
                </a:solidFill>
                <a:latin typeface="Arial"/>
                <a:ea typeface="Microsoft YaHei"/>
                <a:cs typeface="Arial"/>
              </a:rPr>
              <a:t>形成业务规划，明确可量化目标和建设范围，</a:t>
            </a:r>
          </a:p>
        </p:txBody>
      </p:sp>
      <p:sp>
        <p:nvSpPr>
          <p:cNvPr id="34" name="TextBox 34"/>
          <p:cNvSpPr txBox="1"/>
          <p:nvPr/>
        </p:nvSpPr>
        <p:spPr>
          <a:xfrm>
            <a:off x="5546408" y="3234214"/>
            <a:ext cx="2080736" cy="259080"/>
          </a:xfrm>
          <a:prstGeom prst="rect">
            <a:avLst/>
          </a:prstGeom>
          <a:noFill/>
          <a:ln>
            <a:noFill/>
          </a:ln>
        </p:spPr>
        <p:txBody>
          <a:bodyPr wrap="none" lIns="0" tIns="0" rIns="0" bIns="0" anchor="t" anchorCtr="0">
            <a:spAutoFit/>
          </a:bodyPr>
          <a:lstStyle/>
          <a:p>
            <a:pPr algn="l"/>
            <a:r>
              <a:rPr lang="zh-CN" sz="1275" dirty="0">
                <a:solidFill>
                  <a:srgbClr val="5F6368"/>
                </a:solidFill>
                <a:latin typeface="Arial"/>
                <a:ea typeface="Microsoft YaHei"/>
                <a:cs typeface="Arial"/>
              </a:rPr>
              <a:t>制定知识分类体系设计。</a:t>
            </a:r>
          </a:p>
        </p:txBody>
      </p:sp>
      <p:sp>
        <p:nvSpPr>
          <p:cNvPr id="35" name="TextBox 35"/>
          <p:cNvSpPr txBox="1"/>
          <p:nvPr/>
        </p:nvSpPr>
        <p:spPr>
          <a:xfrm>
            <a:off x="5546408" y="3558064"/>
            <a:ext cx="3756660" cy="259080"/>
          </a:xfrm>
          <a:prstGeom prst="rect">
            <a:avLst/>
          </a:prstGeom>
          <a:noFill/>
          <a:ln>
            <a:noFill/>
          </a:ln>
        </p:spPr>
        <p:txBody>
          <a:bodyPr wrap="none" lIns="0" tIns="0" rIns="0" bIns="0" anchor="t" anchorCtr="0">
            <a:spAutoFit/>
          </a:bodyPr>
          <a:lstStyle/>
          <a:p>
            <a:pPr algn="l"/>
            <a:r>
              <a:rPr lang="zh-CN" sz="1275" dirty="0">
                <a:solidFill>
                  <a:srgbClr val="5F6368"/>
                </a:solidFill>
                <a:latin typeface="Arial"/>
                <a:ea typeface="Microsoft YaHei"/>
                <a:cs typeface="Arial"/>
              </a:rPr>
              <a:t>做好内容管理和质量控制，核心是知识采集、</a:t>
            </a:r>
          </a:p>
        </p:txBody>
      </p:sp>
      <p:sp>
        <p:nvSpPr>
          <p:cNvPr id="36" name="TextBox 36"/>
          <p:cNvSpPr txBox="1"/>
          <p:nvPr/>
        </p:nvSpPr>
        <p:spPr>
          <a:xfrm>
            <a:off x="5546408" y="3805714"/>
            <a:ext cx="1708309" cy="259080"/>
          </a:xfrm>
          <a:prstGeom prst="rect">
            <a:avLst/>
          </a:prstGeom>
          <a:noFill/>
          <a:ln>
            <a:noFill/>
          </a:ln>
        </p:spPr>
        <p:txBody>
          <a:bodyPr wrap="none" lIns="0" tIns="0" rIns="0" bIns="0" anchor="t" anchorCtr="0">
            <a:spAutoFit/>
          </a:bodyPr>
          <a:lstStyle/>
          <a:p>
            <a:pPr algn="l"/>
            <a:r>
              <a:rPr lang="zh-CN" sz="1275" dirty="0">
                <a:solidFill>
                  <a:srgbClr val="5F6368"/>
                </a:solidFill>
                <a:latin typeface="Arial"/>
                <a:ea typeface="Microsoft YaHei"/>
                <a:cs typeface="Arial"/>
              </a:rPr>
              <a:t>标准化与动态更新。</a:t>
            </a:r>
          </a:p>
        </p:txBody>
      </p:sp>
      <p:sp>
        <p:nvSpPr>
          <p:cNvPr id="37" name="TextBox 37"/>
          <p:cNvSpPr txBox="1"/>
          <p:nvPr/>
        </p:nvSpPr>
        <p:spPr>
          <a:xfrm>
            <a:off x="5546408" y="4129564"/>
            <a:ext cx="3840456" cy="259080"/>
          </a:xfrm>
          <a:prstGeom prst="rect">
            <a:avLst/>
          </a:prstGeom>
          <a:noFill/>
          <a:ln>
            <a:noFill/>
          </a:ln>
        </p:spPr>
        <p:txBody>
          <a:bodyPr wrap="none" lIns="0" tIns="0" rIns="0" bIns="0" anchor="t" anchorCtr="0">
            <a:spAutoFit/>
          </a:bodyPr>
          <a:lstStyle/>
          <a:p>
            <a:pPr algn="l"/>
            <a:r>
              <a:rPr lang="zh-CN" sz="1275" dirty="0">
                <a:solidFill>
                  <a:srgbClr val="5F6368"/>
                </a:solidFill>
                <a:latin typeface="Arial"/>
                <a:ea typeface="Microsoft YaHei"/>
                <a:cs typeface="Arial"/>
              </a:rPr>
              <a:t>开展 Free2AI、Confluence 等工具试用研究。</a:t>
            </a:r>
          </a:p>
        </p:txBody>
      </p:sp>
      <p:sp>
        <p:nvSpPr>
          <p:cNvPr id="39" name="Rectangle 39"/>
          <p:cNvSpPr/>
          <p:nvPr/>
        </p:nvSpPr>
        <p:spPr>
          <a:xfrm>
            <a:off x="9658350" y="1943100"/>
            <a:ext cx="1847850" cy="2650182"/>
          </a:xfrm>
          <a:prstGeom prst="roundRect">
            <a:avLst>
              <a:gd name="adj" fmla="val 4124"/>
            </a:avLst>
          </a:prstGeom>
          <a:solidFill>
            <a:srgbClr val="F8F9FA"/>
          </a:solidFill>
          <a:ln w="11430">
            <a:solidFill>
              <a:srgbClr val="E4E7EB"/>
            </a:solidFill>
          </a:ln>
        </p:spPr>
      </p:sp>
      <p:sp>
        <p:nvSpPr>
          <p:cNvPr id="40" name="TextBox 40"/>
          <p:cNvSpPr txBox="1"/>
          <p:nvPr/>
        </p:nvSpPr>
        <p:spPr>
          <a:xfrm>
            <a:off x="9869805" y="2159318"/>
            <a:ext cx="692497" cy="207749"/>
          </a:xfrm>
          <a:prstGeom prst="rect">
            <a:avLst/>
          </a:prstGeom>
          <a:noFill/>
          <a:ln>
            <a:noFill/>
          </a:ln>
        </p:spPr>
        <p:txBody>
          <a:bodyPr wrap="none" lIns="0" tIns="0" rIns="0" bIns="0" anchor="t" anchorCtr="0">
            <a:spAutoFit/>
          </a:bodyPr>
          <a:lstStyle/>
          <a:p>
            <a:pPr algn="l"/>
            <a:r>
              <a:rPr lang="zh-CN" sz="1350" b="1" dirty="0">
                <a:solidFill>
                  <a:srgbClr val="7A0018"/>
                </a:solidFill>
                <a:latin typeface="Arial"/>
                <a:ea typeface="Microsoft YaHei"/>
                <a:cs typeface="Arial"/>
              </a:rPr>
              <a:t>三类抓手</a:t>
            </a:r>
          </a:p>
        </p:txBody>
      </p:sp>
      <p:grpSp>
        <p:nvGrpSpPr>
          <p:cNvPr id="44" name="Group 44"/>
          <p:cNvGrpSpPr/>
          <p:nvPr/>
        </p:nvGrpSpPr>
        <p:grpSpPr>
          <a:xfrm>
            <a:off x="9869805" y="2643664"/>
            <a:ext cx="1468755" cy="466248"/>
            <a:chOff x="9963150" y="2643664"/>
            <a:chExt cx="1468755" cy="466248"/>
          </a:xfrm>
        </p:grpSpPr>
        <p:sp>
          <p:nvSpPr>
            <p:cNvPr id="41" name="Ellipse 41"/>
            <p:cNvSpPr/>
            <p:nvPr/>
          </p:nvSpPr>
          <p:spPr>
            <a:xfrm>
              <a:off x="9963150" y="2667000"/>
              <a:ext cx="114300" cy="114300"/>
            </a:xfrm>
            <a:prstGeom prst="ellipse">
              <a:avLst/>
            </a:prstGeom>
            <a:solidFill>
              <a:srgbClr val="A50021"/>
            </a:solidFill>
            <a:ln>
              <a:noFill/>
            </a:ln>
          </p:spPr>
        </p:sp>
        <p:sp>
          <p:nvSpPr>
            <p:cNvPr id="42" name="TextBox 42"/>
            <p:cNvSpPr txBox="1"/>
            <p:nvPr/>
          </p:nvSpPr>
          <p:spPr>
            <a:xfrm>
              <a:off x="10175558" y="2643664"/>
              <a:ext cx="814483" cy="259080"/>
            </a:xfrm>
            <a:prstGeom prst="rect">
              <a:avLst/>
            </a:prstGeom>
            <a:noFill/>
            <a:ln>
              <a:noFill/>
            </a:ln>
          </p:spPr>
          <p:txBody>
            <a:bodyPr wrap="none" lIns="0" tIns="0" rIns="0" bIns="0" anchor="t" anchorCtr="0">
              <a:spAutoFit/>
            </a:bodyPr>
            <a:lstStyle/>
            <a:p>
              <a:pPr algn="l"/>
              <a:r>
                <a:rPr lang="zh-CN" sz="1275" b="1" dirty="0">
                  <a:solidFill>
                    <a:srgbClr val="1F2328"/>
                  </a:solidFill>
                  <a:latin typeface="Arial"/>
                  <a:ea typeface="Microsoft YaHei"/>
                  <a:cs typeface="Arial"/>
                </a:rPr>
                <a:t>建设边界</a:t>
              </a:r>
            </a:p>
          </p:txBody>
        </p:sp>
        <p:sp>
          <p:nvSpPr>
            <p:cNvPr id="43" name="TextBox 43"/>
            <p:cNvSpPr txBox="1"/>
            <p:nvPr/>
          </p:nvSpPr>
          <p:spPr>
            <a:xfrm>
              <a:off x="10178415" y="2896552"/>
              <a:ext cx="1253490" cy="213360"/>
            </a:xfrm>
            <a:prstGeom prst="rect">
              <a:avLst/>
            </a:prstGeom>
            <a:noFill/>
            <a:ln>
              <a:noFill/>
            </a:ln>
          </p:spPr>
          <p:txBody>
            <a:bodyPr wrap="none" lIns="0" tIns="0" rIns="0" bIns="0" anchor="t" anchorCtr="0">
              <a:spAutoFit/>
            </a:bodyPr>
            <a:lstStyle/>
            <a:p>
              <a:pPr algn="l"/>
              <a:r>
                <a:rPr lang="zh-CN" sz="1050" dirty="0">
                  <a:solidFill>
                    <a:srgbClr val="5F6368"/>
                  </a:solidFill>
                  <a:latin typeface="Arial"/>
                  <a:ea typeface="Microsoft YaHei"/>
                  <a:cs typeface="Arial"/>
                </a:rPr>
                <a:t>规划、目标、范围</a:t>
              </a:r>
            </a:p>
          </p:txBody>
        </p:sp>
      </p:grpSp>
      <p:grpSp>
        <p:nvGrpSpPr>
          <p:cNvPr id="48" name="Group 48"/>
          <p:cNvGrpSpPr/>
          <p:nvPr/>
        </p:nvGrpSpPr>
        <p:grpSpPr>
          <a:xfrm>
            <a:off x="9869805" y="3310414"/>
            <a:ext cx="1468755" cy="466248"/>
            <a:chOff x="9963150" y="3310414"/>
            <a:chExt cx="1468755" cy="466248"/>
          </a:xfrm>
        </p:grpSpPr>
        <p:sp>
          <p:nvSpPr>
            <p:cNvPr id="45" name="Ellipse 45"/>
            <p:cNvSpPr/>
            <p:nvPr/>
          </p:nvSpPr>
          <p:spPr>
            <a:xfrm>
              <a:off x="9963150" y="3333750"/>
              <a:ext cx="114300" cy="114300"/>
            </a:xfrm>
            <a:prstGeom prst="ellipse">
              <a:avLst/>
            </a:prstGeom>
            <a:solidFill>
              <a:srgbClr val="A50021"/>
            </a:solidFill>
            <a:ln>
              <a:noFill/>
            </a:ln>
          </p:spPr>
        </p:sp>
        <p:sp>
          <p:nvSpPr>
            <p:cNvPr id="46" name="TextBox 46"/>
            <p:cNvSpPr txBox="1"/>
            <p:nvPr/>
          </p:nvSpPr>
          <p:spPr>
            <a:xfrm>
              <a:off x="10175558" y="3310414"/>
              <a:ext cx="814483" cy="259080"/>
            </a:xfrm>
            <a:prstGeom prst="rect">
              <a:avLst/>
            </a:prstGeom>
            <a:noFill/>
            <a:ln>
              <a:noFill/>
            </a:ln>
          </p:spPr>
          <p:txBody>
            <a:bodyPr wrap="none" lIns="0" tIns="0" rIns="0" bIns="0" anchor="t" anchorCtr="0">
              <a:spAutoFit/>
            </a:bodyPr>
            <a:lstStyle/>
            <a:p>
              <a:pPr algn="l"/>
              <a:r>
                <a:rPr lang="zh-CN" sz="1275" b="1" dirty="0">
                  <a:solidFill>
                    <a:srgbClr val="1F2328"/>
                  </a:solidFill>
                  <a:latin typeface="Arial"/>
                  <a:ea typeface="Microsoft YaHei"/>
                  <a:cs typeface="Arial"/>
                </a:rPr>
                <a:t>内容治理</a:t>
              </a:r>
            </a:p>
          </p:txBody>
        </p:sp>
        <p:sp>
          <p:nvSpPr>
            <p:cNvPr id="47" name="TextBox 47"/>
            <p:cNvSpPr txBox="1"/>
            <p:nvPr/>
          </p:nvSpPr>
          <p:spPr>
            <a:xfrm>
              <a:off x="10178415" y="3563302"/>
              <a:ext cx="1253490" cy="213360"/>
            </a:xfrm>
            <a:prstGeom prst="rect">
              <a:avLst/>
            </a:prstGeom>
            <a:noFill/>
            <a:ln>
              <a:noFill/>
            </a:ln>
          </p:spPr>
          <p:txBody>
            <a:bodyPr wrap="none" lIns="0" tIns="0" rIns="0" bIns="0" anchor="t" anchorCtr="0">
              <a:spAutoFit/>
            </a:bodyPr>
            <a:lstStyle/>
            <a:p>
              <a:pPr algn="l"/>
              <a:r>
                <a:rPr lang="zh-CN" sz="1050" dirty="0">
                  <a:solidFill>
                    <a:srgbClr val="5F6368"/>
                  </a:solidFill>
                  <a:latin typeface="Arial"/>
                  <a:ea typeface="Microsoft YaHei"/>
                  <a:cs typeface="Arial"/>
                </a:rPr>
                <a:t>采集、标准、更新</a:t>
              </a:r>
            </a:p>
          </p:txBody>
        </p:sp>
      </p:grpSp>
      <p:grpSp>
        <p:nvGrpSpPr>
          <p:cNvPr id="52" name="Group 52"/>
          <p:cNvGrpSpPr/>
          <p:nvPr/>
        </p:nvGrpSpPr>
        <p:grpSpPr>
          <a:xfrm>
            <a:off x="9869805" y="3977164"/>
            <a:ext cx="1752457" cy="466248"/>
            <a:chOff x="9963150" y="3977164"/>
            <a:chExt cx="1752457" cy="466248"/>
          </a:xfrm>
        </p:grpSpPr>
        <p:sp>
          <p:nvSpPr>
            <p:cNvPr id="49" name="Ellipse 49"/>
            <p:cNvSpPr/>
            <p:nvPr/>
          </p:nvSpPr>
          <p:spPr>
            <a:xfrm>
              <a:off x="9963150" y="4000500"/>
              <a:ext cx="114300" cy="114300"/>
            </a:xfrm>
            <a:prstGeom prst="ellipse">
              <a:avLst/>
            </a:prstGeom>
            <a:solidFill>
              <a:srgbClr val="A50021"/>
            </a:solidFill>
            <a:ln>
              <a:noFill/>
            </a:ln>
          </p:spPr>
        </p:sp>
        <p:sp>
          <p:nvSpPr>
            <p:cNvPr id="50" name="TextBox 50"/>
            <p:cNvSpPr txBox="1"/>
            <p:nvPr/>
          </p:nvSpPr>
          <p:spPr>
            <a:xfrm>
              <a:off x="10175558" y="3977164"/>
              <a:ext cx="814483" cy="259080"/>
            </a:xfrm>
            <a:prstGeom prst="rect">
              <a:avLst/>
            </a:prstGeom>
            <a:noFill/>
            <a:ln>
              <a:noFill/>
            </a:ln>
          </p:spPr>
          <p:txBody>
            <a:bodyPr wrap="none" lIns="0" tIns="0" rIns="0" bIns="0" anchor="t" anchorCtr="0">
              <a:spAutoFit/>
            </a:bodyPr>
            <a:lstStyle/>
            <a:p>
              <a:pPr algn="l"/>
              <a:r>
                <a:rPr lang="zh-CN" sz="1275" b="1" dirty="0">
                  <a:solidFill>
                    <a:srgbClr val="1F2328"/>
                  </a:solidFill>
                  <a:latin typeface="Arial"/>
                  <a:ea typeface="Microsoft YaHei"/>
                  <a:cs typeface="Arial"/>
                </a:rPr>
                <a:t>工具研究</a:t>
              </a:r>
            </a:p>
          </p:txBody>
        </p:sp>
        <p:sp>
          <p:nvSpPr>
            <p:cNvPr id="51" name="TextBox 51"/>
            <p:cNvSpPr txBox="1"/>
            <p:nvPr/>
          </p:nvSpPr>
          <p:spPr>
            <a:xfrm>
              <a:off x="10178415" y="4230052"/>
              <a:ext cx="1537192" cy="213360"/>
            </a:xfrm>
            <a:prstGeom prst="rect">
              <a:avLst/>
            </a:prstGeom>
            <a:noFill/>
            <a:ln>
              <a:noFill/>
            </a:ln>
          </p:spPr>
          <p:txBody>
            <a:bodyPr wrap="none" lIns="0" tIns="0" rIns="0" bIns="0" anchor="t" anchorCtr="0">
              <a:spAutoFit/>
            </a:bodyPr>
            <a:lstStyle/>
            <a:p>
              <a:pPr algn="l"/>
              <a:r>
                <a:rPr lang="zh-CN" sz="1050" dirty="0">
                  <a:solidFill>
                    <a:srgbClr val="5F6368"/>
                  </a:solidFill>
                  <a:latin typeface="Arial"/>
                  <a:ea typeface="Microsoft YaHei"/>
                  <a:cs typeface="Arial"/>
                </a:rPr>
                <a:t>Free2AI、Confluence</a:t>
              </a:r>
            </a:p>
          </p:txBody>
        </p:sp>
      </p:grpSp>
      <p:sp>
        <p:nvSpPr>
          <p:cNvPr id="54" name="Rectangle 54"/>
          <p:cNvSpPr/>
          <p:nvPr/>
        </p:nvSpPr>
        <p:spPr>
          <a:xfrm>
            <a:off x="1047750" y="4922520"/>
            <a:ext cx="9696450" cy="531019"/>
          </a:xfrm>
          <a:prstGeom prst="roundRect">
            <a:avLst>
              <a:gd name="adj" fmla="val 8333"/>
            </a:avLst>
          </a:prstGeom>
          <a:solidFill>
            <a:srgbClr val="F8F9FA"/>
          </a:solidFill>
          <a:ln w="9525">
            <a:solidFill>
              <a:srgbClr val="E4E7EB"/>
            </a:solidFill>
          </a:ln>
        </p:spPr>
      </p:sp>
      <p:grpSp>
        <p:nvGrpSpPr>
          <p:cNvPr id="63" name="组合 62">
            <a:extLst>
              <a:ext uri="{FF2B5EF4-FFF2-40B4-BE49-F238E27FC236}">
                <a16:creationId xmlns:a16="http://schemas.microsoft.com/office/drawing/2014/main" id="{A1ECC8F8-2A25-48EA-A32D-11761B6472A0}"/>
              </a:ext>
            </a:extLst>
          </p:cNvPr>
          <p:cNvGrpSpPr/>
          <p:nvPr/>
        </p:nvGrpSpPr>
        <p:grpSpPr>
          <a:xfrm>
            <a:off x="1314450" y="5035629"/>
            <a:ext cx="8024241" cy="304800"/>
            <a:chOff x="1314450" y="5103495"/>
            <a:chExt cx="8024241" cy="304800"/>
          </a:xfrm>
        </p:grpSpPr>
        <p:sp>
          <p:nvSpPr>
            <p:cNvPr id="55" name="TextBox 55"/>
            <p:cNvSpPr txBox="1"/>
            <p:nvPr/>
          </p:nvSpPr>
          <p:spPr>
            <a:xfrm>
              <a:off x="1314450" y="5103495"/>
              <a:ext cx="958215" cy="304800"/>
            </a:xfrm>
            <a:prstGeom prst="rect">
              <a:avLst/>
            </a:prstGeom>
            <a:noFill/>
            <a:ln>
              <a:noFill/>
            </a:ln>
          </p:spPr>
          <p:txBody>
            <a:bodyPr wrap="none" lIns="0" tIns="0" rIns="0" bIns="0" anchor="t" anchorCtr="0">
              <a:spAutoFit/>
            </a:bodyPr>
            <a:lstStyle/>
            <a:p>
              <a:pPr algn="l"/>
              <a:r>
                <a:rPr lang="zh-CN" sz="1500" b="1" dirty="0">
                  <a:solidFill>
                    <a:srgbClr val="1F2328"/>
                  </a:solidFill>
                  <a:latin typeface="Arial"/>
                  <a:ea typeface="Microsoft YaHei"/>
                  <a:cs typeface="Arial"/>
                </a:rPr>
                <a:t>任务定位</a:t>
              </a:r>
            </a:p>
          </p:txBody>
        </p:sp>
        <p:sp>
          <p:nvSpPr>
            <p:cNvPr id="56" name="TextBox 56"/>
            <p:cNvSpPr txBox="1"/>
            <p:nvPr/>
          </p:nvSpPr>
          <p:spPr>
            <a:xfrm>
              <a:off x="2364105" y="5118735"/>
              <a:ext cx="6974586" cy="274320"/>
            </a:xfrm>
            <a:prstGeom prst="rect">
              <a:avLst/>
            </a:prstGeom>
            <a:noFill/>
            <a:ln>
              <a:noFill/>
            </a:ln>
          </p:spPr>
          <p:txBody>
            <a:bodyPr wrap="none" lIns="0" tIns="0" rIns="0" bIns="0" anchor="t" anchorCtr="0">
              <a:spAutoFit/>
            </a:bodyPr>
            <a:lstStyle/>
            <a:p>
              <a:pPr algn="l"/>
              <a:r>
                <a:rPr lang="zh-CN" sz="1350" dirty="0">
                  <a:solidFill>
                    <a:srgbClr val="5F6368"/>
                  </a:solidFill>
                  <a:latin typeface="Arial"/>
                  <a:ea typeface="Microsoft YaHei"/>
                  <a:cs typeface="Arial"/>
                </a:rPr>
                <a:t>从“建立知识库”升级为“可持续治理、可量化建设、可工具化运营”的系统工程。</a:t>
              </a:r>
            </a:p>
          </p:txBody>
        </p:sp>
      </p:grpSp>
      <p:sp>
        <p:nvSpPr>
          <p:cNvPr id="60" name="Line 60"/>
          <p:cNvSpPr/>
          <p:nvPr/>
        </p:nvSpPr>
        <p:spPr>
          <a:xfrm>
            <a:off x="685800" y="6286500"/>
            <a:ext cx="10820400" cy="9525"/>
          </a:xfrm>
          <a:custGeom>
            <a:avLst/>
            <a:gdLst/>
            <a:ahLst/>
            <a:cxnLst/>
            <a:rect l="l" t="t" r="r" b="b"/>
            <a:pathLst>
              <a:path w="10820400" h="9525">
                <a:moveTo>
                  <a:pt x="0" y="0"/>
                </a:moveTo>
                <a:lnTo>
                  <a:pt x="10820400" y="0"/>
                </a:lnTo>
              </a:path>
            </a:pathLst>
          </a:custGeom>
          <a:noFill/>
          <a:ln w="11430">
            <a:solidFill>
              <a:srgbClr val="E4E7EB"/>
            </a:solidFill>
          </a:ln>
        </p:spPr>
      </p:sp>
      <p:sp>
        <p:nvSpPr>
          <p:cNvPr id="61" name="TextBox 61"/>
          <p:cNvSpPr txBox="1"/>
          <p:nvPr/>
        </p:nvSpPr>
        <p:spPr>
          <a:xfrm>
            <a:off x="5929312" y="6458902"/>
            <a:ext cx="333375"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Arial"/>
                <a:ea typeface="Microsoft YaHei"/>
                <a:cs typeface="Arial"/>
              </a:rPr>
              <a:t>1 / 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657225" y="419100"/>
            <a:ext cx="11068792" cy="571500"/>
            <a:chOff x="657225" y="419100"/>
            <a:chExt cx="11068792" cy="571500"/>
          </a:xfrm>
        </p:grpSpPr>
        <p:pic>
          <p:nvPicPr>
            <p:cNvPr id="3" name="Image 3"/>
            <p:cNvPicPr>
              <a:picLocks noChangeAspect="1"/>
            </p:cNvPicPr>
            <p:nvPr/>
          </p:nvPicPr>
          <p:blipFill>
            <a:blip r:embed="rId3"/>
            <a:stretch>
              <a:fillRect/>
            </a:stretch>
          </p:blipFill>
          <p:spPr>
            <a:xfrm>
              <a:off x="9705234" y="419100"/>
              <a:ext cx="2020783" cy="571500"/>
            </a:xfrm>
            <a:prstGeom prst="rect">
              <a:avLst/>
            </a:prstGeom>
          </p:spPr>
        </p:pic>
        <p:sp>
          <p:nvSpPr>
            <p:cNvPr id="4" name="TextBox 4"/>
            <p:cNvSpPr txBox="1"/>
            <p:nvPr/>
          </p:nvSpPr>
          <p:spPr>
            <a:xfrm>
              <a:off x="657225" y="519112"/>
              <a:ext cx="1154162" cy="346249"/>
            </a:xfrm>
            <a:prstGeom prst="rect">
              <a:avLst/>
            </a:prstGeom>
            <a:noFill/>
            <a:ln>
              <a:noFill/>
            </a:ln>
          </p:spPr>
          <p:txBody>
            <a:bodyPr wrap="none" lIns="0" tIns="0" rIns="0" bIns="0" anchor="t" anchorCtr="0">
              <a:spAutoFit/>
            </a:bodyPr>
            <a:lstStyle/>
            <a:p>
              <a:pPr algn="l"/>
              <a:r>
                <a:rPr lang="zh-CN" altLang="en-US" sz="2250" b="1" dirty="0">
                  <a:solidFill>
                    <a:srgbClr val="1F2328"/>
                  </a:solidFill>
                  <a:latin typeface="Arial"/>
                  <a:ea typeface="Microsoft YaHei"/>
                  <a:cs typeface="Arial"/>
                </a:rPr>
                <a:t>建设进展</a:t>
              </a:r>
              <a:endParaRPr lang="zh-CN" sz="2250" b="1" dirty="0">
                <a:solidFill>
                  <a:srgbClr val="1F2328"/>
                </a:solidFill>
                <a:latin typeface="Arial"/>
                <a:ea typeface="Microsoft YaHei"/>
                <a:cs typeface="Arial"/>
              </a:endParaRPr>
            </a:p>
          </p:txBody>
        </p:sp>
        <p:sp>
          <p:nvSpPr>
            <p:cNvPr id="5" name="Line 5"/>
            <p:cNvSpPr/>
            <p:nvPr/>
          </p:nvSpPr>
          <p:spPr>
            <a:xfrm>
              <a:off x="685800" y="933450"/>
              <a:ext cx="3314700" cy="9525"/>
            </a:xfrm>
            <a:custGeom>
              <a:avLst/>
              <a:gdLst/>
              <a:ahLst/>
              <a:cxnLst/>
              <a:rect l="l" t="t" r="r" b="b"/>
              <a:pathLst>
                <a:path w="3314700" h="9525">
                  <a:moveTo>
                    <a:pt x="0" y="0"/>
                  </a:moveTo>
                  <a:lnTo>
                    <a:pt x="3314700" y="0"/>
                  </a:lnTo>
                </a:path>
              </a:pathLst>
            </a:custGeom>
            <a:noFill/>
            <a:ln w="28575">
              <a:solidFill>
                <a:srgbClr val="A50021"/>
              </a:solidFill>
            </a:ln>
          </p:spPr>
        </p:sp>
      </p:grpSp>
      <p:grpSp>
        <p:nvGrpSpPr>
          <p:cNvPr id="9" name="Group 9"/>
          <p:cNvGrpSpPr/>
          <p:nvPr/>
        </p:nvGrpSpPr>
        <p:grpSpPr>
          <a:xfrm>
            <a:off x="685800" y="1162050"/>
            <a:ext cx="10820400" cy="495300"/>
            <a:chOff x="685800" y="1162050"/>
            <a:chExt cx="10820400" cy="495300"/>
          </a:xfrm>
        </p:grpSpPr>
        <p:sp>
          <p:nvSpPr>
            <p:cNvPr id="7" name="Rectangle 7"/>
            <p:cNvSpPr/>
            <p:nvPr/>
          </p:nvSpPr>
          <p:spPr>
            <a:xfrm>
              <a:off x="685800" y="1162050"/>
              <a:ext cx="10820400" cy="495300"/>
            </a:xfrm>
            <a:prstGeom prst="roundRect">
              <a:avLst>
                <a:gd name="adj" fmla="val 15385"/>
              </a:avLst>
            </a:prstGeom>
            <a:solidFill>
              <a:srgbClr val="FFF7F7"/>
            </a:solidFill>
            <a:ln w="9525">
              <a:solidFill>
                <a:srgbClr val="F3D7DC"/>
              </a:solidFill>
            </a:ln>
          </p:spPr>
        </p:sp>
        <p:sp>
          <p:nvSpPr>
            <p:cNvPr id="8" name="TextBox 8"/>
            <p:cNvSpPr txBox="1"/>
            <p:nvPr/>
          </p:nvSpPr>
          <p:spPr>
            <a:xfrm>
              <a:off x="934402" y="1322546"/>
              <a:ext cx="7799118" cy="289560"/>
            </a:xfrm>
            <a:prstGeom prst="rect">
              <a:avLst/>
            </a:prstGeom>
            <a:noFill/>
            <a:ln>
              <a:noFill/>
            </a:ln>
          </p:spPr>
          <p:txBody>
            <a:bodyPr wrap="none" lIns="0" tIns="0" rIns="0" bIns="0" anchor="t" anchorCtr="0">
              <a:spAutoFit/>
            </a:bodyPr>
            <a:lstStyle/>
            <a:p>
              <a:pPr algn="l"/>
              <a:r>
                <a:rPr lang="zh-CN" sz="1425" b="1" dirty="0">
                  <a:solidFill>
                    <a:srgbClr val="A50021"/>
                  </a:solidFill>
                  <a:latin typeface="Arial"/>
                  <a:ea typeface="Microsoft YaHei"/>
                  <a:cs typeface="Arial"/>
                </a:rPr>
                <a:t>当前状态：</a:t>
              </a:r>
              <a:r>
                <a:rPr lang="zh-CN" sz="1425" dirty="0">
                  <a:solidFill>
                    <a:srgbClr val="1F2328"/>
                  </a:solidFill>
                  <a:latin typeface="Arial"/>
                  <a:ea typeface="Microsoft YaHei"/>
                  <a:cs typeface="Arial"/>
                </a:rPr>
                <a:t>已完成投产与前端优化，支撑 2 项问答场景，同时推进 3 项新业务需求。</a:t>
              </a:r>
            </a:p>
          </p:txBody>
        </p:sp>
      </p:grpSp>
      <p:grpSp>
        <p:nvGrpSpPr>
          <p:cNvPr id="30" name="Group 30"/>
          <p:cNvGrpSpPr/>
          <p:nvPr/>
        </p:nvGrpSpPr>
        <p:grpSpPr>
          <a:xfrm>
            <a:off x="685800" y="1885950"/>
            <a:ext cx="10820400" cy="1143000"/>
            <a:chOff x="685800" y="1885950"/>
            <a:chExt cx="10820400" cy="1143000"/>
          </a:xfrm>
        </p:grpSpPr>
        <p:sp>
          <p:nvSpPr>
            <p:cNvPr id="10" name="Rectangle 10"/>
            <p:cNvSpPr/>
            <p:nvPr/>
          </p:nvSpPr>
          <p:spPr>
            <a:xfrm>
              <a:off x="685800" y="1885950"/>
              <a:ext cx="10820400" cy="1143000"/>
            </a:xfrm>
            <a:prstGeom prst="roundRect">
              <a:avLst>
                <a:gd name="adj" fmla="val 6667"/>
              </a:avLst>
            </a:prstGeom>
            <a:solidFill>
              <a:srgbClr val="F8F9FA"/>
            </a:solidFill>
            <a:ln w="9525">
              <a:solidFill>
                <a:srgbClr val="E4E7EB"/>
              </a:solidFill>
            </a:ln>
          </p:spPr>
        </p:sp>
        <p:sp>
          <p:nvSpPr>
            <p:cNvPr id="11" name="Line 11"/>
            <p:cNvSpPr/>
            <p:nvPr/>
          </p:nvSpPr>
          <p:spPr>
            <a:xfrm>
              <a:off x="1809750" y="2457450"/>
              <a:ext cx="8267700" cy="9525"/>
            </a:xfrm>
            <a:custGeom>
              <a:avLst/>
              <a:gdLst/>
              <a:ahLst/>
              <a:cxnLst/>
              <a:rect l="l" t="t" r="r" b="b"/>
              <a:pathLst>
                <a:path w="8267700" h="9525">
                  <a:moveTo>
                    <a:pt x="0" y="0"/>
                  </a:moveTo>
                  <a:lnTo>
                    <a:pt x="8267700" y="0"/>
                  </a:lnTo>
                </a:path>
              </a:pathLst>
            </a:custGeom>
            <a:noFill/>
            <a:ln w="47625" cap="rnd">
              <a:solidFill>
                <a:srgbClr val="E4E7EB"/>
              </a:solidFill>
            </a:ln>
          </p:spPr>
        </p:sp>
        <p:sp>
          <p:nvSpPr>
            <p:cNvPr id="12" name="Line 12"/>
            <p:cNvSpPr/>
            <p:nvPr/>
          </p:nvSpPr>
          <p:spPr>
            <a:xfrm>
              <a:off x="1809750" y="2457450"/>
              <a:ext cx="5848350" cy="9525"/>
            </a:xfrm>
            <a:custGeom>
              <a:avLst/>
              <a:gdLst/>
              <a:ahLst/>
              <a:cxnLst/>
              <a:rect l="l" t="t" r="r" b="b"/>
              <a:pathLst>
                <a:path w="5848350" h="9525">
                  <a:moveTo>
                    <a:pt x="0" y="0"/>
                  </a:moveTo>
                  <a:lnTo>
                    <a:pt x="5848350" y="0"/>
                  </a:lnTo>
                </a:path>
              </a:pathLst>
            </a:custGeom>
            <a:noFill/>
            <a:ln w="47625" cap="rnd">
              <a:solidFill>
                <a:srgbClr val="A50021"/>
              </a:solidFill>
            </a:ln>
          </p:spPr>
        </p:sp>
        <p:grpSp>
          <p:nvGrpSpPr>
            <p:cNvPr id="19" name="Group 19"/>
            <p:cNvGrpSpPr/>
            <p:nvPr/>
          </p:nvGrpSpPr>
          <p:grpSpPr>
            <a:xfrm>
              <a:off x="1250252" y="1952625"/>
              <a:ext cx="1690497" cy="1014413"/>
              <a:chOff x="1250252" y="1952625"/>
              <a:chExt cx="1690497" cy="1014413"/>
            </a:xfrm>
          </p:grpSpPr>
          <p:sp>
            <p:nvSpPr>
              <p:cNvPr id="13" name="Ellipse 13"/>
              <p:cNvSpPr/>
              <p:nvPr/>
            </p:nvSpPr>
            <p:spPr>
              <a:xfrm>
                <a:off x="1924050" y="2286000"/>
                <a:ext cx="342900" cy="342900"/>
              </a:xfrm>
              <a:prstGeom prst="ellipse">
                <a:avLst/>
              </a:prstGeom>
              <a:solidFill>
                <a:srgbClr val="A50021"/>
              </a:solidFill>
              <a:ln>
                <a:noFill/>
              </a:ln>
            </p:spPr>
          </p:sp>
          <p:grpSp>
            <p:nvGrpSpPr>
              <p:cNvPr id="16" name="Group 16"/>
              <p:cNvGrpSpPr/>
              <p:nvPr/>
            </p:nvGrpSpPr>
            <p:grpSpPr>
              <a:xfrm>
                <a:off x="1978819" y="2324100"/>
                <a:ext cx="233362" cy="250031"/>
                <a:chOff x="1978819" y="2324100"/>
                <a:chExt cx="233362" cy="250031"/>
              </a:xfrm>
            </p:grpSpPr>
            <p:sp>
              <p:nvSpPr>
                <p:cNvPr id="14" name="Freeform 14"/>
                <p:cNvSpPr/>
                <p:nvPr/>
              </p:nvSpPr>
              <p:spPr>
                <a:xfrm>
                  <a:off x="1978819" y="2324100"/>
                  <a:ext cx="233362" cy="83344"/>
                </a:xfrm>
                <a:custGeom>
                  <a:avLst/>
                  <a:gdLst/>
                  <a:ahLst/>
                  <a:cxnLst/>
                  <a:rect l="l" t="t" r="r" b="b"/>
                  <a:pathLst>
                    <a:path w="233362" h="83344">
                      <a:moveTo>
                        <a:pt x="83344" y="0"/>
                      </a:moveTo>
                      <a:lnTo>
                        <a:pt x="33338" y="0"/>
                      </a:lnTo>
                      <a:lnTo>
                        <a:pt x="33338" y="33338"/>
                      </a:lnTo>
                      <a:lnTo>
                        <a:pt x="0" y="33338"/>
                      </a:lnTo>
                      <a:lnTo>
                        <a:pt x="0" y="83344"/>
                      </a:lnTo>
                      <a:lnTo>
                        <a:pt x="233362" y="83344"/>
                      </a:lnTo>
                      <a:lnTo>
                        <a:pt x="233362" y="33338"/>
                      </a:lnTo>
                      <a:lnTo>
                        <a:pt x="200025" y="33338"/>
                      </a:lnTo>
                      <a:lnTo>
                        <a:pt x="200025" y="0"/>
                      </a:lnTo>
                      <a:lnTo>
                        <a:pt x="150019" y="0"/>
                      </a:lnTo>
                      <a:lnTo>
                        <a:pt x="150019" y="33338"/>
                      </a:lnTo>
                      <a:lnTo>
                        <a:pt x="83344" y="33338"/>
                      </a:lnTo>
                      <a:lnTo>
                        <a:pt x="83344" y="0"/>
                      </a:lnTo>
                      <a:close/>
                    </a:path>
                  </a:pathLst>
                </a:custGeom>
                <a:solidFill>
                  <a:srgbClr val="FFFFFF"/>
                </a:solidFill>
                <a:ln>
                  <a:noFill/>
                </a:ln>
              </p:spPr>
            </p:sp>
            <p:sp>
              <p:nvSpPr>
                <p:cNvPr id="15" name="Freeform 15"/>
                <p:cNvSpPr/>
                <p:nvPr/>
              </p:nvSpPr>
              <p:spPr>
                <a:xfrm>
                  <a:off x="1978819" y="2440781"/>
                  <a:ext cx="233362" cy="133350"/>
                </a:xfrm>
                <a:custGeom>
                  <a:avLst/>
                  <a:gdLst/>
                  <a:ahLst/>
                  <a:cxnLst/>
                  <a:rect l="l" t="t" r="r" b="b"/>
                  <a:pathLst>
                    <a:path w="233362" h="133350">
                      <a:moveTo>
                        <a:pt x="233362" y="0"/>
                      </a:moveTo>
                      <a:lnTo>
                        <a:pt x="0" y="0"/>
                      </a:lnTo>
                      <a:lnTo>
                        <a:pt x="0" y="133350"/>
                      </a:lnTo>
                      <a:lnTo>
                        <a:pt x="233362" y="133350"/>
                      </a:lnTo>
                      <a:lnTo>
                        <a:pt x="233362" y="0"/>
                      </a:lnTo>
                      <a:close/>
                    </a:path>
                  </a:pathLst>
                </a:custGeom>
                <a:solidFill>
                  <a:srgbClr val="FFFFFF"/>
                </a:solidFill>
                <a:ln>
                  <a:noFill/>
                </a:ln>
              </p:spPr>
            </p:sp>
          </p:grpSp>
          <p:sp>
            <p:nvSpPr>
              <p:cNvPr id="17" name="TextBox 17"/>
              <p:cNvSpPr txBox="1"/>
              <p:nvPr/>
            </p:nvSpPr>
            <p:spPr>
              <a:xfrm>
                <a:off x="1524381" y="1952625"/>
                <a:ext cx="1142238" cy="304800"/>
              </a:xfrm>
              <a:prstGeom prst="rect">
                <a:avLst/>
              </a:prstGeom>
              <a:noFill/>
              <a:ln>
                <a:noFill/>
              </a:ln>
            </p:spPr>
            <p:txBody>
              <a:bodyPr wrap="none" lIns="0" tIns="0" rIns="0" bIns="0" anchor="t" anchorCtr="0">
                <a:spAutoFit/>
              </a:bodyPr>
              <a:lstStyle/>
              <a:p>
                <a:pPr algn="ctr"/>
                <a:r>
                  <a:rPr lang="zh-CN" sz="1500" b="1" dirty="0">
                    <a:solidFill>
                      <a:srgbClr val="A50021"/>
                    </a:solidFill>
                    <a:latin typeface="Arial"/>
                    <a:ea typeface="Microsoft YaHei"/>
                    <a:cs typeface="Arial"/>
                  </a:rPr>
                  <a:t>2025年11月</a:t>
                </a:r>
              </a:p>
            </p:txBody>
          </p:sp>
          <p:sp>
            <p:nvSpPr>
              <p:cNvPr id="18" name="TextBox 18"/>
              <p:cNvSpPr txBox="1"/>
              <p:nvPr/>
            </p:nvSpPr>
            <p:spPr>
              <a:xfrm>
                <a:off x="1250252" y="2692718"/>
                <a:ext cx="1690497" cy="274320"/>
              </a:xfrm>
              <a:prstGeom prst="rect">
                <a:avLst/>
              </a:prstGeom>
              <a:noFill/>
              <a:ln>
                <a:noFill/>
              </a:ln>
            </p:spPr>
            <p:txBody>
              <a:bodyPr wrap="none" lIns="0" tIns="0" rIns="0" bIns="0" anchor="t" anchorCtr="0">
                <a:spAutoFit/>
              </a:bodyPr>
              <a:lstStyle/>
              <a:p>
                <a:pPr algn="ctr"/>
                <a:r>
                  <a:rPr lang="zh-CN" sz="1350" b="1" dirty="0">
                    <a:solidFill>
                      <a:srgbClr val="1F2328"/>
                    </a:solidFill>
                    <a:latin typeface="Arial"/>
                    <a:ea typeface="Microsoft YaHei"/>
                    <a:cs typeface="Arial"/>
                  </a:rPr>
                  <a:t>一期项目顺畅投产</a:t>
                </a:r>
              </a:p>
            </p:txBody>
          </p:sp>
        </p:grpSp>
        <p:grpSp>
          <p:nvGrpSpPr>
            <p:cNvPr id="24" name="Group 24"/>
            <p:cNvGrpSpPr/>
            <p:nvPr/>
          </p:nvGrpSpPr>
          <p:grpSpPr>
            <a:xfrm>
              <a:off x="4984052" y="1952625"/>
              <a:ext cx="1690497" cy="1014413"/>
              <a:chOff x="4984052" y="1952625"/>
              <a:chExt cx="1690497" cy="1014413"/>
            </a:xfrm>
          </p:grpSpPr>
          <p:sp>
            <p:nvSpPr>
              <p:cNvPr id="20" name="Ellipse 20"/>
              <p:cNvSpPr/>
              <p:nvPr/>
            </p:nvSpPr>
            <p:spPr>
              <a:xfrm>
                <a:off x="5657850" y="2286000"/>
                <a:ext cx="342900" cy="342900"/>
              </a:xfrm>
              <a:prstGeom prst="ellipse">
                <a:avLst/>
              </a:prstGeom>
              <a:solidFill>
                <a:srgbClr val="A50021"/>
              </a:solidFill>
              <a:ln>
                <a:noFill/>
              </a:ln>
            </p:spPr>
          </p:sp>
          <p:sp>
            <p:nvSpPr>
              <p:cNvPr id="21" name="Freeform 21"/>
              <p:cNvSpPr/>
              <p:nvPr/>
            </p:nvSpPr>
            <p:spPr>
              <a:xfrm>
                <a:off x="5729288" y="2324100"/>
                <a:ext cx="200025" cy="266700"/>
              </a:xfrm>
              <a:custGeom>
                <a:avLst/>
                <a:gdLst/>
                <a:ahLst/>
                <a:cxnLst/>
                <a:rect l="l" t="t" r="r" b="b"/>
                <a:pathLst>
                  <a:path w="200025" h="266700">
                    <a:moveTo>
                      <a:pt x="116681" y="116681"/>
                    </a:moveTo>
                    <a:lnTo>
                      <a:pt x="133350" y="0"/>
                    </a:lnTo>
                    <a:lnTo>
                      <a:pt x="100012" y="0"/>
                    </a:lnTo>
                    <a:lnTo>
                      <a:pt x="0" y="116681"/>
                    </a:lnTo>
                    <a:lnTo>
                      <a:pt x="0" y="150019"/>
                    </a:lnTo>
                    <a:lnTo>
                      <a:pt x="83344" y="150019"/>
                    </a:lnTo>
                    <a:lnTo>
                      <a:pt x="66675" y="266700"/>
                    </a:lnTo>
                    <a:lnTo>
                      <a:pt x="100012" y="266700"/>
                    </a:lnTo>
                    <a:lnTo>
                      <a:pt x="200025" y="150019"/>
                    </a:lnTo>
                    <a:lnTo>
                      <a:pt x="200025" y="116681"/>
                    </a:lnTo>
                    <a:lnTo>
                      <a:pt x="116681" y="116681"/>
                    </a:lnTo>
                    <a:close/>
                  </a:path>
                </a:pathLst>
              </a:custGeom>
              <a:solidFill>
                <a:srgbClr val="FFFFFF"/>
              </a:solidFill>
              <a:ln>
                <a:noFill/>
              </a:ln>
            </p:spPr>
          </p:sp>
          <p:sp>
            <p:nvSpPr>
              <p:cNvPr id="22" name="TextBox 22"/>
              <p:cNvSpPr txBox="1"/>
              <p:nvPr/>
            </p:nvSpPr>
            <p:spPr>
              <a:xfrm>
                <a:off x="5263932" y="1952625"/>
                <a:ext cx="1130737" cy="304800"/>
              </a:xfrm>
              <a:prstGeom prst="rect">
                <a:avLst/>
              </a:prstGeom>
              <a:noFill/>
              <a:ln>
                <a:noFill/>
              </a:ln>
            </p:spPr>
            <p:txBody>
              <a:bodyPr wrap="none" lIns="0" tIns="0" rIns="0" bIns="0" anchor="t" anchorCtr="0">
                <a:spAutoFit/>
              </a:bodyPr>
              <a:lstStyle/>
              <a:p>
                <a:pPr algn="ctr"/>
                <a:r>
                  <a:rPr lang="zh-CN" sz="1500" b="1" dirty="0">
                    <a:solidFill>
                      <a:srgbClr val="A50021"/>
                    </a:solidFill>
                    <a:latin typeface="Arial"/>
                    <a:ea typeface="Microsoft YaHei"/>
                    <a:cs typeface="Arial"/>
                  </a:rPr>
                  <a:t>2026年3月</a:t>
                </a:r>
              </a:p>
            </p:txBody>
          </p:sp>
          <p:sp>
            <p:nvSpPr>
              <p:cNvPr id="23" name="TextBox 23"/>
              <p:cNvSpPr txBox="1"/>
              <p:nvPr/>
            </p:nvSpPr>
            <p:spPr>
              <a:xfrm>
                <a:off x="4984052" y="2692718"/>
                <a:ext cx="1690497" cy="274320"/>
              </a:xfrm>
              <a:prstGeom prst="rect">
                <a:avLst/>
              </a:prstGeom>
              <a:noFill/>
              <a:ln>
                <a:noFill/>
              </a:ln>
            </p:spPr>
            <p:txBody>
              <a:bodyPr wrap="none" lIns="0" tIns="0" rIns="0" bIns="0" anchor="t" anchorCtr="0">
                <a:spAutoFit/>
              </a:bodyPr>
              <a:lstStyle/>
              <a:p>
                <a:pPr algn="ctr"/>
                <a:r>
                  <a:rPr lang="zh-CN" sz="1350" b="1" dirty="0">
                    <a:solidFill>
                      <a:srgbClr val="1F2328"/>
                    </a:solidFill>
                    <a:latin typeface="Arial"/>
                    <a:ea typeface="Microsoft YaHei"/>
                    <a:cs typeface="Arial"/>
                  </a:rPr>
                  <a:t>前端功能全面优化</a:t>
                </a:r>
              </a:p>
            </p:txBody>
          </p:sp>
        </p:grpSp>
        <p:grpSp>
          <p:nvGrpSpPr>
            <p:cNvPr id="29" name="Group 29"/>
            <p:cNvGrpSpPr/>
            <p:nvPr/>
          </p:nvGrpSpPr>
          <p:grpSpPr>
            <a:xfrm>
              <a:off x="8553666" y="1952625"/>
              <a:ext cx="1866469" cy="1014413"/>
              <a:chOff x="8553666" y="1952625"/>
              <a:chExt cx="1866469" cy="1014413"/>
            </a:xfrm>
          </p:grpSpPr>
          <p:sp>
            <p:nvSpPr>
              <p:cNvPr id="25" name="Ellipse 25"/>
              <p:cNvSpPr/>
              <p:nvPr/>
            </p:nvSpPr>
            <p:spPr>
              <a:xfrm>
                <a:off x="9315450" y="2286000"/>
                <a:ext cx="342900" cy="342900"/>
              </a:xfrm>
              <a:prstGeom prst="ellipse">
                <a:avLst/>
              </a:prstGeom>
              <a:solidFill>
                <a:srgbClr val="FFFFFF"/>
              </a:solidFill>
              <a:ln w="38100">
                <a:solidFill>
                  <a:srgbClr val="A50021"/>
                </a:solidFill>
              </a:ln>
            </p:spPr>
          </p:sp>
          <p:sp>
            <p:nvSpPr>
              <p:cNvPr id="26" name="Ellipse 26"/>
              <p:cNvSpPr/>
              <p:nvPr/>
            </p:nvSpPr>
            <p:spPr>
              <a:xfrm>
                <a:off x="9420225" y="2390775"/>
                <a:ext cx="133350" cy="133350"/>
              </a:xfrm>
              <a:prstGeom prst="ellipse">
                <a:avLst/>
              </a:prstGeom>
              <a:solidFill>
                <a:srgbClr val="A50021"/>
              </a:solidFill>
              <a:ln>
                <a:noFill/>
              </a:ln>
            </p:spPr>
          </p:sp>
          <p:sp>
            <p:nvSpPr>
              <p:cNvPr id="27" name="TextBox 27"/>
              <p:cNvSpPr txBox="1"/>
              <p:nvPr/>
            </p:nvSpPr>
            <p:spPr>
              <a:xfrm>
                <a:off x="9237821" y="1952625"/>
                <a:ext cx="498158" cy="304800"/>
              </a:xfrm>
              <a:prstGeom prst="rect">
                <a:avLst/>
              </a:prstGeom>
              <a:noFill/>
              <a:ln>
                <a:noFill/>
              </a:ln>
            </p:spPr>
            <p:txBody>
              <a:bodyPr wrap="none" lIns="0" tIns="0" rIns="0" bIns="0" anchor="t" anchorCtr="0">
                <a:spAutoFit/>
              </a:bodyPr>
              <a:lstStyle/>
              <a:p>
                <a:pPr algn="ctr"/>
                <a:r>
                  <a:rPr lang="zh-CN" sz="1500" b="1" dirty="0">
                    <a:solidFill>
                      <a:srgbClr val="A50021"/>
                    </a:solidFill>
                    <a:latin typeface="Arial"/>
                    <a:ea typeface="Microsoft YaHei"/>
                    <a:cs typeface="Arial"/>
                  </a:rPr>
                  <a:t>现状</a:t>
                </a:r>
              </a:p>
            </p:txBody>
          </p:sp>
          <p:sp>
            <p:nvSpPr>
              <p:cNvPr id="28" name="TextBox 28"/>
              <p:cNvSpPr txBox="1"/>
              <p:nvPr/>
            </p:nvSpPr>
            <p:spPr>
              <a:xfrm>
                <a:off x="8553666" y="2692718"/>
                <a:ext cx="1866469" cy="274320"/>
              </a:xfrm>
              <a:prstGeom prst="rect">
                <a:avLst/>
              </a:prstGeom>
              <a:noFill/>
              <a:ln>
                <a:noFill/>
              </a:ln>
            </p:spPr>
            <p:txBody>
              <a:bodyPr wrap="none" lIns="0" tIns="0" rIns="0" bIns="0" anchor="t" anchorCtr="0">
                <a:spAutoFit/>
              </a:bodyPr>
              <a:lstStyle/>
              <a:p>
                <a:pPr algn="ctr"/>
                <a:r>
                  <a:rPr lang="zh-CN" sz="1350" b="1" dirty="0">
                    <a:solidFill>
                      <a:srgbClr val="1F2328"/>
                    </a:solidFill>
                    <a:latin typeface="Arial"/>
                    <a:ea typeface="Microsoft YaHei"/>
                    <a:cs typeface="Arial"/>
                  </a:rPr>
                  <a:t>2 项场景 + 3 项需求</a:t>
                </a:r>
              </a:p>
            </p:txBody>
          </p:sp>
        </p:grpSp>
      </p:grpSp>
      <p:grpSp>
        <p:nvGrpSpPr>
          <p:cNvPr id="39" name="Group 39"/>
          <p:cNvGrpSpPr/>
          <p:nvPr/>
        </p:nvGrpSpPr>
        <p:grpSpPr>
          <a:xfrm>
            <a:off x="685800" y="3333750"/>
            <a:ext cx="3352800" cy="1790700"/>
            <a:chOff x="685800" y="3333750"/>
            <a:chExt cx="3352800" cy="1790700"/>
          </a:xfrm>
        </p:grpSpPr>
        <p:sp>
          <p:nvSpPr>
            <p:cNvPr id="31" name="Rectangle 31"/>
            <p:cNvSpPr/>
            <p:nvPr/>
          </p:nvSpPr>
          <p:spPr>
            <a:xfrm>
              <a:off x="685800" y="3333750"/>
              <a:ext cx="3352800" cy="1790700"/>
            </a:xfrm>
            <a:prstGeom prst="roundRect">
              <a:avLst>
                <a:gd name="adj" fmla="val 4255"/>
              </a:avLst>
            </a:prstGeom>
            <a:solidFill>
              <a:srgbClr val="FFFFFF"/>
            </a:solidFill>
            <a:ln w="11430">
              <a:solidFill>
                <a:srgbClr val="E4E7EB"/>
              </a:solidFill>
            </a:ln>
            <a:effectLst>
              <a:outerShdw blurRad="114300" dist="38100" dir="5400000" algn="ctr" rotWithShape="0">
                <a:srgbClr val="000000">
                  <a:alpha val="6000"/>
                </a:srgbClr>
              </a:outerShdw>
            </a:effectLst>
          </p:spPr>
        </p:sp>
        <p:sp>
          <p:nvSpPr>
            <p:cNvPr id="32" name="Rectangle 32"/>
            <p:cNvSpPr/>
            <p:nvPr/>
          </p:nvSpPr>
          <p:spPr>
            <a:xfrm>
              <a:off x="685800" y="3333750"/>
              <a:ext cx="76200" cy="1790700"/>
            </a:xfrm>
            <a:prstGeom prst="roundRect">
              <a:avLst>
                <a:gd name="adj" fmla="val 50000"/>
              </a:avLst>
            </a:prstGeom>
            <a:solidFill>
              <a:srgbClr val="A50021"/>
            </a:solidFill>
            <a:ln>
              <a:noFill/>
            </a:ln>
          </p:spPr>
        </p:sp>
        <p:grpSp>
          <p:nvGrpSpPr>
            <p:cNvPr id="35" name="Group 35"/>
            <p:cNvGrpSpPr/>
            <p:nvPr/>
          </p:nvGrpSpPr>
          <p:grpSpPr>
            <a:xfrm>
              <a:off x="1051322" y="3638550"/>
              <a:ext cx="316706" cy="361950"/>
              <a:chOff x="1051322" y="3638550"/>
              <a:chExt cx="316706" cy="361950"/>
            </a:xfrm>
          </p:grpSpPr>
          <p:sp>
            <p:nvSpPr>
              <p:cNvPr id="33" name="Freeform 33"/>
              <p:cNvSpPr/>
              <p:nvPr/>
            </p:nvSpPr>
            <p:spPr>
              <a:xfrm>
                <a:off x="1141809" y="3638550"/>
                <a:ext cx="226219" cy="271462"/>
              </a:xfrm>
              <a:custGeom>
                <a:avLst/>
                <a:gdLst/>
                <a:ahLst/>
                <a:cxnLst/>
                <a:rect l="l" t="t" r="r" b="b"/>
                <a:pathLst>
                  <a:path w="226219" h="271462">
                    <a:moveTo>
                      <a:pt x="135731" y="0"/>
                    </a:moveTo>
                    <a:lnTo>
                      <a:pt x="0" y="0"/>
                    </a:lnTo>
                    <a:lnTo>
                      <a:pt x="0" y="271462"/>
                    </a:lnTo>
                    <a:lnTo>
                      <a:pt x="226219" y="271462"/>
                    </a:lnTo>
                    <a:lnTo>
                      <a:pt x="226219" y="90488"/>
                    </a:lnTo>
                    <a:lnTo>
                      <a:pt x="135731" y="0"/>
                    </a:lnTo>
                    <a:close/>
                  </a:path>
                </a:pathLst>
              </a:custGeom>
              <a:solidFill>
                <a:srgbClr val="A50021"/>
              </a:solidFill>
              <a:ln>
                <a:noFill/>
              </a:ln>
            </p:spPr>
          </p:sp>
          <p:sp>
            <p:nvSpPr>
              <p:cNvPr id="34" name="Freeform 34"/>
              <p:cNvSpPr/>
              <p:nvPr/>
            </p:nvSpPr>
            <p:spPr>
              <a:xfrm>
                <a:off x="1051322" y="3729038"/>
                <a:ext cx="226219" cy="271462"/>
              </a:xfrm>
              <a:custGeom>
                <a:avLst/>
                <a:gdLst/>
                <a:ahLst/>
                <a:cxnLst/>
                <a:rect l="l" t="t" r="r" b="b"/>
                <a:pathLst>
                  <a:path w="226219" h="271462">
                    <a:moveTo>
                      <a:pt x="0" y="0"/>
                    </a:moveTo>
                    <a:lnTo>
                      <a:pt x="0" y="271462"/>
                    </a:lnTo>
                    <a:lnTo>
                      <a:pt x="226219" y="271462"/>
                    </a:lnTo>
                    <a:lnTo>
                      <a:pt x="226219" y="226219"/>
                    </a:lnTo>
                    <a:lnTo>
                      <a:pt x="45244" y="226219"/>
                    </a:lnTo>
                    <a:lnTo>
                      <a:pt x="45244" y="0"/>
                    </a:lnTo>
                    <a:lnTo>
                      <a:pt x="0" y="0"/>
                    </a:lnTo>
                    <a:close/>
                  </a:path>
                </a:pathLst>
              </a:custGeom>
              <a:solidFill>
                <a:srgbClr val="A50021"/>
              </a:solidFill>
              <a:ln>
                <a:noFill/>
              </a:ln>
            </p:spPr>
          </p:sp>
        </p:grpSp>
        <p:sp>
          <p:nvSpPr>
            <p:cNvPr id="36" name="TextBox 36"/>
            <p:cNvSpPr txBox="1"/>
            <p:nvPr/>
          </p:nvSpPr>
          <p:spPr>
            <a:xfrm>
              <a:off x="1546860" y="3718560"/>
              <a:ext cx="1082040" cy="243840"/>
            </a:xfrm>
            <a:prstGeom prst="rect">
              <a:avLst/>
            </a:prstGeom>
            <a:noFill/>
            <a:ln>
              <a:noFill/>
            </a:ln>
          </p:spPr>
          <p:txBody>
            <a:bodyPr wrap="none" lIns="0" tIns="0" rIns="0" bIns="0" anchor="t" anchorCtr="0">
              <a:spAutoFit/>
            </a:bodyPr>
            <a:lstStyle/>
            <a:p>
              <a:pPr algn="l"/>
              <a:r>
                <a:rPr lang="zh-CN" sz="1200" dirty="0">
                  <a:solidFill>
                    <a:srgbClr val="5F6368"/>
                  </a:solidFill>
                  <a:latin typeface="Arial"/>
                  <a:ea typeface="Microsoft YaHei"/>
                  <a:cs typeface="Arial"/>
                </a:rPr>
                <a:t>有效文档总数</a:t>
              </a:r>
            </a:p>
          </p:txBody>
        </p:sp>
        <p:sp>
          <p:nvSpPr>
            <p:cNvPr id="37" name="TextBox 37"/>
            <p:cNvSpPr txBox="1"/>
            <p:nvPr/>
          </p:nvSpPr>
          <p:spPr>
            <a:xfrm>
              <a:off x="986790" y="4158615"/>
              <a:ext cx="1753829" cy="670560"/>
            </a:xfrm>
            <a:prstGeom prst="rect">
              <a:avLst/>
            </a:prstGeom>
            <a:noFill/>
            <a:ln>
              <a:noFill/>
            </a:ln>
          </p:spPr>
          <p:txBody>
            <a:bodyPr wrap="none" lIns="0" tIns="0" rIns="0" bIns="0" anchor="t" anchorCtr="0">
              <a:spAutoFit/>
            </a:bodyPr>
            <a:lstStyle/>
            <a:p>
              <a:pPr algn="l"/>
              <a:r>
                <a:rPr lang="zh-CN" sz="3300" b="1" dirty="0">
                  <a:solidFill>
                    <a:srgbClr val="1F2328"/>
                  </a:solidFill>
                  <a:latin typeface="Arial"/>
                  <a:ea typeface="Microsoft YaHei"/>
                  <a:cs typeface="Arial"/>
                </a:rPr>
                <a:t>99,493</a:t>
              </a:r>
            </a:p>
          </p:txBody>
        </p:sp>
        <p:sp>
          <p:nvSpPr>
            <p:cNvPr id="38" name="TextBox 38"/>
            <p:cNvSpPr txBox="1"/>
            <p:nvPr/>
          </p:nvSpPr>
          <p:spPr>
            <a:xfrm>
              <a:off x="1013460" y="4747260"/>
              <a:ext cx="1958340" cy="243840"/>
            </a:xfrm>
            <a:prstGeom prst="rect">
              <a:avLst/>
            </a:prstGeom>
            <a:noFill/>
            <a:ln>
              <a:noFill/>
            </a:ln>
          </p:spPr>
          <p:txBody>
            <a:bodyPr wrap="none" lIns="0" tIns="0" rIns="0" bIns="0" anchor="t" anchorCtr="0">
              <a:spAutoFit/>
            </a:bodyPr>
            <a:lstStyle/>
            <a:p>
              <a:pPr algn="l"/>
              <a:r>
                <a:rPr lang="zh-CN" sz="1200" dirty="0">
                  <a:solidFill>
                    <a:srgbClr val="5F6368"/>
                  </a:solidFill>
                  <a:latin typeface="Arial"/>
                  <a:ea typeface="Microsoft YaHei"/>
                  <a:cs typeface="Arial"/>
                </a:rPr>
                <a:t>覆盖多条线知识资产沉淀</a:t>
              </a:r>
            </a:p>
          </p:txBody>
        </p:sp>
      </p:grpSp>
      <p:grpSp>
        <p:nvGrpSpPr>
          <p:cNvPr id="46" name="Group 46"/>
          <p:cNvGrpSpPr/>
          <p:nvPr/>
        </p:nvGrpSpPr>
        <p:grpSpPr>
          <a:xfrm>
            <a:off x="4419600" y="3333750"/>
            <a:ext cx="3352800" cy="1790700"/>
            <a:chOff x="4419600" y="3333750"/>
            <a:chExt cx="3352800" cy="1790700"/>
          </a:xfrm>
        </p:grpSpPr>
        <p:sp>
          <p:nvSpPr>
            <p:cNvPr id="40" name="Rectangle 40"/>
            <p:cNvSpPr/>
            <p:nvPr/>
          </p:nvSpPr>
          <p:spPr>
            <a:xfrm>
              <a:off x="4419600" y="3333750"/>
              <a:ext cx="3352800" cy="1790700"/>
            </a:xfrm>
            <a:prstGeom prst="roundRect">
              <a:avLst>
                <a:gd name="adj" fmla="val 4255"/>
              </a:avLst>
            </a:prstGeom>
            <a:solidFill>
              <a:srgbClr val="FFFFFF"/>
            </a:solidFill>
            <a:ln w="11430">
              <a:solidFill>
                <a:srgbClr val="E4E7EB"/>
              </a:solidFill>
            </a:ln>
            <a:effectLst>
              <a:outerShdw blurRad="114300" dist="38100" dir="5400000" algn="ctr" rotWithShape="0">
                <a:srgbClr val="000000">
                  <a:alpha val="6000"/>
                </a:srgbClr>
              </a:outerShdw>
            </a:effectLst>
          </p:spPr>
        </p:sp>
        <p:sp>
          <p:nvSpPr>
            <p:cNvPr id="41" name="Rectangle 41"/>
            <p:cNvSpPr/>
            <p:nvPr/>
          </p:nvSpPr>
          <p:spPr>
            <a:xfrm>
              <a:off x="4419600" y="3333750"/>
              <a:ext cx="76200" cy="1790700"/>
            </a:xfrm>
            <a:prstGeom prst="roundRect">
              <a:avLst>
                <a:gd name="adj" fmla="val 50000"/>
              </a:avLst>
            </a:prstGeom>
            <a:solidFill>
              <a:srgbClr val="2F6FDB"/>
            </a:solidFill>
            <a:ln>
              <a:noFill/>
            </a:ln>
          </p:spPr>
        </p:sp>
        <p:sp>
          <p:nvSpPr>
            <p:cNvPr id="42" name="Freeform 42"/>
            <p:cNvSpPr/>
            <p:nvPr/>
          </p:nvSpPr>
          <p:spPr>
            <a:xfrm>
              <a:off x="4762500" y="3638550"/>
              <a:ext cx="355324" cy="355324"/>
            </a:xfrm>
            <a:custGeom>
              <a:avLst/>
              <a:gdLst/>
              <a:ahLst/>
              <a:cxnLst/>
              <a:rect l="l" t="t" r="r" b="b"/>
              <a:pathLst>
                <a:path w="355324" h="355324">
                  <a:moveTo>
                    <a:pt x="253189" y="285180"/>
                  </a:moveTo>
                  <a:cubicBezTo>
                    <a:pt x="226753" y="304979"/>
                    <a:pt x="193922" y="316706"/>
                    <a:pt x="158353" y="316706"/>
                  </a:cubicBezTo>
                  <a:cubicBezTo>
                    <a:pt x="70897" y="316706"/>
                    <a:pt x="0" y="245809"/>
                    <a:pt x="0" y="158353"/>
                  </a:cubicBezTo>
                  <a:cubicBezTo>
                    <a:pt x="0" y="70897"/>
                    <a:pt x="70897" y="0"/>
                    <a:pt x="158353" y="0"/>
                  </a:cubicBezTo>
                  <a:cubicBezTo>
                    <a:pt x="245809" y="0"/>
                    <a:pt x="316706" y="70897"/>
                    <a:pt x="316706" y="158353"/>
                  </a:cubicBezTo>
                  <a:cubicBezTo>
                    <a:pt x="316706" y="193922"/>
                    <a:pt x="304979" y="226753"/>
                    <a:pt x="285180" y="253189"/>
                  </a:cubicBezTo>
                  <a:lnTo>
                    <a:pt x="355324" y="323332"/>
                  </a:lnTo>
                  <a:lnTo>
                    <a:pt x="323332" y="355324"/>
                  </a:lnTo>
                  <a:lnTo>
                    <a:pt x="253189" y="285180"/>
                  </a:lnTo>
                  <a:close/>
                  <a:moveTo>
                    <a:pt x="126361" y="190345"/>
                  </a:moveTo>
                  <a:lnTo>
                    <a:pt x="94369" y="222338"/>
                  </a:lnTo>
                  <a:cubicBezTo>
                    <a:pt x="59031" y="187000"/>
                    <a:pt x="59031" y="129706"/>
                    <a:pt x="94369" y="94369"/>
                  </a:cubicBezTo>
                  <a:cubicBezTo>
                    <a:pt x="129706" y="59031"/>
                    <a:pt x="187000" y="59031"/>
                    <a:pt x="222338" y="94369"/>
                  </a:cubicBezTo>
                  <a:lnTo>
                    <a:pt x="190345" y="126361"/>
                  </a:lnTo>
                  <a:cubicBezTo>
                    <a:pt x="172676" y="108692"/>
                    <a:pt x="144030" y="108692"/>
                    <a:pt x="126361" y="126361"/>
                  </a:cubicBezTo>
                  <a:cubicBezTo>
                    <a:pt x="108692" y="144030"/>
                    <a:pt x="108692" y="172676"/>
                    <a:pt x="126361" y="190345"/>
                  </a:cubicBezTo>
                  <a:close/>
                </a:path>
              </a:pathLst>
            </a:custGeom>
            <a:solidFill>
              <a:srgbClr val="2F6FDB"/>
            </a:solidFill>
            <a:ln>
              <a:noFill/>
            </a:ln>
          </p:spPr>
        </p:sp>
        <p:sp>
          <p:nvSpPr>
            <p:cNvPr id="43" name="TextBox 43"/>
            <p:cNvSpPr txBox="1"/>
            <p:nvPr/>
          </p:nvSpPr>
          <p:spPr>
            <a:xfrm>
              <a:off x="5280660" y="3718560"/>
              <a:ext cx="1082040" cy="243840"/>
            </a:xfrm>
            <a:prstGeom prst="rect">
              <a:avLst/>
            </a:prstGeom>
            <a:noFill/>
            <a:ln>
              <a:noFill/>
            </a:ln>
          </p:spPr>
          <p:txBody>
            <a:bodyPr wrap="none" lIns="0" tIns="0" rIns="0" bIns="0" anchor="t" anchorCtr="0">
              <a:spAutoFit/>
            </a:bodyPr>
            <a:lstStyle/>
            <a:p>
              <a:pPr algn="l"/>
              <a:r>
                <a:rPr lang="zh-CN" sz="1200" dirty="0">
                  <a:solidFill>
                    <a:srgbClr val="5F6368"/>
                  </a:solidFill>
                  <a:latin typeface="Arial"/>
                  <a:ea typeface="Microsoft YaHei"/>
                  <a:cs typeface="Arial"/>
                </a:rPr>
                <a:t>知识文档切片</a:t>
              </a:r>
            </a:p>
          </p:txBody>
        </p:sp>
        <p:sp>
          <p:nvSpPr>
            <p:cNvPr id="44" name="TextBox 44"/>
            <p:cNvSpPr txBox="1"/>
            <p:nvPr/>
          </p:nvSpPr>
          <p:spPr>
            <a:xfrm>
              <a:off x="4720590" y="4158615"/>
              <a:ext cx="1905648" cy="670560"/>
            </a:xfrm>
            <a:prstGeom prst="rect">
              <a:avLst/>
            </a:prstGeom>
            <a:noFill/>
            <a:ln>
              <a:noFill/>
            </a:ln>
          </p:spPr>
          <p:txBody>
            <a:bodyPr wrap="none" lIns="0" tIns="0" rIns="0" bIns="0" anchor="t" anchorCtr="0">
              <a:spAutoFit/>
            </a:bodyPr>
            <a:lstStyle/>
            <a:p>
              <a:pPr algn="l"/>
              <a:r>
                <a:rPr lang="zh-CN" sz="3300" b="1" dirty="0">
                  <a:solidFill>
                    <a:srgbClr val="1F2328"/>
                  </a:solidFill>
                  <a:latin typeface="Arial"/>
                  <a:ea typeface="Microsoft YaHei"/>
                  <a:cs typeface="Arial"/>
                </a:rPr>
                <a:t>102,572</a:t>
              </a:r>
            </a:p>
          </p:txBody>
        </p:sp>
        <p:sp>
          <p:nvSpPr>
            <p:cNvPr id="45" name="TextBox 45"/>
            <p:cNvSpPr txBox="1"/>
            <p:nvPr/>
          </p:nvSpPr>
          <p:spPr>
            <a:xfrm>
              <a:off x="4747260" y="4747260"/>
              <a:ext cx="1958340" cy="243840"/>
            </a:xfrm>
            <a:prstGeom prst="rect">
              <a:avLst/>
            </a:prstGeom>
            <a:noFill/>
            <a:ln>
              <a:noFill/>
            </a:ln>
          </p:spPr>
          <p:txBody>
            <a:bodyPr wrap="none" lIns="0" tIns="0" rIns="0" bIns="0" anchor="t" anchorCtr="0">
              <a:spAutoFit/>
            </a:bodyPr>
            <a:lstStyle/>
            <a:p>
              <a:pPr algn="l"/>
              <a:r>
                <a:rPr lang="zh-CN" sz="1200" dirty="0">
                  <a:solidFill>
                    <a:srgbClr val="5F6368"/>
                  </a:solidFill>
                  <a:latin typeface="Arial"/>
                  <a:ea typeface="Microsoft YaHei"/>
                  <a:cs typeface="Arial"/>
                </a:rPr>
                <a:t>支撑语义检索与问答召回</a:t>
              </a:r>
            </a:p>
          </p:txBody>
        </p:sp>
      </p:grpSp>
      <p:grpSp>
        <p:nvGrpSpPr>
          <p:cNvPr id="56" name="Group 56"/>
          <p:cNvGrpSpPr/>
          <p:nvPr/>
        </p:nvGrpSpPr>
        <p:grpSpPr>
          <a:xfrm>
            <a:off x="8153400" y="3333750"/>
            <a:ext cx="3352800" cy="1790700"/>
            <a:chOff x="8153400" y="3333750"/>
            <a:chExt cx="3352800" cy="1790700"/>
          </a:xfrm>
        </p:grpSpPr>
        <p:sp>
          <p:nvSpPr>
            <p:cNvPr id="47" name="Rectangle 47"/>
            <p:cNvSpPr/>
            <p:nvPr/>
          </p:nvSpPr>
          <p:spPr>
            <a:xfrm>
              <a:off x="8153400" y="3333750"/>
              <a:ext cx="3352800" cy="1790700"/>
            </a:xfrm>
            <a:prstGeom prst="roundRect">
              <a:avLst>
                <a:gd name="adj" fmla="val 4255"/>
              </a:avLst>
            </a:prstGeom>
            <a:solidFill>
              <a:srgbClr val="FFFFFF"/>
            </a:solidFill>
            <a:ln w="11430">
              <a:solidFill>
                <a:srgbClr val="E4E7EB"/>
              </a:solidFill>
            </a:ln>
            <a:effectLst>
              <a:outerShdw blurRad="114300" dist="38100" dir="5400000" algn="ctr" rotWithShape="0">
                <a:srgbClr val="000000">
                  <a:alpha val="6000"/>
                </a:srgbClr>
              </a:outerShdw>
            </a:effectLst>
          </p:spPr>
        </p:sp>
        <p:sp>
          <p:nvSpPr>
            <p:cNvPr id="48" name="Rectangle 48"/>
            <p:cNvSpPr/>
            <p:nvPr/>
          </p:nvSpPr>
          <p:spPr>
            <a:xfrm>
              <a:off x="8153400" y="3333750"/>
              <a:ext cx="76200" cy="1790700"/>
            </a:xfrm>
            <a:prstGeom prst="roundRect">
              <a:avLst>
                <a:gd name="adj" fmla="val 50000"/>
              </a:avLst>
            </a:prstGeom>
            <a:solidFill>
              <a:srgbClr val="2E7D32"/>
            </a:solidFill>
            <a:ln>
              <a:noFill/>
            </a:ln>
          </p:spPr>
        </p:sp>
        <p:grpSp>
          <p:nvGrpSpPr>
            <p:cNvPr id="52" name="Group 52"/>
            <p:cNvGrpSpPr/>
            <p:nvPr/>
          </p:nvGrpSpPr>
          <p:grpSpPr>
            <a:xfrm>
              <a:off x="8541544" y="3638550"/>
              <a:ext cx="271462" cy="361950"/>
              <a:chOff x="8541544" y="3638550"/>
              <a:chExt cx="271462" cy="361950"/>
            </a:xfrm>
          </p:grpSpPr>
          <p:sp>
            <p:nvSpPr>
              <p:cNvPr id="49" name="Freeform 49"/>
              <p:cNvSpPr/>
              <p:nvPr/>
            </p:nvSpPr>
            <p:spPr>
              <a:xfrm>
                <a:off x="8541544" y="3783330"/>
                <a:ext cx="271462" cy="104060"/>
              </a:xfrm>
              <a:custGeom>
                <a:avLst/>
                <a:gdLst/>
                <a:ahLst/>
                <a:cxnLst/>
                <a:rect l="l" t="t" r="r" b="b"/>
                <a:pathLst>
                  <a:path w="271462" h="104060">
                    <a:moveTo>
                      <a:pt x="251942" y="11541"/>
                    </a:moveTo>
                    <a:cubicBezTo>
                      <a:pt x="258306" y="8359"/>
                      <a:pt x="264954" y="4520"/>
                      <a:pt x="271462" y="0"/>
                    </a:cubicBezTo>
                    <a:lnTo>
                      <a:pt x="271462" y="36195"/>
                    </a:lnTo>
                    <a:cubicBezTo>
                      <a:pt x="271462" y="73676"/>
                      <a:pt x="210693" y="104060"/>
                      <a:pt x="135731" y="104060"/>
                    </a:cubicBezTo>
                    <a:cubicBezTo>
                      <a:pt x="60769" y="104060"/>
                      <a:pt x="0" y="73676"/>
                      <a:pt x="0" y="36195"/>
                    </a:cubicBezTo>
                    <a:lnTo>
                      <a:pt x="0" y="0"/>
                    </a:lnTo>
                    <a:cubicBezTo>
                      <a:pt x="6509" y="4520"/>
                      <a:pt x="13156" y="8359"/>
                      <a:pt x="19521" y="11541"/>
                    </a:cubicBezTo>
                    <a:cubicBezTo>
                      <a:pt x="51600" y="27580"/>
                      <a:pt x="92749" y="36195"/>
                      <a:pt x="135731" y="36195"/>
                    </a:cubicBezTo>
                    <a:cubicBezTo>
                      <a:pt x="178713" y="36195"/>
                      <a:pt x="219862" y="27580"/>
                      <a:pt x="251942" y="11541"/>
                    </a:cubicBezTo>
                    <a:close/>
                  </a:path>
                </a:pathLst>
              </a:custGeom>
              <a:solidFill>
                <a:srgbClr val="2E7D32"/>
              </a:solidFill>
              <a:ln>
                <a:noFill/>
              </a:ln>
            </p:spPr>
          </p:sp>
          <p:sp>
            <p:nvSpPr>
              <p:cNvPr id="50" name="Freeform 50"/>
              <p:cNvSpPr/>
              <p:nvPr/>
            </p:nvSpPr>
            <p:spPr>
              <a:xfrm>
                <a:off x="8541544" y="3896439"/>
                <a:ext cx="271462" cy="104061"/>
              </a:xfrm>
              <a:custGeom>
                <a:avLst/>
                <a:gdLst/>
                <a:ahLst/>
                <a:cxnLst/>
                <a:rect l="l" t="t" r="r" b="b"/>
                <a:pathLst>
                  <a:path w="271462" h="104061">
                    <a:moveTo>
                      <a:pt x="0" y="0"/>
                    </a:moveTo>
                    <a:lnTo>
                      <a:pt x="0" y="36195"/>
                    </a:lnTo>
                    <a:cubicBezTo>
                      <a:pt x="0" y="73677"/>
                      <a:pt x="60769" y="104061"/>
                      <a:pt x="135731" y="104061"/>
                    </a:cubicBezTo>
                    <a:cubicBezTo>
                      <a:pt x="210693" y="104061"/>
                      <a:pt x="271462" y="73677"/>
                      <a:pt x="271462" y="36195"/>
                    </a:cubicBezTo>
                    <a:lnTo>
                      <a:pt x="271462" y="0"/>
                    </a:lnTo>
                    <a:cubicBezTo>
                      <a:pt x="264954" y="4520"/>
                      <a:pt x="258306" y="8359"/>
                      <a:pt x="251942" y="11542"/>
                    </a:cubicBezTo>
                    <a:cubicBezTo>
                      <a:pt x="219862" y="27581"/>
                      <a:pt x="178713" y="36195"/>
                      <a:pt x="135731" y="36195"/>
                    </a:cubicBezTo>
                    <a:cubicBezTo>
                      <a:pt x="92749" y="36195"/>
                      <a:pt x="51600" y="27581"/>
                      <a:pt x="19521" y="11542"/>
                    </a:cubicBezTo>
                    <a:cubicBezTo>
                      <a:pt x="13156" y="8359"/>
                      <a:pt x="6509" y="4520"/>
                      <a:pt x="0" y="0"/>
                    </a:cubicBezTo>
                    <a:close/>
                  </a:path>
                </a:pathLst>
              </a:custGeom>
              <a:solidFill>
                <a:srgbClr val="2E7D32"/>
              </a:solidFill>
              <a:ln>
                <a:noFill/>
              </a:ln>
            </p:spPr>
          </p:sp>
          <p:sp>
            <p:nvSpPr>
              <p:cNvPr id="51" name="Freeform 51"/>
              <p:cNvSpPr/>
              <p:nvPr/>
            </p:nvSpPr>
            <p:spPr>
              <a:xfrm>
                <a:off x="8541544" y="3638550"/>
                <a:ext cx="271462" cy="135731"/>
              </a:xfrm>
              <a:custGeom>
                <a:avLst/>
                <a:gdLst/>
                <a:ahLst/>
                <a:cxnLst/>
                <a:rect l="l" t="t" r="r" b="b"/>
                <a:pathLst>
                  <a:path w="271462" h="135731">
                    <a:moveTo>
                      <a:pt x="135731" y="0"/>
                    </a:moveTo>
                    <a:cubicBezTo>
                      <a:pt x="210693" y="0"/>
                      <a:pt x="271462" y="30385"/>
                      <a:pt x="271462" y="67866"/>
                    </a:cubicBezTo>
                    <a:cubicBezTo>
                      <a:pt x="271462" y="105347"/>
                      <a:pt x="210693" y="135731"/>
                      <a:pt x="135731" y="135731"/>
                    </a:cubicBezTo>
                    <a:cubicBezTo>
                      <a:pt x="60769" y="135731"/>
                      <a:pt x="0" y="105347"/>
                      <a:pt x="0" y="67866"/>
                    </a:cubicBezTo>
                    <a:cubicBezTo>
                      <a:pt x="0" y="30385"/>
                      <a:pt x="60769" y="0"/>
                      <a:pt x="135731" y="0"/>
                    </a:cubicBezTo>
                    <a:close/>
                  </a:path>
                </a:pathLst>
              </a:custGeom>
              <a:solidFill>
                <a:srgbClr val="2E7D32"/>
              </a:solidFill>
              <a:ln>
                <a:noFill/>
              </a:ln>
            </p:spPr>
          </p:sp>
        </p:grpSp>
        <p:sp>
          <p:nvSpPr>
            <p:cNvPr id="53" name="TextBox 53"/>
            <p:cNvSpPr txBox="1"/>
            <p:nvPr/>
          </p:nvSpPr>
          <p:spPr>
            <a:xfrm>
              <a:off x="9014460" y="3718560"/>
              <a:ext cx="906780" cy="243840"/>
            </a:xfrm>
            <a:prstGeom prst="rect">
              <a:avLst/>
            </a:prstGeom>
            <a:noFill/>
            <a:ln>
              <a:noFill/>
            </a:ln>
          </p:spPr>
          <p:txBody>
            <a:bodyPr wrap="none" lIns="0" tIns="0" rIns="0" bIns="0" anchor="t" anchorCtr="0">
              <a:spAutoFit/>
            </a:bodyPr>
            <a:lstStyle/>
            <a:p>
              <a:pPr algn="l"/>
              <a:r>
                <a:rPr lang="zh-CN" sz="1200" dirty="0">
                  <a:solidFill>
                    <a:srgbClr val="5F6368"/>
                  </a:solidFill>
                  <a:latin typeface="Arial"/>
                  <a:ea typeface="Microsoft YaHei"/>
                  <a:cs typeface="Arial"/>
                </a:rPr>
                <a:t>文档总容量</a:t>
              </a:r>
            </a:p>
          </p:txBody>
        </p:sp>
        <p:sp>
          <p:nvSpPr>
            <p:cNvPr id="54" name="TextBox 54"/>
            <p:cNvSpPr txBox="1"/>
            <p:nvPr/>
          </p:nvSpPr>
          <p:spPr>
            <a:xfrm>
              <a:off x="8454390" y="4158615"/>
              <a:ext cx="1753829" cy="670560"/>
            </a:xfrm>
            <a:prstGeom prst="rect">
              <a:avLst/>
            </a:prstGeom>
            <a:noFill/>
            <a:ln>
              <a:noFill/>
            </a:ln>
          </p:spPr>
          <p:txBody>
            <a:bodyPr wrap="none" lIns="0" tIns="0" rIns="0" bIns="0" anchor="t" anchorCtr="0">
              <a:spAutoFit/>
            </a:bodyPr>
            <a:lstStyle/>
            <a:p>
              <a:pPr algn="l"/>
              <a:r>
                <a:rPr lang="zh-CN" sz="3300" b="1" dirty="0">
                  <a:solidFill>
                    <a:srgbClr val="1F2328"/>
                  </a:solidFill>
                  <a:latin typeface="Arial"/>
                  <a:ea typeface="Microsoft YaHei"/>
                  <a:cs typeface="Arial"/>
                </a:rPr>
                <a:t>4.46GB</a:t>
              </a:r>
            </a:p>
          </p:txBody>
        </p:sp>
        <p:sp>
          <p:nvSpPr>
            <p:cNvPr id="55" name="TextBox 55"/>
            <p:cNvSpPr txBox="1"/>
            <p:nvPr/>
          </p:nvSpPr>
          <p:spPr>
            <a:xfrm>
              <a:off x="8481060" y="4747260"/>
              <a:ext cx="2133600" cy="243840"/>
            </a:xfrm>
            <a:prstGeom prst="rect">
              <a:avLst/>
            </a:prstGeom>
            <a:noFill/>
            <a:ln>
              <a:noFill/>
            </a:ln>
          </p:spPr>
          <p:txBody>
            <a:bodyPr wrap="none" lIns="0" tIns="0" rIns="0" bIns="0" anchor="t" anchorCtr="0">
              <a:spAutoFit/>
            </a:bodyPr>
            <a:lstStyle/>
            <a:p>
              <a:pPr algn="l"/>
              <a:r>
                <a:rPr lang="zh-CN" sz="1200" dirty="0">
                  <a:solidFill>
                    <a:srgbClr val="5F6368"/>
                  </a:solidFill>
                  <a:latin typeface="Arial"/>
                  <a:ea typeface="Microsoft YaHei"/>
                  <a:cs typeface="Arial"/>
                </a:rPr>
                <a:t>形成可持续扩展的数据基础</a:t>
              </a:r>
            </a:p>
          </p:txBody>
        </p:sp>
      </p:grpSp>
      <p:grpSp>
        <p:nvGrpSpPr>
          <p:cNvPr id="58" name="Group 58"/>
          <p:cNvGrpSpPr/>
          <p:nvPr/>
        </p:nvGrpSpPr>
        <p:grpSpPr>
          <a:xfrm>
            <a:off x="674370" y="5865495"/>
            <a:ext cx="3460147" cy="182880"/>
            <a:chOff x="674370" y="5865495"/>
            <a:chExt cx="3460147" cy="182880"/>
          </a:xfrm>
        </p:grpSpPr>
        <p:sp>
          <p:nvSpPr>
            <p:cNvPr id="57" name="TextBox 57"/>
            <p:cNvSpPr txBox="1"/>
            <p:nvPr/>
          </p:nvSpPr>
          <p:spPr>
            <a:xfrm>
              <a:off x="674370" y="5865495"/>
              <a:ext cx="3460147"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数据来源：向量知识库建设情况材料，截至 2026年4月20日</a:t>
              </a:r>
            </a:p>
          </p:txBody>
        </p:sp>
      </p:grpSp>
      <p:grpSp>
        <p:nvGrpSpPr>
          <p:cNvPr id="61" name="Group 61"/>
          <p:cNvGrpSpPr/>
          <p:nvPr/>
        </p:nvGrpSpPr>
        <p:grpSpPr>
          <a:xfrm>
            <a:off x="685800" y="6286500"/>
            <a:ext cx="10820400" cy="385762"/>
            <a:chOff x="685800" y="6286500"/>
            <a:chExt cx="10820400" cy="385762"/>
          </a:xfrm>
        </p:grpSpPr>
        <p:sp>
          <p:nvSpPr>
            <p:cNvPr id="59" name="Line 59"/>
            <p:cNvSpPr/>
            <p:nvPr/>
          </p:nvSpPr>
          <p:spPr>
            <a:xfrm>
              <a:off x="685800" y="6286500"/>
              <a:ext cx="10820400" cy="9525"/>
            </a:xfrm>
            <a:custGeom>
              <a:avLst/>
              <a:gdLst/>
              <a:ahLst/>
              <a:cxnLst/>
              <a:rect l="l" t="t" r="r" b="b"/>
              <a:pathLst>
                <a:path w="10820400" h="9525">
                  <a:moveTo>
                    <a:pt x="0" y="0"/>
                  </a:moveTo>
                  <a:lnTo>
                    <a:pt x="10820400" y="0"/>
                  </a:lnTo>
                </a:path>
              </a:pathLst>
            </a:custGeom>
            <a:noFill/>
            <a:ln w="11430">
              <a:solidFill>
                <a:srgbClr val="E4E7EB"/>
              </a:solidFill>
            </a:ln>
          </p:spPr>
        </p:sp>
        <p:sp>
          <p:nvSpPr>
            <p:cNvPr id="60" name="TextBox 60"/>
            <p:cNvSpPr txBox="1"/>
            <p:nvPr/>
          </p:nvSpPr>
          <p:spPr>
            <a:xfrm>
              <a:off x="5910143" y="6458902"/>
              <a:ext cx="371713"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Arial"/>
                  <a:ea typeface="Microsoft YaHei"/>
                  <a:cs typeface="Arial"/>
                </a:rPr>
                <a:t>2 / 4</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randombar(horizontal)">
                                      <p:cBhvr>
                                        <p:cTn id="11" dur="400"/>
                                        <p:tgtEl>
                                          <p:spTgt spid="30"/>
                                        </p:tgtEl>
                                      </p:cBhvr>
                                    </p:animEffect>
                                  </p:childTnLst>
                                </p:cTn>
                              </p:par>
                            </p:childTnLst>
                          </p:cTn>
                        </p:par>
                        <p:par>
                          <p:cTn id="12" fill="hold">
                            <p:stCondLst>
                              <p:cond delay="1800"/>
                            </p:stCondLst>
                            <p:childTnLst>
                              <p:par>
                                <p:cTn id="13" presetID="4" presetClass="entr" presetSubtype="0"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box(in)">
                                      <p:cBhvr>
                                        <p:cTn id="15" dur="400"/>
                                        <p:tgtEl>
                                          <p:spTgt spid="39"/>
                                        </p:tgtEl>
                                      </p:cBhvr>
                                    </p:animEffect>
                                  </p:childTnLst>
                                </p:cTn>
                              </p:par>
                            </p:childTnLst>
                          </p:cTn>
                        </p:par>
                        <p:par>
                          <p:cTn id="16" fill="hold">
                            <p:stCondLst>
                              <p:cond delay="2700"/>
                            </p:stCondLst>
                            <p:childTnLst>
                              <p:par>
                                <p:cTn id="17" presetID="16" presetClass="entr" presetSubtype="21" fill="hold"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barn(inVertical)">
                                      <p:cBhvr>
                                        <p:cTn id="19" dur="400"/>
                                        <p:tgtEl>
                                          <p:spTgt spid="46"/>
                                        </p:tgtEl>
                                      </p:cBhvr>
                                    </p:animEffect>
                                  </p:childTnLst>
                                </p:cTn>
                              </p:par>
                            </p:childTnLst>
                          </p:cTn>
                        </p:par>
                        <p:par>
                          <p:cTn id="20" fill="hold">
                            <p:stCondLst>
                              <p:cond delay="3600"/>
                            </p:stCondLst>
                            <p:childTnLst>
                              <p:par>
                                <p:cTn id="21" presetID="18" presetClass="entr" presetSubtype="12" fill="hold" nodeType="after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strips(downRight)">
                                      <p:cBhvr>
                                        <p:cTn id="23" dur="400"/>
                                        <p:tgtEl>
                                          <p:spTgt spid="56"/>
                                        </p:tgtEl>
                                      </p:cBhvr>
                                    </p:animEffect>
                                  </p:childTnLst>
                                </p:cTn>
                              </p:par>
                            </p:childTnLst>
                          </p:cTn>
                        </p:par>
                        <p:par>
                          <p:cTn id="24" fill="hold">
                            <p:stCondLst>
                              <p:cond delay="4500"/>
                            </p:stCondLst>
                            <p:childTnLst>
                              <p:par>
                                <p:cTn id="25" presetID="20" presetClass="entr" presetSubtype="0" fill="hold" nodeType="after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wedge">
                                      <p:cBhvr>
                                        <p:cTn id="27"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0" grpId="0"/>
      <p:bldP spid="39" grpId="0"/>
      <p:bldP spid="46" grpId="0"/>
      <p:bldP spid="56" grpId="0"/>
      <p:bldP spid="5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3"/>
          <p:cNvPicPr>
            <a:picLocks noChangeAspect="1"/>
          </p:cNvPicPr>
          <p:nvPr/>
        </p:nvPicPr>
        <p:blipFill>
          <a:blip r:embed="rId3"/>
          <a:stretch>
            <a:fillRect/>
          </a:stretch>
        </p:blipFill>
        <p:spPr>
          <a:xfrm>
            <a:off x="9705234" y="419100"/>
            <a:ext cx="2020783" cy="571500"/>
          </a:xfrm>
          <a:prstGeom prst="rect">
            <a:avLst/>
          </a:prstGeom>
        </p:spPr>
      </p:pic>
      <p:sp>
        <p:nvSpPr>
          <p:cNvPr id="4" name="TextBox 4"/>
          <p:cNvSpPr txBox="1"/>
          <p:nvPr/>
        </p:nvSpPr>
        <p:spPr>
          <a:xfrm>
            <a:off x="657225" y="519112"/>
            <a:ext cx="1154162" cy="346249"/>
          </a:xfrm>
          <a:prstGeom prst="rect">
            <a:avLst/>
          </a:prstGeom>
          <a:noFill/>
          <a:ln>
            <a:noFill/>
          </a:ln>
        </p:spPr>
        <p:txBody>
          <a:bodyPr wrap="none" lIns="0" tIns="0" rIns="0" bIns="0" anchor="t" anchorCtr="0">
            <a:spAutoFit/>
          </a:bodyPr>
          <a:lstStyle/>
          <a:p>
            <a:pPr algn="l"/>
            <a:r>
              <a:rPr lang="zh-CN" altLang="en-US" sz="2250" b="1" dirty="0">
                <a:solidFill>
                  <a:srgbClr val="1F2328"/>
                </a:solidFill>
                <a:latin typeface="Arial"/>
                <a:ea typeface="Microsoft YaHei"/>
                <a:cs typeface="Arial"/>
              </a:rPr>
              <a:t>业务场景</a:t>
            </a:r>
            <a:endParaRPr lang="zh-CN" sz="2250" b="1" dirty="0">
              <a:solidFill>
                <a:srgbClr val="1F2328"/>
              </a:solidFill>
              <a:latin typeface="Arial"/>
              <a:ea typeface="Microsoft YaHei"/>
              <a:cs typeface="Arial"/>
            </a:endParaRPr>
          </a:p>
        </p:txBody>
      </p:sp>
      <p:sp>
        <p:nvSpPr>
          <p:cNvPr id="5" name="Line 5"/>
          <p:cNvSpPr/>
          <p:nvPr/>
        </p:nvSpPr>
        <p:spPr>
          <a:xfrm>
            <a:off x="685800" y="933450"/>
            <a:ext cx="3314700" cy="9525"/>
          </a:xfrm>
          <a:custGeom>
            <a:avLst/>
            <a:gdLst/>
            <a:ahLst/>
            <a:cxnLst/>
            <a:rect l="l" t="t" r="r" b="b"/>
            <a:pathLst>
              <a:path w="3314700" h="9525">
                <a:moveTo>
                  <a:pt x="0" y="0"/>
                </a:moveTo>
                <a:lnTo>
                  <a:pt x="3314700" y="0"/>
                </a:lnTo>
              </a:path>
            </a:pathLst>
          </a:custGeom>
          <a:noFill/>
          <a:ln w="28575">
            <a:solidFill>
              <a:srgbClr val="A50021"/>
            </a:solidFill>
          </a:ln>
        </p:spPr>
      </p:sp>
      <p:sp>
        <p:nvSpPr>
          <p:cNvPr id="7" name="Rectangle 7"/>
          <p:cNvSpPr/>
          <p:nvPr/>
        </p:nvSpPr>
        <p:spPr>
          <a:xfrm>
            <a:off x="685800" y="1162050"/>
            <a:ext cx="10820400" cy="533400"/>
          </a:xfrm>
          <a:prstGeom prst="roundRect">
            <a:avLst>
              <a:gd name="adj" fmla="val 14286"/>
            </a:avLst>
          </a:prstGeom>
          <a:solidFill>
            <a:srgbClr val="F8F9FA"/>
          </a:solidFill>
          <a:ln w="9525">
            <a:solidFill>
              <a:srgbClr val="E4E7EB"/>
            </a:solidFill>
          </a:ln>
        </p:spPr>
      </p:sp>
      <p:sp>
        <p:nvSpPr>
          <p:cNvPr id="8" name="TextBox 8"/>
          <p:cNvSpPr txBox="1"/>
          <p:nvPr/>
        </p:nvSpPr>
        <p:spPr>
          <a:xfrm>
            <a:off x="934402" y="1341596"/>
            <a:ext cx="7320439" cy="289560"/>
          </a:xfrm>
          <a:prstGeom prst="rect">
            <a:avLst/>
          </a:prstGeom>
          <a:noFill/>
          <a:ln>
            <a:noFill/>
          </a:ln>
        </p:spPr>
        <p:txBody>
          <a:bodyPr wrap="none" lIns="0" tIns="0" rIns="0" bIns="0" anchor="t" anchorCtr="0">
            <a:spAutoFit/>
          </a:bodyPr>
          <a:lstStyle/>
          <a:p>
            <a:pPr algn="l"/>
            <a:r>
              <a:rPr lang="zh-CN" sz="1425" dirty="0">
                <a:solidFill>
                  <a:srgbClr val="1F2328"/>
                </a:solidFill>
                <a:latin typeface="Arial"/>
                <a:ea typeface="Microsoft YaHei"/>
                <a:cs typeface="Arial"/>
              </a:rPr>
              <a:t>三个场景覆盖营销、运营与风控，初步形成从知识沉淀到问答触达的业务闭环。</a:t>
            </a:r>
          </a:p>
        </p:txBody>
      </p:sp>
      <p:sp>
        <p:nvSpPr>
          <p:cNvPr id="10" name="Rectangle 10"/>
          <p:cNvSpPr/>
          <p:nvPr/>
        </p:nvSpPr>
        <p:spPr>
          <a:xfrm>
            <a:off x="685800" y="2000250"/>
            <a:ext cx="3352800" cy="3409950"/>
          </a:xfrm>
          <a:prstGeom prst="roundRect">
            <a:avLst>
              <a:gd name="adj" fmla="val 2273"/>
            </a:avLst>
          </a:prstGeom>
          <a:solidFill>
            <a:srgbClr val="FFFFFF"/>
          </a:solidFill>
          <a:ln w="11430">
            <a:solidFill>
              <a:srgbClr val="E4E7EB"/>
            </a:solidFill>
          </a:ln>
          <a:effectLst>
            <a:outerShdw blurRad="114300" dist="38100" dir="5400000" algn="ctr" rotWithShape="0">
              <a:srgbClr val="000000">
                <a:alpha val="6000"/>
              </a:srgbClr>
            </a:outerShdw>
          </a:effectLst>
        </p:spPr>
      </p:sp>
      <p:sp>
        <p:nvSpPr>
          <p:cNvPr id="11" name="Rectangle 11"/>
          <p:cNvSpPr/>
          <p:nvPr/>
        </p:nvSpPr>
        <p:spPr>
          <a:xfrm>
            <a:off x="685800" y="2000250"/>
            <a:ext cx="3352800" cy="742950"/>
          </a:xfrm>
          <a:prstGeom prst="roundRect">
            <a:avLst>
              <a:gd name="adj" fmla="val 10256"/>
            </a:avLst>
          </a:prstGeom>
          <a:solidFill>
            <a:srgbClr val="FFF7F7"/>
          </a:solidFill>
          <a:ln>
            <a:noFill/>
          </a:ln>
        </p:spPr>
      </p:sp>
      <p:sp>
        <p:nvSpPr>
          <p:cNvPr id="12" name="Rectangle 12"/>
          <p:cNvSpPr/>
          <p:nvPr/>
        </p:nvSpPr>
        <p:spPr>
          <a:xfrm>
            <a:off x="685800" y="2590800"/>
            <a:ext cx="3352800" cy="152400"/>
          </a:xfrm>
          <a:prstGeom prst="rect">
            <a:avLst/>
          </a:prstGeom>
          <a:solidFill>
            <a:srgbClr val="FFF7F7"/>
          </a:solidFill>
          <a:ln>
            <a:noFill/>
          </a:ln>
        </p:spPr>
      </p:sp>
      <p:grpSp>
        <p:nvGrpSpPr>
          <p:cNvPr id="17" name="Group 17"/>
          <p:cNvGrpSpPr/>
          <p:nvPr/>
        </p:nvGrpSpPr>
        <p:grpSpPr>
          <a:xfrm>
            <a:off x="990600" y="2213372"/>
            <a:ext cx="361950" cy="316706"/>
            <a:chOff x="990600" y="2213372"/>
            <a:chExt cx="361950" cy="316706"/>
          </a:xfrm>
        </p:grpSpPr>
        <p:sp>
          <p:nvSpPr>
            <p:cNvPr id="13" name="Freeform 13"/>
            <p:cNvSpPr/>
            <p:nvPr/>
          </p:nvSpPr>
          <p:spPr>
            <a:xfrm>
              <a:off x="1058466" y="2213372"/>
              <a:ext cx="113109" cy="113109"/>
            </a:xfrm>
            <a:custGeom>
              <a:avLst/>
              <a:gdLst/>
              <a:ahLst/>
              <a:cxnLst/>
              <a:rect l="l" t="t" r="r" b="b"/>
              <a:pathLst>
                <a:path w="113109" h="113109">
                  <a:moveTo>
                    <a:pt x="113109" y="56555"/>
                  </a:moveTo>
                  <a:cubicBezTo>
                    <a:pt x="113109" y="87789"/>
                    <a:pt x="87789" y="113109"/>
                    <a:pt x="56555" y="113109"/>
                  </a:cubicBezTo>
                  <a:cubicBezTo>
                    <a:pt x="25320" y="113109"/>
                    <a:pt x="0" y="87789"/>
                    <a:pt x="0" y="56555"/>
                  </a:cubicBezTo>
                  <a:cubicBezTo>
                    <a:pt x="0" y="25320"/>
                    <a:pt x="25320" y="0"/>
                    <a:pt x="56555" y="0"/>
                  </a:cubicBezTo>
                  <a:cubicBezTo>
                    <a:pt x="87789" y="0"/>
                    <a:pt x="113109" y="25320"/>
                    <a:pt x="113109" y="56555"/>
                  </a:cubicBezTo>
                  <a:close/>
                </a:path>
              </a:pathLst>
            </a:custGeom>
            <a:solidFill>
              <a:srgbClr val="A50021"/>
            </a:solidFill>
            <a:ln>
              <a:noFill/>
            </a:ln>
          </p:spPr>
        </p:sp>
        <p:sp>
          <p:nvSpPr>
            <p:cNvPr id="14" name="Freeform 14"/>
            <p:cNvSpPr/>
            <p:nvPr/>
          </p:nvSpPr>
          <p:spPr>
            <a:xfrm>
              <a:off x="990600" y="2371725"/>
              <a:ext cx="180975" cy="158353"/>
            </a:xfrm>
            <a:custGeom>
              <a:avLst/>
              <a:gdLst/>
              <a:ahLst/>
              <a:cxnLst/>
              <a:rect l="l" t="t" r="r" b="b"/>
              <a:pathLst>
                <a:path w="180975" h="158353">
                  <a:moveTo>
                    <a:pt x="67866" y="0"/>
                  </a:moveTo>
                  <a:cubicBezTo>
                    <a:pt x="30385" y="0"/>
                    <a:pt x="0" y="30385"/>
                    <a:pt x="0" y="67866"/>
                  </a:cubicBezTo>
                  <a:lnTo>
                    <a:pt x="0" y="158353"/>
                  </a:lnTo>
                  <a:lnTo>
                    <a:pt x="180975" y="158353"/>
                  </a:lnTo>
                  <a:lnTo>
                    <a:pt x="180975" y="0"/>
                  </a:lnTo>
                  <a:lnTo>
                    <a:pt x="67866" y="0"/>
                  </a:lnTo>
                  <a:close/>
                </a:path>
              </a:pathLst>
            </a:custGeom>
            <a:solidFill>
              <a:srgbClr val="A50021"/>
            </a:solidFill>
            <a:ln>
              <a:noFill/>
            </a:ln>
          </p:spPr>
        </p:sp>
        <p:sp>
          <p:nvSpPr>
            <p:cNvPr id="15" name="Freeform 15"/>
            <p:cNvSpPr/>
            <p:nvPr/>
          </p:nvSpPr>
          <p:spPr>
            <a:xfrm>
              <a:off x="1216819" y="2371725"/>
              <a:ext cx="135731" cy="158353"/>
            </a:xfrm>
            <a:custGeom>
              <a:avLst/>
              <a:gdLst/>
              <a:ahLst/>
              <a:cxnLst/>
              <a:rect l="l" t="t" r="r" b="b"/>
              <a:pathLst>
                <a:path w="135731" h="158353">
                  <a:moveTo>
                    <a:pt x="67866" y="0"/>
                  </a:moveTo>
                  <a:lnTo>
                    <a:pt x="0" y="0"/>
                  </a:lnTo>
                  <a:lnTo>
                    <a:pt x="0" y="158353"/>
                  </a:lnTo>
                  <a:lnTo>
                    <a:pt x="135731" y="158353"/>
                  </a:lnTo>
                  <a:lnTo>
                    <a:pt x="135731" y="67866"/>
                  </a:lnTo>
                  <a:cubicBezTo>
                    <a:pt x="135731" y="30385"/>
                    <a:pt x="105348" y="0"/>
                    <a:pt x="67866" y="0"/>
                  </a:cubicBezTo>
                  <a:close/>
                </a:path>
              </a:pathLst>
            </a:custGeom>
            <a:solidFill>
              <a:srgbClr val="A50021"/>
            </a:solidFill>
            <a:ln>
              <a:noFill/>
            </a:ln>
          </p:spPr>
        </p:sp>
        <p:sp>
          <p:nvSpPr>
            <p:cNvPr id="16" name="Freeform 16"/>
            <p:cNvSpPr/>
            <p:nvPr/>
          </p:nvSpPr>
          <p:spPr>
            <a:xfrm>
              <a:off x="1216819" y="2235994"/>
              <a:ext cx="90488" cy="90488"/>
            </a:xfrm>
            <a:custGeom>
              <a:avLst/>
              <a:gdLst/>
              <a:ahLst/>
              <a:cxnLst/>
              <a:rect l="l" t="t" r="r" b="b"/>
              <a:pathLst>
                <a:path w="90488" h="90488">
                  <a:moveTo>
                    <a:pt x="45244" y="90488"/>
                  </a:moveTo>
                  <a:cubicBezTo>
                    <a:pt x="70232" y="90488"/>
                    <a:pt x="90488" y="70231"/>
                    <a:pt x="90488" y="45244"/>
                  </a:cubicBezTo>
                  <a:cubicBezTo>
                    <a:pt x="90488" y="20256"/>
                    <a:pt x="70232" y="0"/>
                    <a:pt x="45244" y="0"/>
                  </a:cubicBezTo>
                  <a:cubicBezTo>
                    <a:pt x="20256" y="0"/>
                    <a:pt x="0" y="20256"/>
                    <a:pt x="0" y="45244"/>
                  </a:cubicBezTo>
                  <a:cubicBezTo>
                    <a:pt x="0" y="70231"/>
                    <a:pt x="20256" y="90488"/>
                    <a:pt x="45244" y="90488"/>
                  </a:cubicBezTo>
                  <a:close/>
                </a:path>
              </a:pathLst>
            </a:custGeom>
            <a:solidFill>
              <a:srgbClr val="A50021"/>
            </a:solidFill>
            <a:ln>
              <a:noFill/>
            </a:ln>
          </p:spPr>
        </p:sp>
      </p:grpSp>
      <p:sp>
        <p:nvSpPr>
          <p:cNvPr id="18" name="TextBox 18"/>
          <p:cNvSpPr txBox="1"/>
          <p:nvPr/>
        </p:nvSpPr>
        <p:spPr>
          <a:xfrm>
            <a:off x="1504950" y="2181225"/>
            <a:ext cx="1418272" cy="304800"/>
          </a:xfrm>
          <a:prstGeom prst="rect">
            <a:avLst/>
          </a:prstGeom>
          <a:noFill/>
          <a:ln>
            <a:noFill/>
          </a:ln>
        </p:spPr>
        <p:txBody>
          <a:bodyPr wrap="none" lIns="0" tIns="0" rIns="0" bIns="0" anchor="t" anchorCtr="0">
            <a:spAutoFit/>
          </a:bodyPr>
          <a:lstStyle/>
          <a:p>
            <a:pPr algn="l"/>
            <a:r>
              <a:rPr lang="zh-CN" sz="1500" b="1" dirty="0">
                <a:solidFill>
                  <a:srgbClr val="A50021"/>
                </a:solidFill>
                <a:latin typeface="Arial"/>
                <a:ea typeface="Microsoft YaHei"/>
                <a:cs typeface="Arial"/>
              </a:rPr>
              <a:t>个金营销组件</a:t>
            </a:r>
          </a:p>
        </p:txBody>
      </p:sp>
      <p:sp>
        <p:nvSpPr>
          <p:cNvPr id="19" name="TextBox 19"/>
          <p:cNvSpPr txBox="1"/>
          <p:nvPr/>
        </p:nvSpPr>
        <p:spPr>
          <a:xfrm>
            <a:off x="1509712" y="2469356"/>
            <a:ext cx="1671638"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客户经理智能问答助手</a:t>
            </a:r>
          </a:p>
        </p:txBody>
      </p:sp>
      <p:sp>
        <p:nvSpPr>
          <p:cNvPr id="20" name="Line 20"/>
          <p:cNvSpPr/>
          <p:nvPr/>
        </p:nvSpPr>
        <p:spPr>
          <a:xfrm>
            <a:off x="990600" y="3009900"/>
            <a:ext cx="2743200" cy="9525"/>
          </a:xfrm>
          <a:custGeom>
            <a:avLst/>
            <a:gdLst/>
            <a:ahLst/>
            <a:cxnLst/>
            <a:rect l="l" t="t" r="r" b="b"/>
            <a:pathLst>
              <a:path w="2743200" h="9525">
                <a:moveTo>
                  <a:pt x="0" y="0"/>
                </a:moveTo>
                <a:lnTo>
                  <a:pt x="2743200" y="0"/>
                </a:lnTo>
              </a:path>
            </a:pathLst>
          </a:custGeom>
          <a:noFill/>
          <a:ln w="9525">
            <a:solidFill>
              <a:srgbClr val="E4E7EB"/>
            </a:solidFill>
          </a:ln>
        </p:spPr>
      </p:sp>
      <p:sp>
        <p:nvSpPr>
          <p:cNvPr id="21" name="TextBox 21"/>
          <p:cNvSpPr txBox="1"/>
          <p:nvPr/>
        </p:nvSpPr>
        <p:spPr>
          <a:xfrm>
            <a:off x="975360" y="3261360"/>
            <a:ext cx="731520" cy="243840"/>
          </a:xfrm>
          <a:prstGeom prst="rect">
            <a:avLst/>
          </a:prstGeom>
          <a:noFill/>
          <a:ln>
            <a:noFill/>
          </a:ln>
        </p:spPr>
        <p:txBody>
          <a:bodyPr wrap="none" lIns="0" tIns="0" rIns="0" bIns="0" anchor="t" anchorCtr="0">
            <a:spAutoFit/>
          </a:bodyPr>
          <a:lstStyle/>
          <a:p>
            <a:pPr algn="l"/>
            <a:r>
              <a:rPr lang="zh-CN" sz="1200" dirty="0">
                <a:solidFill>
                  <a:srgbClr val="5F6368"/>
                </a:solidFill>
                <a:latin typeface="Arial"/>
                <a:ea typeface="Microsoft YaHei"/>
                <a:cs typeface="Arial"/>
              </a:rPr>
              <a:t>知识文档</a:t>
            </a:r>
          </a:p>
        </p:txBody>
      </p:sp>
      <p:sp>
        <p:nvSpPr>
          <p:cNvPr id="22" name="TextBox 22"/>
          <p:cNvSpPr txBox="1"/>
          <p:nvPr/>
        </p:nvSpPr>
        <p:spPr>
          <a:xfrm>
            <a:off x="948690" y="3491865"/>
            <a:ext cx="918824" cy="670560"/>
          </a:xfrm>
          <a:prstGeom prst="rect">
            <a:avLst/>
          </a:prstGeom>
          <a:noFill/>
          <a:ln>
            <a:noFill/>
          </a:ln>
        </p:spPr>
        <p:txBody>
          <a:bodyPr wrap="none" lIns="0" tIns="0" rIns="0" bIns="0" anchor="t" anchorCtr="0">
            <a:spAutoFit/>
          </a:bodyPr>
          <a:lstStyle/>
          <a:p>
            <a:pPr algn="l"/>
            <a:r>
              <a:rPr lang="zh-CN" sz="3300" b="1" dirty="0">
                <a:solidFill>
                  <a:srgbClr val="1F2328"/>
                </a:solidFill>
                <a:latin typeface="Arial"/>
                <a:ea typeface="Microsoft YaHei"/>
                <a:cs typeface="Arial"/>
              </a:rPr>
              <a:t>938</a:t>
            </a:r>
          </a:p>
        </p:txBody>
      </p:sp>
      <p:sp>
        <p:nvSpPr>
          <p:cNvPr id="23" name="TextBox 23"/>
          <p:cNvSpPr txBox="1"/>
          <p:nvPr/>
        </p:nvSpPr>
        <p:spPr>
          <a:xfrm>
            <a:off x="1984058" y="3710464"/>
            <a:ext cx="591026" cy="259080"/>
          </a:xfrm>
          <a:prstGeom prst="rect">
            <a:avLst/>
          </a:prstGeom>
          <a:noFill/>
          <a:ln>
            <a:noFill/>
          </a:ln>
        </p:spPr>
        <p:txBody>
          <a:bodyPr wrap="none" lIns="0" tIns="0" rIns="0" bIns="0" anchor="t" anchorCtr="0">
            <a:spAutoFit/>
          </a:bodyPr>
          <a:lstStyle/>
          <a:p>
            <a:pPr algn="l"/>
            <a:r>
              <a:rPr lang="zh-CN" sz="1275" dirty="0">
                <a:solidFill>
                  <a:srgbClr val="5F6368"/>
                </a:solidFill>
                <a:latin typeface="Arial"/>
                <a:ea typeface="Microsoft YaHei"/>
                <a:cs typeface="Arial"/>
              </a:rPr>
              <a:t>个文档</a:t>
            </a:r>
          </a:p>
        </p:txBody>
      </p:sp>
      <p:sp>
        <p:nvSpPr>
          <p:cNvPr id="24" name="Rectangle 24"/>
          <p:cNvSpPr/>
          <p:nvPr/>
        </p:nvSpPr>
        <p:spPr>
          <a:xfrm>
            <a:off x="990600" y="4133850"/>
            <a:ext cx="2743200" cy="685800"/>
          </a:xfrm>
          <a:prstGeom prst="roundRect">
            <a:avLst>
              <a:gd name="adj" fmla="val 11111"/>
            </a:avLst>
          </a:prstGeom>
          <a:solidFill>
            <a:srgbClr val="F8F9FA"/>
          </a:solidFill>
          <a:ln w="9525">
            <a:solidFill>
              <a:srgbClr val="E4E7EB"/>
            </a:solidFill>
          </a:ln>
        </p:spPr>
      </p:sp>
      <p:sp>
        <p:nvSpPr>
          <p:cNvPr id="25" name="TextBox 25"/>
          <p:cNvSpPr txBox="1"/>
          <p:nvPr/>
        </p:nvSpPr>
        <p:spPr>
          <a:xfrm>
            <a:off x="1204912" y="4298156"/>
            <a:ext cx="685800"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累计查询</a:t>
            </a:r>
          </a:p>
        </p:txBody>
      </p:sp>
      <p:sp>
        <p:nvSpPr>
          <p:cNvPr id="26" name="TextBox 26"/>
          <p:cNvSpPr txBox="1"/>
          <p:nvPr/>
        </p:nvSpPr>
        <p:spPr>
          <a:xfrm>
            <a:off x="1194435" y="4475798"/>
            <a:ext cx="871883" cy="396240"/>
          </a:xfrm>
          <a:prstGeom prst="rect">
            <a:avLst/>
          </a:prstGeom>
          <a:noFill/>
          <a:ln>
            <a:noFill/>
          </a:ln>
        </p:spPr>
        <p:txBody>
          <a:bodyPr wrap="none" lIns="0" tIns="0" rIns="0" bIns="0" anchor="t" anchorCtr="0">
            <a:spAutoFit/>
          </a:bodyPr>
          <a:lstStyle/>
          <a:p>
            <a:pPr algn="l"/>
            <a:r>
              <a:rPr lang="zh-CN" sz="1950" b="1" dirty="0">
                <a:solidFill>
                  <a:srgbClr val="A50021"/>
                </a:solidFill>
                <a:latin typeface="Arial"/>
                <a:ea typeface="Microsoft YaHei"/>
                <a:cs typeface="Arial"/>
              </a:rPr>
              <a:t>3,264</a:t>
            </a:r>
          </a:p>
        </p:txBody>
      </p:sp>
      <p:sp>
        <p:nvSpPr>
          <p:cNvPr id="27" name="TextBox 27"/>
          <p:cNvSpPr txBox="1"/>
          <p:nvPr/>
        </p:nvSpPr>
        <p:spPr>
          <a:xfrm>
            <a:off x="2062162" y="4564856"/>
            <a:ext cx="192881"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次</a:t>
            </a:r>
          </a:p>
        </p:txBody>
      </p:sp>
      <p:sp>
        <p:nvSpPr>
          <p:cNvPr id="28" name="TextBox 28"/>
          <p:cNvSpPr txBox="1"/>
          <p:nvPr/>
        </p:nvSpPr>
        <p:spPr>
          <a:xfrm>
            <a:off x="978218" y="5076349"/>
            <a:ext cx="2000548" cy="150041"/>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Microsoft YaHei"/>
                <a:cs typeface="Arial"/>
              </a:rPr>
              <a:t>营销知识在一线客户经理场景的问答</a:t>
            </a:r>
          </a:p>
        </p:txBody>
      </p:sp>
      <p:sp>
        <p:nvSpPr>
          <p:cNvPr id="30" name="Rectangle 30"/>
          <p:cNvSpPr/>
          <p:nvPr/>
        </p:nvSpPr>
        <p:spPr>
          <a:xfrm>
            <a:off x="4419600" y="1885950"/>
            <a:ext cx="3352800" cy="3638550"/>
          </a:xfrm>
          <a:prstGeom prst="roundRect">
            <a:avLst>
              <a:gd name="adj" fmla="val 2273"/>
            </a:avLst>
          </a:prstGeom>
          <a:solidFill>
            <a:srgbClr val="FFFFFF"/>
          </a:solidFill>
          <a:ln w="19050">
            <a:solidFill>
              <a:srgbClr val="A50021"/>
            </a:solidFill>
          </a:ln>
          <a:effectLst>
            <a:outerShdw blurRad="114300" dist="38100" dir="5400000" algn="ctr" rotWithShape="0">
              <a:srgbClr val="000000">
                <a:alpha val="6000"/>
              </a:srgbClr>
            </a:outerShdw>
          </a:effectLst>
        </p:spPr>
      </p:sp>
      <p:sp>
        <p:nvSpPr>
          <p:cNvPr id="31" name="Rectangle 31"/>
          <p:cNvSpPr/>
          <p:nvPr/>
        </p:nvSpPr>
        <p:spPr>
          <a:xfrm>
            <a:off x="4419600" y="1885950"/>
            <a:ext cx="3352800" cy="857250"/>
          </a:xfrm>
          <a:prstGeom prst="roundRect">
            <a:avLst>
              <a:gd name="adj" fmla="val 8889"/>
            </a:avLst>
          </a:prstGeom>
          <a:solidFill>
            <a:srgbClr val="A50021"/>
          </a:solidFill>
          <a:ln>
            <a:noFill/>
          </a:ln>
        </p:spPr>
      </p:sp>
      <p:sp>
        <p:nvSpPr>
          <p:cNvPr id="32" name="Rectangle 32"/>
          <p:cNvSpPr/>
          <p:nvPr/>
        </p:nvSpPr>
        <p:spPr>
          <a:xfrm>
            <a:off x="4419600" y="2590800"/>
            <a:ext cx="3352800" cy="152400"/>
          </a:xfrm>
          <a:prstGeom prst="rect">
            <a:avLst/>
          </a:prstGeom>
          <a:solidFill>
            <a:srgbClr val="A50021"/>
          </a:solidFill>
          <a:ln>
            <a:noFill/>
          </a:ln>
        </p:spPr>
      </p:sp>
      <p:grpSp>
        <p:nvGrpSpPr>
          <p:cNvPr id="36" name="Group 36"/>
          <p:cNvGrpSpPr/>
          <p:nvPr/>
        </p:nvGrpSpPr>
        <p:grpSpPr>
          <a:xfrm>
            <a:off x="4724400" y="2156222"/>
            <a:ext cx="361950" cy="316706"/>
            <a:chOff x="4724400" y="2156222"/>
            <a:chExt cx="361950" cy="316706"/>
          </a:xfrm>
        </p:grpSpPr>
        <p:sp>
          <p:nvSpPr>
            <p:cNvPr id="33" name="Freeform 33"/>
            <p:cNvSpPr/>
            <p:nvPr/>
          </p:nvSpPr>
          <p:spPr>
            <a:xfrm>
              <a:off x="4995862" y="2156222"/>
              <a:ext cx="90488" cy="316706"/>
            </a:xfrm>
            <a:custGeom>
              <a:avLst/>
              <a:gdLst/>
              <a:ahLst/>
              <a:cxnLst/>
              <a:rect l="l" t="t" r="r" b="b"/>
              <a:pathLst>
                <a:path w="90488" h="316706">
                  <a:moveTo>
                    <a:pt x="90488" y="0"/>
                  </a:moveTo>
                  <a:lnTo>
                    <a:pt x="0" y="0"/>
                  </a:lnTo>
                  <a:lnTo>
                    <a:pt x="0" y="316706"/>
                  </a:lnTo>
                  <a:lnTo>
                    <a:pt x="90488" y="316706"/>
                  </a:lnTo>
                  <a:lnTo>
                    <a:pt x="90488" y="0"/>
                  </a:lnTo>
                  <a:close/>
                </a:path>
              </a:pathLst>
            </a:custGeom>
            <a:solidFill>
              <a:srgbClr val="FFFFFF"/>
            </a:solidFill>
            <a:ln>
              <a:noFill/>
            </a:ln>
          </p:spPr>
        </p:sp>
        <p:sp>
          <p:nvSpPr>
            <p:cNvPr id="34" name="Freeform 34"/>
            <p:cNvSpPr/>
            <p:nvPr/>
          </p:nvSpPr>
          <p:spPr>
            <a:xfrm>
              <a:off x="4860131" y="2246709"/>
              <a:ext cx="90488" cy="226219"/>
            </a:xfrm>
            <a:custGeom>
              <a:avLst/>
              <a:gdLst/>
              <a:ahLst/>
              <a:cxnLst/>
              <a:rect l="l" t="t" r="r" b="b"/>
              <a:pathLst>
                <a:path w="90488" h="226219">
                  <a:moveTo>
                    <a:pt x="0" y="0"/>
                  </a:moveTo>
                  <a:lnTo>
                    <a:pt x="90488" y="0"/>
                  </a:lnTo>
                  <a:lnTo>
                    <a:pt x="90488" y="226219"/>
                  </a:lnTo>
                  <a:lnTo>
                    <a:pt x="0" y="226219"/>
                  </a:lnTo>
                  <a:lnTo>
                    <a:pt x="0" y="0"/>
                  </a:lnTo>
                  <a:close/>
                </a:path>
              </a:pathLst>
            </a:custGeom>
            <a:solidFill>
              <a:srgbClr val="FFFFFF"/>
            </a:solidFill>
            <a:ln>
              <a:noFill/>
            </a:ln>
          </p:spPr>
        </p:sp>
        <p:sp>
          <p:nvSpPr>
            <p:cNvPr id="35" name="Freeform 35"/>
            <p:cNvSpPr/>
            <p:nvPr/>
          </p:nvSpPr>
          <p:spPr>
            <a:xfrm>
              <a:off x="4724400" y="2337197"/>
              <a:ext cx="90488" cy="135731"/>
            </a:xfrm>
            <a:custGeom>
              <a:avLst/>
              <a:gdLst/>
              <a:ahLst/>
              <a:cxnLst/>
              <a:rect l="l" t="t" r="r" b="b"/>
              <a:pathLst>
                <a:path w="90488" h="135731">
                  <a:moveTo>
                    <a:pt x="0" y="0"/>
                  </a:moveTo>
                  <a:lnTo>
                    <a:pt x="90488" y="0"/>
                  </a:lnTo>
                  <a:lnTo>
                    <a:pt x="90488" y="135731"/>
                  </a:lnTo>
                  <a:lnTo>
                    <a:pt x="0" y="135731"/>
                  </a:lnTo>
                  <a:lnTo>
                    <a:pt x="0" y="0"/>
                  </a:lnTo>
                  <a:close/>
                </a:path>
              </a:pathLst>
            </a:custGeom>
            <a:solidFill>
              <a:srgbClr val="FFFFFF"/>
            </a:solidFill>
            <a:ln>
              <a:noFill/>
            </a:ln>
          </p:spPr>
        </p:sp>
      </p:grpSp>
      <p:sp>
        <p:nvSpPr>
          <p:cNvPr id="37" name="TextBox 37"/>
          <p:cNvSpPr txBox="1"/>
          <p:nvPr/>
        </p:nvSpPr>
        <p:spPr>
          <a:xfrm>
            <a:off x="5238750" y="2124075"/>
            <a:ext cx="1878330"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渠运网点智慧响应</a:t>
            </a:r>
          </a:p>
        </p:txBody>
      </p:sp>
      <p:sp>
        <p:nvSpPr>
          <p:cNvPr id="38" name="TextBox 38"/>
          <p:cNvSpPr txBox="1"/>
          <p:nvPr/>
        </p:nvSpPr>
        <p:spPr>
          <a:xfrm>
            <a:off x="5243512" y="2412206"/>
            <a:ext cx="1671638" cy="228600"/>
          </a:xfrm>
          <a:prstGeom prst="rect">
            <a:avLst/>
          </a:prstGeom>
          <a:noFill/>
          <a:ln>
            <a:noFill/>
          </a:ln>
        </p:spPr>
        <p:txBody>
          <a:bodyPr wrap="none" lIns="0" tIns="0" rIns="0" bIns="0" anchor="t" anchorCtr="0">
            <a:spAutoFit/>
          </a:bodyPr>
          <a:lstStyle/>
          <a:p>
            <a:pPr algn="l"/>
            <a:r>
              <a:rPr lang="zh-CN" sz="1125" dirty="0">
                <a:solidFill>
                  <a:srgbClr val="FFFFFF">
                    <a:alpha val="86000"/>
                  </a:srgbClr>
                </a:solidFill>
                <a:latin typeface="Arial"/>
                <a:ea typeface="Microsoft YaHei"/>
                <a:cs typeface="Arial"/>
              </a:rPr>
              <a:t>柜面操作智能问答助手</a:t>
            </a:r>
          </a:p>
        </p:txBody>
      </p:sp>
      <p:sp>
        <p:nvSpPr>
          <p:cNvPr id="41" name="Line 41"/>
          <p:cNvSpPr/>
          <p:nvPr/>
        </p:nvSpPr>
        <p:spPr>
          <a:xfrm>
            <a:off x="4724400" y="3008948"/>
            <a:ext cx="2743200" cy="9525"/>
          </a:xfrm>
          <a:custGeom>
            <a:avLst/>
            <a:gdLst/>
            <a:ahLst/>
            <a:cxnLst/>
            <a:rect l="l" t="t" r="r" b="b"/>
            <a:pathLst>
              <a:path w="2743200" h="9525">
                <a:moveTo>
                  <a:pt x="0" y="0"/>
                </a:moveTo>
                <a:lnTo>
                  <a:pt x="2743200" y="0"/>
                </a:lnTo>
              </a:path>
            </a:pathLst>
          </a:custGeom>
          <a:noFill/>
          <a:ln w="9525">
            <a:solidFill>
              <a:srgbClr val="E4E7EB"/>
            </a:solidFill>
          </a:ln>
        </p:spPr>
      </p:sp>
      <p:sp>
        <p:nvSpPr>
          <p:cNvPr id="42" name="TextBox 42"/>
          <p:cNvSpPr txBox="1"/>
          <p:nvPr/>
        </p:nvSpPr>
        <p:spPr>
          <a:xfrm>
            <a:off x="4709160" y="3260408"/>
            <a:ext cx="731520" cy="243840"/>
          </a:xfrm>
          <a:prstGeom prst="rect">
            <a:avLst/>
          </a:prstGeom>
          <a:noFill/>
          <a:ln>
            <a:noFill/>
          </a:ln>
        </p:spPr>
        <p:txBody>
          <a:bodyPr wrap="none" lIns="0" tIns="0" rIns="0" bIns="0" anchor="t" anchorCtr="0">
            <a:spAutoFit/>
          </a:bodyPr>
          <a:lstStyle/>
          <a:p>
            <a:pPr algn="l"/>
            <a:r>
              <a:rPr lang="zh-CN" sz="1200" dirty="0">
                <a:solidFill>
                  <a:srgbClr val="5F6368"/>
                </a:solidFill>
                <a:latin typeface="Arial"/>
                <a:ea typeface="Microsoft YaHei"/>
                <a:cs typeface="Arial"/>
              </a:rPr>
              <a:t>知识文档</a:t>
            </a:r>
          </a:p>
        </p:txBody>
      </p:sp>
      <p:sp>
        <p:nvSpPr>
          <p:cNvPr id="43" name="TextBox 43"/>
          <p:cNvSpPr txBox="1"/>
          <p:nvPr/>
        </p:nvSpPr>
        <p:spPr>
          <a:xfrm>
            <a:off x="4682490" y="3490913"/>
            <a:ext cx="1348978" cy="670560"/>
          </a:xfrm>
          <a:prstGeom prst="rect">
            <a:avLst/>
          </a:prstGeom>
          <a:noFill/>
          <a:ln>
            <a:noFill/>
          </a:ln>
        </p:spPr>
        <p:txBody>
          <a:bodyPr wrap="none" lIns="0" tIns="0" rIns="0" bIns="0" anchor="t" anchorCtr="0">
            <a:spAutoFit/>
          </a:bodyPr>
          <a:lstStyle/>
          <a:p>
            <a:pPr algn="l"/>
            <a:r>
              <a:rPr lang="zh-CN" sz="3300" b="1" dirty="0">
                <a:solidFill>
                  <a:srgbClr val="1F2328"/>
                </a:solidFill>
                <a:latin typeface="Arial"/>
                <a:ea typeface="Microsoft YaHei"/>
                <a:cs typeface="Arial"/>
              </a:rPr>
              <a:t>8,441</a:t>
            </a:r>
          </a:p>
        </p:txBody>
      </p:sp>
      <p:sp>
        <p:nvSpPr>
          <p:cNvPr id="44" name="TextBox 44"/>
          <p:cNvSpPr txBox="1"/>
          <p:nvPr/>
        </p:nvSpPr>
        <p:spPr>
          <a:xfrm>
            <a:off x="5946458" y="3709512"/>
            <a:ext cx="591026" cy="259080"/>
          </a:xfrm>
          <a:prstGeom prst="rect">
            <a:avLst/>
          </a:prstGeom>
          <a:noFill/>
          <a:ln>
            <a:noFill/>
          </a:ln>
        </p:spPr>
        <p:txBody>
          <a:bodyPr wrap="none" lIns="0" tIns="0" rIns="0" bIns="0" anchor="t" anchorCtr="0">
            <a:spAutoFit/>
          </a:bodyPr>
          <a:lstStyle/>
          <a:p>
            <a:pPr algn="l"/>
            <a:r>
              <a:rPr lang="zh-CN" sz="1275" dirty="0">
                <a:solidFill>
                  <a:srgbClr val="5F6368"/>
                </a:solidFill>
                <a:latin typeface="Arial"/>
                <a:ea typeface="Microsoft YaHei"/>
                <a:cs typeface="Arial"/>
              </a:rPr>
              <a:t>个文档</a:t>
            </a:r>
          </a:p>
        </p:txBody>
      </p:sp>
      <p:sp>
        <p:nvSpPr>
          <p:cNvPr id="45" name="Rectangle 45"/>
          <p:cNvSpPr/>
          <p:nvPr/>
        </p:nvSpPr>
        <p:spPr>
          <a:xfrm>
            <a:off x="4724400" y="4132898"/>
            <a:ext cx="2743200" cy="685800"/>
          </a:xfrm>
          <a:prstGeom prst="roundRect">
            <a:avLst>
              <a:gd name="adj" fmla="val 11111"/>
            </a:avLst>
          </a:prstGeom>
          <a:solidFill>
            <a:srgbClr val="F8F9FA"/>
          </a:solidFill>
          <a:ln w="9525">
            <a:solidFill>
              <a:srgbClr val="E4E7EB"/>
            </a:solidFill>
          </a:ln>
        </p:spPr>
      </p:sp>
      <p:sp>
        <p:nvSpPr>
          <p:cNvPr id="46" name="TextBox 46"/>
          <p:cNvSpPr txBox="1"/>
          <p:nvPr/>
        </p:nvSpPr>
        <p:spPr>
          <a:xfrm>
            <a:off x="4938712" y="4297204"/>
            <a:ext cx="685800"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累计查询</a:t>
            </a:r>
          </a:p>
        </p:txBody>
      </p:sp>
      <p:sp>
        <p:nvSpPr>
          <p:cNvPr id="47" name="TextBox 47"/>
          <p:cNvSpPr txBox="1"/>
          <p:nvPr/>
        </p:nvSpPr>
        <p:spPr>
          <a:xfrm>
            <a:off x="4928235" y="4474846"/>
            <a:ext cx="1200824" cy="396240"/>
          </a:xfrm>
          <a:prstGeom prst="rect">
            <a:avLst/>
          </a:prstGeom>
          <a:noFill/>
          <a:ln>
            <a:noFill/>
          </a:ln>
        </p:spPr>
        <p:txBody>
          <a:bodyPr wrap="none" lIns="0" tIns="0" rIns="0" bIns="0" anchor="t" anchorCtr="0">
            <a:spAutoFit/>
          </a:bodyPr>
          <a:lstStyle/>
          <a:p>
            <a:pPr algn="l"/>
            <a:r>
              <a:rPr lang="zh-CN" sz="1950" b="1" dirty="0">
                <a:solidFill>
                  <a:srgbClr val="A50021"/>
                </a:solidFill>
                <a:latin typeface="Arial"/>
                <a:ea typeface="Microsoft YaHei"/>
                <a:cs typeface="Arial"/>
              </a:rPr>
              <a:t>565,564</a:t>
            </a:r>
          </a:p>
        </p:txBody>
      </p:sp>
      <p:sp>
        <p:nvSpPr>
          <p:cNvPr id="48" name="TextBox 48"/>
          <p:cNvSpPr txBox="1"/>
          <p:nvPr/>
        </p:nvSpPr>
        <p:spPr>
          <a:xfrm>
            <a:off x="6024562" y="4563904"/>
            <a:ext cx="192881"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次</a:t>
            </a:r>
          </a:p>
        </p:txBody>
      </p:sp>
      <p:sp>
        <p:nvSpPr>
          <p:cNvPr id="50" name="Rectangle 50"/>
          <p:cNvSpPr/>
          <p:nvPr/>
        </p:nvSpPr>
        <p:spPr>
          <a:xfrm>
            <a:off x="8153400" y="2000250"/>
            <a:ext cx="3352800" cy="3409950"/>
          </a:xfrm>
          <a:prstGeom prst="roundRect">
            <a:avLst>
              <a:gd name="adj" fmla="val 2273"/>
            </a:avLst>
          </a:prstGeom>
          <a:solidFill>
            <a:srgbClr val="FFFFFF"/>
          </a:solidFill>
          <a:ln w="11430">
            <a:solidFill>
              <a:srgbClr val="E4E7EB"/>
            </a:solidFill>
          </a:ln>
          <a:effectLst>
            <a:outerShdw blurRad="114300" dist="38100" dir="5400000" algn="ctr" rotWithShape="0">
              <a:srgbClr val="000000">
                <a:alpha val="6000"/>
              </a:srgbClr>
            </a:outerShdw>
          </a:effectLst>
        </p:spPr>
      </p:sp>
      <p:sp>
        <p:nvSpPr>
          <p:cNvPr id="51" name="Rectangle 51"/>
          <p:cNvSpPr/>
          <p:nvPr/>
        </p:nvSpPr>
        <p:spPr>
          <a:xfrm>
            <a:off x="8153400" y="2000250"/>
            <a:ext cx="3352800" cy="742950"/>
          </a:xfrm>
          <a:prstGeom prst="roundRect">
            <a:avLst>
              <a:gd name="adj" fmla="val 10256"/>
            </a:avLst>
          </a:prstGeom>
          <a:solidFill>
            <a:srgbClr val="F8F9FA"/>
          </a:solidFill>
          <a:ln>
            <a:noFill/>
          </a:ln>
        </p:spPr>
      </p:sp>
      <p:sp>
        <p:nvSpPr>
          <p:cNvPr id="52" name="Rectangle 52"/>
          <p:cNvSpPr/>
          <p:nvPr/>
        </p:nvSpPr>
        <p:spPr>
          <a:xfrm>
            <a:off x="8153400" y="2590800"/>
            <a:ext cx="3352800" cy="152400"/>
          </a:xfrm>
          <a:prstGeom prst="rect">
            <a:avLst/>
          </a:prstGeom>
          <a:solidFill>
            <a:srgbClr val="F8F9FA"/>
          </a:solidFill>
          <a:ln>
            <a:noFill/>
          </a:ln>
        </p:spPr>
      </p:sp>
      <p:sp>
        <p:nvSpPr>
          <p:cNvPr id="53" name="Freeform 53"/>
          <p:cNvSpPr/>
          <p:nvPr/>
        </p:nvSpPr>
        <p:spPr>
          <a:xfrm>
            <a:off x="8480822" y="2190750"/>
            <a:ext cx="316706" cy="361950"/>
          </a:xfrm>
          <a:custGeom>
            <a:avLst/>
            <a:gdLst/>
            <a:ahLst/>
            <a:cxnLst/>
            <a:rect l="l" t="t" r="r" b="b"/>
            <a:pathLst>
              <a:path w="316706" h="361950">
                <a:moveTo>
                  <a:pt x="158353" y="361950"/>
                </a:moveTo>
                <a:lnTo>
                  <a:pt x="75785" y="302973"/>
                </a:lnTo>
                <a:cubicBezTo>
                  <a:pt x="28226" y="269001"/>
                  <a:pt x="0" y="214154"/>
                  <a:pt x="0" y="155708"/>
                </a:cubicBezTo>
                <a:lnTo>
                  <a:pt x="0" y="67866"/>
                </a:lnTo>
                <a:lnTo>
                  <a:pt x="158353" y="0"/>
                </a:lnTo>
                <a:lnTo>
                  <a:pt x="316706" y="67866"/>
                </a:lnTo>
                <a:lnTo>
                  <a:pt x="316706" y="155708"/>
                </a:lnTo>
                <a:cubicBezTo>
                  <a:pt x="316706" y="214154"/>
                  <a:pt x="288481" y="269001"/>
                  <a:pt x="240921" y="302973"/>
                </a:cubicBezTo>
                <a:lnTo>
                  <a:pt x="158353" y="361950"/>
                </a:lnTo>
                <a:close/>
                <a:moveTo>
                  <a:pt x="253526" y="129106"/>
                </a:moveTo>
                <a:lnTo>
                  <a:pt x="221534" y="97113"/>
                </a:lnTo>
                <a:lnTo>
                  <a:pt x="135731" y="182916"/>
                </a:lnTo>
                <a:lnTo>
                  <a:pt x="95173" y="142357"/>
                </a:lnTo>
                <a:lnTo>
                  <a:pt x="63180" y="174349"/>
                </a:lnTo>
                <a:lnTo>
                  <a:pt x="135731" y="246900"/>
                </a:lnTo>
                <a:lnTo>
                  <a:pt x="253526" y="129106"/>
                </a:lnTo>
                <a:close/>
              </a:path>
            </a:pathLst>
          </a:custGeom>
          <a:solidFill>
            <a:srgbClr val="2F6FDB"/>
          </a:solidFill>
          <a:ln>
            <a:noFill/>
          </a:ln>
        </p:spPr>
      </p:sp>
      <p:sp>
        <p:nvSpPr>
          <p:cNvPr id="54" name="TextBox 54"/>
          <p:cNvSpPr txBox="1"/>
          <p:nvPr/>
        </p:nvSpPr>
        <p:spPr>
          <a:xfrm>
            <a:off x="8972550" y="2181225"/>
            <a:ext cx="1418272" cy="304800"/>
          </a:xfrm>
          <a:prstGeom prst="rect">
            <a:avLst/>
          </a:prstGeom>
          <a:noFill/>
          <a:ln>
            <a:noFill/>
          </a:ln>
        </p:spPr>
        <p:txBody>
          <a:bodyPr wrap="none" lIns="0" tIns="0" rIns="0" bIns="0" anchor="t" anchorCtr="0">
            <a:spAutoFit/>
          </a:bodyPr>
          <a:lstStyle/>
          <a:p>
            <a:pPr algn="l"/>
            <a:r>
              <a:rPr lang="zh-CN" sz="1500" b="1" dirty="0">
                <a:solidFill>
                  <a:srgbClr val="1F2328"/>
                </a:solidFill>
                <a:latin typeface="Arial"/>
                <a:ea typeface="Microsoft YaHei"/>
                <a:cs typeface="Arial"/>
              </a:rPr>
              <a:t>个金网御系统</a:t>
            </a:r>
          </a:p>
        </p:txBody>
      </p:sp>
      <p:sp>
        <p:nvSpPr>
          <p:cNvPr id="55" name="TextBox 55"/>
          <p:cNvSpPr txBox="1"/>
          <p:nvPr/>
        </p:nvSpPr>
        <p:spPr>
          <a:xfrm>
            <a:off x="8977312" y="2469356"/>
            <a:ext cx="1343025"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风控智能问答助手</a:t>
            </a:r>
          </a:p>
        </p:txBody>
      </p:sp>
      <p:sp>
        <p:nvSpPr>
          <p:cNvPr id="56" name="Line 56"/>
          <p:cNvSpPr/>
          <p:nvPr/>
        </p:nvSpPr>
        <p:spPr>
          <a:xfrm>
            <a:off x="8458200" y="3009900"/>
            <a:ext cx="2743200" cy="9525"/>
          </a:xfrm>
          <a:custGeom>
            <a:avLst/>
            <a:gdLst/>
            <a:ahLst/>
            <a:cxnLst/>
            <a:rect l="l" t="t" r="r" b="b"/>
            <a:pathLst>
              <a:path w="2743200" h="9525">
                <a:moveTo>
                  <a:pt x="0" y="0"/>
                </a:moveTo>
                <a:lnTo>
                  <a:pt x="2743200" y="0"/>
                </a:lnTo>
              </a:path>
            </a:pathLst>
          </a:custGeom>
          <a:noFill/>
          <a:ln w="9525">
            <a:solidFill>
              <a:srgbClr val="E4E7EB"/>
            </a:solidFill>
          </a:ln>
        </p:spPr>
      </p:sp>
      <p:sp>
        <p:nvSpPr>
          <p:cNvPr id="57" name="TextBox 57"/>
          <p:cNvSpPr txBox="1"/>
          <p:nvPr/>
        </p:nvSpPr>
        <p:spPr>
          <a:xfrm>
            <a:off x="8442960" y="3261360"/>
            <a:ext cx="731520" cy="243840"/>
          </a:xfrm>
          <a:prstGeom prst="rect">
            <a:avLst/>
          </a:prstGeom>
          <a:noFill/>
          <a:ln>
            <a:noFill/>
          </a:ln>
        </p:spPr>
        <p:txBody>
          <a:bodyPr wrap="none" lIns="0" tIns="0" rIns="0" bIns="0" anchor="t" anchorCtr="0">
            <a:spAutoFit/>
          </a:bodyPr>
          <a:lstStyle/>
          <a:p>
            <a:pPr algn="l"/>
            <a:r>
              <a:rPr lang="zh-CN" sz="1200" dirty="0">
                <a:solidFill>
                  <a:srgbClr val="5F6368"/>
                </a:solidFill>
                <a:latin typeface="Arial"/>
                <a:ea typeface="Microsoft YaHei"/>
                <a:cs typeface="Arial"/>
              </a:rPr>
              <a:t>知识文档</a:t>
            </a:r>
          </a:p>
        </p:txBody>
      </p:sp>
      <p:sp>
        <p:nvSpPr>
          <p:cNvPr id="58" name="TextBox 58"/>
          <p:cNvSpPr txBox="1"/>
          <p:nvPr/>
        </p:nvSpPr>
        <p:spPr>
          <a:xfrm>
            <a:off x="8416290" y="3491865"/>
            <a:ext cx="792309" cy="670560"/>
          </a:xfrm>
          <a:prstGeom prst="rect">
            <a:avLst/>
          </a:prstGeom>
          <a:noFill/>
          <a:ln>
            <a:noFill/>
          </a:ln>
        </p:spPr>
        <p:txBody>
          <a:bodyPr wrap="none" lIns="0" tIns="0" rIns="0" bIns="0" anchor="t" anchorCtr="0">
            <a:spAutoFit/>
          </a:bodyPr>
          <a:lstStyle/>
          <a:p>
            <a:pPr algn="l"/>
            <a:r>
              <a:rPr lang="zh-CN" sz="3300" b="1" dirty="0">
                <a:solidFill>
                  <a:srgbClr val="1F2328"/>
                </a:solidFill>
                <a:latin typeface="Arial"/>
                <a:ea typeface="Microsoft YaHei"/>
                <a:cs typeface="Arial"/>
              </a:rPr>
              <a:t>106</a:t>
            </a:r>
          </a:p>
        </p:txBody>
      </p:sp>
      <p:sp>
        <p:nvSpPr>
          <p:cNvPr id="59" name="TextBox 59"/>
          <p:cNvSpPr txBox="1"/>
          <p:nvPr/>
        </p:nvSpPr>
        <p:spPr>
          <a:xfrm>
            <a:off x="9337358" y="3710464"/>
            <a:ext cx="591026" cy="259080"/>
          </a:xfrm>
          <a:prstGeom prst="rect">
            <a:avLst/>
          </a:prstGeom>
          <a:noFill/>
          <a:ln>
            <a:noFill/>
          </a:ln>
        </p:spPr>
        <p:txBody>
          <a:bodyPr wrap="none" lIns="0" tIns="0" rIns="0" bIns="0" anchor="t" anchorCtr="0">
            <a:spAutoFit/>
          </a:bodyPr>
          <a:lstStyle/>
          <a:p>
            <a:pPr algn="l"/>
            <a:r>
              <a:rPr lang="zh-CN" sz="1275" dirty="0">
                <a:solidFill>
                  <a:srgbClr val="5F6368"/>
                </a:solidFill>
                <a:latin typeface="Arial"/>
                <a:ea typeface="Microsoft YaHei"/>
                <a:cs typeface="Arial"/>
              </a:rPr>
              <a:t>个文档</a:t>
            </a:r>
          </a:p>
        </p:txBody>
      </p:sp>
      <p:sp>
        <p:nvSpPr>
          <p:cNvPr id="60" name="Rectangle 60"/>
          <p:cNvSpPr/>
          <p:nvPr/>
        </p:nvSpPr>
        <p:spPr>
          <a:xfrm>
            <a:off x="8458200" y="4133850"/>
            <a:ext cx="2743200" cy="685800"/>
          </a:xfrm>
          <a:prstGeom prst="roundRect">
            <a:avLst>
              <a:gd name="adj" fmla="val 11111"/>
            </a:avLst>
          </a:prstGeom>
          <a:solidFill>
            <a:srgbClr val="F8F9FA"/>
          </a:solidFill>
          <a:ln w="9525">
            <a:solidFill>
              <a:srgbClr val="E4E7EB"/>
            </a:solidFill>
          </a:ln>
        </p:spPr>
      </p:sp>
      <p:sp>
        <p:nvSpPr>
          <p:cNvPr id="61" name="TextBox 61"/>
          <p:cNvSpPr txBox="1"/>
          <p:nvPr/>
        </p:nvSpPr>
        <p:spPr>
          <a:xfrm>
            <a:off x="8672512" y="4298156"/>
            <a:ext cx="685800"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累计调用</a:t>
            </a:r>
          </a:p>
        </p:txBody>
      </p:sp>
      <p:sp>
        <p:nvSpPr>
          <p:cNvPr id="62" name="TextBox 62"/>
          <p:cNvSpPr txBox="1"/>
          <p:nvPr/>
        </p:nvSpPr>
        <p:spPr>
          <a:xfrm>
            <a:off x="8662035" y="4475798"/>
            <a:ext cx="961594" cy="396240"/>
          </a:xfrm>
          <a:prstGeom prst="rect">
            <a:avLst/>
          </a:prstGeom>
          <a:noFill/>
          <a:ln>
            <a:noFill/>
          </a:ln>
        </p:spPr>
        <p:txBody>
          <a:bodyPr wrap="none" lIns="0" tIns="0" rIns="0" bIns="0" anchor="t" anchorCtr="0">
            <a:spAutoFit/>
          </a:bodyPr>
          <a:lstStyle/>
          <a:p>
            <a:pPr algn="l"/>
            <a:r>
              <a:rPr lang="zh-CN" sz="1950" b="1" dirty="0">
                <a:solidFill>
                  <a:srgbClr val="2F6FDB"/>
                </a:solidFill>
                <a:latin typeface="Arial"/>
                <a:ea typeface="Microsoft YaHei"/>
                <a:cs typeface="Arial"/>
              </a:rPr>
              <a:t>10,000</a:t>
            </a:r>
          </a:p>
        </p:txBody>
      </p:sp>
      <p:sp>
        <p:nvSpPr>
          <p:cNvPr id="63" name="TextBox 63"/>
          <p:cNvSpPr txBox="1"/>
          <p:nvPr/>
        </p:nvSpPr>
        <p:spPr>
          <a:xfrm>
            <a:off x="9644062" y="4564856"/>
            <a:ext cx="192881" cy="228600"/>
          </a:xfrm>
          <a:prstGeom prst="rect">
            <a:avLst/>
          </a:prstGeom>
          <a:noFill/>
          <a:ln>
            <a:noFill/>
          </a:ln>
        </p:spPr>
        <p:txBody>
          <a:bodyPr wrap="none" lIns="0" tIns="0" rIns="0" bIns="0" anchor="t" anchorCtr="0">
            <a:spAutoFit/>
          </a:bodyPr>
          <a:lstStyle/>
          <a:p>
            <a:pPr algn="l"/>
            <a:r>
              <a:rPr lang="zh-CN" sz="1125" dirty="0">
                <a:solidFill>
                  <a:srgbClr val="5F6368"/>
                </a:solidFill>
                <a:latin typeface="Arial"/>
                <a:ea typeface="Microsoft YaHei"/>
                <a:cs typeface="Arial"/>
              </a:rPr>
              <a:t>次</a:t>
            </a:r>
          </a:p>
        </p:txBody>
      </p:sp>
      <p:sp>
        <p:nvSpPr>
          <p:cNvPr id="64" name="TextBox 64"/>
          <p:cNvSpPr txBox="1"/>
          <p:nvPr/>
        </p:nvSpPr>
        <p:spPr>
          <a:xfrm>
            <a:off x="8445818" y="5076349"/>
            <a:ext cx="2000548" cy="150041"/>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Microsoft YaHei"/>
                <a:cs typeface="Arial"/>
              </a:rPr>
              <a:t>风控场景，小规模知识集的高频调用</a:t>
            </a:r>
          </a:p>
        </p:txBody>
      </p:sp>
      <p:sp>
        <p:nvSpPr>
          <p:cNvPr id="66" name="Line 66"/>
          <p:cNvSpPr/>
          <p:nvPr/>
        </p:nvSpPr>
        <p:spPr>
          <a:xfrm>
            <a:off x="685800" y="6286500"/>
            <a:ext cx="10820400" cy="9525"/>
          </a:xfrm>
          <a:custGeom>
            <a:avLst/>
            <a:gdLst/>
            <a:ahLst/>
            <a:cxnLst/>
            <a:rect l="l" t="t" r="r" b="b"/>
            <a:pathLst>
              <a:path w="10820400" h="9525">
                <a:moveTo>
                  <a:pt x="0" y="0"/>
                </a:moveTo>
                <a:lnTo>
                  <a:pt x="10820400" y="0"/>
                </a:lnTo>
              </a:path>
            </a:pathLst>
          </a:custGeom>
          <a:noFill/>
          <a:ln w="11430">
            <a:solidFill>
              <a:srgbClr val="E4E7EB"/>
            </a:solidFill>
          </a:ln>
        </p:spPr>
      </p:sp>
      <p:sp>
        <p:nvSpPr>
          <p:cNvPr id="67" name="TextBox 67"/>
          <p:cNvSpPr txBox="1"/>
          <p:nvPr/>
        </p:nvSpPr>
        <p:spPr>
          <a:xfrm>
            <a:off x="5910143" y="6458902"/>
            <a:ext cx="371713"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Arial"/>
                <a:ea typeface="Microsoft YaHei"/>
                <a:cs typeface="Arial"/>
              </a:rPr>
              <a:t>3 / 4</a:t>
            </a:r>
          </a:p>
        </p:txBody>
      </p:sp>
      <p:sp>
        <p:nvSpPr>
          <p:cNvPr id="70" name="TextBox 64">
            <a:extLst>
              <a:ext uri="{FF2B5EF4-FFF2-40B4-BE49-F238E27FC236}">
                <a16:creationId xmlns:a16="http://schemas.microsoft.com/office/drawing/2014/main" id="{4D628F33-C218-4F07-9741-2155136E5DFC}"/>
              </a:ext>
            </a:extLst>
          </p:cNvPr>
          <p:cNvSpPr txBox="1"/>
          <p:nvPr/>
        </p:nvSpPr>
        <p:spPr>
          <a:xfrm>
            <a:off x="4724400" y="5083017"/>
            <a:ext cx="750205" cy="150041"/>
          </a:xfrm>
          <a:prstGeom prst="rect">
            <a:avLst/>
          </a:prstGeom>
          <a:noFill/>
          <a:ln>
            <a:noFill/>
          </a:ln>
        </p:spPr>
        <p:txBody>
          <a:bodyPr wrap="none" lIns="0" tIns="0" rIns="0" bIns="0" anchor="t" anchorCtr="0">
            <a:spAutoFit/>
          </a:bodyPr>
          <a:lstStyle/>
          <a:p>
            <a:pPr algn="l"/>
            <a:r>
              <a:rPr lang="zh-CN" altLang="en-US" sz="975" dirty="0">
                <a:solidFill>
                  <a:srgbClr val="8A9099"/>
                </a:solidFill>
                <a:latin typeface="Arial"/>
                <a:ea typeface="Microsoft YaHei"/>
                <a:cs typeface="Arial"/>
              </a:rPr>
              <a:t>知识助手场景</a:t>
            </a:r>
            <a:endParaRPr lang="zh-CN" sz="975" dirty="0">
              <a:solidFill>
                <a:srgbClr val="8A9099"/>
              </a:solidFill>
              <a:latin typeface="Arial"/>
              <a:ea typeface="Microsoft YaHei"/>
              <a:cs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3429000" cy="6858000"/>
            </a:xfrm>
            <a:prstGeom prst="rect">
              <a:avLst/>
            </a:prstGeom>
            <a:solidFill>
              <a:srgbClr val="FFF7F7"/>
            </a:solidFill>
            <a:ln>
              <a:noFill/>
            </a:ln>
          </p:spPr>
        </p:sp>
        <p:sp>
          <p:nvSpPr>
            <p:cNvPr id="4" name="Rectangle 4"/>
            <p:cNvSpPr/>
            <p:nvPr/>
          </p:nvSpPr>
          <p:spPr>
            <a:xfrm>
              <a:off x="3276600" y="0"/>
              <a:ext cx="152400" cy="6858000"/>
            </a:xfrm>
            <a:prstGeom prst="rect">
              <a:avLst/>
            </a:prstGeom>
            <a:solidFill>
              <a:srgbClr val="F3D7DC"/>
            </a:solidFill>
            <a:ln>
              <a:noFill/>
            </a:ln>
          </p:spPr>
        </p:sp>
      </p:grpSp>
      <p:grpSp>
        <p:nvGrpSpPr>
          <p:cNvPr id="9" name="Group 9"/>
          <p:cNvGrpSpPr/>
          <p:nvPr/>
        </p:nvGrpSpPr>
        <p:grpSpPr>
          <a:xfrm>
            <a:off x="657225" y="419100"/>
            <a:ext cx="11068792" cy="571500"/>
            <a:chOff x="657225" y="419100"/>
            <a:chExt cx="11068792" cy="571500"/>
          </a:xfrm>
        </p:grpSpPr>
        <p:pic>
          <p:nvPicPr>
            <p:cNvPr id="6" name="Image 6"/>
            <p:cNvPicPr>
              <a:picLocks noChangeAspect="1"/>
            </p:cNvPicPr>
            <p:nvPr/>
          </p:nvPicPr>
          <p:blipFill>
            <a:blip r:embed="rId3"/>
            <a:stretch>
              <a:fillRect/>
            </a:stretch>
          </p:blipFill>
          <p:spPr>
            <a:xfrm>
              <a:off x="9705234" y="419100"/>
              <a:ext cx="2020783" cy="571500"/>
            </a:xfrm>
            <a:prstGeom prst="rect">
              <a:avLst/>
            </a:prstGeom>
          </p:spPr>
        </p:pic>
        <p:sp>
          <p:nvSpPr>
            <p:cNvPr id="7" name="TextBox 7"/>
            <p:cNvSpPr txBox="1"/>
            <p:nvPr/>
          </p:nvSpPr>
          <p:spPr>
            <a:xfrm>
              <a:off x="657225" y="519112"/>
              <a:ext cx="8683228" cy="457200"/>
            </a:xfrm>
            <a:prstGeom prst="rect">
              <a:avLst/>
            </a:prstGeom>
            <a:noFill/>
            <a:ln>
              <a:noFill/>
            </a:ln>
          </p:spPr>
          <p:txBody>
            <a:bodyPr wrap="none" lIns="0" tIns="0" rIns="0" bIns="0" anchor="t" anchorCtr="0">
              <a:spAutoFit/>
            </a:bodyPr>
            <a:lstStyle/>
            <a:p>
              <a:pPr algn="l"/>
              <a:r>
                <a:rPr lang="zh-CN" sz="2250" b="1" dirty="0">
                  <a:solidFill>
                    <a:srgbClr val="1F2328"/>
                  </a:solidFill>
                  <a:latin typeface="Arial"/>
                  <a:ea typeface="Microsoft YaHei"/>
                  <a:cs typeface="Arial"/>
                </a:rPr>
                <a:t>下一阶段从建库投产转向持续运营、深度整合与前沿探索</a:t>
              </a:r>
            </a:p>
          </p:txBody>
        </p:sp>
        <p:sp>
          <p:nvSpPr>
            <p:cNvPr id="8" name="Line 8"/>
            <p:cNvSpPr/>
            <p:nvPr/>
          </p:nvSpPr>
          <p:spPr>
            <a:xfrm>
              <a:off x="685800" y="933450"/>
              <a:ext cx="3314700" cy="9525"/>
            </a:xfrm>
            <a:custGeom>
              <a:avLst/>
              <a:gdLst/>
              <a:ahLst/>
              <a:cxnLst/>
              <a:rect l="l" t="t" r="r" b="b"/>
              <a:pathLst>
                <a:path w="3314700" h="9525">
                  <a:moveTo>
                    <a:pt x="0" y="0"/>
                  </a:moveTo>
                  <a:lnTo>
                    <a:pt x="3314700" y="0"/>
                  </a:lnTo>
                </a:path>
              </a:pathLst>
            </a:custGeom>
            <a:noFill/>
            <a:ln w="28575">
              <a:solidFill>
                <a:srgbClr val="A50021"/>
              </a:solidFill>
            </a:ln>
          </p:spPr>
        </p:sp>
      </p:grpSp>
      <p:grpSp>
        <p:nvGrpSpPr>
          <p:cNvPr id="18" name="Group 18"/>
          <p:cNvGrpSpPr/>
          <p:nvPr/>
        </p:nvGrpSpPr>
        <p:grpSpPr>
          <a:xfrm>
            <a:off x="643890" y="1606868"/>
            <a:ext cx="3120200" cy="3055620"/>
            <a:chOff x="643890" y="1606868"/>
            <a:chExt cx="3120200" cy="3055620"/>
          </a:xfrm>
        </p:grpSpPr>
        <p:sp>
          <p:nvSpPr>
            <p:cNvPr id="10" name="TextBox 10"/>
            <p:cNvSpPr txBox="1"/>
            <p:nvPr/>
          </p:nvSpPr>
          <p:spPr>
            <a:xfrm>
              <a:off x="668655" y="1606868"/>
              <a:ext cx="1121176" cy="274320"/>
            </a:xfrm>
            <a:prstGeom prst="rect">
              <a:avLst/>
            </a:prstGeom>
            <a:noFill/>
            <a:ln>
              <a:noFill/>
            </a:ln>
          </p:spPr>
          <p:txBody>
            <a:bodyPr wrap="none" lIns="0" tIns="0" rIns="0" bIns="0" anchor="t" anchorCtr="0">
              <a:spAutoFit/>
            </a:bodyPr>
            <a:lstStyle/>
            <a:p>
              <a:pPr algn="l"/>
              <a:r>
                <a:rPr lang="zh-CN" sz="1350" b="1" dirty="0">
                  <a:solidFill>
                    <a:srgbClr val="A50021"/>
                  </a:solidFill>
                  <a:latin typeface="Arial"/>
                  <a:ea typeface="Microsoft YaHei"/>
                  <a:cs typeface="Arial"/>
                </a:rPr>
                <a:t>NEXT STAGE</a:t>
              </a:r>
            </a:p>
          </p:txBody>
        </p:sp>
        <p:sp>
          <p:nvSpPr>
            <p:cNvPr id="11" name="TextBox 11"/>
            <p:cNvSpPr txBox="1"/>
            <p:nvPr/>
          </p:nvSpPr>
          <p:spPr>
            <a:xfrm>
              <a:off x="643890" y="2025015"/>
              <a:ext cx="2614136" cy="670560"/>
            </a:xfrm>
            <a:prstGeom prst="rect">
              <a:avLst/>
            </a:prstGeom>
            <a:noFill/>
            <a:ln>
              <a:noFill/>
            </a:ln>
          </p:spPr>
          <p:txBody>
            <a:bodyPr wrap="none" lIns="0" tIns="0" rIns="0" bIns="0" anchor="t" anchorCtr="0">
              <a:spAutoFit/>
            </a:bodyPr>
            <a:lstStyle/>
            <a:p>
              <a:pPr algn="l"/>
              <a:r>
                <a:rPr lang="zh-CN" sz="3300" b="1" dirty="0">
                  <a:solidFill>
                    <a:srgbClr val="1F2328"/>
                  </a:solidFill>
                  <a:latin typeface="Arial"/>
                  <a:ea typeface="Microsoft YaHei"/>
                  <a:cs typeface="Arial"/>
                </a:rPr>
                <a:t>从建库投产</a:t>
              </a:r>
            </a:p>
          </p:txBody>
        </p:sp>
        <p:sp>
          <p:nvSpPr>
            <p:cNvPr id="12" name="TextBox 12"/>
            <p:cNvSpPr txBox="1"/>
            <p:nvPr/>
          </p:nvSpPr>
          <p:spPr>
            <a:xfrm>
              <a:off x="643890" y="2577465"/>
              <a:ext cx="3120200" cy="670560"/>
            </a:xfrm>
            <a:prstGeom prst="rect">
              <a:avLst/>
            </a:prstGeom>
            <a:noFill/>
            <a:ln>
              <a:noFill/>
            </a:ln>
          </p:spPr>
          <p:txBody>
            <a:bodyPr wrap="none" lIns="0" tIns="0" rIns="0" bIns="0" anchor="t" anchorCtr="0">
              <a:spAutoFit/>
            </a:bodyPr>
            <a:lstStyle/>
            <a:p>
              <a:pPr algn="l"/>
              <a:r>
                <a:rPr lang="zh-CN" sz="3300" b="1" dirty="0">
                  <a:solidFill>
                    <a:srgbClr val="1F2328"/>
                  </a:solidFill>
                  <a:latin typeface="Arial"/>
                  <a:ea typeface="Microsoft YaHei"/>
                  <a:cs typeface="Arial"/>
                </a:rPr>
                <a:t>走向持续运营</a:t>
              </a:r>
            </a:p>
          </p:txBody>
        </p:sp>
        <p:sp>
          <p:nvSpPr>
            <p:cNvPr id="13" name="Line 13"/>
            <p:cNvSpPr/>
            <p:nvPr/>
          </p:nvSpPr>
          <p:spPr>
            <a:xfrm>
              <a:off x="685800" y="3219450"/>
              <a:ext cx="1962150" cy="9525"/>
            </a:xfrm>
            <a:custGeom>
              <a:avLst/>
              <a:gdLst/>
              <a:ahLst/>
              <a:cxnLst/>
              <a:rect l="l" t="t" r="r" b="b"/>
              <a:pathLst>
                <a:path w="1962150" h="9525">
                  <a:moveTo>
                    <a:pt x="0" y="0"/>
                  </a:moveTo>
                  <a:lnTo>
                    <a:pt x="1962150" y="0"/>
                  </a:lnTo>
                </a:path>
              </a:pathLst>
            </a:custGeom>
            <a:noFill/>
            <a:ln w="38100">
              <a:solidFill>
                <a:srgbClr val="A50021"/>
              </a:solidFill>
            </a:ln>
          </p:spPr>
        </p:sp>
        <p:sp>
          <p:nvSpPr>
            <p:cNvPr id="14" name="TextBox 14"/>
            <p:cNvSpPr txBox="1"/>
            <p:nvPr/>
          </p:nvSpPr>
          <p:spPr>
            <a:xfrm>
              <a:off x="668655" y="3530918"/>
              <a:ext cx="2794635" cy="274320"/>
            </a:xfrm>
            <a:prstGeom prst="rect">
              <a:avLst/>
            </a:prstGeom>
            <a:noFill/>
            <a:ln>
              <a:noFill/>
            </a:ln>
          </p:spPr>
          <p:txBody>
            <a:bodyPr wrap="none" lIns="0" tIns="0" rIns="0" bIns="0" anchor="t" anchorCtr="0">
              <a:spAutoFit/>
            </a:bodyPr>
            <a:lstStyle/>
            <a:p>
              <a:pPr algn="l"/>
              <a:r>
                <a:rPr lang="zh-CN" sz="1350" dirty="0">
                  <a:solidFill>
                    <a:srgbClr val="5F6368"/>
                  </a:solidFill>
                  <a:latin typeface="Arial"/>
                  <a:ea typeface="Microsoft YaHei"/>
                  <a:cs typeface="Arial"/>
                </a:rPr>
                <a:t>下一阶段以内容质量、系统联通</a:t>
              </a:r>
            </a:p>
          </p:txBody>
        </p:sp>
        <p:sp>
          <p:nvSpPr>
            <p:cNvPr id="15" name="TextBox 15"/>
            <p:cNvSpPr txBox="1"/>
            <p:nvPr/>
          </p:nvSpPr>
          <p:spPr>
            <a:xfrm>
              <a:off x="668655" y="3816668"/>
              <a:ext cx="2794635" cy="274320"/>
            </a:xfrm>
            <a:prstGeom prst="rect">
              <a:avLst/>
            </a:prstGeom>
            <a:noFill/>
            <a:ln>
              <a:noFill/>
            </a:ln>
          </p:spPr>
          <p:txBody>
            <a:bodyPr wrap="none" lIns="0" tIns="0" rIns="0" bIns="0" anchor="t" anchorCtr="0">
              <a:spAutoFit/>
            </a:bodyPr>
            <a:lstStyle/>
            <a:p>
              <a:pPr algn="l"/>
              <a:r>
                <a:rPr lang="zh-CN" sz="1350" dirty="0">
                  <a:solidFill>
                    <a:srgbClr val="5F6368"/>
                  </a:solidFill>
                  <a:latin typeface="Arial"/>
                  <a:ea typeface="Microsoft YaHei"/>
                  <a:cs typeface="Arial"/>
                </a:rPr>
                <a:t>和知识智能化能力升级为主线，</a:t>
              </a:r>
            </a:p>
          </p:txBody>
        </p:sp>
        <p:sp>
          <p:nvSpPr>
            <p:cNvPr id="16" name="TextBox 16"/>
            <p:cNvSpPr txBox="1"/>
            <p:nvPr/>
          </p:nvSpPr>
          <p:spPr>
            <a:xfrm>
              <a:off x="668655" y="4102418"/>
              <a:ext cx="2794635" cy="274320"/>
            </a:xfrm>
            <a:prstGeom prst="rect">
              <a:avLst/>
            </a:prstGeom>
            <a:noFill/>
            <a:ln>
              <a:noFill/>
            </a:ln>
          </p:spPr>
          <p:txBody>
            <a:bodyPr wrap="none" lIns="0" tIns="0" rIns="0" bIns="0" anchor="t" anchorCtr="0">
              <a:spAutoFit/>
            </a:bodyPr>
            <a:lstStyle/>
            <a:p>
              <a:pPr algn="l"/>
              <a:r>
                <a:rPr lang="zh-CN" sz="1350" dirty="0">
                  <a:solidFill>
                    <a:srgbClr val="5F6368"/>
                  </a:solidFill>
                  <a:latin typeface="Arial"/>
                  <a:ea typeface="Microsoft YaHei"/>
                  <a:cs typeface="Arial"/>
                </a:rPr>
                <a:t>推动向量知识库成为全行智能化</a:t>
              </a:r>
            </a:p>
          </p:txBody>
        </p:sp>
        <p:sp>
          <p:nvSpPr>
            <p:cNvPr id="17" name="TextBox 17"/>
            <p:cNvSpPr txBox="1"/>
            <p:nvPr/>
          </p:nvSpPr>
          <p:spPr>
            <a:xfrm>
              <a:off x="668655" y="4388168"/>
              <a:ext cx="1020127" cy="274320"/>
            </a:xfrm>
            <a:prstGeom prst="rect">
              <a:avLst/>
            </a:prstGeom>
            <a:noFill/>
            <a:ln>
              <a:noFill/>
            </a:ln>
          </p:spPr>
          <p:txBody>
            <a:bodyPr wrap="none" lIns="0" tIns="0" rIns="0" bIns="0" anchor="t" anchorCtr="0">
              <a:spAutoFit/>
            </a:bodyPr>
            <a:lstStyle/>
            <a:p>
              <a:pPr algn="l"/>
              <a:r>
                <a:rPr lang="zh-CN" sz="1350" dirty="0">
                  <a:solidFill>
                    <a:srgbClr val="5F6368"/>
                  </a:solidFill>
                  <a:latin typeface="Arial"/>
                  <a:ea typeface="Microsoft YaHei"/>
                  <a:cs typeface="Arial"/>
                </a:rPr>
                <a:t>服务底座。</a:t>
              </a:r>
            </a:p>
          </p:txBody>
        </p:sp>
      </p:grpSp>
      <p:grpSp>
        <p:nvGrpSpPr>
          <p:cNvPr id="23" name="Group 23"/>
          <p:cNvGrpSpPr/>
          <p:nvPr/>
        </p:nvGrpSpPr>
        <p:grpSpPr>
          <a:xfrm>
            <a:off x="4162425" y="1847850"/>
            <a:ext cx="247650" cy="3752850"/>
            <a:chOff x="4162425" y="1847850"/>
            <a:chExt cx="247650" cy="3752850"/>
          </a:xfrm>
        </p:grpSpPr>
        <p:sp>
          <p:nvSpPr>
            <p:cNvPr id="19" name="Line 19"/>
            <p:cNvSpPr/>
            <p:nvPr/>
          </p:nvSpPr>
          <p:spPr>
            <a:xfrm>
              <a:off x="4286250" y="1847850"/>
              <a:ext cx="9525" cy="3752850"/>
            </a:xfrm>
            <a:custGeom>
              <a:avLst/>
              <a:gdLst/>
              <a:ahLst/>
              <a:cxnLst/>
              <a:rect l="l" t="t" r="r" b="b"/>
              <a:pathLst>
                <a:path w="9525" h="3752850">
                  <a:moveTo>
                    <a:pt x="0" y="0"/>
                  </a:moveTo>
                  <a:lnTo>
                    <a:pt x="0" y="3752850"/>
                  </a:lnTo>
                </a:path>
              </a:pathLst>
            </a:custGeom>
            <a:noFill/>
            <a:ln w="28575" cap="rnd">
              <a:solidFill>
                <a:srgbClr val="E4E7EB"/>
              </a:solidFill>
            </a:ln>
          </p:spPr>
        </p:sp>
        <p:sp>
          <p:nvSpPr>
            <p:cNvPr id="20" name="Ellipse 20"/>
            <p:cNvSpPr/>
            <p:nvPr/>
          </p:nvSpPr>
          <p:spPr>
            <a:xfrm>
              <a:off x="4162425" y="1914525"/>
              <a:ext cx="247650" cy="247650"/>
            </a:xfrm>
            <a:prstGeom prst="ellipse">
              <a:avLst/>
            </a:prstGeom>
            <a:solidFill>
              <a:srgbClr val="A50021"/>
            </a:solidFill>
            <a:ln>
              <a:noFill/>
            </a:ln>
          </p:spPr>
        </p:sp>
        <p:sp>
          <p:nvSpPr>
            <p:cNvPr id="21" name="Ellipse 21"/>
            <p:cNvSpPr/>
            <p:nvPr/>
          </p:nvSpPr>
          <p:spPr>
            <a:xfrm>
              <a:off x="4162425" y="3533775"/>
              <a:ext cx="247650" cy="247650"/>
            </a:xfrm>
            <a:prstGeom prst="ellipse">
              <a:avLst/>
            </a:prstGeom>
            <a:solidFill>
              <a:srgbClr val="2F6FDB"/>
            </a:solidFill>
            <a:ln>
              <a:noFill/>
            </a:ln>
          </p:spPr>
        </p:sp>
        <p:sp>
          <p:nvSpPr>
            <p:cNvPr id="22" name="Ellipse 22"/>
            <p:cNvSpPr/>
            <p:nvPr/>
          </p:nvSpPr>
          <p:spPr>
            <a:xfrm>
              <a:off x="4162425" y="5153025"/>
              <a:ext cx="247650" cy="247650"/>
            </a:xfrm>
            <a:prstGeom prst="ellipse">
              <a:avLst/>
            </a:prstGeom>
            <a:solidFill>
              <a:srgbClr val="2E7D32"/>
            </a:solidFill>
            <a:ln>
              <a:noFill/>
            </a:ln>
          </p:spPr>
        </p:sp>
      </p:grpSp>
      <p:grpSp>
        <p:nvGrpSpPr>
          <p:cNvPr id="49" name="Group 49"/>
          <p:cNvGrpSpPr/>
          <p:nvPr/>
        </p:nvGrpSpPr>
        <p:grpSpPr>
          <a:xfrm>
            <a:off x="4627245" y="1724025"/>
            <a:ext cx="6612255" cy="4233863"/>
            <a:chOff x="4627245" y="1724025"/>
            <a:chExt cx="6612255" cy="4233863"/>
          </a:xfrm>
        </p:grpSpPr>
        <p:grpSp>
          <p:nvGrpSpPr>
            <p:cNvPr id="32" name="Group 32"/>
            <p:cNvGrpSpPr/>
            <p:nvPr/>
          </p:nvGrpSpPr>
          <p:grpSpPr>
            <a:xfrm>
              <a:off x="4627245" y="1724025"/>
              <a:ext cx="6612255" cy="1143000"/>
              <a:chOff x="4627245" y="1724025"/>
              <a:chExt cx="6612255" cy="1143000"/>
            </a:xfrm>
          </p:grpSpPr>
          <p:sp>
            <p:nvSpPr>
              <p:cNvPr id="24" name="TextBox 24"/>
              <p:cNvSpPr txBox="1"/>
              <p:nvPr/>
            </p:nvSpPr>
            <p:spPr>
              <a:xfrm>
                <a:off x="4627245" y="1764982"/>
                <a:ext cx="256987" cy="335280"/>
              </a:xfrm>
              <a:prstGeom prst="rect">
                <a:avLst/>
              </a:prstGeom>
              <a:noFill/>
              <a:ln>
                <a:noFill/>
              </a:ln>
            </p:spPr>
            <p:txBody>
              <a:bodyPr wrap="none" lIns="0" tIns="0" rIns="0" bIns="0" anchor="t" anchorCtr="0">
                <a:spAutoFit/>
              </a:bodyPr>
              <a:lstStyle/>
              <a:p>
                <a:pPr algn="l"/>
                <a:r>
                  <a:rPr lang="zh-CN" sz="1650" b="1" dirty="0">
                    <a:solidFill>
                      <a:srgbClr val="A50021"/>
                    </a:solidFill>
                    <a:latin typeface="Arial"/>
                    <a:ea typeface="Microsoft YaHei"/>
                    <a:cs typeface="Arial"/>
                  </a:rPr>
                  <a:t>01</a:t>
                </a:r>
              </a:p>
            </p:txBody>
          </p:sp>
          <p:grpSp>
            <p:nvGrpSpPr>
              <p:cNvPr id="27" name="Group 27"/>
              <p:cNvGrpSpPr/>
              <p:nvPr/>
            </p:nvGrpSpPr>
            <p:grpSpPr>
              <a:xfrm>
                <a:off x="5162550" y="1724025"/>
                <a:ext cx="361950" cy="361950"/>
                <a:chOff x="5162550" y="1724025"/>
                <a:chExt cx="361950" cy="361950"/>
              </a:xfrm>
            </p:grpSpPr>
            <p:sp>
              <p:nvSpPr>
                <p:cNvPr id="25" name="Freeform 25"/>
                <p:cNvSpPr/>
                <p:nvPr/>
              </p:nvSpPr>
              <p:spPr>
                <a:xfrm>
                  <a:off x="5207794" y="1724025"/>
                  <a:ext cx="316706" cy="158353"/>
                </a:xfrm>
                <a:custGeom>
                  <a:avLst/>
                  <a:gdLst/>
                  <a:ahLst/>
                  <a:cxnLst/>
                  <a:rect l="l" t="t" r="r" b="b"/>
                  <a:pathLst>
                    <a:path w="316706" h="158353">
                      <a:moveTo>
                        <a:pt x="180975" y="158353"/>
                      </a:moveTo>
                      <a:lnTo>
                        <a:pt x="158353" y="135731"/>
                      </a:lnTo>
                      <a:lnTo>
                        <a:pt x="210223" y="83862"/>
                      </a:lnTo>
                      <a:lnTo>
                        <a:pt x="196971" y="70610"/>
                      </a:lnTo>
                      <a:cubicBezTo>
                        <a:pt x="180729" y="54368"/>
                        <a:pt x="158701" y="45244"/>
                        <a:pt x="135731" y="45244"/>
                      </a:cubicBezTo>
                      <a:cubicBezTo>
                        <a:pt x="112762" y="45244"/>
                        <a:pt x="90733" y="54368"/>
                        <a:pt x="74491" y="70610"/>
                      </a:cubicBezTo>
                      <a:lnTo>
                        <a:pt x="72551" y="72551"/>
                      </a:lnTo>
                      <a:cubicBezTo>
                        <a:pt x="55066" y="90035"/>
                        <a:pt x="45244" y="113749"/>
                        <a:pt x="45244" y="138476"/>
                      </a:cubicBezTo>
                      <a:lnTo>
                        <a:pt x="45244" y="158353"/>
                      </a:lnTo>
                      <a:lnTo>
                        <a:pt x="0" y="158353"/>
                      </a:lnTo>
                      <a:lnTo>
                        <a:pt x="0" y="138476"/>
                      </a:lnTo>
                      <a:cubicBezTo>
                        <a:pt x="0" y="101750"/>
                        <a:pt x="14589" y="66528"/>
                        <a:pt x="40559" y="40559"/>
                      </a:cubicBezTo>
                      <a:lnTo>
                        <a:pt x="42499" y="38618"/>
                      </a:lnTo>
                      <a:cubicBezTo>
                        <a:pt x="67226" y="13891"/>
                        <a:pt x="100762" y="0"/>
                        <a:pt x="135731" y="0"/>
                      </a:cubicBezTo>
                      <a:cubicBezTo>
                        <a:pt x="170700" y="0"/>
                        <a:pt x="204237" y="13891"/>
                        <a:pt x="228963" y="38618"/>
                      </a:cubicBezTo>
                      <a:lnTo>
                        <a:pt x="242215" y="51869"/>
                      </a:lnTo>
                      <a:lnTo>
                        <a:pt x="294084" y="0"/>
                      </a:lnTo>
                      <a:lnTo>
                        <a:pt x="316706" y="22622"/>
                      </a:lnTo>
                      <a:lnTo>
                        <a:pt x="316706" y="158353"/>
                      </a:lnTo>
                      <a:lnTo>
                        <a:pt x="180975" y="158353"/>
                      </a:lnTo>
                      <a:close/>
                    </a:path>
                  </a:pathLst>
                </a:custGeom>
                <a:solidFill>
                  <a:srgbClr val="A50021"/>
                </a:solidFill>
                <a:ln>
                  <a:noFill/>
                </a:ln>
              </p:spPr>
            </p:sp>
            <p:sp>
              <p:nvSpPr>
                <p:cNvPr id="26" name="Freeform 26"/>
                <p:cNvSpPr/>
                <p:nvPr/>
              </p:nvSpPr>
              <p:spPr>
                <a:xfrm>
                  <a:off x="5162550" y="1927622"/>
                  <a:ext cx="316706" cy="158353"/>
                </a:xfrm>
                <a:custGeom>
                  <a:avLst/>
                  <a:gdLst/>
                  <a:ahLst/>
                  <a:cxnLst/>
                  <a:rect l="l" t="t" r="r" b="b"/>
                  <a:pathLst>
                    <a:path w="316706" h="158353">
                      <a:moveTo>
                        <a:pt x="119735" y="87743"/>
                      </a:moveTo>
                      <a:cubicBezTo>
                        <a:pt x="135977" y="103984"/>
                        <a:pt x="158006" y="113109"/>
                        <a:pt x="180975" y="113109"/>
                      </a:cubicBezTo>
                      <a:cubicBezTo>
                        <a:pt x="203944" y="113109"/>
                        <a:pt x="225973" y="103986"/>
                        <a:pt x="242215" y="87743"/>
                      </a:cubicBezTo>
                      <a:lnTo>
                        <a:pt x="244156" y="85803"/>
                      </a:lnTo>
                      <a:cubicBezTo>
                        <a:pt x="261640" y="68318"/>
                        <a:pt x="271462" y="44604"/>
                        <a:pt x="271462" y="19877"/>
                      </a:cubicBezTo>
                      <a:lnTo>
                        <a:pt x="271462" y="0"/>
                      </a:lnTo>
                      <a:lnTo>
                        <a:pt x="316706" y="0"/>
                      </a:lnTo>
                      <a:lnTo>
                        <a:pt x="316706" y="19877"/>
                      </a:lnTo>
                      <a:cubicBezTo>
                        <a:pt x="316706" y="56604"/>
                        <a:pt x="302117" y="91824"/>
                        <a:pt x="276147" y="117794"/>
                      </a:cubicBezTo>
                      <a:lnTo>
                        <a:pt x="274207" y="119735"/>
                      </a:lnTo>
                      <a:cubicBezTo>
                        <a:pt x="249481" y="144461"/>
                        <a:pt x="215944" y="158353"/>
                        <a:pt x="180975" y="158353"/>
                      </a:cubicBezTo>
                      <a:cubicBezTo>
                        <a:pt x="146006" y="158353"/>
                        <a:pt x="112470" y="144461"/>
                        <a:pt x="87743" y="119735"/>
                      </a:cubicBezTo>
                      <a:lnTo>
                        <a:pt x="74491" y="106483"/>
                      </a:lnTo>
                      <a:lnTo>
                        <a:pt x="22622" y="158353"/>
                      </a:lnTo>
                      <a:lnTo>
                        <a:pt x="0" y="135731"/>
                      </a:lnTo>
                      <a:lnTo>
                        <a:pt x="0" y="0"/>
                      </a:lnTo>
                      <a:lnTo>
                        <a:pt x="135731" y="0"/>
                      </a:lnTo>
                      <a:lnTo>
                        <a:pt x="158353" y="22622"/>
                      </a:lnTo>
                      <a:lnTo>
                        <a:pt x="106484" y="74492"/>
                      </a:lnTo>
                      <a:lnTo>
                        <a:pt x="119735" y="87743"/>
                      </a:lnTo>
                      <a:close/>
                    </a:path>
                  </a:pathLst>
                </a:custGeom>
                <a:solidFill>
                  <a:srgbClr val="A50021"/>
                </a:solidFill>
                <a:ln>
                  <a:noFill/>
                </a:ln>
              </p:spPr>
            </p:sp>
          </p:grpSp>
          <p:sp>
            <p:nvSpPr>
              <p:cNvPr id="28" name="TextBox 28"/>
              <p:cNvSpPr txBox="1"/>
              <p:nvPr/>
            </p:nvSpPr>
            <p:spPr>
              <a:xfrm>
                <a:off x="5692140" y="1786890"/>
                <a:ext cx="1977962" cy="365760"/>
              </a:xfrm>
              <a:prstGeom prst="rect">
                <a:avLst/>
              </a:prstGeom>
              <a:noFill/>
              <a:ln>
                <a:noFill/>
              </a:ln>
            </p:spPr>
            <p:txBody>
              <a:bodyPr wrap="none" lIns="0" tIns="0" rIns="0" bIns="0" anchor="t" anchorCtr="0">
                <a:spAutoFit/>
              </a:bodyPr>
              <a:lstStyle/>
              <a:p>
                <a:pPr algn="l"/>
                <a:r>
                  <a:rPr lang="zh-CN" sz="1800" b="1" dirty="0">
                    <a:solidFill>
                      <a:srgbClr val="1F2328"/>
                    </a:solidFill>
                    <a:latin typeface="Arial"/>
                    <a:ea typeface="Microsoft YaHei"/>
                    <a:cs typeface="Arial"/>
                  </a:rPr>
                  <a:t>内容沉淀与赋能</a:t>
                </a:r>
              </a:p>
            </p:txBody>
          </p:sp>
          <p:sp>
            <p:nvSpPr>
              <p:cNvPr id="29" name="TextBox 29"/>
              <p:cNvSpPr txBox="1"/>
              <p:nvPr/>
            </p:nvSpPr>
            <p:spPr>
              <a:xfrm>
                <a:off x="5697855" y="2178368"/>
                <a:ext cx="5357812" cy="274320"/>
              </a:xfrm>
              <a:prstGeom prst="rect">
                <a:avLst/>
              </a:prstGeom>
              <a:noFill/>
              <a:ln>
                <a:noFill/>
              </a:ln>
            </p:spPr>
            <p:txBody>
              <a:bodyPr wrap="none" lIns="0" tIns="0" rIns="0" bIns="0" anchor="t" anchorCtr="0">
                <a:spAutoFit/>
              </a:bodyPr>
              <a:lstStyle/>
              <a:p>
                <a:pPr algn="l"/>
                <a:r>
                  <a:rPr lang="zh-CN" sz="1350" dirty="0">
                    <a:solidFill>
                      <a:srgbClr val="5F6368"/>
                    </a:solidFill>
                    <a:latin typeface="Arial"/>
                    <a:ea typeface="Microsoft YaHei"/>
                    <a:cs typeface="Arial"/>
                  </a:rPr>
                  <a:t>持续做好向量知识库的内容沉淀、场景赋能和培训推广工作，</a:t>
                </a:r>
              </a:p>
            </p:txBody>
          </p:sp>
          <p:sp>
            <p:nvSpPr>
              <p:cNvPr id="30" name="TextBox 30"/>
              <p:cNvSpPr txBox="1"/>
              <p:nvPr/>
            </p:nvSpPr>
            <p:spPr>
              <a:xfrm>
                <a:off x="5697855" y="2445068"/>
                <a:ext cx="2400300" cy="274320"/>
              </a:xfrm>
              <a:prstGeom prst="rect">
                <a:avLst/>
              </a:prstGeom>
              <a:noFill/>
              <a:ln>
                <a:noFill/>
              </a:ln>
            </p:spPr>
            <p:txBody>
              <a:bodyPr wrap="none" lIns="0" tIns="0" rIns="0" bIns="0" anchor="t" anchorCtr="0">
                <a:spAutoFit/>
              </a:bodyPr>
              <a:lstStyle/>
              <a:p>
                <a:pPr algn="l"/>
                <a:r>
                  <a:rPr lang="zh-CN" sz="1350" dirty="0">
                    <a:solidFill>
                      <a:srgbClr val="5F6368"/>
                    </a:solidFill>
                    <a:latin typeface="Arial"/>
                    <a:ea typeface="Microsoft YaHei"/>
                    <a:cs typeface="Arial"/>
                  </a:rPr>
                  <a:t>提升全行智能化服务水平。</a:t>
                </a:r>
              </a:p>
            </p:txBody>
          </p:sp>
          <p:sp>
            <p:nvSpPr>
              <p:cNvPr id="31" name="Line 31"/>
              <p:cNvSpPr/>
              <p:nvPr/>
            </p:nvSpPr>
            <p:spPr>
              <a:xfrm>
                <a:off x="4648200" y="2857500"/>
                <a:ext cx="6591300" cy="9525"/>
              </a:xfrm>
              <a:custGeom>
                <a:avLst/>
                <a:gdLst/>
                <a:ahLst/>
                <a:cxnLst/>
                <a:rect l="l" t="t" r="r" b="b"/>
                <a:pathLst>
                  <a:path w="6591300" h="9525">
                    <a:moveTo>
                      <a:pt x="0" y="0"/>
                    </a:moveTo>
                    <a:lnTo>
                      <a:pt x="6591300" y="0"/>
                    </a:lnTo>
                  </a:path>
                </a:pathLst>
              </a:custGeom>
              <a:noFill/>
              <a:ln w="9525">
                <a:solidFill>
                  <a:srgbClr val="E4E7EB"/>
                </a:solidFill>
              </a:ln>
            </p:spPr>
          </p:sp>
        </p:grpSp>
        <p:grpSp>
          <p:nvGrpSpPr>
            <p:cNvPr id="42" name="Group 42"/>
            <p:cNvGrpSpPr/>
            <p:nvPr/>
          </p:nvGrpSpPr>
          <p:grpSpPr>
            <a:xfrm>
              <a:off x="4627245" y="3343275"/>
              <a:ext cx="6612255" cy="1143000"/>
              <a:chOff x="4627245" y="3343275"/>
              <a:chExt cx="6612255" cy="1143000"/>
            </a:xfrm>
          </p:grpSpPr>
          <p:sp>
            <p:nvSpPr>
              <p:cNvPr id="33" name="TextBox 33"/>
              <p:cNvSpPr txBox="1"/>
              <p:nvPr/>
            </p:nvSpPr>
            <p:spPr>
              <a:xfrm>
                <a:off x="4627245" y="3384232"/>
                <a:ext cx="320245" cy="335280"/>
              </a:xfrm>
              <a:prstGeom prst="rect">
                <a:avLst/>
              </a:prstGeom>
              <a:noFill/>
              <a:ln>
                <a:noFill/>
              </a:ln>
            </p:spPr>
            <p:txBody>
              <a:bodyPr wrap="none" lIns="0" tIns="0" rIns="0" bIns="0" anchor="t" anchorCtr="0">
                <a:spAutoFit/>
              </a:bodyPr>
              <a:lstStyle/>
              <a:p>
                <a:pPr algn="l"/>
                <a:r>
                  <a:rPr lang="zh-CN" sz="1650" b="1" dirty="0">
                    <a:solidFill>
                      <a:srgbClr val="2F6FDB"/>
                    </a:solidFill>
                    <a:latin typeface="Arial"/>
                    <a:ea typeface="Microsoft YaHei"/>
                    <a:cs typeface="Arial"/>
                  </a:rPr>
                  <a:t>02</a:t>
                </a:r>
              </a:p>
            </p:txBody>
          </p:sp>
          <p:grpSp>
            <p:nvGrpSpPr>
              <p:cNvPr id="37" name="Group 37"/>
              <p:cNvGrpSpPr/>
              <p:nvPr/>
            </p:nvGrpSpPr>
            <p:grpSpPr>
              <a:xfrm>
                <a:off x="5162550" y="3343275"/>
                <a:ext cx="361950" cy="361950"/>
                <a:chOff x="5162550" y="3343275"/>
                <a:chExt cx="361950" cy="361950"/>
              </a:xfrm>
            </p:grpSpPr>
            <p:sp>
              <p:nvSpPr>
                <p:cNvPr id="34" name="Freeform 34"/>
                <p:cNvSpPr/>
                <p:nvPr/>
              </p:nvSpPr>
              <p:spPr>
                <a:xfrm>
                  <a:off x="5275659" y="3343275"/>
                  <a:ext cx="248841" cy="248841"/>
                </a:xfrm>
                <a:custGeom>
                  <a:avLst/>
                  <a:gdLst/>
                  <a:ahLst/>
                  <a:cxnLst/>
                  <a:rect l="l" t="t" r="r" b="b"/>
                  <a:pathLst>
                    <a:path w="248841" h="248841">
                      <a:moveTo>
                        <a:pt x="46380" y="34737"/>
                      </a:moveTo>
                      <a:cubicBezTo>
                        <a:pt x="68622" y="12495"/>
                        <a:pt x="98788" y="0"/>
                        <a:pt x="130243" y="0"/>
                      </a:cubicBezTo>
                      <a:cubicBezTo>
                        <a:pt x="195743" y="0"/>
                        <a:pt x="248841" y="53098"/>
                        <a:pt x="248841" y="118598"/>
                      </a:cubicBezTo>
                      <a:cubicBezTo>
                        <a:pt x="248841" y="150053"/>
                        <a:pt x="236347" y="180219"/>
                        <a:pt x="214105" y="202460"/>
                      </a:cubicBezTo>
                      <a:lnTo>
                        <a:pt x="167723" y="248841"/>
                      </a:lnTo>
                      <a:lnTo>
                        <a:pt x="135731" y="216849"/>
                      </a:lnTo>
                      <a:lnTo>
                        <a:pt x="182113" y="170468"/>
                      </a:lnTo>
                      <a:cubicBezTo>
                        <a:pt x="195869" y="156711"/>
                        <a:pt x="203597" y="138053"/>
                        <a:pt x="203597" y="118598"/>
                      </a:cubicBezTo>
                      <a:cubicBezTo>
                        <a:pt x="203597" y="78086"/>
                        <a:pt x="170754" y="45244"/>
                        <a:pt x="130243" y="45244"/>
                      </a:cubicBezTo>
                      <a:cubicBezTo>
                        <a:pt x="110787" y="45244"/>
                        <a:pt x="92129" y="52972"/>
                        <a:pt x="78373" y="66729"/>
                      </a:cubicBezTo>
                      <a:lnTo>
                        <a:pt x="31992" y="113109"/>
                      </a:lnTo>
                      <a:lnTo>
                        <a:pt x="0" y="81117"/>
                      </a:lnTo>
                      <a:lnTo>
                        <a:pt x="46380" y="34737"/>
                      </a:lnTo>
                      <a:close/>
                    </a:path>
                  </a:pathLst>
                </a:custGeom>
                <a:solidFill>
                  <a:srgbClr val="2F6FDB"/>
                </a:solidFill>
                <a:ln>
                  <a:noFill/>
                </a:ln>
              </p:spPr>
            </p:sp>
            <p:sp>
              <p:nvSpPr>
                <p:cNvPr id="35" name="Freeform 35"/>
                <p:cNvSpPr/>
                <p:nvPr/>
              </p:nvSpPr>
              <p:spPr>
                <a:xfrm>
                  <a:off x="5162550" y="3456384"/>
                  <a:ext cx="248841" cy="248841"/>
                </a:xfrm>
                <a:custGeom>
                  <a:avLst/>
                  <a:gdLst/>
                  <a:ahLst/>
                  <a:cxnLst/>
                  <a:rect l="l" t="t" r="r" b="b"/>
                  <a:pathLst>
                    <a:path w="248841" h="248841">
                      <a:moveTo>
                        <a:pt x="170468" y="182113"/>
                      </a:moveTo>
                      <a:lnTo>
                        <a:pt x="216849" y="135731"/>
                      </a:lnTo>
                      <a:lnTo>
                        <a:pt x="248841" y="167723"/>
                      </a:lnTo>
                      <a:lnTo>
                        <a:pt x="202460" y="214105"/>
                      </a:lnTo>
                      <a:cubicBezTo>
                        <a:pt x="180219" y="236347"/>
                        <a:pt x="150053" y="248841"/>
                        <a:pt x="118598" y="248841"/>
                      </a:cubicBezTo>
                      <a:cubicBezTo>
                        <a:pt x="53098" y="248841"/>
                        <a:pt x="0" y="195743"/>
                        <a:pt x="0" y="130243"/>
                      </a:cubicBezTo>
                      <a:cubicBezTo>
                        <a:pt x="0" y="98788"/>
                        <a:pt x="12495" y="68622"/>
                        <a:pt x="34737" y="46380"/>
                      </a:cubicBezTo>
                      <a:lnTo>
                        <a:pt x="81117" y="0"/>
                      </a:lnTo>
                      <a:lnTo>
                        <a:pt x="113109" y="31992"/>
                      </a:lnTo>
                      <a:lnTo>
                        <a:pt x="66729" y="78373"/>
                      </a:lnTo>
                      <a:cubicBezTo>
                        <a:pt x="52972" y="92129"/>
                        <a:pt x="45244" y="110787"/>
                        <a:pt x="45244" y="130243"/>
                      </a:cubicBezTo>
                      <a:cubicBezTo>
                        <a:pt x="45244" y="170754"/>
                        <a:pt x="78086" y="203597"/>
                        <a:pt x="118598" y="203597"/>
                      </a:cubicBezTo>
                      <a:cubicBezTo>
                        <a:pt x="138053" y="203597"/>
                        <a:pt x="156711" y="195869"/>
                        <a:pt x="170468" y="182113"/>
                      </a:cubicBezTo>
                      <a:close/>
                    </a:path>
                  </a:pathLst>
                </a:custGeom>
                <a:solidFill>
                  <a:srgbClr val="2F6FDB"/>
                </a:solidFill>
                <a:ln>
                  <a:noFill/>
                </a:ln>
              </p:spPr>
            </p:sp>
            <p:sp>
              <p:nvSpPr>
                <p:cNvPr id="36" name="Freeform 36"/>
                <p:cNvSpPr/>
                <p:nvPr/>
              </p:nvSpPr>
              <p:spPr>
                <a:xfrm>
                  <a:off x="5259663" y="3440388"/>
                  <a:ext cx="167723" cy="167723"/>
                </a:xfrm>
                <a:custGeom>
                  <a:avLst/>
                  <a:gdLst/>
                  <a:ahLst/>
                  <a:cxnLst/>
                  <a:rect l="l" t="t" r="r" b="b"/>
                  <a:pathLst>
                    <a:path w="167723" h="167723">
                      <a:moveTo>
                        <a:pt x="31992" y="167723"/>
                      </a:moveTo>
                      <a:lnTo>
                        <a:pt x="167723" y="31992"/>
                      </a:lnTo>
                      <a:lnTo>
                        <a:pt x="135731" y="0"/>
                      </a:lnTo>
                      <a:lnTo>
                        <a:pt x="0" y="135731"/>
                      </a:lnTo>
                      <a:lnTo>
                        <a:pt x="31992" y="167723"/>
                      </a:lnTo>
                      <a:close/>
                    </a:path>
                  </a:pathLst>
                </a:custGeom>
                <a:solidFill>
                  <a:srgbClr val="2F6FDB"/>
                </a:solidFill>
                <a:ln>
                  <a:noFill/>
                </a:ln>
              </p:spPr>
            </p:sp>
          </p:grpSp>
          <p:sp>
            <p:nvSpPr>
              <p:cNvPr id="38" name="TextBox 38"/>
              <p:cNvSpPr txBox="1"/>
              <p:nvPr/>
            </p:nvSpPr>
            <p:spPr>
              <a:xfrm>
                <a:off x="5692140" y="3406140"/>
                <a:ext cx="1977962" cy="365760"/>
              </a:xfrm>
              <a:prstGeom prst="rect">
                <a:avLst/>
              </a:prstGeom>
              <a:noFill/>
              <a:ln>
                <a:noFill/>
              </a:ln>
            </p:spPr>
            <p:txBody>
              <a:bodyPr wrap="none" lIns="0" tIns="0" rIns="0" bIns="0" anchor="t" anchorCtr="0">
                <a:spAutoFit/>
              </a:bodyPr>
              <a:lstStyle/>
              <a:p>
                <a:pPr algn="l"/>
                <a:r>
                  <a:rPr lang="zh-CN" sz="1800" b="1" dirty="0">
                    <a:solidFill>
                      <a:srgbClr val="1F2328"/>
                    </a:solidFill>
                    <a:latin typeface="Arial"/>
                    <a:ea typeface="Microsoft YaHei"/>
                    <a:cs typeface="Arial"/>
                  </a:rPr>
                  <a:t>系统对接与整合</a:t>
                </a:r>
              </a:p>
            </p:txBody>
          </p:sp>
          <p:sp>
            <p:nvSpPr>
              <p:cNvPr id="39" name="TextBox 39"/>
              <p:cNvSpPr txBox="1"/>
              <p:nvPr/>
            </p:nvSpPr>
            <p:spPr>
              <a:xfrm>
                <a:off x="5697855" y="3797618"/>
                <a:ext cx="5357812" cy="274320"/>
              </a:xfrm>
              <a:prstGeom prst="rect">
                <a:avLst/>
              </a:prstGeom>
              <a:noFill/>
              <a:ln>
                <a:noFill/>
              </a:ln>
            </p:spPr>
            <p:txBody>
              <a:bodyPr wrap="none" lIns="0" tIns="0" rIns="0" bIns="0" anchor="t" anchorCtr="0">
                <a:spAutoFit/>
              </a:bodyPr>
              <a:lstStyle/>
              <a:p>
                <a:pPr algn="l"/>
                <a:r>
                  <a:rPr lang="zh-CN" sz="1350" dirty="0">
                    <a:solidFill>
                      <a:srgbClr val="5F6368"/>
                    </a:solidFill>
                    <a:latin typeface="Arial"/>
                    <a:ea typeface="Microsoft YaHei"/>
                    <a:cs typeface="Arial"/>
                  </a:rPr>
                  <a:t>开展与远银中心企业级知识库、BOCAI 内建知识库的系统对接</a:t>
                </a:r>
              </a:p>
            </p:txBody>
          </p:sp>
          <p:sp>
            <p:nvSpPr>
              <p:cNvPr id="40" name="TextBox 40"/>
              <p:cNvSpPr txBox="1"/>
              <p:nvPr/>
            </p:nvSpPr>
            <p:spPr>
              <a:xfrm>
                <a:off x="5697855" y="4064318"/>
                <a:ext cx="2991802" cy="274320"/>
              </a:xfrm>
              <a:prstGeom prst="rect">
                <a:avLst/>
              </a:prstGeom>
              <a:noFill/>
              <a:ln>
                <a:noFill/>
              </a:ln>
            </p:spPr>
            <p:txBody>
              <a:bodyPr wrap="none" lIns="0" tIns="0" rIns="0" bIns="0" anchor="t" anchorCtr="0">
                <a:spAutoFit/>
              </a:bodyPr>
              <a:lstStyle/>
              <a:p>
                <a:pPr algn="l"/>
                <a:r>
                  <a:rPr lang="zh-CN" sz="1350" dirty="0">
                    <a:solidFill>
                      <a:srgbClr val="5F6368"/>
                    </a:solidFill>
                    <a:latin typeface="Arial"/>
                    <a:ea typeface="Microsoft YaHei"/>
                    <a:cs typeface="Arial"/>
                  </a:rPr>
                  <a:t>和内容整合，打通知识流转渠道。</a:t>
                </a:r>
              </a:p>
            </p:txBody>
          </p:sp>
          <p:sp>
            <p:nvSpPr>
              <p:cNvPr id="41" name="Line 41"/>
              <p:cNvSpPr/>
              <p:nvPr/>
            </p:nvSpPr>
            <p:spPr>
              <a:xfrm>
                <a:off x="4648200" y="4476750"/>
                <a:ext cx="6591300" cy="9525"/>
              </a:xfrm>
              <a:custGeom>
                <a:avLst/>
                <a:gdLst/>
                <a:ahLst/>
                <a:cxnLst/>
                <a:rect l="l" t="t" r="r" b="b"/>
                <a:pathLst>
                  <a:path w="6591300" h="9525">
                    <a:moveTo>
                      <a:pt x="0" y="0"/>
                    </a:moveTo>
                    <a:lnTo>
                      <a:pt x="6591300" y="0"/>
                    </a:lnTo>
                  </a:path>
                </a:pathLst>
              </a:custGeom>
              <a:noFill/>
              <a:ln w="9525">
                <a:solidFill>
                  <a:srgbClr val="E4E7EB"/>
                </a:solidFill>
              </a:ln>
            </p:spPr>
          </p:sp>
        </p:grpSp>
        <p:grpSp>
          <p:nvGrpSpPr>
            <p:cNvPr id="48" name="Group 48"/>
            <p:cNvGrpSpPr/>
            <p:nvPr/>
          </p:nvGrpSpPr>
          <p:grpSpPr>
            <a:xfrm>
              <a:off x="4627245" y="4962525"/>
              <a:ext cx="6034088" cy="995363"/>
              <a:chOff x="4627245" y="4962525"/>
              <a:chExt cx="6034088" cy="995363"/>
            </a:xfrm>
          </p:grpSpPr>
          <p:sp>
            <p:nvSpPr>
              <p:cNvPr id="43" name="TextBox 43"/>
              <p:cNvSpPr txBox="1"/>
              <p:nvPr/>
            </p:nvSpPr>
            <p:spPr>
              <a:xfrm>
                <a:off x="4627245" y="5003482"/>
                <a:ext cx="320245"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Arial"/>
                    <a:ea typeface="Microsoft YaHei"/>
                    <a:cs typeface="Arial"/>
                  </a:rPr>
                  <a:t>03</a:t>
                </a:r>
              </a:p>
            </p:txBody>
          </p:sp>
          <p:sp>
            <p:nvSpPr>
              <p:cNvPr id="44" name="Freeform 44"/>
              <p:cNvSpPr/>
              <p:nvPr/>
            </p:nvSpPr>
            <p:spPr>
              <a:xfrm>
                <a:off x="5185172" y="4962525"/>
                <a:ext cx="316706" cy="361950"/>
              </a:xfrm>
              <a:custGeom>
                <a:avLst/>
                <a:gdLst/>
                <a:ahLst/>
                <a:cxnLst/>
                <a:rect l="l" t="t" r="r" b="b"/>
                <a:pathLst>
                  <a:path w="316706" h="361950">
                    <a:moveTo>
                      <a:pt x="158353" y="361950"/>
                    </a:moveTo>
                    <a:lnTo>
                      <a:pt x="75785" y="302973"/>
                    </a:lnTo>
                    <a:cubicBezTo>
                      <a:pt x="28226" y="269001"/>
                      <a:pt x="0" y="214154"/>
                      <a:pt x="0" y="155708"/>
                    </a:cubicBezTo>
                    <a:lnTo>
                      <a:pt x="0" y="67866"/>
                    </a:lnTo>
                    <a:lnTo>
                      <a:pt x="158353" y="0"/>
                    </a:lnTo>
                    <a:lnTo>
                      <a:pt x="316706" y="67866"/>
                    </a:lnTo>
                    <a:lnTo>
                      <a:pt x="316706" y="155708"/>
                    </a:lnTo>
                    <a:cubicBezTo>
                      <a:pt x="316706" y="214154"/>
                      <a:pt x="288481" y="269001"/>
                      <a:pt x="240921" y="302973"/>
                    </a:cubicBezTo>
                    <a:lnTo>
                      <a:pt x="158353" y="361950"/>
                    </a:lnTo>
                    <a:close/>
                    <a:moveTo>
                      <a:pt x="253526" y="129106"/>
                    </a:moveTo>
                    <a:lnTo>
                      <a:pt x="221534" y="97113"/>
                    </a:lnTo>
                    <a:lnTo>
                      <a:pt x="135731" y="182916"/>
                    </a:lnTo>
                    <a:lnTo>
                      <a:pt x="95173" y="142357"/>
                    </a:lnTo>
                    <a:lnTo>
                      <a:pt x="63180" y="174349"/>
                    </a:lnTo>
                    <a:lnTo>
                      <a:pt x="135731" y="246900"/>
                    </a:lnTo>
                    <a:lnTo>
                      <a:pt x="253526" y="129106"/>
                    </a:lnTo>
                    <a:close/>
                  </a:path>
                </a:pathLst>
              </a:custGeom>
              <a:solidFill>
                <a:srgbClr val="2E7D32"/>
              </a:solidFill>
              <a:ln>
                <a:noFill/>
              </a:ln>
            </p:spPr>
          </p:sp>
          <p:sp>
            <p:nvSpPr>
              <p:cNvPr id="45" name="TextBox 45"/>
              <p:cNvSpPr txBox="1"/>
              <p:nvPr/>
            </p:nvSpPr>
            <p:spPr>
              <a:xfrm>
                <a:off x="5692140" y="5025390"/>
                <a:ext cx="1701927" cy="365760"/>
              </a:xfrm>
              <a:prstGeom prst="rect">
                <a:avLst/>
              </a:prstGeom>
              <a:noFill/>
              <a:ln>
                <a:noFill/>
              </a:ln>
            </p:spPr>
            <p:txBody>
              <a:bodyPr wrap="none" lIns="0" tIns="0" rIns="0" bIns="0" anchor="t" anchorCtr="0">
                <a:spAutoFit/>
              </a:bodyPr>
              <a:lstStyle/>
              <a:p>
                <a:pPr algn="l"/>
                <a:r>
                  <a:rPr lang="zh-CN" sz="1800" b="1" dirty="0">
                    <a:solidFill>
                      <a:srgbClr val="1F2328"/>
                    </a:solidFill>
                    <a:latin typeface="Arial"/>
                    <a:ea typeface="Microsoft YaHei"/>
                    <a:cs typeface="Arial"/>
                  </a:rPr>
                  <a:t>前沿技术研究</a:t>
                </a:r>
              </a:p>
            </p:txBody>
          </p:sp>
          <p:sp>
            <p:nvSpPr>
              <p:cNvPr id="46" name="TextBox 46"/>
              <p:cNvSpPr txBox="1"/>
              <p:nvPr/>
            </p:nvSpPr>
            <p:spPr>
              <a:xfrm>
                <a:off x="5697855" y="5416868"/>
                <a:ext cx="4963478" cy="274320"/>
              </a:xfrm>
              <a:prstGeom prst="rect">
                <a:avLst/>
              </a:prstGeom>
              <a:noFill/>
              <a:ln>
                <a:noFill/>
              </a:ln>
            </p:spPr>
            <p:txBody>
              <a:bodyPr wrap="none" lIns="0" tIns="0" rIns="0" bIns="0" anchor="t" anchorCtr="0">
                <a:spAutoFit/>
              </a:bodyPr>
              <a:lstStyle/>
              <a:p>
                <a:pPr algn="l"/>
                <a:r>
                  <a:rPr lang="zh-CN" sz="1350" dirty="0">
                    <a:solidFill>
                      <a:srgbClr val="5F6368"/>
                    </a:solidFill>
                    <a:latin typeface="Arial"/>
                    <a:ea typeface="Microsoft YaHei"/>
                    <a:cs typeface="Arial"/>
                  </a:rPr>
                  <a:t>持续开展本体建模等前沿技术跟踪研究，探索知识图谱与</a:t>
                </a:r>
              </a:p>
            </p:txBody>
          </p:sp>
          <p:sp>
            <p:nvSpPr>
              <p:cNvPr id="47" name="TextBox 47"/>
              <p:cNvSpPr txBox="1"/>
              <p:nvPr/>
            </p:nvSpPr>
            <p:spPr>
              <a:xfrm>
                <a:off x="5697855" y="5683568"/>
                <a:ext cx="2400300" cy="274320"/>
              </a:xfrm>
              <a:prstGeom prst="rect">
                <a:avLst/>
              </a:prstGeom>
              <a:noFill/>
              <a:ln>
                <a:noFill/>
              </a:ln>
            </p:spPr>
            <p:txBody>
              <a:bodyPr wrap="none" lIns="0" tIns="0" rIns="0" bIns="0" anchor="t" anchorCtr="0">
                <a:spAutoFit/>
              </a:bodyPr>
              <a:lstStyle/>
              <a:p>
                <a:pPr algn="l"/>
                <a:r>
                  <a:rPr lang="zh-CN" sz="1350" dirty="0">
                    <a:solidFill>
                      <a:srgbClr val="5F6368"/>
                    </a:solidFill>
                    <a:latin typeface="Arial"/>
                    <a:ea typeface="Microsoft YaHei"/>
                    <a:cs typeface="Arial"/>
                  </a:rPr>
                  <a:t>大模型深度融合的新模式。</a:t>
                </a:r>
              </a:p>
            </p:txBody>
          </p:sp>
        </p:grpSp>
      </p:grpSp>
      <p:grpSp>
        <p:nvGrpSpPr>
          <p:cNvPr id="52" name="Group 52"/>
          <p:cNvGrpSpPr/>
          <p:nvPr/>
        </p:nvGrpSpPr>
        <p:grpSpPr>
          <a:xfrm>
            <a:off x="685800" y="6286500"/>
            <a:ext cx="10820400" cy="385762"/>
            <a:chOff x="685800" y="6286500"/>
            <a:chExt cx="10820400" cy="385762"/>
          </a:xfrm>
        </p:grpSpPr>
        <p:sp>
          <p:nvSpPr>
            <p:cNvPr id="50" name="Line 50"/>
            <p:cNvSpPr/>
            <p:nvPr/>
          </p:nvSpPr>
          <p:spPr>
            <a:xfrm>
              <a:off x="685800" y="6286500"/>
              <a:ext cx="10820400" cy="9525"/>
            </a:xfrm>
            <a:custGeom>
              <a:avLst/>
              <a:gdLst/>
              <a:ahLst/>
              <a:cxnLst/>
              <a:rect l="l" t="t" r="r" b="b"/>
              <a:pathLst>
                <a:path w="10820400" h="9525">
                  <a:moveTo>
                    <a:pt x="0" y="0"/>
                  </a:moveTo>
                  <a:lnTo>
                    <a:pt x="10820400" y="0"/>
                  </a:lnTo>
                </a:path>
              </a:pathLst>
            </a:custGeom>
            <a:noFill/>
            <a:ln w="11430">
              <a:solidFill>
                <a:srgbClr val="E4E7EB"/>
              </a:solidFill>
            </a:ln>
          </p:spPr>
        </p:sp>
        <p:sp>
          <p:nvSpPr>
            <p:cNvPr id="51" name="TextBox 51"/>
            <p:cNvSpPr txBox="1"/>
            <p:nvPr/>
          </p:nvSpPr>
          <p:spPr>
            <a:xfrm>
              <a:off x="5910143" y="6458902"/>
              <a:ext cx="371713" cy="213360"/>
            </a:xfrm>
            <a:prstGeom prst="rect">
              <a:avLst/>
            </a:prstGeom>
            <a:noFill/>
            <a:ln>
              <a:noFill/>
            </a:ln>
          </p:spPr>
          <p:txBody>
            <a:bodyPr wrap="none" lIns="0" tIns="0" rIns="0" bIns="0" anchor="t" anchorCtr="0">
              <a:spAutoFit/>
            </a:bodyPr>
            <a:lstStyle/>
            <a:p>
              <a:pPr algn="ctr"/>
              <a:r>
                <a:rPr lang="zh-CN" sz="1050" dirty="0">
                  <a:solidFill>
                    <a:srgbClr val="8A9099"/>
                  </a:solidFill>
                  <a:latin typeface="Arial"/>
                  <a:ea typeface="Microsoft YaHei"/>
                  <a:cs typeface="Arial"/>
                </a:rPr>
                <a:t>4 / 4</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childTnLst>
                          </p:cTn>
                        </p:par>
                        <p:par>
                          <p:cTn id="12" fill="hold">
                            <p:stCondLst>
                              <p:cond delay="1800"/>
                            </p:stCondLst>
                            <p:childTnLst>
                              <p:par>
                                <p:cTn id="13" presetID="19" presetClass="entr" presetSubtype="0"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wheel(1)">
                                      <p:cBhvr>
                                        <p:cTn id="15"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P spid="4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TotalTime>
  <Words>5970</Words>
  <Application>Microsoft Office PowerPoint</Application>
  <PresentationFormat>宽屏</PresentationFormat>
  <Paragraphs>925</Paragraphs>
  <Slides>19</Slides>
  <Notes>19</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0</vt:i4>
      </vt:variant>
      <vt:variant>
        <vt:lpstr>幻灯片标题</vt:lpstr>
      </vt:variant>
      <vt:variant>
        <vt:i4>19</vt:i4>
      </vt:variant>
    </vt:vector>
  </HeadingPairs>
  <TitlesOfParts>
    <vt:vector size="24" baseType="lpstr">
      <vt:lpstr>等线</vt:lpstr>
      <vt:lpstr>Arial</vt:lpstr>
      <vt:lpstr>Calibri</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朱文聪</dc:creator>
  <cp:keywords/>
  <dc:description>generated using python-pptx</dc:description>
  <cp:lastModifiedBy>文聪 朱</cp:lastModifiedBy>
  <cp:revision>35</cp:revision>
  <dcterms:created xsi:type="dcterms:W3CDTF">2013-01-27T09:14:16Z</dcterms:created>
  <dcterms:modified xsi:type="dcterms:W3CDTF">2026-05-07T08:24:03Z</dcterms:modified>
  <cp:category/>
</cp:coreProperties>
</file>