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9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1" name="xuqing" initials="x" lastIdx="0" clrIdx="70"/>
  <p:cmAuthor id="1" name="作者" initials="A" lastIdx="0" clrIdx="0"/>
  <p:cmAuthor id="72" name="袁缘" initials="袁" lastIdx="0" clrIdx="71"/>
  <p:cmAuthor id="2" name="幸全" initials="幸全" lastIdx="0" clrIdx="1"/>
  <p:cmAuthor id="73" name="邓锐" initials="邓" lastIdx="0" clrIdx="72"/>
  <p:cmAuthor id="3" name="zhangjinyu" initials="z" lastIdx="0" clrIdx="2"/>
  <p:cmAuthor id="74" name="彬 罗" initials="彬" lastIdx="0" clrIdx="73"/>
  <p:cmAuthor id="4" name="WPS_1679281038" initials="W" lastIdx="0" clrIdx="3"/>
  <p:cmAuthor id="75" name="cuizijin01" initials="c" lastIdx="0" clrIdx="74"/>
  <p:cmAuthor id="5" name="WPS_1559667968" initials="W" lastIdx="0" clrIdx="4"/>
  <p:cmAuthor id="76" name="新萝卜家园" initials="新" lastIdx="0" clrIdx="75"/>
  <p:cmAuthor id="6" name="DanXiaolei" initials="D" lastIdx="0" clrIdx="5"/>
  <p:cmAuthor id="77" name="马妍" initials="马" lastIdx="0" clrIdx="76"/>
  <p:cmAuthor id="7" name="huangmengda" initials="h" lastIdx="0" clrIdx="6"/>
  <p:cmAuthor id="78" name="yanqiqi-lgd" initials="y" lastIdx="0" clrIdx="77"/>
  <p:cmAuthor id="8" name="BSJ" initials="B" lastIdx="0" clrIdx="7"/>
  <p:cmAuthor id="79" name="番茄花园" initials="番" lastIdx="0" clrIdx="78"/>
  <p:cmAuthor id="9" name="三生石" initials="三" lastIdx="0" clrIdx="8"/>
  <p:cmAuthor id="80" name="方朝军/产品推动室/产品开发推广部/总公司" initials="方" lastIdx="0" clrIdx="79"/>
  <p:cmAuthor id="10" name="闫晓林/应用开发一部/软件开发中心/总行机关/ABC" initials="闫" lastIdx="0" clrIdx="9"/>
  <p:cmAuthor id="81" name="temp" initials="t" lastIdx="0" clrIdx="80"/>
  <p:cmAuthor id="11" name="Mia Vida Villanueva" initials="M" lastIdx="0" clrIdx="10"/>
  <p:cmAuthor id="82" name="柳 先涛" initials="柳" lastIdx="0" clrIdx="81"/>
  <p:cmAuthor id="12" name="Hao Tang" initials="H" lastIdx="0" clrIdx="11"/>
  <p:cmAuthor id="83" name="Tracy Chen" initials="T" lastIdx="0" clrIdx="82"/>
  <p:cmAuthor id="13" name="kahlen qi" initials="k" lastIdx="0" clrIdx="12"/>
  <p:cmAuthor id="84" name="Yanyang Zhang" initials="Y" lastIdx="0" clrIdx="83"/>
  <p:cmAuthor id="14" name="Donna Daniels" initials="D" lastIdx="0" clrIdx="13"/>
  <p:cmAuthor id="85" name="微软用户" initials="微软用户" lastIdx="0" clrIdx="84"/>
  <p:cmAuthor id="15" name="刘旭/应用平台研发部/软件开发中心/总行机关/ABC" initials="刘" lastIdx="0" clrIdx="14"/>
  <p:cmAuthor id="16" name="黄诚/互联网金融研发部/软件开发中心/总行机关/ABC" initials="黄" lastIdx="0" clrIdx="15"/>
  <p:cmAuthor id="17" name="罗位国/应用平台研发部/软件开发中心/总行机关/ABC" initials="罗" lastIdx="0" clrIdx="16"/>
  <p:cmAuthor id="18" name="lenovo" initials="l" lastIdx="0" clrIdx="17"/>
  <p:cmAuthor id="19" name="ZhangqQi" initials="Z" lastIdx="0" clrIdx="18"/>
  <p:cmAuthor id="20" name="Xinyue Li" initials="X" lastIdx="0" clrIdx="19"/>
  <p:cmAuthor id="21" name="杨宁/技术总监室/软件开发中心/总行机关/ABC" initials="杨" lastIdx="0" clrIdx="20"/>
  <p:cmAuthor id="22" name="011915056" initials="0" lastIdx="0" clrIdx="21"/>
  <p:cmAuthor id="23" name="张 星" initials="张" lastIdx="0" clrIdx="22"/>
  <p:cmAuthor id="24" name="中国农业银行" initials="中" lastIdx="0" clrIdx="23"/>
  <p:cmAuthor id="25" name="fyl" initials="f" lastIdx="0" clrIdx="24"/>
  <p:cmAuthor id="26" name="Nancy N Cheng" initials="N" lastIdx="0" clrIdx="25"/>
  <p:cmAuthor id="27" name="Shirley D Duo" initials="S" lastIdx="0" clrIdx="26"/>
  <p:cmAuthor id="28" name="周轶奇/上研技术保障部/研发中心/总行机关/ABC" initials="周" lastIdx="0" clrIdx="27"/>
  <p:cmAuthor id="29" name="Administrator" initials="A" lastIdx="0" clrIdx="28"/>
  <p:cmAuthor id="30" name="李伏/架构管理办公室/研发中心/总行机关/ABC" initials="李" lastIdx="0" clrIdx="29"/>
  <p:cmAuthor id="31" name="Y" initials="Y" lastIdx="0" clrIdx="30"/>
  <p:cmAuthor id="32" name="zjh" initials="z" lastIdx="0" clrIdx="31"/>
  <p:cmAuthor id="33" name=" /技术管理部/数据中心/总行机关/ABC" initials=" " lastIdx="0" clrIdx="32"/>
  <p:cmAuthor id="34" name="朱泳" initials="朱" lastIdx="0" clrIdx="33"/>
  <p:cmAuthor id="35" name="石静/项目管理办公室/研发中心/总行机关/ABC" initials="石" lastIdx="0" clrIdx="34"/>
  <p:cmAuthor id="36" name="万颖/信息安全与风险管理处/科技与产品管理局/总行机关/ABC" initials="万" lastIdx="0" clrIdx="35"/>
  <p:cmAuthor id="37" name="郭梦琪/综合管理处/科技与产品管理局/总行机关/ABC" initials="郭" lastIdx="0" clrIdx="36"/>
  <p:cmAuthor id="38" name="王鹏" initials="王" lastIdx="0" clrIdx="37"/>
  <p:cmAuthor id="39" name="靖飞" initials="靖" lastIdx="0" clrIdx="38"/>
  <p:cmAuthor id="40" name="官虎" initials="官" lastIdx="0" clrIdx="39"/>
  <p:cmAuthor id="41" name="葛巾仿" initials="葛" lastIdx="0" clrIdx="40"/>
  <p:cmAuthor id="42" name="系统二部" initials="系" lastIdx="0" clrIdx="41"/>
  <p:cmAuthor id="43" name="吕品" initials="吕" lastIdx="0" clrIdx="42"/>
  <p:cmAuthor id="44" name="apple" initials="a" lastIdx="0" clrIdx="43"/>
  <p:cmAuthor id="45" name="13401" initials="1" lastIdx="0" clrIdx="44"/>
  <p:cmAuthor id="46" name="余姬" initials="余" lastIdx="0" clrIdx="45"/>
  <p:cmAuthor id="47" name="冯翰滔" initials="冯" lastIdx="0" clrIdx="46"/>
  <p:cmAuthor id="48" name="宋琛哲" initials="宋" lastIdx="0" clrIdx="47"/>
  <p:cmAuthor id="49" name="未知用户6" initials="未" lastIdx="0" clrIdx="48"/>
  <p:cmAuthor id="50" name="EDZ" initials="E" lastIdx="0" clrIdx="49"/>
  <p:cmAuthor id="51" name="魏坤" initials="魏" lastIdx="0" clrIdx="50"/>
  <p:cmAuthor id="52" name="孙琳" initials="孙" lastIdx="0" clrIdx="51"/>
  <p:cmAuthor id="53" name="韩飞宇/天研开发一部/研发中心/总行机关/ABC" initials="韩" lastIdx="0" clrIdx="52"/>
  <p:cmAuthor id="54" name="尹娜/项目管理办公室/研发中心/总行机关/ABC" initials="尹" lastIdx="0" clrIdx="53"/>
  <p:cmAuthor id="55" name="moogle" initials="m" lastIdx="0" clrIdx="54"/>
  <p:cmAuthor id="56" name="叶馥郁/技术管理办公室/科技与产品管理局/总行机关/ABC" initials="叶" lastIdx="0" clrIdx="55"/>
  <p:cmAuthor id="57" name="南绍岭" initials="南" lastIdx="0" clrIdx="56"/>
  <p:cmAuthor id="58" name="付瑶_ENzqa6B7" initials="付" lastIdx="0" clrIdx="57"/>
  <p:cmAuthor id="59" name="Phoenix Fun_eIVjYj2e" initials="P" lastIdx="0" clrIdx="58"/>
  <p:cmAuthor id="60" name="沈思铭" initials="沈" lastIdx="0" clrIdx="59"/>
  <p:cmAuthor id="61" name="Joseph" initials="J" lastIdx="0" clrIdx="60"/>
  <p:cmAuthor id="62" name="wengrs" initials="w" lastIdx="0" clrIdx="61"/>
  <p:cmAuthor id="63" name="Qiuxia Zhu" initials="Q" lastIdx="0" clrIdx="62"/>
  <p:cmAuthor id="64" name="45383746@qq.com" initials="4" lastIdx="0" clrIdx="63"/>
  <p:cmAuthor id="65" name="hauk guan" initials="h" lastIdx="0" clrIdx="64"/>
  <p:cmAuthor id="66" name="sierra" initials="s" lastIdx="0" clrIdx="65"/>
  <p:cmAuthor id="67" name="陈艳" initials="陈" lastIdx="0" clrIdx="66"/>
  <p:cmAuthor id="68" name="林雪" initials="林" lastIdx="0" clrIdx="67"/>
  <p:cmAuthor id="69" name="diana.cheng" initials="d" lastIdx="0" clrIdx="68"/>
  <p:cmAuthor id="70" name="浩 陈" initials="浩" lastIdx="0" clrIdx="6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9" autoAdjust="0"/>
    <p:restoredTop sz="94660"/>
  </p:normalViewPr>
  <p:slideViewPr>
    <p:cSldViewPr snapToGrid="0" showGuides="1">
      <p:cViewPr>
        <p:scale>
          <a:sx n="106" d="100"/>
          <a:sy n="106" d="100"/>
        </p:scale>
        <p:origin x="90" y="336"/>
      </p:cViewPr>
      <p:guideLst>
        <p:guide orient="horz" pos="2159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7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6ADAEC-AB17-4E15-9480-B8FF2E94FAAE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819675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15900" indent="-215900">
              <a:buNone/>
            </a:pPr>
            <a:r>
              <a:rPr lang="en-US" altLang="zh-CN" sz="2000" b="0" strike="noStrike" spc="-1" dirty="0">
                <a:solidFill>
                  <a:srgbClr val="000000"/>
                </a:solidFill>
                <a:latin typeface="Arial" panose="020B0604020202020204"/>
              </a:rPr>
              <a:t>1.</a:t>
            </a:r>
            <a:r>
              <a:rPr lang="zh-CN" altLang="en-US" sz="2000" b="0" strike="noStrike" spc="-1" dirty="0">
                <a:solidFill>
                  <a:srgbClr val="000000"/>
                </a:solidFill>
                <a:latin typeface="Arial" panose="020B0604020202020204"/>
              </a:rPr>
              <a:t>金融数据异构、语义歧义导致融合成本高，传统建模效率低。</a:t>
            </a:r>
          </a:p>
          <a:p>
            <a:pPr marL="215900" indent="-215900">
              <a:buNone/>
            </a:pPr>
            <a:r>
              <a:rPr lang="en-US" altLang="zh-CN" sz="2000" b="0" strike="noStrike" spc="-1" dirty="0">
                <a:solidFill>
                  <a:srgbClr val="000000"/>
                </a:solidFill>
                <a:latin typeface="Arial" panose="020B0604020202020204"/>
              </a:rPr>
              <a:t>2.</a:t>
            </a:r>
            <a:r>
              <a:rPr lang="zh-CN" altLang="en-US" sz="2000" b="0" strike="noStrike" spc="-1" dirty="0">
                <a:solidFill>
                  <a:srgbClr val="000000"/>
                </a:solidFill>
                <a:latin typeface="Arial" panose="020B0604020202020204"/>
              </a:rPr>
              <a:t>大模型在金融领域存在</a:t>
            </a:r>
            <a:r>
              <a:rPr lang="en-US" altLang="zh-CN" sz="2000" b="0" strike="noStrike" spc="-1" dirty="0">
                <a:solidFill>
                  <a:srgbClr val="000000"/>
                </a:solidFill>
                <a:latin typeface="Arial" panose="020B0604020202020204"/>
              </a:rPr>
              <a:t>“</a:t>
            </a:r>
            <a:r>
              <a:rPr lang="zh-CN" altLang="en-US" sz="2000" b="0" strike="noStrike" spc="-1" dirty="0">
                <a:solidFill>
                  <a:srgbClr val="000000"/>
                </a:solidFill>
                <a:latin typeface="Arial" panose="020B0604020202020204"/>
              </a:rPr>
              <a:t>幻觉</a:t>
            </a:r>
            <a:r>
              <a:rPr lang="en-US" altLang="zh-CN" sz="2000" b="0" strike="noStrike" spc="-1" dirty="0">
                <a:solidFill>
                  <a:srgbClr val="000000"/>
                </a:solidFill>
                <a:latin typeface="Arial" panose="020B0604020202020204"/>
              </a:rPr>
              <a:t>”</a:t>
            </a:r>
            <a:r>
              <a:rPr lang="zh-CN" altLang="en-US" sz="2000" b="0" strike="noStrike" spc="-1" dirty="0">
                <a:solidFill>
                  <a:srgbClr val="000000"/>
                </a:solidFill>
                <a:latin typeface="Arial" panose="020B0604020202020204"/>
              </a:rPr>
              <a:t>风险，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与合规性要求冲突，可信度不足阻碍其在核心业务中的落地，需强化外部知识约束</a:t>
            </a:r>
            <a:endParaRPr lang="zh-CN" altLang="en-US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0" strike="noStrike" spc="-1" dirty="0">
                <a:solidFill>
                  <a:srgbClr val="000000"/>
                </a:solidFill>
                <a:latin typeface="Arial" panose="020B0604020202020204"/>
              </a:rPr>
              <a:t>3.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当前金融领域缺乏统一的人机协同本体建模标准，各机构独立构建导致知识碎片化、互操作性差，亟需标准化框架推动行业级知识共享与应用。</a:t>
            </a:r>
            <a:endParaRPr lang="zh-CN" altLang="en-US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54750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15900" indent="-215900">
              <a:buNone/>
            </a:pPr>
            <a:r>
              <a:rPr lang="en-US" altLang="zh-CN" sz="2000" dirty="0">
                <a:latin typeface="汉仪中黑简" panose="02010600000101010101" pitchFamily="2" charset="-122"/>
                <a:ea typeface="汉仪中黑简" panose="02010600000101010101" pitchFamily="2" charset="-122"/>
                <a:sym typeface="+mn-ea"/>
              </a:rPr>
              <a:t>- </a:t>
            </a:r>
            <a:r>
              <a:rPr lang="zh-CN" altLang="en-US" sz="2000" dirty="0">
                <a:latin typeface="汉仪中黑简" panose="02010600000101010101" pitchFamily="2" charset="-122"/>
                <a:ea typeface="汉仪中黑简" panose="02010600000101010101" pitchFamily="2" charset="-122"/>
                <a:sym typeface="+mn-ea"/>
              </a:rPr>
              <a:t>必要性：消除术语歧义以统一语义理解，通过逻辑校验降低模型风险，自动化流程降低维护成本；</a:t>
            </a:r>
          </a:p>
          <a:p>
            <a:pPr marL="215900" indent="-215900">
              <a:buNone/>
            </a:pPr>
            <a:r>
              <a:rPr lang="en-US" altLang="zh-CN" sz="2000" dirty="0">
                <a:latin typeface="汉仪中黑简" panose="02010600000101010101" pitchFamily="2" charset="-122"/>
                <a:ea typeface="汉仪中黑简" panose="02010600000101010101" pitchFamily="2" charset="-122"/>
                <a:sym typeface="+mn-ea"/>
              </a:rPr>
              <a:t>- </a:t>
            </a:r>
            <a:r>
              <a:rPr lang="zh-CN" altLang="en-US" sz="2000" dirty="0">
                <a:latin typeface="汉仪中黑简" panose="02010600000101010101" pitchFamily="2" charset="-122"/>
                <a:ea typeface="汉仪中黑简" panose="02010600000101010101" pitchFamily="2" charset="-122"/>
                <a:sym typeface="+mn-ea"/>
              </a:rPr>
              <a:t>可行性：基于成熟的大模型抽取技术、逻辑验证工具及人机协同机制实现技术落地。</a:t>
            </a:r>
          </a:p>
          <a:p>
            <a:pPr marL="215900" indent="-215900">
              <a:buNone/>
            </a:pPr>
            <a:endParaRPr lang="zh-CN" altLang="en-US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41933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15900" indent="-215900">
              <a:buNone/>
            </a:pPr>
            <a:endParaRPr lang="zh-CN" altLang="en-US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6634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32000" y="1496115"/>
            <a:ext cx="12192000" cy="318268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32000" y="4801532"/>
            <a:ext cx="12192000" cy="220713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165" indent="0" algn="ctr">
              <a:buNone/>
              <a:defRPr sz="2135"/>
            </a:lvl4pPr>
            <a:lvl5pPr marL="2437765" indent="0" algn="ctr">
              <a:buNone/>
              <a:defRPr sz="2135"/>
            </a:lvl5pPr>
            <a:lvl6pPr marL="3047365" indent="0" algn="ctr">
              <a:buNone/>
              <a:defRPr sz="2135"/>
            </a:lvl6pPr>
            <a:lvl7pPr marL="3656965" indent="0" algn="ctr">
              <a:buNone/>
              <a:defRPr sz="2135"/>
            </a:lvl7pPr>
            <a:lvl8pPr marL="4265930" indent="0" algn="ctr">
              <a:buNone/>
              <a:defRPr sz="2135"/>
            </a:lvl8pPr>
            <a:lvl9pPr marL="4875530" indent="0" algn="ctr">
              <a:buNone/>
              <a:defRPr sz="213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文本框 7"/>
          <p:cNvSpPr txBox="1"/>
          <p:nvPr/>
        </p:nvSpPr>
        <p:spPr>
          <a:xfrm>
            <a:off x="1477963" y="885825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5980" y="1811020"/>
            <a:ext cx="4709795" cy="586740"/>
          </a:xfrm>
          <a:prstGeom prst="rect">
            <a:avLst/>
          </a:prstGeom>
        </p:spPr>
        <p:txBody>
          <a:bodyPr/>
          <a:lstStyle/>
          <a:p>
            <a:pPr algn="ctr" fontAlgn="base">
              <a:lnSpc>
                <a:spcPct val="90000"/>
              </a:lnSpc>
              <a:buClrTx/>
              <a:buSzTx/>
              <a:buFontTx/>
            </a:pPr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0965" indent="0">
              <a:buNone/>
              <a:defRPr sz="1800"/>
            </a:lvl4pPr>
            <a:lvl5pPr marL="1828165" indent="0">
              <a:buNone/>
              <a:defRPr sz="1800"/>
            </a:lvl5pPr>
            <a:lvl6pPr marL="2285365" indent="0">
              <a:buNone/>
              <a:defRPr sz="1800"/>
            </a:lvl6pPr>
            <a:lvl7pPr marL="2742565" indent="0">
              <a:buNone/>
              <a:defRPr sz="1800"/>
            </a:lvl7pPr>
            <a:lvl8pPr marL="3199765" indent="0">
              <a:buNone/>
              <a:defRPr sz="1800"/>
            </a:lvl8pPr>
            <a:lvl9pPr marL="3656965" indent="0">
              <a:buNone/>
              <a:defRPr sz="18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0965" indent="0">
              <a:buNone/>
              <a:defRPr sz="1800"/>
            </a:lvl4pPr>
            <a:lvl5pPr marL="1828165" indent="0">
              <a:buNone/>
              <a:defRPr sz="1800"/>
            </a:lvl5pPr>
            <a:lvl6pPr marL="2285365" indent="0">
              <a:buNone/>
              <a:defRPr sz="1800"/>
            </a:lvl6pPr>
            <a:lvl7pPr marL="2742565" indent="0">
              <a:buNone/>
              <a:defRPr sz="1800"/>
            </a:lvl7pPr>
            <a:lvl8pPr marL="3199765" indent="0">
              <a:buNone/>
              <a:defRPr sz="1800"/>
            </a:lvl8pPr>
            <a:lvl9pPr marL="3656965" indent="0">
              <a:buNone/>
              <a:defRPr sz="18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文本框 7"/>
          <p:cNvSpPr txBox="1"/>
          <p:nvPr userDrawn="1"/>
        </p:nvSpPr>
        <p:spPr>
          <a:xfrm>
            <a:off x="1477963" y="885825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5980" y="1811020"/>
            <a:ext cx="4709795" cy="586740"/>
          </a:xfrm>
          <a:prstGeom prst="rect">
            <a:avLst/>
          </a:prstGeom>
        </p:spPr>
        <p:txBody>
          <a:bodyPr/>
          <a:lstStyle/>
          <a:p>
            <a:pPr algn="ctr" fontAlgn="base">
              <a:lnSpc>
                <a:spcPct val="90000"/>
              </a:lnSpc>
              <a:buClrTx/>
              <a:buSzTx/>
              <a:buFontTx/>
            </a:pPr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0965" indent="0">
              <a:buNone/>
              <a:defRPr sz="1400"/>
            </a:lvl4pPr>
            <a:lvl5pPr marL="1828165" indent="0">
              <a:buNone/>
              <a:defRPr sz="1400"/>
            </a:lvl5pPr>
            <a:lvl6pPr marL="2285365" indent="0">
              <a:buNone/>
              <a:defRPr sz="1400"/>
            </a:lvl6pPr>
            <a:lvl7pPr marL="2742565" indent="0">
              <a:buNone/>
              <a:defRPr sz="1400"/>
            </a:lvl7pPr>
            <a:lvl8pPr marL="3199765" indent="0">
              <a:buNone/>
              <a:defRPr sz="1400"/>
            </a:lvl8pPr>
            <a:lvl9pPr marL="3656965" indent="0">
              <a:buNone/>
              <a:defRPr sz="14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</a:p>
          <a:p>
            <a:pPr lvl="1" fontAlgn="auto"/>
            <a:r>
              <a:rPr lang="zh-CN" altLang="en-US" strike="noStrike" noProof="1" smtClean="0"/>
              <a:t>第二级</a:t>
            </a:r>
          </a:p>
          <a:p>
            <a:pPr lvl="2" fontAlgn="auto"/>
            <a:r>
              <a:rPr lang="zh-CN" altLang="en-US" strike="noStrike" noProof="1" smtClean="0"/>
              <a:t>第三级</a:t>
            </a:r>
          </a:p>
          <a:p>
            <a:pPr lvl="3" fontAlgn="auto"/>
            <a:r>
              <a:rPr lang="zh-CN" altLang="en-US" strike="noStrike" noProof="1" smtClean="0"/>
              <a:t>第四级</a:t>
            </a:r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模板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436983" y="367296"/>
            <a:ext cx="8809653" cy="502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1315720" y="999667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2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946400"/>
            <a:ext cx="2844800" cy="2438401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135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3688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2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946400"/>
            <a:ext cx="2844800" cy="2438401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135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1280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2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946400"/>
            <a:ext cx="2844800" cy="2438401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135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5B81F-6F56-46B6-AC19-94522B72D0B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7BD24-340B-4E19-B877-43765076BC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-11112" y="-4761"/>
            <a:ext cx="12203112" cy="3906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标题 3"/>
          <p:cNvSpPr>
            <a:spLocks noGrp="1"/>
          </p:cNvSpPr>
          <p:nvPr>
            <p:ph type="title"/>
          </p:nvPr>
        </p:nvSpPr>
        <p:spPr>
          <a:xfrm>
            <a:off x="2351512" y="1989335"/>
            <a:ext cx="6705600" cy="587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99565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6F7FF"/>
            </a:gs>
            <a:gs pos="100000">
              <a:srgbClr val="CCE5FF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"/>
          <p:cNvSpPr/>
          <p:nvPr/>
        </p:nvSpPr>
        <p:spPr>
          <a:xfrm>
            <a:off x="-143239" y="2375160"/>
            <a:ext cx="10969245" cy="1894372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19970" tIns="59985" rIns="119970" bIns="59985" anchor="ctr">
            <a:noAutofit/>
          </a:bodyPr>
          <a:lstStyle/>
          <a:p>
            <a:pPr algn="r" defTabSz="457200">
              <a:lnSpc>
                <a:spcPct val="150000"/>
              </a:lnSpc>
            </a:pPr>
            <a:r>
              <a:rPr lang="zh-CN" altLang="en-US" sz="3200" b="1" strike="noStrike" spc="-1">
                <a:solidFill>
                  <a:schemeClr val="tx1"/>
                </a:solidFill>
                <a:latin typeface="Segoe UI" panose="020B0502040204020203"/>
                <a:ea typeface="微软雅黑" panose="020B0503020204020204" charset="-122"/>
              </a:rPr>
              <a:t>面向金融领域的本体建模规范研究</a:t>
            </a:r>
          </a:p>
          <a:p>
            <a:pPr algn="r" defTabSz="457200">
              <a:lnSpc>
                <a:spcPct val="150000"/>
              </a:lnSpc>
            </a:pPr>
            <a:r>
              <a:rPr lang="en-US" altLang="zh-CN" sz="3200" b="1" strike="noStrike" spc="-1">
                <a:solidFill>
                  <a:schemeClr val="tx1"/>
                </a:solidFill>
                <a:latin typeface="Segoe UI" panose="020B0502040204020203"/>
                <a:ea typeface="微软雅黑" panose="020B0503020204020204" charset="-122"/>
              </a:rPr>
              <a:t>-</a:t>
            </a:r>
            <a:r>
              <a:rPr lang="zh-CN" altLang="en-US" sz="3200" b="1" strike="noStrike" spc="-1">
                <a:solidFill>
                  <a:schemeClr val="tx1"/>
                </a:solidFill>
                <a:latin typeface="Segoe UI" panose="020B0502040204020203"/>
                <a:ea typeface="微软雅黑" panose="020B0503020204020204" charset="-122"/>
              </a:rPr>
              <a:t>课题研究介绍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16644" y="562494"/>
            <a:ext cx="4708632" cy="586740"/>
          </a:xfrm>
        </p:spPr>
        <p:txBody>
          <a:bodyPr wrap="square">
            <a:noAutofit/>
          </a:bodyPr>
          <a:lstStyle/>
          <a:p>
            <a:r>
              <a:rPr lang="zh-CN" altLang="en-US" sz="3200" b="1" spc="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研究背景及现状</a:t>
            </a:r>
          </a:p>
        </p:txBody>
      </p:sp>
      <p:sp>
        <p:nvSpPr>
          <p:cNvPr id="2" name="矩形: 圆角 20"/>
          <p:cNvSpPr/>
          <p:nvPr>
            <p:custDataLst>
              <p:tags r:id="rId3"/>
            </p:custDataLst>
          </p:nvPr>
        </p:nvSpPr>
        <p:spPr>
          <a:xfrm>
            <a:off x="624498" y="1509234"/>
            <a:ext cx="10612886" cy="4549710"/>
          </a:xfrm>
          <a:prstGeom prst="roundRect">
            <a:avLst>
              <a:gd name="adj" fmla="val 561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6200000" scaled="1"/>
            </a:gradFill>
          </a:ln>
          <a:effectLst>
            <a:outerShdw blurRad="152400" dist="38100" dir="13500000" algn="br" rotWithShape="0">
              <a:schemeClr val="accent1">
                <a:lumMod val="75000"/>
                <a:alpha val="7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359955" tIns="359955" rIns="288218" bIns="359955" numCol="1" spcCol="0" rtlCol="0" fromWordArt="0" anchor="b" anchorCtr="1" forceAA="0" compatLnSpc="1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600" kern="0" dirty="0">
              <a:ln>
                <a:noFill/>
                <a:prstDash val="sysDot"/>
              </a:ln>
              <a:solidFill>
                <a:srgbClr val="292929"/>
              </a:solidFill>
              <a:latin typeface="+mn-ea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140" y="2126615"/>
            <a:ext cx="9747250" cy="24193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kern="0" dirty="0">
                <a:ln>
                  <a:noFill/>
                  <a:prstDash val="sysDot"/>
                </a:ln>
                <a:solidFill>
                  <a:srgbClr val="2929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 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金融行业数字化转型面临数据语义不一致与融合难题，异构数据的语义歧义导致跨系统协作成本高、决策效率低，传统人工建模效率难以匹配数据增长需求。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lang="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 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大模型在金融领域仍旧存在</a:t>
            </a:r>
            <a:r>
              <a:rPr lang="en-US" altLang="zh-CN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幻觉</a:t>
            </a:r>
            <a:r>
              <a:rPr lang="en-US" altLang="zh-CN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问题，</a:t>
            </a:r>
            <a:r>
              <a:rPr lang="zh-CN" altLang="en-US" sz="2000" spc="-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可信性与合规性不足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</a:t>
            </a:r>
            <a:r>
              <a:rPr lang="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 </a:t>
            </a:r>
            <a:r>
              <a:rPr lang="zh-CN" altLang="en-US" sz="2000" spc="-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行业缺乏统一的人机协同本体建模标准，阻碍知识共享。</a:t>
            </a:r>
            <a:endParaRPr lang="zh-CN" altLang="en-US" sz="2000" kern="0" spc="-1" dirty="0">
              <a:ln>
                <a:noFill/>
                <a:prstDash val="sysDot"/>
              </a:ln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9" name="Freeform 5"/>
          <p:cNvSpPr>
            <a:spLocks noChangeAspect="1"/>
          </p:cNvSpPr>
          <p:nvPr userDrawn="1"/>
        </p:nvSpPr>
        <p:spPr>
          <a:xfrm>
            <a:off x="-9604" y="658813"/>
            <a:ext cx="344402" cy="39528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C000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16644" y="562494"/>
            <a:ext cx="4708632" cy="586740"/>
          </a:xfrm>
        </p:spPr>
        <p:txBody>
          <a:bodyPr wrap="square">
            <a:noAutofit/>
          </a:bodyPr>
          <a:lstStyle/>
          <a:p>
            <a:r>
              <a:rPr lang="zh-CN" altLang="en-US" sz="3200" b="1" spc="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研究目标</a:t>
            </a:r>
            <a:endParaRPr lang="en-US" altLang="zh-CN" sz="3200" b="1" spc="0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9" name="Freeform 5"/>
          <p:cNvSpPr>
            <a:spLocks noChangeAspect="1"/>
          </p:cNvSpPr>
          <p:nvPr userDrawn="1"/>
        </p:nvSpPr>
        <p:spPr>
          <a:xfrm>
            <a:off x="-9604" y="658813"/>
            <a:ext cx="344402" cy="39528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C000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90179" y="3063522"/>
            <a:ext cx="10810640" cy="8402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20" name="矩形: 单圆角 56"/>
          <p:cNvSpPr/>
          <p:nvPr/>
        </p:nvSpPr>
        <p:spPr>
          <a:xfrm>
            <a:off x="728612" y="2577964"/>
            <a:ext cx="2807700" cy="485020"/>
          </a:xfrm>
          <a:prstGeom prst="round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135" b="1" dirty="0" smtClean="0">
                <a:solidFill>
                  <a:schemeClr val="tx1"/>
                </a:solidFill>
                <a:latin typeface="汉仪中黑简" panose="02010600000101010101" pitchFamily="2" charset="-122"/>
                <a:ea typeface="汉仪中黑简" panose="02010600000101010101" pitchFamily="2" charset="-122"/>
              </a:rPr>
              <a:t>可行性与必要性论证</a:t>
            </a:r>
            <a:endParaRPr lang="zh-CN" altLang="en-US" sz="2400"/>
          </a:p>
        </p:txBody>
      </p:sp>
      <p:sp>
        <p:nvSpPr>
          <p:cNvPr id="23" name="文本框 59"/>
          <p:cNvSpPr txBox="1"/>
          <p:nvPr/>
        </p:nvSpPr>
        <p:spPr>
          <a:xfrm>
            <a:off x="713268" y="3037588"/>
            <a:ext cx="10582502" cy="8197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2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sym typeface="+mn-ea"/>
              </a:rPr>
              <a:t>必要性：消除术语歧义，降低模型可信风险，自动化流程降低维护成本</a:t>
            </a:r>
          </a:p>
          <a:p>
            <a:pPr marL="342900" indent="-342900" algn="just">
              <a:lnSpc>
                <a:spcPct val="12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sym typeface="+mn-ea"/>
              </a:rPr>
              <a:t>可行性：基于大模型抽取、逻辑验证工具及人机协同机制实现技术落地</a:t>
            </a:r>
          </a:p>
        </p:txBody>
      </p:sp>
      <p:sp>
        <p:nvSpPr>
          <p:cNvPr id="51" name="矩形 50"/>
          <p:cNvSpPr/>
          <p:nvPr/>
        </p:nvSpPr>
        <p:spPr>
          <a:xfrm>
            <a:off x="705624" y="4695485"/>
            <a:ext cx="10795196" cy="8112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52" name="矩形: 单圆角 56"/>
          <p:cNvSpPr/>
          <p:nvPr/>
        </p:nvSpPr>
        <p:spPr>
          <a:xfrm>
            <a:off x="705623" y="4210313"/>
            <a:ext cx="2724759" cy="485172"/>
          </a:xfrm>
          <a:prstGeom prst="round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53" name="文本框 58"/>
          <p:cNvSpPr txBox="1"/>
          <p:nvPr/>
        </p:nvSpPr>
        <p:spPr>
          <a:xfrm>
            <a:off x="690521" y="4185387"/>
            <a:ext cx="3076874" cy="452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300"/>
              </a:spcBef>
            </a:pPr>
            <a:r>
              <a:rPr lang="zh-CN" altLang="en-US" sz="2135" b="1" dirty="0">
                <a:latin typeface="汉仪中黑简" panose="02010600000101010101" pitchFamily="2" charset="-122"/>
                <a:ea typeface="汉仪中黑简" panose="02010600000101010101" pitchFamily="2" charset="-122"/>
              </a:rPr>
              <a:t>实施路径分析</a:t>
            </a:r>
          </a:p>
        </p:txBody>
      </p:sp>
      <p:sp>
        <p:nvSpPr>
          <p:cNvPr id="54" name="文本框 59"/>
          <p:cNvSpPr txBox="1"/>
          <p:nvPr/>
        </p:nvSpPr>
        <p:spPr>
          <a:xfrm>
            <a:off x="728711" y="4669552"/>
            <a:ext cx="10745819" cy="8197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2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技术层面采用</a:t>
            </a:r>
            <a:r>
              <a:rPr lang="en-US" altLang="zh-CN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大模型抽取</a:t>
            </a:r>
            <a:r>
              <a:rPr lang="en-US" altLang="zh-CN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-</a:t>
            </a: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逻辑校验</a:t>
            </a:r>
            <a:r>
              <a:rPr lang="en-US" altLang="zh-CN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-</a:t>
            </a: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专家审核</a:t>
            </a:r>
            <a:r>
              <a:rPr lang="en-US" altLang="zh-CN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三层架构</a:t>
            </a:r>
          </a:p>
          <a:p>
            <a:pPr marL="342900" indent="-342900" algn="just">
              <a:lnSpc>
                <a:spcPct val="120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65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标准层面从具体场景提炼元模型，制定描述规范并开发工具链，推动试点应用与标准推广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0245" y="1409700"/>
            <a:ext cx="109480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构建金融领域统一的本体建模标准体系，融合大模型智能化与形式化逻辑规范，进一步解决行业语义一致性、大模型可信性问题，推动行业知识工程规模化落地。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16644" y="562494"/>
            <a:ext cx="4708632" cy="586740"/>
          </a:xfrm>
        </p:spPr>
        <p:txBody>
          <a:bodyPr wrap="square">
            <a:noAutofit/>
          </a:bodyPr>
          <a:lstStyle/>
          <a:p>
            <a:r>
              <a:rPr lang="zh-CN" altLang="en-US" sz="3200" b="1" spc="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课题大纲（拟）</a:t>
            </a:r>
          </a:p>
        </p:txBody>
      </p:sp>
      <p:sp>
        <p:nvSpPr>
          <p:cNvPr id="13" name="Freeform 5"/>
          <p:cNvSpPr>
            <a:spLocks noChangeAspect="1"/>
          </p:cNvSpPr>
          <p:nvPr userDrawn="1"/>
        </p:nvSpPr>
        <p:spPr>
          <a:xfrm>
            <a:off x="-9604" y="658813"/>
            <a:ext cx="344402" cy="39528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C000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65150" y="1295400"/>
            <a:ext cx="1106106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绪论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阐述金融数智化转型需求、大模型风险及标准化缺口，明确技术路线图与研究创新点。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理论基础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解析本体建模方法论、大模型信息抽取原理、逻辑一致性校验机制及人机协作流程设计。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体系设计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定义金融核心概念体系，设计可扩展的业务场景模块，制定统一语义规范与逻辑约束规则。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</a:t>
            </a:r>
            <a:r>
              <a:rPr 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体系构建</a:t>
            </a:r>
            <a:endParaRPr 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研究基于提示工程的金融知识精准抽取技术，开发候选知识清洗与消歧算法等。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实施指南与验证案例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通过实验评估准确率、一致性等指标，在金融机构试点验证标准可行性，分析应用效果与优化方向。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</a:t>
            </a:r>
            <a:r>
              <a:rPr lang="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总结与展望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凝练研究成果，提出标准化推广策略及未来技术融合方向。</a:t>
            </a:r>
          </a:p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16644" y="562494"/>
            <a:ext cx="4708632" cy="586740"/>
          </a:xfrm>
        </p:spPr>
        <p:txBody>
          <a:bodyPr wrap="square">
            <a:noAutofit/>
          </a:bodyPr>
          <a:lstStyle/>
          <a:p>
            <a:r>
              <a:rPr lang="zh-CN" altLang="en-US" sz="3200" b="1" spc="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课题计划时间节点</a:t>
            </a:r>
          </a:p>
        </p:txBody>
      </p:sp>
      <p:sp>
        <p:nvSpPr>
          <p:cNvPr id="9" name="Freeform 5"/>
          <p:cNvSpPr>
            <a:spLocks noChangeAspect="1"/>
          </p:cNvSpPr>
          <p:nvPr userDrawn="1"/>
        </p:nvSpPr>
        <p:spPr>
          <a:xfrm>
            <a:off x="-9604" y="658813"/>
            <a:ext cx="344402" cy="39528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C0000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28750" y="3717925"/>
            <a:ext cx="227139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4</a:t>
            </a:r>
            <a:r>
              <a:rPr lang="zh-CN" altLang="en-US" sz="1600" dirty="0"/>
              <a:t>月上旬：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课题启动会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明确分工与计划，分头调研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26914"/>
          <a:stretch>
            <a:fillRect/>
          </a:stretch>
        </p:blipFill>
        <p:spPr>
          <a:xfrm>
            <a:off x="1118235" y="1870075"/>
            <a:ext cx="9837420" cy="15582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80790" y="3717925"/>
            <a:ext cx="227139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/>
              <a:t>5</a:t>
            </a:r>
            <a:r>
              <a:rPr lang="zh-CN" altLang="en-US" sz="1600"/>
              <a:t>月上旬：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完成前</a:t>
            </a:r>
            <a:r>
              <a:rPr lang="en-US" altLang="zh-CN" sz="1600"/>
              <a:t>4</a:t>
            </a:r>
            <a:r>
              <a:rPr lang="zh-CN" altLang="en-US" sz="1600"/>
              <a:t>章内容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实验分工与计划，开启实验部分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24575" y="3717925"/>
            <a:ext cx="2088515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/>
              <a:t>5</a:t>
            </a:r>
            <a:r>
              <a:rPr lang="zh-CN" altLang="en-US" sz="1600"/>
              <a:t>月底：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完成第一版报告初稿，发课题组成员审阅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8345805" y="3717925"/>
            <a:ext cx="208851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7</a:t>
            </a:r>
            <a:r>
              <a:rPr lang="zh-CN" altLang="en-US" sz="1600" dirty="0"/>
              <a:t>月底：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根据征集意见，完成报告修订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送审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55883" y="2949059"/>
            <a:ext cx="4062997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400">
                <a:solidFill>
                  <a:schemeClr val="tx1"/>
                </a:solidFill>
              </a:rPr>
              <a:t>谢</a:t>
            </a:r>
            <a:r>
              <a:rPr lang="en-US" altLang="zh-CN" sz="6400">
                <a:solidFill>
                  <a:schemeClr val="tx1"/>
                </a:solidFill>
              </a:rPr>
              <a:t>  </a:t>
            </a:r>
            <a:r>
              <a:rPr lang="zh-CN" altLang="en-US" sz="6400">
                <a:solidFill>
                  <a:schemeClr val="tx1"/>
                </a:solidFill>
              </a:rPr>
              <a:t>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150.897637795276,&quot;width&quot;:19217.57322834645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84c35135e84bd9d5023c61cdc90c5680bc8ac4"/>
  <p:tag name="KSO_WM_NEWLAYOUT_GROUP_ID" val="layout_10003"/>
  <p:tag name="KSO_WM_NEWLAYOUT_ID" val="slide_07a157e0b255a4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093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093"/>
  <p:tag name="KSO_WM_SLIDE_TYPE" val="text"/>
  <p:tag name="KSO_WM_SLIDE_SUBTYPE" val="diag"/>
  <p:tag name="KSO_WM_SLIDE_SIZE" val="782.4*322.05"/>
  <p:tag name="KSO_WM_SLIDE_POSITION" val="83.95*217.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93_4*a*1"/>
  <p:tag name="KSO_WM_TEMPLATE_CATEGORY" val="diagram"/>
  <p:tag name="KSO_WM_TEMPLATE_INDEX" val="2023109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1_1*l_h_i*1_1_2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83.18125984251975,&quot;left&quot;:35.94377952755905,&quot;top&quot;:81.29377952755905,&quot;width&quot;:855.2562143689253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1,&quot;transparency&quot;:0},{&quot;brightness&quot;:0.800000011920929,&quot;colorType&quot;:1,&quot;foreColorIndex&quot;:5,&quot;pos&quot;:0,&quot;transparency&quot;:0.8999999761581421}],&quot;type&quot;:3},&quot;glow&quot;:{&quot;colorType&quot;:0},&quot;line&quot;:{&quot;gradient&quot;:[{&quot;brightness&quot;:0,&quot;colorType&quot;:1,&quot;foreColorIndex&quot;:5,&quot;pos&quot;:0.20000000298023224,&quot;transparency&quot;:1},{&quot;brightness&quot;:0.4000000059604645,&quot;colorType&quot;:1,&quot;foreColorIndex&quot;:5,&quot;pos&quot;:1,&quot;transparency&quot;:0}],&quot;type&quot;:2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9292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1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61_1*l_h_f*1_1_1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TYPE" val="1"/>
  <p:tag name="KSO_WM_DIAGRAM_MAX_ITEMCNT" val="3"/>
  <p:tag name="KSO_WM_DIAGRAM_MIN_ITEMCNT" val="2"/>
  <p:tag name="KSO_WM_DIAGRAM_VIRTUALLY_FRAME" val="{&quot;height&quot;:383.18125984251975,&quot;left&quot;:35.94377952755905,&quot;top&quot;:81.29377952755905,&quot;width&quot;:855.25621436892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&#10;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093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093"/>
  <p:tag name="KSO_WM_SLIDE_TYPE" val="text"/>
  <p:tag name="KSO_WM_SLIDE_SUBTYPE" val="diag"/>
  <p:tag name="KSO_WM_SLIDE_SIZE" val="782.4*322.05"/>
  <p:tag name="KSO_WM_SLIDE_POSITION" val="83.95*217.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93_4*a*1"/>
  <p:tag name="KSO_WM_TEMPLATE_CATEGORY" val="diagram"/>
  <p:tag name="KSO_WM_TEMPLATE_INDEX" val="2023109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07a157e0b255a43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93_4*a*1"/>
  <p:tag name="KSO_WM_TEMPLATE_CATEGORY" val="diagram"/>
  <p:tag name="KSO_WM_TEMPLATE_INDEX" val="2023109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093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093"/>
  <p:tag name="KSO_WM_SLIDE_TYPE" val="text"/>
  <p:tag name="KSO_WM_SLIDE_SUBTYPE" val="diag"/>
  <p:tag name="KSO_WM_SLIDE_SIZE" val="782.4*322.05"/>
  <p:tag name="KSO_WM_SLIDE_POSITION" val="83.95*217.8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29&quot;:[50053121],&quot;65&quot;:[20231093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93_4*a*1"/>
  <p:tag name="KSO_WM_TEMPLATE_CATEGORY" val="diagram"/>
  <p:tag name="KSO_WM_TEMPLATE_INDEX" val="2023109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宽屏</PresentationFormat>
  <Paragraphs>48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汉仪中黑简</vt:lpstr>
      <vt:lpstr>黑体</vt:lpstr>
      <vt:lpstr>宋体</vt:lpstr>
      <vt:lpstr>微软雅黑</vt:lpstr>
      <vt:lpstr>Arial</vt:lpstr>
      <vt:lpstr>Calibri</vt:lpstr>
      <vt:lpstr>Calibri Light</vt:lpstr>
      <vt:lpstr>Segoe UI</vt:lpstr>
      <vt:lpstr>Times New Roman</vt:lpstr>
      <vt:lpstr>Wingdings</vt:lpstr>
      <vt:lpstr>Office 主题</vt:lpstr>
      <vt:lpstr>1_自定义设计方案</vt:lpstr>
      <vt:lpstr>PowerPoint 演示文稿</vt:lpstr>
      <vt:lpstr>研究背景及现状</vt:lpstr>
      <vt:lpstr>研究目标</vt:lpstr>
      <vt:lpstr>课题大纲（拟）</vt:lpstr>
      <vt:lpstr>课题计划时间节点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朱文聪</dc:creator>
  <cp:lastModifiedBy>马家宽</cp:lastModifiedBy>
  <cp:revision>183</cp:revision>
  <dcterms:created xsi:type="dcterms:W3CDTF">2019-06-19T02:08:00Z</dcterms:created>
  <dcterms:modified xsi:type="dcterms:W3CDTF">2026-04-08T03:00:13Z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A0FF5C4362AB48AE869DF7D7742AF022_11</vt:lpwstr>
  </property>
</Properties>
</file>